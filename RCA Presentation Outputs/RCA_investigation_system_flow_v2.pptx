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026bbd2d6d4b01" /><Relationship Type="http://schemas.openxmlformats.org/officeDocument/2006/relationships/extended-properties" Target="/docProps/app.xml" Id="Reff6eea95bc64819" /><Relationship Type="http://schemas.openxmlformats.org/officeDocument/2006/relationships/officeDocument" Target="/ppt/presentation.xml" Id="R39238e02c12e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6622c1dbcf452a"/>
  </p:sldMasterIdLst>
  <p:notesMasterIdLst>
    <p:notesMasterId xmlns:r="http://schemas.openxmlformats.org/officeDocument/2006/relationships" r:id="Ra8e0d98303344c71"/>
  </p:notesMasterIdLst>
  <p:sldIdLst>
    <p:sldId xmlns:r="http://schemas.openxmlformats.org/officeDocument/2006/relationships" id="256" r:id="R7c8297795ace4675"/>
    <p:sldId xmlns:r="http://schemas.openxmlformats.org/officeDocument/2006/relationships" id="257" r:id="R77ade02af7ea4c60"/>
    <p:sldId xmlns:r="http://schemas.openxmlformats.org/officeDocument/2006/relationships" id="258" r:id="R0eee57ba81cf407b"/>
    <p:sldId xmlns:r="http://schemas.openxmlformats.org/officeDocument/2006/relationships" id="259" r:id="R99577a0a04864953"/>
    <p:sldId xmlns:r="http://schemas.openxmlformats.org/officeDocument/2006/relationships" id="260" r:id="Rce22d812f7654ef2"/>
    <p:sldId xmlns:r="http://schemas.openxmlformats.org/officeDocument/2006/relationships" id="261" r:id="R4f10b307b9ec47f7"/>
    <p:sldId xmlns:r="http://schemas.openxmlformats.org/officeDocument/2006/relationships" id="262" r:id="R0f6a4f8a9b684c40"/>
    <p:sldId xmlns:r="http://schemas.openxmlformats.org/officeDocument/2006/relationships" id="263" r:id="R564633bf6ac9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79477f459473e" /><Relationship Type="http://schemas.openxmlformats.org/officeDocument/2006/relationships/slideMaster" Target="/ppt/slideMasters/slideMaster1.xml" Id="R766622c1dbcf452a" /><Relationship Type="http://schemas.openxmlformats.org/officeDocument/2006/relationships/notesMaster" Target="/ppt/notesMasters/notesMaster1.xml" Id="Ra8e0d98303344c71" /><Relationship Type="http://schemas.openxmlformats.org/officeDocument/2006/relationships/presProps" Target="/ppt/presProps.xml" Id="Rfad29a3dc940419f" /><Relationship Type="http://schemas.openxmlformats.org/officeDocument/2006/relationships/tableStyles" Target="/ppt/tableStyles.xml" Id="R8773522374944df8" /><Relationship Type="http://schemas.openxmlformats.org/officeDocument/2006/relationships/slide" Target="/ppt/slides/slide1.xml" Id="R7c8297795ace4675" /><Relationship Type="http://schemas.openxmlformats.org/officeDocument/2006/relationships/slide" Target="/ppt/slides/slide2.xml" Id="R77ade02af7ea4c60" /><Relationship Type="http://schemas.openxmlformats.org/officeDocument/2006/relationships/slide" Target="/ppt/slides/slide3.xml" Id="R0eee57ba81cf407b" /><Relationship Type="http://schemas.openxmlformats.org/officeDocument/2006/relationships/slide" Target="/ppt/slides/slide4.xml" Id="R99577a0a04864953" /><Relationship Type="http://schemas.openxmlformats.org/officeDocument/2006/relationships/slide" Target="/ppt/slides/slide5.xml" Id="Rce22d812f7654ef2" /><Relationship Type="http://schemas.openxmlformats.org/officeDocument/2006/relationships/slide" Target="/ppt/slides/slide6.xml" Id="R4f10b307b9ec47f7" /><Relationship Type="http://schemas.openxmlformats.org/officeDocument/2006/relationships/slide" Target="/ppt/slides/slide7.xml" Id="R0f6a4f8a9b684c40" /><Relationship Type="http://schemas.openxmlformats.org/officeDocument/2006/relationships/slide" Target="/ppt/slides/slide8.xml" Id="R564633bf6ac9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00d9eaff4240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3bfc950ee431d" /><Relationship Type="http://schemas.openxmlformats.org/officeDocument/2006/relationships/notesMaster" Target="/ppt/notesMasters/notesMaster1.xml" Id="Rd185bf28a0ce48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1edf1a296345ea" /><Relationship Type="http://schemas.openxmlformats.org/officeDocument/2006/relationships/notesMaster" Target="/ppt/notesMasters/notesMaster1.xml" Id="Rfdd95422d26441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8ea8f4d3f542fc" /><Relationship Type="http://schemas.openxmlformats.org/officeDocument/2006/relationships/notesMaster" Target="/ppt/notesMasters/notesMaster1.xml" Id="R1a5000290a5f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00339a64ed4344" /><Relationship Type="http://schemas.openxmlformats.org/officeDocument/2006/relationships/notesMaster" Target="/ppt/notesMasters/notesMaster1.xml" Id="R9c268e5873b549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e17a4e564b4db6" /><Relationship Type="http://schemas.openxmlformats.org/officeDocument/2006/relationships/notesMaster" Target="/ppt/notesMasters/notesMaster1.xml" Id="R03d6d2933d5641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40c9f149c24ede" /><Relationship Type="http://schemas.openxmlformats.org/officeDocument/2006/relationships/notesMaster" Target="/ppt/notesMasters/notesMaster1.xml" Id="R86acca7dd4ad44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03b68aac114441" /><Relationship Type="http://schemas.openxmlformats.org/officeDocument/2006/relationships/notesMaster" Target="/ppt/notesMasters/notesMaster1.xml" Id="R451be3bb2019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e14e21c1b64a4d" /><Relationship Type="http://schemas.openxmlformats.org/officeDocument/2006/relationships/notesMaster" Target="/ppt/notesMasters/notesMaster1.xml" Id="R8a8c62314797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System design developed in the RCA application working session.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69480c6ba4d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9f7eeb093840ce" /><Relationship Type="http://schemas.openxmlformats.org/officeDocument/2006/relationships/slideLayout" Target="/ppt/slideLayouts/slideLayout1.xml" Id="Rc3f07eb03b914f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07eb03b91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828864036485a" /><Relationship Type="http://schemas.openxmlformats.org/officeDocument/2006/relationships/notesSlide" Target="/ppt/notesSlides/notesSlide1.xml" Id="R45ffe7410be347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c8b3d094b4d85" /><Relationship Type="http://schemas.openxmlformats.org/officeDocument/2006/relationships/notesSlide" Target="/ppt/notesSlides/notesSlide2.xml" Id="Rc90344eed0664f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67b4e8a1d4f5c" /><Relationship Type="http://schemas.openxmlformats.org/officeDocument/2006/relationships/notesSlide" Target="/ppt/notesSlides/notesSlide3.xml" Id="Rca30135716ca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5769400a94b33" /><Relationship Type="http://schemas.openxmlformats.org/officeDocument/2006/relationships/notesSlide" Target="/ppt/notesSlides/notesSlide4.xml" Id="R298447d8ec03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7f413781b4a1c" /><Relationship Type="http://schemas.openxmlformats.org/officeDocument/2006/relationships/notesSlide" Target="/ppt/notesSlides/notesSlide5.xml" Id="Rbcf363cc71b441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b31c29a33424e" /><Relationship Type="http://schemas.openxmlformats.org/officeDocument/2006/relationships/notesSlide" Target="/ppt/notesSlides/notesSlide6.xml" Id="Rfb56951cba0b4d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df650f9f84242" /><Relationship Type="http://schemas.openxmlformats.org/officeDocument/2006/relationships/notesSlide" Target="/ppt/notesSlides/notesSlide7.xml" Id="Rb03f1e1f13704c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07ddd2b8f464c" /><Relationship Type="http://schemas.openxmlformats.org/officeDocument/2006/relationships/notesSlide" Target="/ppt/notesSlides/notesSlide8.xml" Id="R51d759b32525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55753-C5E8-4736-8182-BBD43864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E4FF3-BDDA-4A81-8F35-50BBD3B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C0036-5D25-4E5B-B9D7-9A1AA34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RCA Investigation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C8715-2136-4DD5-92E0-B6E2C34A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E7490"/>
                </a:solidFill>
                <a:latin typeface="Aptos"/>
                <a:ea typeface="Aptos"/>
                <a:cs typeface="Aptos"/>
              </a:rPr>
              <a:t>From incident description to evidence-supported causal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650F7-88BD-4C1E-9912-4B028256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Separate specialist knowledge bases, one question handler and an iterative causal-analysis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9DFB7-A3F9-4E73-B54D-D852668F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System 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FD7DA-C0DF-46AF-9BB8-7F889E6C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</p:spTree>
    <p:extLst>
      <p:ext uri="{BB962C8B-B14F-4D97-AF65-F5344CB8AC3E}">
        <p14:creationId xmlns:p14="http://schemas.microsoft.com/office/powerpoint/2010/main" val="19047013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2217BF-52BA-4F84-A7B5-E9D2100D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A33DF-8A49-4896-8951-6C9C18B4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End-to-end investigation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412F3-86A8-4401-A34E-1CD93F70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 develops first. Causal analysis then tests possible explanations against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8FE1A-1CAE-4903-9C17-CE39B4A2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AFD83-D9D5-4092-9EF7-51F35791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2762A-DF4E-410E-A8B6-34814A0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AD501-BB4C-4C46-B029-F4984796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Incident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4E5D4-8898-41AD-92C1-AE156196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System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understanding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D3905-0367-4C9B-84FE-EDBE83A7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Tagging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137FD-75DF-4051-83D8-BB653DE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Selected specialist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4DE24-B996-4E76-8A80-61D3B7F9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Candidate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9F428-D279-4E74-BC55-935A2B9C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24000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478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719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959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2002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44075" y="1914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697DD-77DD-4B15-A6D8-82CD98C2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A502D-F969-41F5-B82D-E55E254E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returns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2916C-D48E-4D36-AB0F-4EDB151D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knowledge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bases evolve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32328-63F9-4691-8FD9-01E71D43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1790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6FA06-C117-4411-A929-BE930CF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Evidence-supported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56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858500" y="2305050"/>
            <a:ext cx="85725" cy="1790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956310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7286625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5010150" y="44862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2752725" y="44862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BC497D-44F8-4D6F-BDBB-088A703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Knowledge-building round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A755C-3036-4BB8-ADB9-20B3DCB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089"/>
                </a:solidFill>
                <a:latin typeface="Aptos"/>
                <a:ea typeface="Aptos"/>
                <a:cs typeface="Aptos"/>
              </a:rPr>
              <a:t>Answer and causal-analysis round</a:t>
            </a:r>
          </a:p>
        </p:txBody>
      </p:sp>
      <p:cxnSp>
        <p:nvCxnSpPr>
          <p:cNvPr id="63" name=""/>
          <p:cNvCxnSpPr>
            <a:stCxn xmlns:a="http://schemas.openxmlformats.org/drawingml/2006/main" id="2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114800" y="2305050"/>
            <a:ext cx="6743700" cy="1790700"/>
          </a:xfrm>
          <a:prstGeom xmlns:a="http://schemas.openxmlformats.org/drawingml/2006/main" prst="bentConnector4">
            <a:avLst>
              <a:gd name="adj1" fmla="val 0"/>
              <a:gd name="adj2" fmla="val 87234"/>
            </a:avLst>
          </a:prstGeom>
          <a:ln xmlns:a="http://schemas.openxmlformats.org/drawingml/2006/main" w="19050">
            <a:solidFill>
              <a:srgbClr val="6941C6"/>
            </a:solidFill>
            <a:prstDash val="dash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48DC01-A262-46FB-B5B7-8570E70D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941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941C6"/>
                </a:solidFill>
                <a:latin typeface="Aptos"/>
                <a:ea typeface="Aptos"/>
                <a:cs typeface="Aptos"/>
              </a:rPr>
              <a:t>Missing facts create new questions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2F652-6885-4A4A-81DA-4751A228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Each model track runs this flow independently.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F1B92E-2325-4BC3-BE2C-BE80E352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578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human investigator can answer, correct or override at any stage.</a:t>
            </a:r>
          </a:p>
        </p:txBody>
      </p:sp>
    </p:spTree>
    <p:extLst>
      <p:ext uri="{BB962C8B-B14F-4D97-AF65-F5344CB8AC3E}">
        <p14:creationId xmlns:p14="http://schemas.microsoft.com/office/powerpoint/2010/main" val="1677281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AC5F3-BA71-4219-9AEB-0F1EDC9B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582D9-BA57-4C37-8970-30B303E6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Separate specialist knowledge bases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CA514-9ACE-4787-A1AF-C0B88EC4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Specialists keep independent interpretations while the answer agent can search across all available knowledge.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CB2CF-99EE-4472-8C93-95299C5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45365-18FC-4C44-A2C3-806588F2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611F0-7CB6-42B2-9BA4-A597F02C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788EF-6A2B-45F5-8AD5-A3759D26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Separate domain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3BBEC-9B0F-4037-9887-E4EDA9CA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Equipment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2BAE9-D8CF-4C6C-913B-D481D0A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Stored-energy knowledge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11015-D6D5-4767-BBE2-558FCC5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337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Maintenance knowledge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24490-A769-404F-A879-2D0B2B2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Human knowledge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AF08C-AFFB-450F-B4B3-CD184561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323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Other selected 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F420D-4123-4AEA-BC9B-E350E41A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6220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E0773-CF51-46A3-8DAB-22CC3432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0708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Documents, uploaded evidence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and user answers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CBF05-C8F2-4C5E-9773-6A0C5329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52600"/>
            <a:ext cx="2762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14CE5-0F5D-491E-BE70-7812555F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05200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Relevant specialists and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</p:txBody>
      </p:sp>
      <p:cxnSp>
        <p:nvCxnSpPr>
          <p:cNvPr id="44" name=""/>
          <p:cNvCxnSpPr>
            <a:stCxn xmlns:a="http://schemas.openxmlformats.org/drawingml/2006/main" id="1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3762375" y="1857375"/>
            <a:ext cx="857250" cy="914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3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762375" y="2638425"/>
            <a:ext cx="857250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762375" y="2771775"/>
            <a:ext cx="857250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762375" y="2771775"/>
            <a:ext cx="8572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762375" y="2771775"/>
            <a:ext cx="857250" cy="2209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857875" y="31813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5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096125" y="2143125"/>
            <a:ext cx="1047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096125" y="2533650"/>
            <a:ext cx="2428875" cy="2381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525000" y="253365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941C6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B7C5A-25B3-4EF5-8985-E53BC0B2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answer agent searches. It does not merge specialist knowledge bases.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429E0-7E3F-4D83-BE8A-1121404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Redundancy remains visible so one specialist can catch what another missed.</a:t>
            </a:r>
          </a:p>
        </p:txBody>
      </p:sp>
    </p:spTree>
    <p:extLst>
      <p:ext uri="{BB962C8B-B14F-4D97-AF65-F5344CB8AC3E}">
        <p14:creationId xmlns:p14="http://schemas.microsoft.com/office/powerpoint/2010/main" val="1059211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15F78-A930-4158-A024-4325CF18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C6261-7DC4-4745-B7FB-5AD3FD7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Question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75B68-D451-4AFB-A4FB-96DA3D0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same handler processes questions from specialist agents and from causal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5CFC8-E811-423C-ABCC-61FBF7FD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DABAA-CCFA-4581-8422-122924B2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28C8-6DFC-46ED-912E-35BF7E65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1F462-21FD-46B1-84DD-8607ECB7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Specialist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proposes and justifies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1D014-FB63-4434-ADA2-499D9E04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Analysis Agent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identifies a missing 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499A-B1F6-49D0-B9F5-76E2A2C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21431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EB6C9-3E9C-446E-9C01-1CD6A022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2333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Answer-Fetching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53E04-C1F5-4337-8243-A88D5AB9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33675"/>
            <a:ext cx="1619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Question Broker</a:t>
            </a:r>
          </a:p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receives the answer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05125" y="2166938"/>
            <a:ext cx="100012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941C6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905125" y="3186113"/>
            <a:ext cx="1000125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12365D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48375" y="31861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490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9750" y="31861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E8DF0-8626-439D-8A25-BA54162C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62500"/>
            <a:ext cx="54768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Broker distributes the answer to every contributing or relevant agent</a:t>
            </a:r>
          </a:p>
        </p:txBody>
      </p: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8977313" y="3638550"/>
            <a:ext cx="1928813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F855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53219-21A8-46A3-B3CF-ABCEF89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Broker responsibilities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AC43C-8288-4D20-B199-4F73C37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12482-1B7E-4B92-8A5C-5E784B20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2437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Merge overlapping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E5A07-F8B1-4829-83D6-C9E058C2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B6BD9-B5D2-4050-A68D-CE6123F9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Preserve contributors and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CB49F-1F9B-408F-A517-F00D262F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57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A46DF8-CD00-493A-8265-13A2685C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43525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8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Return the answer to the right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94BD4-333A-492D-9183-D2937DFD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81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Answer-agent responsibilities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AD920-B673-4CC7-ACE2-711AD779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386FD-F409-4B4F-BBAA-E9E856C4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specialist knowledge bases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52EBF-E8DB-4E0B-8098-0495B5EE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B11529-0FBF-4ED9-9246-4FDDBE1E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Search documents and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BF624-FFE4-42E6-BB1D-78DDA2B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6DDE9-4EA9-4323-8A8F-3557587E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3840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Ask the user when the answer remains unavailable</a:t>
            </a:r>
          </a:p>
        </p:txBody>
      </p:sp>
    </p:spTree>
    <p:extLst>
      <p:ext uri="{BB962C8B-B14F-4D97-AF65-F5344CB8AC3E}">
        <p14:creationId xmlns:p14="http://schemas.microsoft.com/office/powerpoint/2010/main" val="437839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675E7-D3AF-4F28-BF0F-55D02B78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19C04-7DE1-4132-AB6E-6E5DF738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The first causal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CDB0B-B89D-4164-A7B8-8C36135A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Causal analysis starts with the immediate event and creates competing explanations for what directly allowed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B1243-8760-4B5F-9CD7-53935DA4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892D0-79BE-40E0-8D40-5A1B2E9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E1A0E-21D2-4424-BD46-FAC8992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88696-52B7-4AEC-A417-14F63FEF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Required support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was lost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173FF-7BD2-40AD-A38C-A56D99CE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restraint was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ineffective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3E5B4-A809-42C8-9284-F8FD1643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component moved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out of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14387-5E7A-4F9D-8252-606CADF5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8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An external force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acted on the beam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269AB-75CA-4A8F-A8EF-D19F592F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R3 Exit Carrier Beam</a:t>
            </a:r>
          </a:p>
          <a:p xmlns:a="http://schemas.openxmlformats.org/drawingml/2006/main">
            <a:pPr algn="ctr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fell from the yoke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1790700"/>
            <a:ext cx="4381500" cy="1466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2857500"/>
            <a:ext cx="43815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257550"/>
            <a:ext cx="4381500" cy="1733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D6FFF-D2B8-44A4-9933-70D85FE4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direct explanations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6C37C-2BD9-46A6-9966-DD2E082A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Event to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5E350-464C-4E0C-A3EC-475C0CCF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676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 branch advances only when facts support a plausible mechanism.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1F5EC-8DCD-4C80-9243-22D758D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At this stage, every explanation remains possible rather than proven.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BE448-3B0B-42D5-87E5-493DDE3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agent asks which fact would distinguish one explanation from the others.</a:t>
            </a:r>
          </a:p>
        </p:txBody>
      </p:sp>
    </p:spTree>
    <p:extLst>
      <p:ext uri="{BB962C8B-B14F-4D97-AF65-F5344CB8AC3E}">
        <p14:creationId xmlns:p14="http://schemas.microsoft.com/office/powerpoint/2010/main" val="1117666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4FB44-A1D4-45A1-8B8F-36A0C4EC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09037-3517-4D98-949D-3786769E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Causal-analysis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97CF7-33D6-4E1A-AE90-B22DC184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agent moves backward only along explanations that survive evidence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3D677-226F-4550-A37E-0341ABA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A2C48-2330-465A-9653-8972BF4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7B961-30AD-4E2B-AE97-E4FF515B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005FE-222B-412F-B4FB-5CE530C9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Start with the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7E085-5BDA-4D6C-BA1D-C1B584DE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Propose direct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62BF1-9E1A-49F7-9065-227AECC0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667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Connect facts through a 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A7AF4-8743-4863-8DBA-D7609D3D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Identify the missing 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65072-CE3C-4102-99B8-390D0BAE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Ask through the Question 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AFD5A-EC5F-42D3-BAB1-ADB9F7C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6941C6"/>
            </a:solidFill>
            <a:prstDash val="solid"/>
          </a:ln>
        </p:spPr>
        <p:txBody>
          <a:bodyPr xmlns:a="http://schemas.openxmlformats.org/drawingml/2006/main" anchor="ctr">
            <a:normAutofit fontScale="9779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Receive the answer and revise status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239000" y="1543050"/>
            <a:ext cx="2333625" cy="314325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572625" y="2619375"/>
            <a:ext cx="333375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239000" y="4095750"/>
            <a:ext cx="1333500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3762375" y="4095750"/>
            <a:ext cx="1095375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2381250" y="2619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762375" y="1543050"/>
            <a:ext cx="1095375" cy="695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21E41-DF22-4871-9C79-18F28D77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Supported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F2CEB-BF29-46A7-88C5-15B64FD1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Possible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C0002-37FF-42E8-9E72-22D55EBD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Rejected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22A00-C798-4B19-B746-7CFB847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05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When a direct link becomes supported, the agent asks what created that condition and moves one step further backward.</a:t>
            </a:r>
          </a:p>
        </p:txBody>
      </p:sp>
    </p:spTree>
    <p:extLst>
      <p:ext uri="{BB962C8B-B14F-4D97-AF65-F5344CB8AC3E}">
        <p14:creationId xmlns:p14="http://schemas.microsoft.com/office/powerpoint/2010/main" val="18464484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BC79C-CDE8-4C68-A24F-0852266F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1E0D6-2E90-4F5E-8A02-CE94E37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What makes a causal connection concrete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A3973-A5A2-44E8-AA45-C010F74F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causal board stores an explicit claim and the evidence needed to assess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55C33-9897-42EE-9298-2AB6F994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3AEEB-2A3A-4E60-A1FF-67B4DC60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CF7FC-4C20-409A-9622-C49A2B35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048625"/>
              </a:tblGrid>
              <a:tr h="4095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Causal-link field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the agent records</a:t>
                      </a:r>
                    </a:p>
                  </a:txBody>
                  <a:tcPr marL="91440" marR="91440" marT="45720" marB="45720">
                    <a:solidFill>
                      <a:srgbClr val="12365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existed or happened before the event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What changed or occurred next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How the condition could have produced the effect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Supporting facts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agrees with the proposed connection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Contradicting facts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Evidence that weakens or challenges the 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Missing evidence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The specific fact that would distinguish the direction</a:t>
                      </a:r>
                    </a:p>
                  </a:txBody>
                  <a:tcPr marL="91440" marR="91440" marT="45720" marB="45720">
                    <a:solidFill>
                      <a:srgbClr val="EEF6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ptos"/>
                          <a:ea typeface="Aptos"/>
                          <a:cs typeface="Aptos"/>
                        </a:rPr>
                        <a:t>Supported, possible, disputed or rejected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AEEF3-2F49-4C6F-B587-86DD07C6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Questions remain outside the causal board until an answer produces a fact or changes a connection.</a:t>
            </a:r>
          </a:p>
        </p:txBody>
      </p:sp>
    </p:spTree>
    <p:extLst>
      <p:ext uri="{BB962C8B-B14F-4D97-AF65-F5344CB8AC3E}">
        <p14:creationId xmlns:p14="http://schemas.microsoft.com/office/powerpoint/2010/main" val="230052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058B1-C2CF-4509-9421-18B51587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D2C1A-3F31-44A8-9755-4969253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2365D"/>
                </a:solidFill>
                <a:latin typeface="Aptos Display"/>
                <a:ea typeface="Aptos Display"/>
                <a:cs typeface="Aptos Display"/>
              </a:rPr>
              <a:t>Investigation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19C15-D59D-4C97-88A2-4814A357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The system preserves how knowledge and causal explanations changed 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5AFC9-1D27-4107-9404-0297174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F9C92-505C-4468-8BDE-ACCE6BB5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10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RCA investigation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AB972-25B4-4546-B126-3D24AF30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3548F-8041-4A7E-8421-E8579BB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The evolving record contains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8A3C2-D4DA-4242-A824-A699165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A4830-FE4F-4003-A86A-6D744A3A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Versioned knowledge base for every selected specialist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2F3CA-06AD-4545-A6EC-52BE87BB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0BF8A-12F4-478E-98DB-F44CEED5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Source and confidence attached to each 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CFE17-FB21-4234-A4F6-1E98DC35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53219-D4EC-40C7-8BAC-3676B458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Question history, merged wording and contributing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C544B-52A1-41C6-80FF-BD6714A9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6B218-F672-4406-B07E-BE708E83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Unresolved contradictions and missing documents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EC594-DF7F-4963-9D8F-A3C23D5C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C1AF2-E50B-4C8F-AEFB-1CA69C2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Competing causal paths with current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C05BA-A3FC-4C69-BE44-57F571A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5B59A-6435-48B0-90AC-8CC5AE2E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Human corrections, approvals and overrides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5B56E-A247-4E75-8D2D-086FB66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1430">
            <a:solidFill>
              <a:srgbClr val="12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Established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C112B-4E46-4FBF-A798-0177EB2C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Competing causal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69C0C-FBCD-4719-831D-C9BBAA9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7F6EC"/>
          </a:solidFill>
          <a:ln xmlns:a="http://schemas.openxmlformats.org/drawingml/2006/main" w="1143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Evidence-supported</a:t>
            </a:r>
          </a:p>
          <a:p xmlns:a="http://schemas.openxmlformats.org/drawingml/2006/main">
            <a:pPr algn="ctr">
              <a:defRPr sz="1725" b="1">
                <a:solidFill>
                  <a:srgbClr val="12365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365D"/>
                </a:solidFill>
                <a:latin typeface="Aptos"/>
                <a:ea typeface="Aptos"/>
                <a:cs typeface="Aptos"/>
              </a:rPr>
              <a:t>causal board</a:t>
            </a:r>
          </a:p>
        </p:txBody>
      </p:sp>
      <p:cxnSp>
        <p:nvCxnSpPr>
          <p:cNvPr id="48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810625" y="21145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810625" y="34004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07089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D4694-F858-4B3F-926A-5AB4C122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768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Human approval remains the final gate</a:t>
            </a:r>
          </a:p>
        </p:txBody>
      </p:sp>
    </p:spTree>
    <p:extLst>
      <p:ext uri="{BB962C8B-B14F-4D97-AF65-F5344CB8AC3E}">
        <p14:creationId xmlns:p14="http://schemas.microsoft.com/office/powerpoint/2010/main" val="1098033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2026-09-04T15:54:23.0550000Z</dcterms:created>
  <dcterms:modified xsi:type="dcterms:W3CDTF">2026-09-04T15:54:23.0550000Z</dcterms:modified>
</coreProperties>
</file>