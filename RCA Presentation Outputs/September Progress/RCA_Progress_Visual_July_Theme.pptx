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39a920a43a44ed" /><Relationship Type="http://schemas.openxmlformats.org/officeDocument/2006/relationships/extended-properties" Target="/docProps/app.xml" Id="Rf5267157cfa74242" /><Relationship Type="http://schemas.openxmlformats.org/officeDocument/2006/relationships/officeDocument" Target="/ppt/presentation.xml" Id="Ra45413fa8ddd4d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d61d6c89fc4fb5"/>
  </p:sldMasterIdLst>
  <p:notesMasterIdLst>
    <p:notesMasterId xmlns:r="http://schemas.openxmlformats.org/officeDocument/2006/relationships" r:id="R6fc4fbbaf8d747ea"/>
  </p:notesMasterIdLst>
  <p:sldIdLst>
    <p:sldId xmlns:r="http://schemas.openxmlformats.org/officeDocument/2006/relationships" id="256" r:id="R775348c2b49f48d8"/>
    <p:sldId xmlns:r="http://schemas.openxmlformats.org/officeDocument/2006/relationships" id="257" r:id="R2d922ce25f5344eb"/>
    <p:sldId xmlns:r="http://schemas.openxmlformats.org/officeDocument/2006/relationships" id="258" r:id="R8fb33bef6c3e48df"/>
    <p:sldId xmlns:r="http://schemas.openxmlformats.org/officeDocument/2006/relationships" id="259" r:id="R795c0bb20383467f"/>
    <p:sldId xmlns:r="http://schemas.openxmlformats.org/officeDocument/2006/relationships" id="260" r:id="R5b2eedfb50b04678"/>
    <p:sldId xmlns:r="http://schemas.openxmlformats.org/officeDocument/2006/relationships" id="261" r:id="R1aea139968384204"/>
    <p:sldId xmlns:r="http://schemas.openxmlformats.org/officeDocument/2006/relationships" id="262" r:id="R73a477d2df7043a7"/>
    <p:sldId xmlns:r="http://schemas.openxmlformats.org/officeDocument/2006/relationships" id="263" r:id="R5dd34f8a099647d4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3E511963-6A01-3019-C86E-C7C5608E28C6}" name="Jay Vijaybhai Polra" initials="JP" userId="S::jpolra@purdue.edu::05471d6c-1458-4835-8f42-0e212e6c3b7b" providerId="AD"/>
  <p188:author id="{A976A666-D41E-E542-5D96-05EE091D0C89}" name="Kyle A Toth" initials="KT" userId="S::katoth@purdue.edu::117f5a3d-1d9b-42ce-99cd-a650340272b4" providerId="AD"/>
  <p188:author id="{EDD3F994-07E7-0840-10F1-D70CDED6DDDF}" name="Dhwanil Radharaman Chauhan" initials="DC" userId="S::chauha56@purdue.edu::b32d1ec2-e1d8-4f74-85f0-a3f9ef37bfdf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209a29f21f46c8" /><Relationship Type="http://schemas.openxmlformats.org/officeDocument/2006/relationships/slideMaster" Target="/ppt/slideMasters/slideMaster1.xml" Id="R6fd61d6c89fc4fb5" /><Relationship Type="http://schemas.openxmlformats.org/officeDocument/2006/relationships/notesMaster" Target="/ppt/notesMasters/notesMaster1.xml" Id="R6fc4fbbaf8d747ea" /><Relationship Type="http://schemas.openxmlformats.org/officeDocument/2006/relationships/presProps" Target="/ppt/presProps.xml" Id="Rb15ea03094164a58" /><Relationship Type="http://schemas.openxmlformats.org/officeDocument/2006/relationships/viewProps" Target="/ppt/viewProps.xml" Id="Rf19922db58ba4472" /><Relationship Type="http://schemas.openxmlformats.org/officeDocument/2006/relationships/tableStyles" Target="/ppt/tableStyles.xml" Id="Rfe48e86d114143c7" /><Relationship Type="http://schemas.microsoft.com/office/2018/10/relationships/authors" Target="/ppt/authors.xml" Id="R7ea8bb84d40c4a68" /><Relationship Type="http://schemas.openxmlformats.org/officeDocument/2006/relationships/slide" Target="/ppt/slides/slide1.xml" Id="R775348c2b49f48d8" /><Relationship Type="http://schemas.openxmlformats.org/officeDocument/2006/relationships/slide" Target="/ppt/slides/slide2.xml" Id="R2d922ce25f5344eb" /><Relationship Type="http://schemas.openxmlformats.org/officeDocument/2006/relationships/slide" Target="/ppt/slides/slide3.xml" Id="R8fb33bef6c3e48df" /><Relationship Type="http://schemas.openxmlformats.org/officeDocument/2006/relationships/slide" Target="/ppt/slides/slide4.xml" Id="R795c0bb20383467f" /><Relationship Type="http://schemas.openxmlformats.org/officeDocument/2006/relationships/slide" Target="/ppt/slides/slide5.xml" Id="R5b2eedfb50b04678" /><Relationship Type="http://schemas.openxmlformats.org/officeDocument/2006/relationships/slide" Target="/ppt/slides/slide6.xml" Id="R1aea139968384204" /><Relationship Type="http://schemas.openxmlformats.org/officeDocument/2006/relationships/slide" Target="/ppt/slides/slide7.xml" Id="R73a477d2df7043a7" /><Relationship Type="http://schemas.openxmlformats.org/officeDocument/2006/relationships/slide" Target="/ppt/slides/slide8.xml" Id="R5dd34f8a099647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622237363a4b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b68fda434b46fc" /><Relationship Type="http://schemas.openxmlformats.org/officeDocument/2006/relationships/notesMaster" Target="/ppt/notesMasters/notesMaster1.xml" Id="R88154222f8154b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33330a176948b7" /><Relationship Type="http://schemas.openxmlformats.org/officeDocument/2006/relationships/notesMaster" Target="/ppt/notesMasters/notesMaster1.xml" Id="Rcef9b94afdda40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f33231b8f14045" /><Relationship Type="http://schemas.openxmlformats.org/officeDocument/2006/relationships/notesMaster" Target="/ppt/notesMasters/notesMaster1.xml" Id="R1967fab24a134b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827ac9ace94ca4" /><Relationship Type="http://schemas.openxmlformats.org/officeDocument/2006/relationships/notesMaster" Target="/ppt/notesMasters/notesMaster1.xml" Id="R4b2532c96d25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fbd14b955e4267" /><Relationship Type="http://schemas.openxmlformats.org/officeDocument/2006/relationships/notesMaster" Target="/ppt/notesMasters/notesMaster1.xml" Id="R8abf1edb67ef46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12079560d94c45" /><Relationship Type="http://schemas.openxmlformats.org/officeDocument/2006/relationships/notesMaster" Target="/ppt/notesMasters/notesMaster1.xml" Id="R91c5edc81b0747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141ee6276142fe" /><Relationship Type="http://schemas.openxmlformats.org/officeDocument/2006/relationships/notesMaster" Target="/ppt/notesMasters/notesMaster1.xml" Id="Re07394b882ad43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66ed23d9b14595" /><Relationship Type="http://schemas.openxmlformats.org/officeDocument/2006/relationships/notesMaster" Target="/ppt/notesMasters/notesMaster1.xml" Id="Rb5f6cbf7652048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/Users/dhwanilchauhan/Downloads/S&amp;T_PTC_July2026Presentation.pptx slides 7–13. Progress cutoff 22 September 2026, not a confirmed meeting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/Users/dhwanilchauhan/Downloads/S&amp;T_PTC_July2026Presentation.pptx slides 7–13. /Users/dhwanilchauhan/Desktop/RCA Try 1/Try 7/TRY7_EXECUTIVE_PLAN.md, section 10 implementation receipt and observed smoke outcome. Screenshot: current Try 7 local interface captured 22 September 2026. Workflow availability is not evidence of RCA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1/RCA_RESEARCH_OVERVIEW_AND_PLAN.md sections 5, 8; /Users/dhwanilchauhan/Desktop/RCA Try 1/Try 7/TRY7_EXECUTIVE_PLAN.md sections 4, 10. Simplified conceptual workflow. The diagram summarizes responsibilities, not separate fixed sequential API agents. Review outcomes and questions can reopen investigation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1/Try 6/evals/v1-v2-presentation-review/output/Try6_V1_V2_Evidence_Review.md sections 1–3; /Users/dhwanilchauhan/Desktop/RCA Try 1/Try 6/public/history/featured-causal-boards.json. One Try 6 development case, IA-16036, Qwen3.5. Counts include focal event. V1 5 nodes/4 active links/0 verified links; V2 9/6/0. No claim that greater size means greater accuracy. Diagram at right is an abbreviated excerpt of the two opposing preceded links present in saved V1, not a correct process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1/Try 7/TRY7_EXECUTIVE_PLAN.md, section 10 implementation receipt and observed smoke outcome. These functions are described in the implementation receipt; full-plan acceptance is incomplete. The 97 checks are recorded deterministic software checks, not model accuracy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1/Try 7/TRY7_EXECUTIVE_PLAN.md, section 10 implementation receipt and observed smoke outcome. Screenshot of the saved unscored Try 7 pneumatic-carriage smoke run. The screenshot shows the current app displaying the historical V1 snapshot. 21 tasks completed; partial version; 5 observations plus focal event, zero causal links; execution-inconclusive. Post-run fixes are not validated by a fresh frozen-config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1/Synthetic Evidence Packages 2026-09-22/README_OPERATOR_ONLY.md. Two historically anchored synthetic reconstructions, not recovered company records. Both are derivatives of previously used development cases, not independent held-out cases. B0/B1/B2 are cumulative releases corresponding to V1/V2/V3. No new RCA run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/Users/dhwanilchauhan/Desktop/RCA Try 1/RCA_IMPLEMENTATION_AND_PAPER_CHECKLIST.md sections C–E. /Users/dhwanilchauhan/Desktop/RCA Try 1/Try 7/TRY7_EXECUTIVE_PLAN.md, section 10 implementation receipt and observed smoke outcome. Proposed milestones, not completed outcomes or dated commitments. Review R3 mechanics before scored use. Use equivalent evidence for baseline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b3311054245b2" /><Relationship Type="http://schemas.openxmlformats.org/officeDocument/2006/relationships/image" Target="/ppt/media/image.png" Id="Rb8d38f53cd494e66" /><Relationship Type="http://schemas.openxmlformats.org/officeDocument/2006/relationships/image" Target="/ppt/media/image.jpeg" Id="R177d1efba8dd44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a1fc1eb81476b" /><Relationship Type="http://schemas.openxmlformats.org/officeDocument/2006/relationships/image" Target="/ppt/media/image2.png" Id="Rc16e5325f9c540e1" /><Relationship Type="http://schemas.openxmlformats.org/officeDocument/2006/relationships/image" Target="/ppt/media/image3.png" Id="Rb5825700f16741de" /><Relationship Type="http://schemas.openxmlformats.org/officeDocument/2006/relationships/image" Target="/ppt/media/image4.png" Id="R393d34c4cc1440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6968b0edb94e39" /><Relationship Type="http://schemas.openxmlformats.org/officeDocument/2006/relationships/image" Target="/ppt/media/image2.png" Id="R1c54c9cdfba649ad" /><Relationship Type="http://schemas.openxmlformats.org/officeDocument/2006/relationships/image" Target="/ppt/media/image3.png" Id="Rf158491f4ffa439a" /><Relationship Type="http://schemas.openxmlformats.org/officeDocument/2006/relationships/image" Target="/ppt/media/image4.png" Id="R5bbc2e8a2f1c4c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1aca186e44c04" /><Relationship Type="http://schemas.openxmlformats.org/officeDocument/2006/relationships/image" Target="/ppt/media/image.png" Id="Rb3060c8e74044c03" /><Relationship Type="http://schemas.openxmlformats.org/officeDocument/2006/relationships/image" Target="/ppt/media/image.jpeg" Id="Rb0f9d9c2a6bc467e" /><Relationship Type="http://schemas.openxmlformats.org/officeDocument/2006/relationships/image" Target="/ppt/media/image2.png" Id="Rd489d5852f824d85" /><Relationship Type="http://schemas.openxmlformats.org/officeDocument/2006/relationships/image" Target="/ppt/media/image3.png" Id="R63660c50f3c444c6" /><Relationship Type="http://schemas.openxmlformats.org/officeDocument/2006/relationships/image" Target="/ppt/media/image4.png" Id="Ra1adc710c31944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04890e1e584c73" /><Relationship Type="http://schemas.openxmlformats.org/officeDocument/2006/relationships/image" Target="/ppt/media/image2.png" Id="R4fc6dec83f194e3d" /><Relationship Type="http://schemas.openxmlformats.org/officeDocument/2006/relationships/image" Target="/ppt/media/image5.png" Id="Re6b94424e7af4a25" /><Relationship Type="http://schemas.openxmlformats.org/officeDocument/2006/relationships/image" Target="/ppt/media/image6.png" Id="R26a4bfa75d2e4f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67d31267b4ad2" /><Relationship Type="http://schemas.openxmlformats.org/officeDocument/2006/relationships/image" Target="/ppt/media/image7.png" Id="Ra5910431987d4725" /><Relationship Type="http://schemas.openxmlformats.org/officeDocument/2006/relationships/image" Target="/ppt/media/image8.png" Id="Rf489816f331342e5" /><Relationship Type="http://schemas.openxmlformats.org/officeDocument/2006/relationships/image" Target="/ppt/media/image6.png" Id="Rce73b7373c30446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5c4833cc74f23" /><Relationship Type="http://schemas.openxmlformats.org/officeDocument/2006/relationships/image" Target="/ppt/media/image2.png" Id="R5ca8fe2860a2496b" /><Relationship Type="http://schemas.openxmlformats.org/officeDocument/2006/relationships/image" Target="/ppt/media/image5.png" Id="Ra740727a091b4f49" /><Relationship Type="http://schemas.openxmlformats.org/officeDocument/2006/relationships/image" Target="/ppt/media/image6.png" Id="Rb709940262ad402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Picture 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d38f53cd494e66"/>
          <a:srcRect xmlns:a="http://schemas.openxmlformats.org/drawingml/2006/main" l="0" t="0" r="28542" b="0"/>
          <a:stretch xmlns:a="http://schemas.openxmlformats.org/drawingml/2006/main"/>
        </p:blipFill>
        <p:spPr>
          <a:xfrm xmlns:a="http://schemas.openxmlformats.org/drawingml/2006/main">
            <a:off x="8305801" y="3275239"/>
            <a:ext cx="3886200" cy="3592923"/>
          </a:xfrm>
          <a:prstGeom xmlns:a="http://schemas.openxmlformats.org/drawingml/2006/main" prst="rect">
            <a:avLst/>
          </a:prstGeom>
        </p:spPr>
      </p:pic>
      <p:pic>
        <p:nvPicPr>
          <p:cNvPr id="54" name="Picture 5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7d1efba8dd4416"/>
          <a:srcRect xmlns:a="http://schemas.openxmlformats.org/drawingml/2006/main" l="8578" t="2647" r="52326" b="52819"/>
          <a:stretch xmlns:a="http://schemas.openxmlformats.org/drawingml/2006/main"/>
        </p:blipFill>
        <p:spPr>
          <a:xfrm xmlns:a="http://schemas.openxmlformats.org/drawingml/2006/main">
            <a:off x="0" y="-44112"/>
            <a:ext cx="4213097" cy="3276514"/>
          </a:xfrm>
          <a:prstGeom xmlns:a="http://schemas.openxmlformats.org/drawingml/2006/main" prst="rect">
            <a:avLst/>
          </a:prstGeom>
        </p:spPr>
      </p:pic>
      <p:sp>
        <p:nvSpPr>
          <p:cNvPr id="50" name="Snip Diagonal Corner Rectangle 49">
            <a:extLst xmlns:a="http://schemas.openxmlformats.org/drawingml/2006/main">
              <a:ext uri="{FF2B5EF4-FFF2-40B4-BE49-F238E27FC236}">
                <a16:creationId xmlns:a16="http://schemas.microsoft.com/office/drawing/2014/main" id="{24C0398F-FDDB-46D9-A072-28014A2C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4117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27BC43-0E2C-4446-85B5-EA4D1D3E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7E18C5-B1CB-4D40-89F3-7386EF3EC00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339596" y="349543"/>
            <a:ext cx="9480804" cy="37211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5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F3599714-843B-49F8-9EBD-5983CDD5CE8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315200" y="95070"/>
            <a:ext cx="4668652" cy="50523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6B14545-4EF2-4F51-982A-4E87ED6B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Right Triangle 64">
            <a:extLst xmlns:a="http://schemas.openxmlformats.org/drawingml/2006/main">
              <a:ext uri="{FF2B5EF4-FFF2-40B4-BE49-F238E27FC236}">
                <a16:creationId xmlns:a16="http://schemas.microsoft.com/office/drawing/2014/main" id="{42662E1F-6951-496C-8D4D-7DC00AC2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7" y="-7284"/>
            <a:ext cx="914538" cy="914539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Right Triangle 65">
            <a:extLst xmlns:a="http://schemas.openxmlformats.org/drawingml/2006/main">
              <a:ext uri="{FF2B5EF4-FFF2-40B4-BE49-F238E27FC236}">
                <a16:creationId xmlns:a16="http://schemas.microsoft.com/office/drawing/2014/main" id="{9ADD6020-7203-44DC-869F-385E3DDD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5" y="-7284"/>
            <a:ext cx="800237" cy="80023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Right Triangle 66">
            <a:extLst xmlns:a="http://schemas.openxmlformats.org/drawingml/2006/main">
              <a:ext uri="{FF2B5EF4-FFF2-40B4-BE49-F238E27FC236}">
                <a16:creationId xmlns:a16="http://schemas.microsoft.com/office/drawing/2014/main" id="{B88C5735-1C0A-42F4-A13D-32C96A4E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1885" y="-13510"/>
            <a:ext cx="679451" cy="6810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ight Triangle 13">
            <a:extLst xmlns:a="http://schemas.openxmlformats.org/drawingml/2006/main">
              <a:ext uri="{FF2B5EF4-FFF2-40B4-BE49-F238E27FC236}">
                <a16:creationId xmlns:a16="http://schemas.microsoft.com/office/drawing/2014/main" id="{D8F7DD82-6A95-4F8A-A993-564EEBAA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399" y="5872387"/>
            <a:ext cx="996447" cy="9964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Right Triangle 60">
            <a:extLst xmlns:a="http://schemas.openxmlformats.org/drawingml/2006/main">
              <a:ext uri="{FF2B5EF4-FFF2-40B4-BE49-F238E27FC236}">
                <a16:creationId xmlns:a16="http://schemas.microsoft.com/office/drawing/2014/main" id="{CD9F30FA-1163-4B2B-BD2D-56000BC1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401" y="5872387"/>
            <a:ext cx="830368" cy="83036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Right Triangle 61">
            <a:extLst xmlns:a="http://schemas.openxmlformats.org/drawingml/2006/main">
              <a:ext uri="{FF2B5EF4-FFF2-40B4-BE49-F238E27FC236}">
                <a16:creationId xmlns:a16="http://schemas.microsoft.com/office/drawing/2014/main" id="{F24D6E41-2494-4D82-898B-41AE6A48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5873" y="5876864"/>
            <a:ext cx="668998" cy="67059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A151AE6B-5764-499C-9367-95D43B5BD9C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22211" y="142874"/>
            <a:ext cx="9271895" cy="676863"/>
          </a:xfrm>
          <a:prstGeom xmlns:a="http://schemas.openxmlformats.org/drawingml/2006/main" prst="roundRect">
            <a:avLst>
              <a:gd name="adj" fmla="val 1243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3600">
                <a:ln w="3175">
                  <a:noFill/>
                </a:ln>
                <a:solidFill>
                  <a:srgbClr val="DDAB18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A5EAFBC-016E-47C9-AC9A-4A10A989D932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139985" y="942531"/>
            <a:ext cx="11877187" cy="5596608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lr>
                <a:srgbClr val="CC9900"/>
              </a:buClr>
              <a:buFont typeface="Wingdings"/>
              <a:buChar char="Ø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Clr>
                <a:srgbClr val="CC9900"/>
              </a:buClr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375E792-7E83-431B-B96B-EC431265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18" y="6525500"/>
            <a:ext cx="476979" cy="338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1400A495-A80B-49F4-9B3C-48CB464754E0}" type="slidenum">
              <a:rPr sz="1600">
                <a:solidFill>
                  <a:schemeClr val="tx1">
                    <a:lumMod val="85000"/>
                    <a:lumOff val="15000"/>
                  </a:schemeClr>
                </a:solidFill>
              </a:rPr>
              <a:t>‹#›</a:t>
            </a:fld>
            <a:endParaRPr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0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6e5325f9c540e1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278CB0D9-8187-4D11-A791-64BB393D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17735"/>
            <a:ext cx="2002246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92" name="Picture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25700f16741de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70" name="Straight Connector 69">
            <a:extLst xmlns:a="http://schemas.openxmlformats.org/drawingml/2006/main">
              <a:ext uri="{FF2B5EF4-FFF2-40B4-BE49-F238E27FC236}">
                <a16:creationId xmlns:a16="http://schemas.microsoft.com/office/drawing/2014/main" id="{1D08581F-D4E2-440A-BF03-B06DC84D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83A13FDC-9330-4927-AD70-CC38B1AB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9B80C4BB-46FC-4EF4-995E-3B5AECBB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6" name="Picture 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d34c4cc14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SMSVC_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04936CA-6FB7-4160-AE7A-FF150607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9F93E985-6DE1-4FC9-BE8D-FC3A75C49CA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352803" y="2745581"/>
            <a:ext cx="9474199" cy="136683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4800" b="1" kern="1200">
                <a:ln w="3175">
                  <a:noFill/>
                </a:ln>
                <a:solidFill>
                  <a:srgbClr val="DDAB1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6" name="Right Triangle 35">
            <a:extLst xmlns:a="http://schemas.openxmlformats.org/drawingml/2006/main">
              <a:ext uri="{FF2B5EF4-FFF2-40B4-BE49-F238E27FC236}">
                <a16:creationId xmlns:a16="http://schemas.microsoft.com/office/drawing/2014/main" id="{43C35B41-0786-4808-8468-1F46C8E1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7" y="2356"/>
            <a:ext cx="3192910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Right Triangle 37">
            <a:extLst xmlns:a="http://schemas.openxmlformats.org/drawingml/2006/main">
              <a:ext uri="{FF2B5EF4-FFF2-40B4-BE49-F238E27FC236}">
                <a16:creationId xmlns:a16="http://schemas.microsoft.com/office/drawing/2014/main" id="{38F52935-A4E1-4E30-A83A-4B50A603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0" y="235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Right Triangle 38">
            <a:extLst xmlns:a="http://schemas.openxmlformats.org/drawingml/2006/main">
              <a:ext uri="{FF2B5EF4-FFF2-40B4-BE49-F238E27FC236}">
                <a16:creationId xmlns:a16="http://schemas.microsoft.com/office/drawing/2014/main" id="{952496F5-3923-490B-8216-09BF4158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0137" y="-15263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ight Triangle 40">
            <a:extLst xmlns:a="http://schemas.openxmlformats.org/drawingml/2006/main">
              <a:ext uri="{FF2B5EF4-FFF2-40B4-BE49-F238E27FC236}">
                <a16:creationId xmlns:a16="http://schemas.microsoft.com/office/drawing/2014/main" id="{FB6398DD-ABBA-45B1-81B2-FB5272F8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299" y="3665090"/>
            <a:ext cx="3192911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ight Triangle 41">
            <a:extLst xmlns:a="http://schemas.openxmlformats.org/drawingml/2006/main">
              <a:ext uri="{FF2B5EF4-FFF2-40B4-BE49-F238E27FC236}">
                <a16:creationId xmlns:a16="http://schemas.microsoft.com/office/drawing/2014/main" id="{B8D572C5-FFE5-4AB0-A749-EEF31563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306" y="366509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Right Triangle 42">
            <a:extLst xmlns:a="http://schemas.openxmlformats.org/drawingml/2006/main">
              <a:ext uri="{FF2B5EF4-FFF2-40B4-BE49-F238E27FC236}">
                <a16:creationId xmlns:a16="http://schemas.microsoft.com/office/drawing/2014/main" id="{2D1C6C14-55B5-46B0-95BA-F8B752E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12072" y="3660174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9" name="Picture 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54c9cdfba649ad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5F2C1212-13A7-4F85-9D3C-2BCE3FB5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17735"/>
            <a:ext cx="1999071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71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8491f4ffa439a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54" name="Straight Connector 53">
            <a:extLst xmlns:a="http://schemas.openxmlformats.org/drawingml/2006/main">
              <a:ext uri="{FF2B5EF4-FFF2-40B4-BE49-F238E27FC236}">
                <a16:creationId xmlns:a16="http://schemas.microsoft.com/office/drawing/2014/main" id="{E97CC8BF-DA06-415A-ABDF-ED114775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92C75449-6050-4EDF-B153-BD4DE37D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9D7F50A3-5D11-48FC-BA31-3E3FE649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5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c2e8a2f1c4c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SMSVC_Conclus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Picture 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060c8e74044c03"/>
          <a:srcRect xmlns:a="http://schemas.openxmlformats.org/drawingml/2006/main" l="0" t="0" r="30193" b="0"/>
          <a:stretch xmlns:a="http://schemas.openxmlformats.org/drawingml/2006/main"/>
        </p:blipFill>
        <p:spPr>
          <a:xfrm xmlns:a="http://schemas.openxmlformats.org/drawingml/2006/main">
            <a:off x="8394040" y="3276399"/>
            <a:ext cx="3796425" cy="3592923"/>
          </a:xfrm>
          <a:prstGeom xmlns:a="http://schemas.openxmlformats.org/drawingml/2006/main" prst="rect">
            <a:avLst/>
          </a:prstGeom>
        </p:spPr>
      </p:pic>
      <p:pic>
        <p:nvPicPr>
          <p:cNvPr id="46" name="Picture 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f9d9c2a6bc467e"/>
          <a:srcRect xmlns:a="http://schemas.openxmlformats.org/drawingml/2006/main" l="8727" t="0" r="52326" b="52820"/>
          <a:stretch xmlns:a="http://schemas.openxmlformats.org/drawingml/2006/main"/>
        </p:blipFill>
        <p:spPr>
          <a:xfrm xmlns:a="http://schemas.openxmlformats.org/drawingml/2006/main">
            <a:off x="0" y="-42257"/>
            <a:ext cx="4197020" cy="3471257"/>
          </a:xfrm>
          <a:prstGeom xmlns:a="http://schemas.openxmlformats.org/drawingml/2006/main" prst="rect">
            <a:avLst/>
          </a:prstGeom>
        </p:spPr>
      </p:pic>
      <p:sp>
        <p:nvSpPr>
          <p:cNvPr id="33" name="Snip Diagonal Corner Rectangle 32">
            <a:extLst xmlns:a="http://schemas.openxmlformats.org/drawingml/2006/main">
              <a:ext uri="{FF2B5EF4-FFF2-40B4-BE49-F238E27FC236}">
                <a16:creationId xmlns:a16="http://schemas.microsoft.com/office/drawing/2014/main" id="{E280CBD3-03E5-49AD-8A9D-363B4B20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8EF3B71-39DB-4FC3-BE7E-19889762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40" y="1781563"/>
            <a:ext cx="304316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9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89d5852f824d85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5300092" y="5353249"/>
            <a:ext cx="1677936" cy="856090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F0E7BFD-40BE-4DA5-BF16-632276E6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00273"/>
            <a:ext cx="305934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DEA46F1-A72C-4B74-B63F-DF38EEE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8544" y="3965839"/>
            <a:ext cx="3373256" cy="1320652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More Information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pnw.edu/civs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steelconsortium.org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235D33B6-EEB9-49B6-B4F8-AFC94112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3590" y="2244680"/>
            <a:ext cx="3043164" cy="1680127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Contact Us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civs@pnw.edu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219.989.2765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6C59BC-ED67-424E-8363-D72C01A0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498" y="3552346"/>
            <a:ext cx="184731" cy="769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4400" b="1" kern="120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5BFEBC7-EBF3-4FE5-A326-3BEB02FB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04" y="2694707"/>
            <a:ext cx="2951449" cy="19389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Questions?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40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Comments?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3AA7502-4AEC-43B3-95E8-99871B40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06" y="646459"/>
            <a:ext cx="4437882" cy="110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6600" b="1">
                <a:solidFill>
                  <a:srgbClr val="CC9900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pic>
        <p:nvPicPr>
          <p:cNvPr id="5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60c50f3c444c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7460" y="2339763"/>
            <a:ext cx="1739774" cy="744981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AFFF623-CD40-432C-97B9-6885876C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4177" y="4625962"/>
            <a:ext cx="206976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rgbClr val="D6A616"/>
                </a:solidFill>
                <a:latin typeface="Monotype Corsiva"/>
                <a:ea typeface="Monotype Corsiva"/>
                <a:cs typeface="Monotype Corsiva"/>
              </a:rPr>
              <a:t>“Where Ideas Become Reality”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8A614393-087F-4BF9-B6E7-028A4913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891" y="3701648"/>
            <a:ext cx="914120" cy="88233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9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dc710c31944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61408" y="3650544"/>
            <a:ext cx="1007015" cy="96522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userDrawn="1">
  <p:cSld name="SMSVC_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7CFF9DD-6C6B-4EC6-ACB2-8BC6A610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0AD2F3-F721-4D18-9472-0040556C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17A5A96-57BC-450A-8649-74C0CB86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DAD0193C-050C-42DC-9097-E036E92A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9016089-F16F-4E98-81A6-3DAFD3D8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pnw.edu/</a:t>
            </a:r>
            <a:r>
              <a:rPr sz="1000">
                <a:solidFill>
                  <a:schemeClr val="tx1"/>
                </a:solidFill>
              </a:rPr>
              <a:t>civs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77CD324-53E7-486B-8ABC-7A7E7B1C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8C0521A-E651-4C75-997F-DEC1397A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CEB23A"/>
              </a:gs>
              <a:gs pos="24000">
                <a:srgbClr val="DBC671"/>
              </a:gs>
              <a:gs pos="100000">
                <a:srgbClr val="D9C368"/>
              </a:gs>
              <a:gs pos="11000">
                <a:srgbClr val="E6D89A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A162F62-56F7-45D4-9ACD-7A2ED867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BEBE79-B4D3-4D96-8142-9F146C99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7429 w 2464238"/>
              <a:gd name="connsiteY0" fmla="*/ 0 h 539269"/>
              <a:gd name="connsiteX1" fmla="*/ 2464238 w 2464238"/>
              <a:gd name="connsiteY1" fmla="*/ 7010 h 539269"/>
              <a:gd name="connsiteX2" fmla="*/ 2464238 w 2464238"/>
              <a:gd name="connsiteY2" fmla="*/ 525394 h 539269"/>
              <a:gd name="connsiteX3" fmla="*/ 0 w 2464238"/>
              <a:gd name="connsiteY3" fmla="*/ 539269 h 539269"/>
              <a:gd name="connsiteX4" fmla="*/ 637429 w 2464238"/>
              <a:gd name="connsiteY4" fmla="*/ 0 h 539269"/>
            </a:gdLst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/>
              </a:gs>
              <a:gs pos="16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itle 11">
            <a:extLst xmlns:a="http://schemas.openxmlformats.org/drawingml/2006/main">
              <a:ext uri="{FF2B5EF4-FFF2-40B4-BE49-F238E27FC236}">
                <a16:creationId xmlns:a16="http://schemas.microsoft.com/office/drawing/2014/main" id="{54C36FF2-6275-4C9D-A90C-7BC107A7BF2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1" y="16065"/>
            <a:ext cx="8423857" cy="529494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7C22DE52-3429-44DA-B0A6-1F3EBAB4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184229-FD13-48C4-B448-114F1FF335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pic>
        <p:nvPicPr>
          <p:cNvPr id="42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6dec83f194e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</p:spPr>
      </p:pic>
      <p:pic>
        <p:nvPicPr>
          <p:cNvPr id="43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94424e7af4a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3B9E6B-0EF9-4288-BE8F-189E23C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96EFFFF-828C-4F40-A2E4-78B38FA2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pic>
        <p:nvPicPr>
          <p:cNvPr id="4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4bfa75d2e4f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3_SMSVC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F0FA432-BA93-4A2B-BE6A-86033CC7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083E72-97DC-4561-B2AE-4FDB28BD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centers.pnw.edu/civs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9D370EC-B9A7-498F-AD14-719064DD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D3623AE-5331-4428-8A0A-4DB41840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7" y="-1286"/>
            <a:ext cx="12226644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DBC671"/>
              </a:gs>
              <a:gs pos="100000">
                <a:srgbClr val="D9C368"/>
              </a:gs>
            </a:gsLst>
            <a:lin ang="16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3892ED-CB36-4C9B-B6B0-50650F04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412" y="-1285"/>
            <a:ext cx="3609587" cy="856626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394999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394999 w 2538368"/>
              <a:gd name="connsiteY4" fmla="*/ 0 h 539269"/>
            </a:gdLst>
            <a:rect l="l" t="t" r="r" b="b"/>
            <a:pathLst>
              <a:path w="2538368" h="539269">
                <a:moveTo>
                  <a:pt x="394999" y="0"/>
                </a:moveTo>
                <a:lnTo>
                  <a:pt x="2538368" y="7010"/>
                </a:lnTo>
                <a:lnTo>
                  <a:pt x="2538368" y="525394"/>
                </a:lnTo>
                <a:lnTo>
                  <a:pt x="0" y="539269"/>
                </a:lnTo>
                <a:cubicBezTo>
                  <a:pt x="397459" y="363714"/>
                  <a:pt x="-7581" y="224444"/>
                  <a:pt x="39499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EF6843-5815-4DF4-BCA3-C9480D42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498" y="-10906"/>
            <a:ext cx="3531516" cy="867985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456844 w 2538368"/>
              <a:gd name="connsiteY0" fmla="*/ 7151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56844 w 2538368"/>
              <a:gd name="connsiteY4" fmla="*/ 7151 h 546420"/>
              <a:gd name="connsiteX0" fmla="*/ 420451 w 2538368"/>
              <a:gd name="connsiteY0" fmla="*/ 1155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20451 w 2538368"/>
              <a:gd name="connsiteY4" fmla="*/ 1155 h 546420"/>
            </a:gdLst>
            <a:rect l="l" t="t" r="r" b="b"/>
            <a:pathLst>
              <a:path w="2538368" h="546420">
                <a:moveTo>
                  <a:pt x="420451" y="1155"/>
                </a:moveTo>
                <a:lnTo>
                  <a:pt x="2538368" y="0"/>
                </a:lnTo>
                <a:lnTo>
                  <a:pt x="2538368" y="532545"/>
                </a:lnTo>
                <a:lnTo>
                  <a:pt x="0" y="546420"/>
                </a:lnTo>
                <a:cubicBezTo>
                  <a:pt x="397459" y="370865"/>
                  <a:pt x="17871" y="225599"/>
                  <a:pt x="420451" y="115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tx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F02527FE-3048-4D4B-8A8C-096E669B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" y="-1286"/>
            <a:ext cx="12222073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tx1">
                  <a:alpha val="10000"/>
                </a:schemeClr>
              </a:gs>
              <a:gs pos="23000">
                <a:srgbClr val="F5F0DA">
                  <a:alpha val="0"/>
                </a:srgbClr>
              </a:gs>
              <a:gs pos="11000">
                <a:srgbClr val="F8F5E5">
                  <a:alpha val="20000"/>
                </a:srgbClr>
              </a:gs>
              <a:gs pos="100000">
                <a:schemeClr val="tx1">
                  <a:alpha val="15000"/>
                </a:schemeClr>
              </a:gs>
            </a:gsLst>
            <a:lin ang="5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itle 11">
            <a:extLst xmlns:a="http://schemas.openxmlformats.org/drawingml/2006/main">
              <a:ext uri="{FF2B5EF4-FFF2-40B4-BE49-F238E27FC236}">
                <a16:creationId xmlns:a16="http://schemas.microsoft.com/office/drawing/2014/main" id="{C2327833-6247-41EB-88BD-41771B04F5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0" y="35115"/>
            <a:ext cx="8944144" cy="736411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pic>
        <p:nvPicPr>
          <p:cNvPr id="69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10431987d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7431" y="225739"/>
            <a:ext cx="1101069" cy="411320"/>
          </a:xfrm>
          <a:prstGeom xmlns:a="http://schemas.openxmlformats.org/drawingml/2006/main" prst="rect">
            <a:avLst/>
          </a:prstGeom>
        </p:spPr>
      </p:pic>
      <p:pic>
        <p:nvPicPr>
          <p:cNvPr id="70" name="Pictur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9816f331342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3850" y="218421"/>
            <a:ext cx="582999" cy="428610"/>
          </a:xfrm>
          <a:prstGeom xmlns:a="http://schemas.openxmlformats.org/drawingml/2006/main" prst="rect">
            <a:avLst/>
          </a:prstGeom>
        </p:spPr>
      </p:pic>
      <p:pic>
        <p:nvPicPr>
          <p:cNvPr id="71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3b7373c304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3667" y="209952"/>
            <a:ext cx="1294220" cy="430698"/>
          </a:xfrm>
          <a:prstGeom xmlns:a="http://schemas.openxmlformats.org/drawingml/2006/main" prst="rect">
            <a:avLst/>
          </a:prstGeom>
        </p:spPr>
      </p:pic>
      <p:sp>
        <p:nvSpPr>
          <p:cNvPr id="5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9D691B9-E115-43C6-B42A-CB2C5D7C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55" y="6637572"/>
            <a:ext cx="4383645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F18DB2-8296-46D3-AA9F-8077A813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80" y="6635388"/>
            <a:ext cx="415002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C2704BAE-0A05-4529-88BA-58E44CE2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771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5931AF1-1B25-476E-8B38-52E80D38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799" y="6627907"/>
            <a:ext cx="3184095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56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3374DD68-6BA4-4FF8-9824-C3D4A53C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85754" y="6634175"/>
            <a:ext cx="822119" cy="238113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7EFCAC-EA07-464E-A16C-5678FAEE43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909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D0F6493-9E0E-48B6-8BD9-E32D7A34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828675"/>
            <a:ext cx="12182247" cy="57992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matchingName="1_SMSVC_Title_and_Content">
  <p:cSld name="2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0">
            <a:extLst xmlns:a="http://schemas.openxmlformats.org/drawingml/2006/main">
              <a:ext uri="{FF2B5EF4-FFF2-40B4-BE49-F238E27FC236}">
                <a16:creationId xmlns:a16="http://schemas.microsoft.com/office/drawing/2014/main" id="{CFC63767-1BAF-41EE-B30C-EDA71017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AC56C"/>
              </a:gs>
              <a:gs pos="85000">
                <a:srgbClr val="E3D38D"/>
              </a:gs>
              <a:gs pos="100000">
                <a:srgbClr val="D0B646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10">
            <a:extLst xmlns:a="http://schemas.openxmlformats.org/drawingml/2006/main">
              <a:ext uri="{FF2B5EF4-FFF2-40B4-BE49-F238E27FC236}">
                <a16:creationId xmlns:a16="http://schemas.microsoft.com/office/drawing/2014/main" id="{C012C1DD-BC9B-4F67-A6B0-60B01291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Google Shape;25;p10">
            <a:extLst xmlns:a="http://schemas.openxmlformats.org/drawingml/2006/main">
              <a:ext uri="{FF2B5EF4-FFF2-40B4-BE49-F238E27FC236}">
                <a16:creationId xmlns:a16="http://schemas.microsoft.com/office/drawing/2014/main" id="{63733D15-9FB0-4E59-9CD2-6B8B3840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85000">
                <a:srgbClr val="454545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Google Shape;26;p10">
            <a:extLst xmlns:a="http://schemas.openxmlformats.org/drawingml/2006/main">
              <a:ext uri="{FF2B5EF4-FFF2-40B4-BE49-F238E27FC236}">
                <a16:creationId xmlns:a16="http://schemas.microsoft.com/office/drawing/2014/main" id="{838E9E06-3840-444C-997D-641322CD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Google Shape;27;p10">
            <a:extLst xmlns:a="http://schemas.openxmlformats.org/drawingml/2006/main">
              <a:ext uri="{FF2B5EF4-FFF2-40B4-BE49-F238E27FC236}">
                <a16:creationId xmlns:a16="http://schemas.microsoft.com/office/drawing/2014/main" id="{DB3D67B3-74F4-4C21-B81A-3666B4F2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pnw.edu/civs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Google Shape;28;p10">
            <a:extLst xmlns:a="http://schemas.openxmlformats.org/drawingml/2006/main">
              <a:ext uri="{FF2B5EF4-FFF2-40B4-BE49-F238E27FC236}">
                <a16:creationId xmlns:a16="http://schemas.microsoft.com/office/drawing/2014/main" id="{19E486E9-371E-4031-9379-9C36B8D6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2F2F2"/>
                </a:solidFill>
                <a:latin typeface="Arial"/>
                <a:ea typeface="Arial"/>
                <a:cs typeface="Arial"/>
              </a:rPr>
              <a:t>civs@pnw.edu</a:t>
            </a:r>
            <a:endParaRPr/>
          </a:p>
        </p:txBody>
      </p:sp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18AFA219-279B-400D-8044-7AF3AC24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EB23A"/>
              </a:gs>
              <a:gs pos="11000">
                <a:srgbClr val="E6D89A"/>
              </a:gs>
              <a:gs pos="24000">
                <a:srgbClr val="DBC671"/>
              </a:gs>
              <a:gs pos="100000">
                <a:srgbClr val="D9C36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C39FEEDB-917D-4042-B00A-1C835B6F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8D8D8"/>
              </a:gs>
              <a:gs pos="100000">
                <a:schemeClr val="lt1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9A0DEB3C-2FF1-4105-917B-A535BE4E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16000">
                <a:srgbClr val="595959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Google Shape;32;p10">
            <a:extLst xmlns:a="http://schemas.openxmlformats.org/drawingml/2006/main">
              <a:ext uri="{FF2B5EF4-FFF2-40B4-BE49-F238E27FC236}">
                <a16:creationId xmlns:a16="http://schemas.microsoft.com/office/drawing/2014/main" id="{6823DE58-8618-4ACD-A865-CB2C176D0A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41" y="16065"/>
            <a:ext cx="8423857" cy="529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182875" rIns="91425" bIns="1828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600">
                <a:solidFill>
                  <a:schemeClr val="dk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499A6C38-D123-4B5F-A85A-DB6D777A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oogle Shape;34;p10">
            <a:extLst xmlns:a="http://schemas.openxmlformats.org/drawingml/2006/main">
              <a:ext uri="{FF2B5EF4-FFF2-40B4-BE49-F238E27FC236}">
                <a16:creationId xmlns:a16="http://schemas.microsoft.com/office/drawing/2014/main" id="{1CF486A1-38CC-4661-8EE9-AFBED56287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5" name="Google Shape;35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a8fe2860a249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36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40727a091b4f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DA2D7CCA-C44B-4012-B113-3388F1A5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42582B33-326A-474B-A85B-959CA08D02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3200" y="613230"/>
            <a:ext cx="11785600" cy="5939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⮚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028BD70C-3C4A-4EB8-868C-DAF1EAB6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chemeClr val="dk1"/>
                </a:solidFill>
                <a:latin typeface="Corsiva"/>
                <a:ea typeface="Corsiva"/>
                <a:cs typeface="Corsiva"/>
              </a:rPr>
              <a:t>“Where Ideas Become Reality”</a:t>
            </a:r>
            <a:endParaRPr/>
          </a:p>
        </p:txBody>
      </p:sp>
      <p:pic>
        <p:nvPicPr>
          <p:cNvPr id="60" name="Google Shape;4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09940262ad40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8f2359a5f04b11" /><Relationship Type="http://schemas.openxmlformats.org/officeDocument/2006/relationships/slideLayout" Target="/ppt/slideLayouts/slideLayout1.xml" Id="Rfce1ccf85577404e" /><Relationship Type="http://schemas.openxmlformats.org/officeDocument/2006/relationships/slideLayout" Target="/ppt/slideLayouts/slideLayout2.xml" Id="R1c07a6ad77b24ffe" /><Relationship Type="http://schemas.openxmlformats.org/officeDocument/2006/relationships/slideLayout" Target="/ppt/slideLayouts/slideLayout3.xml" Id="Rb879445207fb4bd1" /><Relationship Type="http://schemas.openxmlformats.org/officeDocument/2006/relationships/slideLayout" Target="/ppt/slideLayouts/slideLayout4.xml" Id="R63aa440c8199480b" /><Relationship Type="http://schemas.openxmlformats.org/officeDocument/2006/relationships/slideLayout" Target="/ppt/slideLayouts/slideLayout5.xml" Id="R5cb17d64942741c1" /><Relationship Type="http://schemas.openxmlformats.org/officeDocument/2006/relationships/slideLayout" Target="/ppt/slideLayouts/slideLayout6.xml" Id="R08489c978c914c10" /><Relationship Type="http://schemas.openxmlformats.org/officeDocument/2006/relationships/slideLayout" Target="/ppt/slideLayouts/slideLayout7.xml" Id="R697c35a284f649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AE334F1-2E41-4EF9-9448-5988B251BF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205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B015122-5F27-452D-8011-38787CF5E6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F4EDDC1-6F38-4437-8FFE-FB1084642F7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2A9660-8DE3-4932-9647-6860AE671FC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0D9D378-5776-4886-992D-3B9CE011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72200"/>
            <a:ext cx="111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e1ccf85577404e"/>
    <p:sldLayoutId xmlns:r="http://schemas.openxmlformats.org/officeDocument/2006/relationships" id="2147483650" r:id="R1c07a6ad77b24ffe"/>
    <p:sldLayoutId xmlns:r="http://schemas.openxmlformats.org/officeDocument/2006/relationships" id="2147483651" r:id="Rb879445207fb4bd1"/>
    <p:sldLayoutId xmlns:r="http://schemas.openxmlformats.org/officeDocument/2006/relationships" id="2147483652" r:id="R63aa440c8199480b"/>
    <p:sldLayoutId xmlns:r="http://schemas.openxmlformats.org/officeDocument/2006/relationships" id="2147483653" r:id="R5cb17d64942741c1"/>
    <p:sldLayoutId xmlns:r="http://schemas.openxmlformats.org/officeDocument/2006/relationships" id="2147483654" r:id="R08489c978c914c10"/>
    <p:sldLayoutId xmlns:r="http://schemas.openxmlformats.org/officeDocument/2006/relationships" id="2147483655" r:id="R697c35a284f64933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200" b="1" kern="1200">
          <a:solidFill>
            <a:srgbClr val="CC9900"/>
          </a:solidFill>
          <a:latin typeface="Arial"/>
          <a:ea typeface="Arial"/>
          <a:cs typeface="Arial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Wingdings"/>
        <a:buChar char="Ø"/>
        <a:defRPr sz="3200" kern="1200">
          <a:solidFill>
            <a:srgbClr val="D7C05F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3541b761d2d41f3" /><Relationship Type="http://schemas.openxmlformats.org/officeDocument/2006/relationships/notesSlide" Target="/ppt/notesSlides/notesSlide1.xml" Id="R5090e69d672942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6f9eb192b4e3e" /><Relationship Type="http://schemas.openxmlformats.org/officeDocument/2006/relationships/image" Target="/ppt/media/image2.jpeg" Id="R68d80543eb904d6a" /><Relationship Type="http://schemas.openxmlformats.org/officeDocument/2006/relationships/notesSlide" Target="/ppt/notesSlides/notesSlide2.xml" Id="R3c596bbb882441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6e0178bdb5487a" /><Relationship Type="http://schemas.openxmlformats.org/officeDocument/2006/relationships/notesSlide" Target="/ppt/notesSlides/notesSlide3.xml" Id="R0701df4f724944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509045fc1c4795" /><Relationship Type="http://schemas.openxmlformats.org/officeDocument/2006/relationships/chart" Target="/ppt/slides/charts/chart1.xml" Id="Rb6e1350cfc0b400a" /><Relationship Type="http://schemas.openxmlformats.org/officeDocument/2006/relationships/notesSlide" Target="/ppt/notesSlides/notesSlide4.xml" Id="R4f47a74933db4d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91929212744c8a" /><Relationship Type="http://schemas.openxmlformats.org/officeDocument/2006/relationships/notesSlide" Target="/ppt/notesSlides/notesSlide5.xml" Id="Rc5617534dcd24b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faf6e4febc43b5" /><Relationship Type="http://schemas.openxmlformats.org/officeDocument/2006/relationships/image" Target="/ppt/media/image3.jpeg" Id="R4c049380b47e4f97" /><Relationship Type="http://schemas.openxmlformats.org/officeDocument/2006/relationships/notesSlide" Target="/ppt/notesSlides/notesSlide6.xml" Id="R531418c3df604d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02d857e7504d98" /><Relationship Type="http://schemas.openxmlformats.org/officeDocument/2006/relationships/notesSlide" Target="/ppt/notesSlides/notesSlide7.xml" Id="R6b6d2d6cf60447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36f62c356541c9" /><Relationship Type="http://schemas.openxmlformats.org/officeDocument/2006/relationships/notesSlide" Target="/ppt/notesSlides/notesSlide8.xml" Id="R3aa99b2ab95c44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V1</c:v>
          </c:tx>
          <c:spPr>
            <a:solidFill xmlns:a="http://schemas.openxmlformats.org/drawingml/2006/main">
              <a:srgbClr val="8CADAE"/>
            </a:solidFill>
          </c:spPr>
          <c:cat>
            <c:strRef>
              <c:f>'Chart Data'!$A$2:$A$4</c:f>
              <c:strCache>
                <c:ptCount val="3"/>
                <c:pt idx="0">
                  <c:v>Board nodes</c:v>
                </c:pt>
                <c:pt idx="1">
                  <c:v>Active links</c:v>
                </c:pt>
                <c:pt idx="2">
                  <c:v>Verified links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V2</c:v>
          </c:tx>
          <c:spPr>
            <a:solidFill xmlns:a="http://schemas.openxmlformats.org/drawingml/2006/main">
              <a:srgbClr val="DDAB18"/>
            </a:solidFill>
          </c:spPr>
          <c:cat>
            <c:strRef>
              <c:f>'Chart Data'!$C$2:$C$4</c:f>
              <c:strCache>
                <c:ptCount val="3"/>
                <c:pt idx="0">
                  <c:v>Board nodes</c:v>
                </c:pt>
                <c:pt idx="1">
                  <c:v>Active links</c:v>
                </c:pt>
                <c:pt idx="2">
                  <c:v>Verified links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9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522AC-8239-41AD-B45D-45B91CD4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914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Project #19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Standalone Root Cause Analysis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C403B-9CB4-4B60-BBB5-1B5C3FF7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958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Progress through 22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260632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97C71-29A3-4F8E-BD67-3260B033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55525-7578-477F-97F6-426FCC7E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0668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Current investigation workspace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80543eb904d6a"/>
          <a:stretch xmlns:a="http://schemas.openxmlformats.org/drawingml/2006/main"/>
        </p:blipFill>
        <p:spPr>
          <a:xfrm xmlns:a="http://schemas.openxmlformats.org/drawingml/2006/main">
            <a:off x="4381500" y="1564999"/>
            <a:ext cx="7334250" cy="412805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4C07E-6FF6-40E8-AC7D-903776C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JULY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AE4C1-13D7-4993-ADE6-16566EBA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9725"/>
            <a:ext cx="366712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Stepwise RCA concept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Initial causal mapping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Qwen testing planned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75FCF-B4AB-4CDE-8EE5-A143EDFD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3571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SINCE JULY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B0E6F-3A5C-4886-8472-23EE6CC5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3667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Preserved investigations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Evidence-driven revisions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Recorded Qwen experiments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11FCC-F2F3-4E8E-BD73-D6F46ED9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626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Prototype implemented. Causal quality remains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8441928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673778-0FDC-4D9F-A9FB-7653D01D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How the Investigation Now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E4FC6-1D59-4CF6-8891-2CE299BB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76325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One incident develops through evidence and successive saved versions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BC6F5-A029-40D5-B3D2-A1F0A233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33575"/>
            <a:ext cx="2190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C63CC-D728-4497-AD1C-5B27EE23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Incident +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821B7-271B-4962-A527-03DA3B36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Original sources retained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683A5-9ADA-4CD6-AC75-45C782AF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2190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EB73C-4455-46D9-B9AA-73FEE27D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0669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Initial understanding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D3E2C-F014-4262-AA93-C1BD1127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Entities and possible explanations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DE2D8-8E68-497F-806E-9066F00C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33575"/>
            <a:ext cx="2190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1B93A-C241-47E0-8AA9-ED7F90C2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669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Targeted expertise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A03C6-4A79-4D35-A327-FBC3C3CB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6222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Relevant specialist questions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14625" y="25908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67375" y="25908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2A0DC-011C-4528-9BF6-F307899E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90975"/>
            <a:ext cx="21907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98135-04EE-4EED-A7BA-C9E5F5E4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1243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Questions + answers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F0196-E1D1-409E-8D3A-B2393953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1962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Broker requests and source-backed answers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AD656F-F6DA-49C2-95DD-4DC43643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90975"/>
            <a:ext cx="21907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FAC12-6026-417F-9457-466253FF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243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Review +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3F183-DFFB-479A-A18F-D09D28B5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61962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Facts, causal roles and connections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152C7-7883-41ED-B18B-81804412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90975"/>
            <a:ext cx="21907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98BC0-342C-4F07-8446-CD5FAF22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243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Saved V1 / V2 / V3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B2C15-3A90-4C3E-9109-BA3DB17C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1962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Board, evidence and open questions</a:t>
            </a:r>
          </a:p>
        </p:txBody>
      </p: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524750" y="3248025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667375" y="46767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2714625" y="46767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8BF9C-82AF-48F3-97CC-7625B27C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24150"/>
            <a:ext cx="2171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NEW</a:t>
            </a:r>
          </a:p>
          <a:p xmlns:a="http://schemas.openxmlformats.org/drawingml/2006/main">
            <a:pPr algn="ctr">
              <a:defRPr sz="21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6F7E4B-3475-489C-A4DB-FFC4C207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24300"/>
            <a:ext cx="22479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03478-2338-4A1B-9381-47F2393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576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Later records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DD70CE-B4B2-4027-9619-807C7547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52950"/>
            <a:ext cx="2019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Answers or corrections</a:t>
            </a:r>
          </a:p>
        </p:txBody>
      </p:sp>
      <p:cxnSp>
        <p:nvCxnSpPr>
          <p:cNvPr id="61" name=""/>
          <p:cNvCxnSpPr>
            <a:stCxn xmlns:a="http://schemas.openxmlformats.org/drawingml/2006/main" id="27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620125" y="4610100"/>
            <a:ext cx="561975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7A400"/>
            </a:solidFill>
            <a:head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17D6D-9662-4E8A-9B26-2C035A0E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New information can strengthen, challenge or withdraw an explanation.</a:t>
            </a:r>
          </a:p>
        </p:txBody>
      </p:sp>
    </p:spTree>
    <p:extLst>
      <p:ext uri="{BB962C8B-B14F-4D97-AF65-F5344CB8AC3E}">
        <p14:creationId xmlns:p14="http://schemas.microsoft.com/office/powerpoint/2010/main" val="3538148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69D1E-387F-40EA-8D8C-7167AB78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What Changed Between V1 and 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D4F33-49F9-4C03-AC00-49D500AA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7632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Instrument-air case: saved partial investigations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76250" y="1971675"/>
          <a:ext xmlns:a="http://schemas.openxmlformats.org/drawingml/2006/main" cx="6315075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e1350cfc0b400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6B27B-7AFB-494B-B3C3-92F084D8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95450"/>
            <a:ext cx="417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 concrete issue found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F2161-AB9A-46CA-AF98-8863641B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05075"/>
            <a:ext cx="17430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FD06F-FC72-4EE8-9343-47FF7A18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38425"/>
            <a:ext cx="1514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Pressure loss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461FA-156E-4969-9F86-9BCC5576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05075"/>
            <a:ext cx="174307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000E0-9066-4971-88FA-A17B5236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38425"/>
            <a:ext cx="1514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Recovery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239250" y="29527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>
            <a:off x="8367713" y="3400425"/>
            <a:ext cx="233362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D16349"/>
            </a:solidFill>
            <a:head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4BC33-3603-4434-861D-FF44835D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4248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V1 retained both directions</a:t>
            </a:r>
          </a:p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for the “preceded” relationship.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E3CE72-B2F5-452A-A79E-A52BE6E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42195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More evidence expanded the board,</a:t>
            </a:r>
          </a:p>
          <a:p xmlns:a="http://schemas.openxmlformats.org/drawingml/2006/main">
            <a:pPr algn="l">
              <a:defRPr sz="1875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but did not resolve key causal errors.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6068C-50C2-4C2C-8D37-8EEAD998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1502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5 to 9 nodes. Verified connections stayed at 0.</a:t>
            </a:r>
          </a:p>
        </p:txBody>
      </p:sp>
    </p:spTree>
    <p:extLst>
      <p:ext uri="{BB962C8B-B14F-4D97-AF65-F5344CB8AC3E}">
        <p14:creationId xmlns:p14="http://schemas.microsoft.com/office/powerpoint/2010/main" val="16522830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67A403-7329-4321-A98D-5D6F9508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Improvements to Evidence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92F57-CB8B-4F61-BB05-33359FFC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0668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Corrections now have an explicit route back to the investigation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848BA-9CFF-458A-BC6B-3F06316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238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43560-4D19-4531-93A5-B264F3D4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00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53D42-C13E-4434-8BF8-6A9C29B5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2009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Preserved originals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4A2CD-F744-451B-8B64-F24F8BB2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00250"/>
            <a:ext cx="2238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56C7C-BC34-485D-949A-41BF3C8B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33600"/>
            <a:ext cx="200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Proposed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EB4BB-892D-4181-BF56-C14CE493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28900"/>
            <a:ext cx="2009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Source-bound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435C0-77DE-49C8-94E8-0C760710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00250"/>
            <a:ext cx="2238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AC999-C118-4850-8856-498C7D96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200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Independent re-review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FBDB1-262B-4C95-B10E-18DE7235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2009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Check the revised 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07662-38CE-4C1F-9B91-91C36556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0250"/>
            <a:ext cx="2238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BA31E-DC41-482E-8982-91052472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33600"/>
            <a:ext cx="200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Saved revision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DF746-F96A-4C8A-B984-C7B654D5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28900"/>
            <a:ext cx="2009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History + current view</a:t>
            </a:r>
          </a:p>
        </p:txBody>
      </p:sp>
      <p:cxnSp>
        <p:nvCxnSpPr>
          <p:cNvPr id="43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71775" y="2643188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2643188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467725" y="2643188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B4EEC-B18C-45BB-A849-1243B4B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819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Three separate judgments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FA2CA7-73E3-4887-A07C-EE0F8EB4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19600"/>
            <a:ext cx="3333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CECC7-4061-4B48-A324-2C42ED71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5295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Factual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AE8CB-CBEC-4F6B-BD8B-7887D292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482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Does the source establish it?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089167-D71E-48FA-86B2-50C9EB06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19600"/>
            <a:ext cx="3333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64119-64D8-462B-A8A4-88F053B2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5295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Causal 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CF827-647A-46BF-9147-01889894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482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Is it an event, condition or barrier?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B848E-A1C6-4188-A5A9-5AD11ADA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19600"/>
            <a:ext cx="3333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C0F539-AAEB-41D8-A190-EC561467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5295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Connection validity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093A7-8D04-4406-97B7-B8E3968A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0482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Is the proposed relationship justified?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BA462F-A35D-49E9-8EBF-6FA00B6F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721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97 recorded software checks passed. Model RCA improvement still needs testing.</a:t>
            </a:r>
          </a:p>
        </p:txBody>
      </p:sp>
    </p:spTree>
    <p:extLst>
      <p:ext uri="{BB962C8B-B14F-4D97-AF65-F5344CB8AC3E}">
        <p14:creationId xmlns:p14="http://schemas.microsoft.com/office/powerpoint/2010/main" val="4150156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67140A-D4EC-4E11-A98C-FD999E1F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Latest Qwen Investigation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49380b47e4f97"/>
          <a:stretch xmlns:a="http://schemas.openxmlformats.org/drawingml/2006/main"/>
        </p:blipFill>
        <p:spPr>
          <a:xfrm xmlns:a="http://schemas.openxmlformats.org/drawingml/2006/main">
            <a:off x="423709" y="1438275"/>
            <a:ext cx="8106083" cy="45624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B7C28-1B13-429C-A009-8C0BDA4F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43050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E46FA-C5EE-42FF-A266-A0FF5850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71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tasks completed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D84EE-95EE-4DBC-BB36-59AC4D69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733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Partial 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1FA90-830F-4335-9B76-E2DA294A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33800"/>
            <a:ext cx="2619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5 observations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 focal event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0 causal links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E026D-4217-451F-8D1E-6B52B749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Real run, preserved output. Execution remains inconclusive.</a:t>
            </a:r>
          </a:p>
        </p:txBody>
      </p:sp>
    </p:spTree>
    <p:extLst>
      <p:ext uri="{BB962C8B-B14F-4D97-AF65-F5344CB8AC3E}">
        <p14:creationId xmlns:p14="http://schemas.microsoft.com/office/powerpoint/2010/main" val="4067020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B3542-0A1D-4C8F-91E1-9C1AEE40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Staged Evidence for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A2ECB-DCED-4B72-835F-158AB282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Two development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8509F-55D4-403E-B678-96C27EE6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4543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D9BB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D9BB4"/>
                </a:solidFill>
                <a:latin typeface="Arial"/>
                <a:ea typeface="Arial"/>
                <a:cs typeface="Arial"/>
              </a:rPr>
              <a:t>R3 beam fall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7A632-D706-406D-BF10-859107C2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0275"/>
            <a:ext cx="452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Technical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C725B-4B3B-4DD1-BD03-C079BD74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D9BB4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D9BB4"/>
                </a:solidFill>
                <a:latin typeface="Arial"/>
                <a:ea typeface="Arial"/>
                <a:cs typeface="Arial"/>
              </a:rPr>
              <a:t>Instrument-air loss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AC41D-1967-4086-93EC-0726E589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0275"/>
            <a:ext cx="4695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Prepared for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37674-0C77-4B1F-8B06-71616CB1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306705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5F218-AB8E-41C7-854B-F0B5CD21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B0: starter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49A72-0CC8-4460-BD43-6623BD8E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Initial account and available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AEA56-502C-4266-8B9A-D17D4D5B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14700"/>
            <a:ext cx="306705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44783-DE3E-4172-B14B-43A8C881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480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B1: new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2BC2C-C2D2-44AB-A1B8-28261ACC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4335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Records that distinguish explanations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1565C-B09D-4082-B312-99DF8CAB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067050" cy="1495425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2D307-D8AB-4542-9C82-8A17B36B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B2: further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7A44D-6FD6-4536-8214-A6DC6274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Deeper context or a correction</a:t>
            </a:r>
          </a:p>
        </p:txBody>
      </p: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38550" y="4062413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91425" y="4062413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DC972-2608-4D41-AC76-D5FF401B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CADA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CADAE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FFF10F-18B1-4E4C-81B0-03733100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010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D9BB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D9BB4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E70F5-0E97-44B1-8EA4-29283BA6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015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1634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16349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C2AA0-74CB-479A-BA9E-FA09D71E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91225"/>
            <a:ext cx="10810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Synthetic reconstructions. Independent technical validation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4867503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27038-FD31-4662-AC7A-98EF5C93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1725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A8073-FCD1-48F2-A16E-42D2968F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Next milestone: one reproducible investigation across three evidence releases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E6F39-9B03-46DD-81B1-5F75C8BF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CADA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55C36-3DF1-4196-9F8E-43D9C03C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Freeze the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E0B04-8612-444F-8124-03FD5F03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09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Model, prompts and release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A6377-4C4B-4FD8-B5FA-E5D36B68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D9BB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B3EC5-EAA8-4135-A514-CB8D4C9E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03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Run V1, V2 and V3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041AE-58EA-4EEA-8839-AC4B4051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95625"/>
            <a:ext cx="209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Save every input, board and revision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10247-D329-4F01-A11F-F7CC728F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A4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6BF00-50EF-45B4-812A-8D327351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03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Compare a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2717B-82B1-4DE1-A5DF-3BE4990A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95625"/>
            <a:ext cx="209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Same model and same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7AF52-3FBE-4148-B281-7235E83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66975"/>
            <a:ext cx="23241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634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06148-15C8-483F-8392-D0934750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03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Assess RCA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C6DC1-FE3D-48EB-BE8E-B515C360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95625"/>
            <a:ext cx="2095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Evidence, mechanisms and revisions</a:t>
            </a:r>
          </a:p>
        </p:txBody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76550" y="32432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53100" y="32432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29650" y="32432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ADAD"/>
            </a:solidFill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4F70A-F547-4283-9C59-15C0917C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29CE5-389C-4D4B-8A07-0743BC8B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62575"/>
            <a:ext cx="457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Check case realism and causal interpretation.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9DC33-41E4-4B95-8EDA-4663FA08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10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Success criterion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4EF4E-235A-43B6-88CE-3AB1BB0F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62575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Justified changes in the explanation as evidence arrives.</a:t>
            </a:r>
          </a:p>
        </p:txBody>
      </p:sp>
    </p:spTree>
    <p:extLst>
      <p:ext uri="{BB962C8B-B14F-4D97-AF65-F5344CB8AC3E}">
        <p14:creationId xmlns:p14="http://schemas.microsoft.com/office/powerpoint/2010/main" val="1036910842"/>
      </p:ext>
    </p:extLst>
  </p:cSld>
</p:sld>
</file>

<file path=ppt/theme/theme1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2026-09-22T18:41:14.5880000Z</dcterms:created>
  <dcterms:modified xsi:type="dcterms:W3CDTF">2026-09-22T18:41:14.5880000Z</dcterms:modified>
</coreProperties>
</file>