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e1d8d30374d5b" /><Relationship Type="http://schemas.openxmlformats.org/officeDocument/2006/relationships/extended-properties" Target="/docProps/app.xml" Id="R21fd93da324c4c7c" /><Relationship Type="http://schemas.openxmlformats.org/officeDocument/2006/relationships/officeDocument" Target="/ppt/presentation.xml" Id="Rbfa87066e83e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116e1f88a245a4"/>
  </p:sldMasterIdLst>
  <p:notesMasterIdLst>
    <p:notesMasterId xmlns:r="http://schemas.openxmlformats.org/officeDocument/2006/relationships" r:id="R9a29e6bb1b7e49b7"/>
  </p:notesMasterIdLst>
  <p:sldIdLst>
    <p:sldId xmlns:r="http://schemas.openxmlformats.org/officeDocument/2006/relationships" id="256" r:id="Rb8b632e453f349e8"/>
    <p:sldId xmlns:r="http://schemas.openxmlformats.org/officeDocument/2006/relationships" id="257" r:id="R84a4152a82ee40bd"/>
    <p:sldId xmlns:r="http://schemas.openxmlformats.org/officeDocument/2006/relationships" id="258" r:id="R83de76a5ab094f6f"/>
    <p:sldId xmlns:r="http://schemas.openxmlformats.org/officeDocument/2006/relationships" id="259" r:id="R51a9ca827c9b4703"/>
    <p:sldId xmlns:r="http://schemas.openxmlformats.org/officeDocument/2006/relationships" id="260" r:id="R909d7adf57454ef5"/>
    <p:sldId xmlns:r="http://schemas.openxmlformats.org/officeDocument/2006/relationships" id="261" r:id="R2739f4136d764412"/>
    <p:sldId xmlns:r="http://schemas.openxmlformats.org/officeDocument/2006/relationships" id="262" r:id="Rcb1d60f8d5924c98"/>
    <p:sldId xmlns:r="http://schemas.openxmlformats.org/officeDocument/2006/relationships" id="263" r:id="Re1edbfc17e1d4332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3E511963-6A01-3019-C86E-C7C5608E28C6}" name="Jay Vijaybhai Polra" initials="JP" userId="S::jpolra@purdue.edu::05471d6c-1458-4835-8f42-0e212e6c3b7b" providerId="AD"/>
  <p188:author id="{A976A666-D41E-E542-5D96-05EE091D0C89}" name="Kyle A Toth" initials="KT" userId="S::katoth@purdue.edu::117f5a3d-1d9b-42ce-99cd-a650340272b4" providerId="AD"/>
  <p188:author id="{EDD3F994-07E7-0840-10F1-D70CDED6DDDF}" name="Dhwanil Radharaman Chauhan" initials="DC" userId="S::chauha56@purdue.edu::b32d1ec2-e1d8-4f74-85f0-a3f9ef37bfdf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421930edc417a" /><Relationship Type="http://schemas.openxmlformats.org/officeDocument/2006/relationships/slideMaster" Target="/ppt/slideMasters/slideMaster1.xml" Id="R50116e1f88a245a4" /><Relationship Type="http://schemas.openxmlformats.org/officeDocument/2006/relationships/notesMaster" Target="/ppt/notesMasters/notesMaster1.xml" Id="R9a29e6bb1b7e49b7" /><Relationship Type="http://schemas.openxmlformats.org/officeDocument/2006/relationships/presProps" Target="/ppt/presProps.xml" Id="Rddf7a1500da74598" /><Relationship Type="http://schemas.openxmlformats.org/officeDocument/2006/relationships/viewProps" Target="/ppt/viewProps.xml" Id="R3ce40446e0a54db0" /><Relationship Type="http://schemas.openxmlformats.org/officeDocument/2006/relationships/tableStyles" Target="/ppt/tableStyles.xml" Id="Rc0d358ea0c3c497f" /><Relationship Type="http://schemas.microsoft.com/office/2018/10/relationships/authors" Target="/ppt/authors.xml" Id="R04fe30328f924872" /><Relationship Type="http://schemas.openxmlformats.org/officeDocument/2006/relationships/slide" Target="/ppt/slides/slide1.xml" Id="Rb8b632e453f349e8" /><Relationship Type="http://schemas.openxmlformats.org/officeDocument/2006/relationships/slide" Target="/ppt/slides/slide2.xml" Id="R84a4152a82ee40bd" /><Relationship Type="http://schemas.openxmlformats.org/officeDocument/2006/relationships/slide" Target="/ppt/slides/slide3.xml" Id="R83de76a5ab094f6f" /><Relationship Type="http://schemas.openxmlformats.org/officeDocument/2006/relationships/slide" Target="/ppt/slides/slide4.xml" Id="R51a9ca827c9b4703" /><Relationship Type="http://schemas.openxmlformats.org/officeDocument/2006/relationships/slide" Target="/ppt/slides/slide5.xml" Id="R909d7adf57454ef5" /><Relationship Type="http://schemas.openxmlformats.org/officeDocument/2006/relationships/slide" Target="/ppt/slides/slide6.xml" Id="R2739f4136d764412" /><Relationship Type="http://schemas.openxmlformats.org/officeDocument/2006/relationships/slide" Target="/ppt/slides/slide7.xml" Id="Rcb1d60f8d5924c98" /><Relationship Type="http://schemas.openxmlformats.org/officeDocument/2006/relationships/slide" Target="/ppt/slides/slide8.xml" Id="Re1edbfc17e1d43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9c993afb0c4b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c45af600b04a86" /><Relationship Type="http://schemas.openxmlformats.org/officeDocument/2006/relationships/notesMaster" Target="/ppt/notesMasters/notesMaster1.xml" Id="R9dbec203828b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b0b7bb24d40f5" /><Relationship Type="http://schemas.openxmlformats.org/officeDocument/2006/relationships/notesMaster" Target="/ppt/notesMasters/notesMaster1.xml" Id="Re236f577ef6c4b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4e20025c6a455f" /><Relationship Type="http://schemas.openxmlformats.org/officeDocument/2006/relationships/notesMaster" Target="/ppt/notesMasters/notesMaster1.xml" Id="R77d39563d8d24d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601b57a75f4f81" /><Relationship Type="http://schemas.openxmlformats.org/officeDocument/2006/relationships/notesMaster" Target="/ppt/notesMasters/notesMaster1.xml" Id="R7a082b7c215e4e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890c5f42c9485f" /><Relationship Type="http://schemas.openxmlformats.org/officeDocument/2006/relationships/notesMaster" Target="/ppt/notesMasters/notesMaster1.xml" Id="R26134aa06ae44a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10f5705cb74cb0" /><Relationship Type="http://schemas.openxmlformats.org/officeDocument/2006/relationships/notesMaster" Target="/ppt/notesMasters/notesMaster1.xml" Id="R20d6c4f0580145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b723ca803344c1" /><Relationship Type="http://schemas.openxmlformats.org/officeDocument/2006/relationships/notesMaster" Target="/ppt/notesMasters/notesMaster1.xml" Id="Rc4ba84c1ef1644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947a04ba68460c" /><Relationship Type="http://schemas.openxmlformats.org/officeDocument/2006/relationships/notesMaster" Target="/ppt/notesMasters/notesMaster1.xml" Id="Rae872b6a3b9a4b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Progress update based on project records available through 22 September 2026. Standalone RCA scope only. Source: /Users/dhwanilchauhan/Downloads/S&amp;T_PTC_July2026Presentation.pptx, slides 7–13; /Users/dhwanilchauhan/Desktop/RCA Try 1/Try 7/TRY7_EXECUTIVE_PLAN.md, section 10 implementation receipt and smoke outcome; /Users/dhwanilchauhan/Desktop/RCA Try 1/Synthetic Evidence Packages 2026-09-22/README_OPERATOR_ONLY.md. The date is the evidence cutoff, not a confirmed meeting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July baseline: /Users/dhwanilchauhan/Downloads/S&amp;T_PTC_July2026Presentation.pptx, slides 7–13. Current evidence: /Users/dhwanilchauhan/Desktop/RCA Try 1/RCA_RESEARCH_OVERVIEW_AND_PLAN.md, sections 5 and 8; /Users/dhwanilchauhan/Desktop/RCA Try 1/Try 7/TRY7_EXECUTIVE_PLAN.md, section 10 implementation receipt and smoke outcome; /Users/dhwanilchauhan/Desktop/RCA Try 1/Synthetic Evidence Packages 2026-09-22/README_OPERATOR_ONLY.md. July already described a prototype and methodology. Do not imply the project began from zero after July.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1/RCA_RESEARCH_OVERVIEW_AND_PLAN.md, sections 5 and 8; /Users/dhwanilchauhan/Desktop/RCA Try 1/Try 7/TRY7_EXECUTIVE_PLAN.md, section 10 implementation receipt and smoke outcome. These are implemented workflow capabilities, not claims of consistently correct reasoning. A specialist is selected for relevant uncertainty. Application versions (Try 4–7) differ from investigation snapshots (V1–V3).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1/RCA_SYSTEM_REVIEW_2026-09-18.md, sections 2–3; /Users/dhwanilchauhan/Desktop/RCA Try 1/RCA_RESEARCH_OVERVIEW_AND_PLAN.md, sections 5 and 8. These experiments used changing inputs and configurations. They are development observations, not a controlled ranking of versions. Try 4 includes saved R3 versions and IA runs; Try 5 comparison snapshots were diagnostic; Try 6 published a partial IA V1/V2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1/Try 7/TRY7_EXECUTIVE_PLAN.md, section 10 implementation receipt and smoke outcome. The implementation receipt documents these changes and 97 deterministic checks (20 engine, 24 Try 7, 37 regression, 16 capacity), plus build/type checks. These are recorded checks, not checks rerun for this presentation. Full-plan acceptance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1/Try 7/TRY7_EXECUTIVE_PLAN.md, section 10 implementation receipt and smoke outcome, Observed smoke outcome. Published 20 September 2026 at 8:17:54 PM America/Chicago. Real provider run on a short pneumatic-carriage incident, not the historical benchmark. 21 tasks completed, zero failed/blocked whole tasks. V1 contained 5 selected observations plus a focal event and zero causal links. 20 rejected output items remained preserved; one delivery receipt was pending in the saved snapshot. Configuration changes and a checkpoint repair occurred during the run. Post-run fixes passed scripted tests but await a fresh frozen-config model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1/Synthetic Evidence Packages 2026-09-22/README_OPERATOR_ONLY.md. Packages generated 22 September 2026. Both are historically anchored synthetic reconstructions, not recovered company records. They are derivatives of development incidents already used and are not independent held-out cases. No RCA or storyteller jobs had been launched for these packages in the source record. R3 requires technical review; IA is prepared for pilot and is not independently expert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1/RCA_IMPLEMENTATION_AND_PAPER_CHECKLIST.md, sections C–E; /Users/dhwanilchauhan/Desktop/RCA Try 1/Try 7/TRY7_EXECUTIVE_PLAN.md, section 10 implementation receipt and smoke outcome; /Users/dhwanilchauhan/Desktop/RCA Try 1/Synthetic Evidence Packages 2026-09-22/README_OPERATOR_ONLY.md. Proposed next steps, not completed results or dated commitments. Begin with the instrument-air package prepared for pilot. Review R3 mechanics before scored use. Freeze the independent assessment protocol before held-out evaluation. Proposed partner input: technical review of scenario realism and causal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239983d9d4822" /><Relationship Type="http://schemas.openxmlformats.org/officeDocument/2006/relationships/image" Target="/ppt/media/image.png" Id="R3d448a3cbb534029" /><Relationship Type="http://schemas.openxmlformats.org/officeDocument/2006/relationships/image" Target="/ppt/media/image.jpeg" Id="R081858dbd79246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350dd44154856" /><Relationship Type="http://schemas.openxmlformats.org/officeDocument/2006/relationships/image" Target="/ppt/media/image2.png" Id="R67e33555f52247dc" /><Relationship Type="http://schemas.openxmlformats.org/officeDocument/2006/relationships/image" Target="/ppt/media/image3.png" Id="R6b4f1b8b2b884838" /><Relationship Type="http://schemas.openxmlformats.org/officeDocument/2006/relationships/image" Target="/ppt/media/image4.png" Id="R21ae2f75166046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1c0ecb8da40a3" /><Relationship Type="http://schemas.openxmlformats.org/officeDocument/2006/relationships/image" Target="/ppt/media/image2.png" Id="Re142b08d0440484b" /><Relationship Type="http://schemas.openxmlformats.org/officeDocument/2006/relationships/image" Target="/ppt/media/image3.png" Id="Ra7f1864b0510494a" /><Relationship Type="http://schemas.openxmlformats.org/officeDocument/2006/relationships/image" Target="/ppt/media/image4.png" Id="Rdf143c90f38e43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b91a07a774490" /><Relationship Type="http://schemas.openxmlformats.org/officeDocument/2006/relationships/image" Target="/ppt/media/image.png" Id="Rf7755477beee4572" /><Relationship Type="http://schemas.openxmlformats.org/officeDocument/2006/relationships/image" Target="/ppt/media/image.jpeg" Id="R82e819a4e6dd4ca9" /><Relationship Type="http://schemas.openxmlformats.org/officeDocument/2006/relationships/image" Target="/ppt/media/image2.png" Id="R7ba7e0991b094f5a" /><Relationship Type="http://schemas.openxmlformats.org/officeDocument/2006/relationships/image" Target="/ppt/media/image3.png" Id="R8a3657ea6bc843ab" /><Relationship Type="http://schemas.openxmlformats.org/officeDocument/2006/relationships/image" Target="/ppt/media/image4.png" Id="R700651e0df6844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e386a867645a7" /><Relationship Type="http://schemas.openxmlformats.org/officeDocument/2006/relationships/image" Target="/ppt/media/image2.png" Id="R7aa1de3783384f34" /><Relationship Type="http://schemas.openxmlformats.org/officeDocument/2006/relationships/image" Target="/ppt/media/image5.png" Id="Rb3f17a0ef8a041d0" /><Relationship Type="http://schemas.openxmlformats.org/officeDocument/2006/relationships/image" Target="/ppt/media/image6.png" Id="Rd4a54cef74aa4c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e17d44c05418f" /><Relationship Type="http://schemas.openxmlformats.org/officeDocument/2006/relationships/image" Target="/ppt/media/image7.png" Id="Re7847da9ad5f4447" /><Relationship Type="http://schemas.openxmlformats.org/officeDocument/2006/relationships/image" Target="/ppt/media/image8.png" Id="R7d6304fdd01e4e5e" /><Relationship Type="http://schemas.openxmlformats.org/officeDocument/2006/relationships/image" Target="/ppt/media/image6.png" Id="Rca91602819b34d3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8297a4140492e" /><Relationship Type="http://schemas.openxmlformats.org/officeDocument/2006/relationships/image" Target="/ppt/media/image2.png" Id="R720a78d55cd04490" /><Relationship Type="http://schemas.openxmlformats.org/officeDocument/2006/relationships/image" Target="/ppt/media/image5.png" Id="R7eb0117fab594fc4" /><Relationship Type="http://schemas.openxmlformats.org/officeDocument/2006/relationships/image" Target="/ppt/media/image6.png" Id="Rfdf4c88dff524d3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Picture 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448a3cbb534029"/>
          <a:srcRect xmlns:a="http://schemas.openxmlformats.org/drawingml/2006/main" l="0" t="0" r="28542" b="0"/>
          <a:stretch xmlns:a="http://schemas.openxmlformats.org/drawingml/2006/main"/>
        </p:blipFill>
        <p:spPr>
          <a:xfrm xmlns:a="http://schemas.openxmlformats.org/drawingml/2006/main">
            <a:off x="8305801" y="3275239"/>
            <a:ext cx="3886200" cy="3592923"/>
          </a:xfrm>
          <a:prstGeom xmlns:a="http://schemas.openxmlformats.org/drawingml/2006/main" prst="rect">
            <a:avLst/>
          </a:prstGeom>
        </p:spPr>
      </p:pic>
      <p:pic>
        <p:nvPicPr>
          <p:cNvPr id="54" name="Picture 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1858dbd79246c4"/>
          <a:srcRect xmlns:a="http://schemas.openxmlformats.org/drawingml/2006/main" l="8578" t="2647" r="52326" b="52819"/>
          <a:stretch xmlns:a="http://schemas.openxmlformats.org/drawingml/2006/main"/>
        </p:blipFill>
        <p:spPr>
          <a:xfrm xmlns:a="http://schemas.openxmlformats.org/drawingml/2006/main">
            <a:off x="0" y="-44112"/>
            <a:ext cx="4213097" cy="3276514"/>
          </a:xfrm>
          <a:prstGeom xmlns:a="http://schemas.openxmlformats.org/drawingml/2006/main" prst="rect">
            <a:avLst/>
          </a:prstGeom>
        </p:spPr>
      </p:pic>
      <p:sp>
        <p:nvSpPr>
          <p:cNvPr id="50" name="Snip Diagonal Corner Rectangle 49">
            <a:extLst xmlns:a="http://schemas.openxmlformats.org/drawingml/2006/main">
              <a:ext uri="{FF2B5EF4-FFF2-40B4-BE49-F238E27FC236}">
                <a16:creationId xmlns:a16="http://schemas.microsoft.com/office/drawing/2014/main" id="{D639F747-55F4-419F-A69D-1BF55E42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4117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0DA11DD-789E-40BA-9981-07F63DB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8E96D0-479D-4DE4-87EC-A249E5597A5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339596" y="349543"/>
            <a:ext cx="9480804" cy="37211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FB1E840E-A4DB-474A-9CAD-B93B43B7966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315200" y="95070"/>
            <a:ext cx="4668652" cy="50523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D0B7774-BA30-4633-9521-D75627F1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ight Triangle 64">
            <a:extLst xmlns:a="http://schemas.openxmlformats.org/drawingml/2006/main">
              <a:ext uri="{FF2B5EF4-FFF2-40B4-BE49-F238E27FC236}">
                <a16:creationId xmlns:a16="http://schemas.microsoft.com/office/drawing/2014/main" id="{84F9FC73-2280-4822-9A58-109AD10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7" y="-7284"/>
            <a:ext cx="914538" cy="914539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ight Triangle 65">
            <a:extLst xmlns:a="http://schemas.openxmlformats.org/drawingml/2006/main">
              <a:ext uri="{FF2B5EF4-FFF2-40B4-BE49-F238E27FC236}">
                <a16:creationId xmlns:a16="http://schemas.microsoft.com/office/drawing/2014/main" id="{DA4749EB-644B-4F66-849E-EE5DE423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5" y="-7284"/>
            <a:ext cx="800237" cy="80023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Right Triangle 66">
            <a:extLst xmlns:a="http://schemas.openxmlformats.org/drawingml/2006/main">
              <a:ext uri="{FF2B5EF4-FFF2-40B4-BE49-F238E27FC236}">
                <a16:creationId xmlns:a16="http://schemas.microsoft.com/office/drawing/2014/main" id="{DEBFFD93-5DBF-41D0-9083-A5B50B56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1885" y="-13510"/>
            <a:ext cx="679451" cy="6810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ight Triangle 13">
            <a:extLst xmlns:a="http://schemas.openxmlformats.org/drawingml/2006/main">
              <a:ext uri="{FF2B5EF4-FFF2-40B4-BE49-F238E27FC236}">
                <a16:creationId xmlns:a16="http://schemas.microsoft.com/office/drawing/2014/main" id="{8680CCB9-C0C8-4464-9AB2-8C76DFFD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399" y="5872387"/>
            <a:ext cx="996447" cy="9964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ight Triangle 60">
            <a:extLst xmlns:a="http://schemas.openxmlformats.org/drawingml/2006/main">
              <a:ext uri="{FF2B5EF4-FFF2-40B4-BE49-F238E27FC236}">
                <a16:creationId xmlns:a16="http://schemas.microsoft.com/office/drawing/2014/main" id="{E9E6F6D4-0D8E-4FB9-9EA6-72131BCF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401" y="5872387"/>
            <a:ext cx="830368" cy="83036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Right Triangle 61">
            <a:extLst xmlns:a="http://schemas.openxmlformats.org/drawingml/2006/main">
              <a:ext uri="{FF2B5EF4-FFF2-40B4-BE49-F238E27FC236}">
                <a16:creationId xmlns:a16="http://schemas.microsoft.com/office/drawing/2014/main" id="{78194C7A-D2C6-43A8-BBF2-6E692829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5873" y="5876864"/>
            <a:ext cx="668998" cy="67059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6DDF9F39-8AE9-415E-9348-9D433A74A58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22211" y="142874"/>
            <a:ext cx="9271895" cy="676863"/>
          </a:xfrm>
          <a:prstGeom xmlns:a="http://schemas.openxmlformats.org/drawingml/2006/main" prst="roundRect">
            <a:avLst>
              <a:gd name="adj" fmla="val 1243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3600">
                <a:ln w="3175">
                  <a:noFill/>
                </a:ln>
                <a:solidFill>
                  <a:srgbClr val="DDAB18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B6D7CCE-7F6E-4ADE-9F82-35C831B7C25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139985" y="942531"/>
            <a:ext cx="11877187" cy="5596608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lr>
                <a:srgbClr val="CC9900"/>
              </a:buClr>
              <a:buFont typeface="Wingdings"/>
              <a:buChar char="Ø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Clr>
                <a:srgbClr val="CC9900"/>
              </a:buClr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60415E4-4268-4E4D-9DC8-2FA7EF2F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18" y="6525500"/>
            <a:ext cx="476979" cy="338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1400A495-A80B-49F4-9B3C-48CB464754E0}" type="slidenum">
              <a:rPr sz="1600">
                <a:solidFill>
                  <a:schemeClr val="tx1">
                    <a:lumMod val="85000"/>
                    <a:lumOff val="15000"/>
                  </a:schemeClr>
                </a:solidFill>
              </a:rPr>
              <a:t>‹#›</a:t>
            </a:fld>
            <a:endParaRPr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0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e33555f52247dc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BD311762-EC0A-4B0C-8427-BFC8ED5A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17735"/>
            <a:ext cx="2002246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92" name="Picture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f1b8b2b8848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70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00FDE3C7-09E5-44CD-950B-A7311D67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98ABC8BC-2C27-42AD-B4A9-60AF643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A80EC74E-B8A6-4197-AB48-6E03D536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6" name="Picture 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e2f751660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SMSVC_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6A4F62-41BA-4A8F-BC1E-7DF5C7A4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E83806A4-AE1A-4CFE-B056-CDA511B9DFF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352803" y="2745581"/>
            <a:ext cx="9474199" cy="136683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4800" b="1" kern="1200">
                <a:ln w="3175">
                  <a:noFill/>
                </a:ln>
                <a:solidFill>
                  <a:srgbClr val="DDAB1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6" name="Right Triangle 35">
            <a:extLst xmlns:a="http://schemas.openxmlformats.org/drawingml/2006/main">
              <a:ext uri="{FF2B5EF4-FFF2-40B4-BE49-F238E27FC236}">
                <a16:creationId xmlns:a16="http://schemas.microsoft.com/office/drawing/2014/main" id="{EA374C37-F0D4-42F3-8710-73DA6E8E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7" y="2356"/>
            <a:ext cx="3192910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Right Triangle 37">
            <a:extLst xmlns:a="http://schemas.openxmlformats.org/drawingml/2006/main">
              <a:ext uri="{FF2B5EF4-FFF2-40B4-BE49-F238E27FC236}">
                <a16:creationId xmlns:a16="http://schemas.microsoft.com/office/drawing/2014/main" id="{115F7D4F-6A3A-48EE-9CA1-B0470012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0" y="235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Right Triangle 38">
            <a:extLst xmlns:a="http://schemas.openxmlformats.org/drawingml/2006/main">
              <a:ext uri="{FF2B5EF4-FFF2-40B4-BE49-F238E27FC236}">
                <a16:creationId xmlns:a16="http://schemas.microsoft.com/office/drawing/2014/main" id="{26A2697A-12FF-4B72-9067-D353869B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0137" y="-15263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ight Triangle 40">
            <a:extLst xmlns:a="http://schemas.openxmlformats.org/drawingml/2006/main">
              <a:ext uri="{FF2B5EF4-FFF2-40B4-BE49-F238E27FC236}">
                <a16:creationId xmlns:a16="http://schemas.microsoft.com/office/drawing/2014/main" id="{A5095557-A613-43BA-8846-1FFFF826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299" y="3665090"/>
            <a:ext cx="3192911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ight Triangle 41">
            <a:extLst xmlns:a="http://schemas.openxmlformats.org/drawingml/2006/main">
              <a:ext uri="{FF2B5EF4-FFF2-40B4-BE49-F238E27FC236}">
                <a16:creationId xmlns:a16="http://schemas.microsoft.com/office/drawing/2014/main" id="{180B9089-3AAF-454F-ADB2-C6B97101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306" y="366509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Right Triangle 42">
            <a:extLst xmlns:a="http://schemas.openxmlformats.org/drawingml/2006/main">
              <a:ext uri="{FF2B5EF4-FFF2-40B4-BE49-F238E27FC236}">
                <a16:creationId xmlns:a16="http://schemas.microsoft.com/office/drawing/2014/main" id="{EF1C7149-2F0B-4FBB-B069-DBADDADB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12072" y="3660174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9" name="Picture 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42b08d0440484b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5B2F21D-E731-4CE3-B1DE-DB5A7351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17735"/>
            <a:ext cx="1999071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71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1864b0510494a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54" name="Straight Connector 53">
            <a:extLst xmlns:a="http://schemas.openxmlformats.org/drawingml/2006/main">
              <a:ext uri="{FF2B5EF4-FFF2-40B4-BE49-F238E27FC236}">
                <a16:creationId xmlns:a16="http://schemas.microsoft.com/office/drawing/2014/main" id="{AE033762-9165-4B96-938A-8C4CAC12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0754C952-5AD5-44BF-BC53-464DCFA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9D27A457-3C6D-4E30-A3D7-49621ABC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5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43c90f38e43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SMSVC_Conclus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Picture 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755477beee4572"/>
          <a:srcRect xmlns:a="http://schemas.openxmlformats.org/drawingml/2006/main" l="0" t="0" r="30193" b="0"/>
          <a:stretch xmlns:a="http://schemas.openxmlformats.org/drawingml/2006/main"/>
        </p:blipFill>
        <p:spPr>
          <a:xfrm xmlns:a="http://schemas.openxmlformats.org/drawingml/2006/main">
            <a:off x="8394040" y="3276399"/>
            <a:ext cx="3796425" cy="3592923"/>
          </a:xfrm>
          <a:prstGeom xmlns:a="http://schemas.openxmlformats.org/drawingml/2006/main" prst="rect">
            <a:avLst/>
          </a:prstGeom>
        </p:spPr>
      </p:pic>
      <p:pic>
        <p:nvPicPr>
          <p:cNvPr id="46" name="Picture 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e819a4e6dd4ca9"/>
          <a:srcRect xmlns:a="http://schemas.openxmlformats.org/drawingml/2006/main" l="8727" t="0" r="52326" b="52820"/>
          <a:stretch xmlns:a="http://schemas.openxmlformats.org/drawingml/2006/main"/>
        </p:blipFill>
        <p:spPr>
          <a:xfrm xmlns:a="http://schemas.openxmlformats.org/drawingml/2006/main">
            <a:off x="0" y="-42257"/>
            <a:ext cx="4197020" cy="3471257"/>
          </a:xfrm>
          <a:prstGeom xmlns:a="http://schemas.openxmlformats.org/drawingml/2006/main" prst="rect">
            <a:avLst/>
          </a:prstGeom>
        </p:spPr>
      </p:pic>
      <p:sp>
        <p:nvSpPr>
          <p:cNvPr id="33" name="Snip Diagonal Corner Rectangle 32">
            <a:extLst xmlns:a="http://schemas.openxmlformats.org/drawingml/2006/main">
              <a:ext uri="{FF2B5EF4-FFF2-40B4-BE49-F238E27FC236}">
                <a16:creationId xmlns:a16="http://schemas.microsoft.com/office/drawing/2014/main" id="{0FB59302-BE59-44E1-ABAC-91B80907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2324D94-E6EE-4DDE-A744-0E0987B4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40" y="1781563"/>
            <a:ext cx="304316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9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a7e0991b094f5a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5300092" y="5353249"/>
            <a:ext cx="1677936" cy="856090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9069D69-7EF0-4213-BAA0-5E316651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00273"/>
            <a:ext cx="305934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34C0F29-549F-4220-97B7-B0EC74C0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8544" y="3965839"/>
            <a:ext cx="3373256" cy="1320652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More Information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pnw.edu/civs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steelconsortium.org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BF110380-33C6-460A-ACFD-C76EC232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3590" y="2244680"/>
            <a:ext cx="3043164" cy="1680127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Contact Us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civs@pnw.edu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219.989.2765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4B364C-2A02-4F69-9DC3-BA0C0A64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498" y="3552346"/>
            <a:ext cx="184731" cy="769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4400" b="1" kern="120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2FF7B5-C98E-4E33-8D0B-C0B07556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04" y="2694707"/>
            <a:ext cx="2951449" cy="19389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Questions?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40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Comments?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8378952-E2D1-4086-B149-B97A1848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06" y="646459"/>
            <a:ext cx="4437882" cy="110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6600" b="1">
                <a:solidFill>
                  <a:srgbClr val="CC9900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657ea6bc843ab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7460" y="2339763"/>
            <a:ext cx="1739774" cy="744981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4E0D8B-EA38-41A7-9AF8-547117B9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4177" y="4625962"/>
            <a:ext cx="206976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rgbClr val="D6A616"/>
                </a:solidFill>
                <a:latin typeface="Monotype Corsiva"/>
                <a:ea typeface="Monotype Corsiva"/>
                <a:cs typeface="Monotype Corsiva"/>
              </a:rPr>
              <a:t>“Where Ideas Become Reality”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65F3BD2E-F319-47C6-898C-D52C8B29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891" y="3701648"/>
            <a:ext cx="914120" cy="8823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9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651e0df68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61408" y="3650544"/>
            <a:ext cx="1007015" cy="96522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userDrawn="1">
  <p:cSld name="SMSVC_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C01DDE8-43EC-459E-B0F6-A7B50707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81265B-A5A0-4C6C-83D0-2BE1D63D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0E06B34-3EC9-4481-AF95-41D3B6F3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F666A2EF-20A1-4B2D-92D0-D1D1929C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16DF281-50FA-421A-B675-3A02C9AB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pnw.edu/</a:t>
            </a:r>
            <a:r>
              <a:rPr sz="1000">
                <a:solidFill>
                  <a:schemeClr val="tx1"/>
                </a:solidFill>
              </a:rPr>
              <a:t>civs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52966F2-D5CD-43FC-9849-194C6C67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3E731FB-A777-4FD8-B82E-11AE3AEA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CEB23A"/>
              </a:gs>
              <a:gs pos="24000">
                <a:srgbClr val="DBC671"/>
              </a:gs>
              <a:gs pos="100000">
                <a:srgbClr val="D9C368"/>
              </a:gs>
              <a:gs pos="11000">
                <a:srgbClr val="E6D89A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86CBED-79F1-4528-A828-8AF3452F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DE53DA-9301-46CA-B388-5FA69A2D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7429 w 2464238"/>
              <a:gd name="connsiteY0" fmla="*/ 0 h 539269"/>
              <a:gd name="connsiteX1" fmla="*/ 2464238 w 2464238"/>
              <a:gd name="connsiteY1" fmla="*/ 7010 h 539269"/>
              <a:gd name="connsiteX2" fmla="*/ 2464238 w 2464238"/>
              <a:gd name="connsiteY2" fmla="*/ 525394 h 539269"/>
              <a:gd name="connsiteX3" fmla="*/ 0 w 2464238"/>
              <a:gd name="connsiteY3" fmla="*/ 539269 h 539269"/>
              <a:gd name="connsiteX4" fmla="*/ 637429 w 2464238"/>
              <a:gd name="connsiteY4" fmla="*/ 0 h 539269"/>
            </a:gdLst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/>
              </a:gs>
              <a:gs pos="16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itle 11">
            <a:extLst xmlns:a="http://schemas.openxmlformats.org/drawingml/2006/main">
              <a:ext uri="{FF2B5EF4-FFF2-40B4-BE49-F238E27FC236}">
                <a16:creationId xmlns:a16="http://schemas.microsoft.com/office/drawing/2014/main" id="{D7399590-0A5F-49E5-8176-9A504373A2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1" y="16065"/>
            <a:ext cx="8423857" cy="529494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C4A1A720-5109-4642-A6B6-3114D261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96BD71-5C5D-44DD-B862-FBA2FE7B68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pic>
        <p:nvPicPr>
          <p:cNvPr id="42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1de3783384f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</p:spPr>
      </p:pic>
      <p:pic>
        <p:nvPicPr>
          <p:cNvPr id="43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17a0ef8a041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5B751C-9309-4250-9FD9-014A07FF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92D46B6-D2BD-46D2-B95C-763C2FE4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pic>
        <p:nvPicPr>
          <p:cNvPr id="4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54cef74aa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3_SMSVC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DEF5837-BBD3-4AF2-919C-CBD591C5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94892CF-2F59-4D75-A44D-0569E967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centers.pnw.edu/civs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1C1485C-5344-4C31-9603-04E4868A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27A5278E-55EE-4BD3-B460-F12F7C1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7" y="-1286"/>
            <a:ext cx="12226644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DBC671"/>
              </a:gs>
              <a:gs pos="100000">
                <a:srgbClr val="D9C368"/>
              </a:gs>
            </a:gsLst>
            <a:lin ang="16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E948377-1D78-424B-BC08-01F70E2B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12" y="-1285"/>
            <a:ext cx="3609587" cy="856626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394999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394999 w 2538368"/>
              <a:gd name="connsiteY4" fmla="*/ 0 h 539269"/>
            </a:gdLst>
            <a:rect l="l" t="t" r="r" b="b"/>
            <a:pathLst>
              <a:path w="2538368" h="539269">
                <a:moveTo>
                  <a:pt x="394999" y="0"/>
                </a:moveTo>
                <a:lnTo>
                  <a:pt x="2538368" y="7010"/>
                </a:lnTo>
                <a:lnTo>
                  <a:pt x="2538368" y="525394"/>
                </a:lnTo>
                <a:lnTo>
                  <a:pt x="0" y="539269"/>
                </a:lnTo>
                <a:cubicBezTo>
                  <a:pt x="397459" y="363714"/>
                  <a:pt x="-7581" y="224444"/>
                  <a:pt x="39499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B060B87-39F8-4258-A08B-B59324CF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498" y="-10906"/>
            <a:ext cx="3531516" cy="867985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456844 w 2538368"/>
              <a:gd name="connsiteY0" fmla="*/ 7151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56844 w 2538368"/>
              <a:gd name="connsiteY4" fmla="*/ 7151 h 546420"/>
              <a:gd name="connsiteX0" fmla="*/ 420451 w 2538368"/>
              <a:gd name="connsiteY0" fmla="*/ 1155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20451 w 2538368"/>
              <a:gd name="connsiteY4" fmla="*/ 1155 h 546420"/>
            </a:gdLst>
            <a:rect l="l" t="t" r="r" b="b"/>
            <a:pathLst>
              <a:path w="2538368" h="546420">
                <a:moveTo>
                  <a:pt x="420451" y="1155"/>
                </a:moveTo>
                <a:lnTo>
                  <a:pt x="2538368" y="0"/>
                </a:lnTo>
                <a:lnTo>
                  <a:pt x="2538368" y="532545"/>
                </a:lnTo>
                <a:lnTo>
                  <a:pt x="0" y="546420"/>
                </a:lnTo>
                <a:cubicBezTo>
                  <a:pt x="397459" y="370865"/>
                  <a:pt x="17871" y="225599"/>
                  <a:pt x="420451" y="115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98D8453-6022-45EA-92FB-2B19D259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" y="-1286"/>
            <a:ext cx="12222073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tx1">
                  <a:alpha val="10000"/>
                </a:schemeClr>
              </a:gs>
              <a:gs pos="23000">
                <a:srgbClr val="F5F0DA">
                  <a:alpha val="0"/>
                </a:srgbClr>
              </a:gs>
              <a:gs pos="11000">
                <a:srgbClr val="F8F5E5">
                  <a:alpha val="20000"/>
                </a:srgbClr>
              </a:gs>
              <a:gs pos="100000">
                <a:schemeClr val="tx1">
                  <a:alpha val="15000"/>
                </a:schemeClr>
              </a:gs>
            </a:gsLst>
            <a:lin ang="5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itle 11">
            <a:extLst xmlns:a="http://schemas.openxmlformats.org/drawingml/2006/main">
              <a:ext uri="{FF2B5EF4-FFF2-40B4-BE49-F238E27FC236}">
                <a16:creationId xmlns:a16="http://schemas.microsoft.com/office/drawing/2014/main" id="{03E5DC2B-A423-4E06-9973-2DAABB0A947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0" y="35115"/>
            <a:ext cx="8944144" cy="736411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pic>
        <p:nvPicPr>
          <p:cNvPr id="69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47da9ad5f4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7431" y="225739"/>
            <a:ext cx="1101069" cy="411320"/>
          </a:xfrm>
          <a:prstGeom xmlns:a="http://schemas.openxmlformats.org/drawingml/2006/main" prst="rect">
            <a:avLst/>
          </a:prstGeom>
        </p:spPr>
      </p:pic>
      <p:pic>
        <p:nvPicPr>
          <p:cNvPr id="70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304fdd01e4e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3850" y="218421"/>
            <a:ext cx="582999" cy="428610"/>
          </a:xfrm>
          <a:prstGeom xmlns:a="http://schemas.openxmlformats.org/drawingml/2006/main" prst="rect">
            <a:avLst/>
          </a:prstGeom>
        </p:spPr>
      </p:pic>
      <p:pic>
        <p:nvPicPr>
          <p:cNvPr id="71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1602819b3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3667" y="209952"/>
            <a:ext cx="1294220" cy="430698"/>
          </a:xfrm>
          <a:prstGeom xmlns:a="http://schemas.openxmlformats.org/drawingml/2006/main" prst="rect">
            <a:avLst/>
          </a:prstGeom>
        </p:spPr>
      </p:pic>
      <p:sp>
        <p:nvSpPr>
          <p:cNvPr id="5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A00551D-B8CF-41E5-AF68-9FA4A98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55" y="6637572"/>
            <a:ext cx="4383645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28DEAC9-903C-43A1-B93B-8A1915BB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80" y="6635388"/>
            <a:ext cx="415002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F5556A71-D72D-4456-B985-20E28867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771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98677F50-787B-4099-B492-05C561E4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799" y="6627907"/>
            <a:ext cx="3184095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56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46C64BBD-386F-4033-AA36-7CB6B000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85754" y="6634175"/>
            <a:ext cx="822119" cy="238113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690494-B206-4B16-AFD2-BEB4451A50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909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9C62AB-ACEF-41B3-9366-18F623C7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828675"/>
            <a:ext cx="12182247" cy="57992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matchingName="1_SMSVC_Title_and_Content">
  <p:cSld name="2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0">
            <a:extLst xmlns:a="http://schemas.openxmlformats.org/drawingml/2006/main">
              <a:ext uri="{FF2B5EF4-FFF2-40B4-BE49-F238E27FC236}">
                <a16:creationId xmlns:a16="http://schemas.microsoft.com/office/drawing/2014/main" id="{1D3F0E78-3177-41EC-B4E4-EA8C95A5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AC56C"/>
              </a:gs>
              <a:gs pos="85000">
                <a:srgbClr val="E3D38D"/>
              </a:gs>
              <a:gs pos="100000">
                <a:srgbClr val="D0B646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10">
            <a:extLst xmlns:a="http://schemas.openxmlformats.org/drawingml/2006/main">
              <a:ext uri="{FF2B5EF4-FFF2-40B4-BE49-F238E27FC236}">
                <a16:creationId xmlns:a16="http://schemas.microsoft.com/office/drawing/2014/main" id="{7245E905-04F5-4AEF-A6EA-07690884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Google Shape;25;p10">
            <a:extLst xmlns:a="http://schemas.openxmlformats.org/drawingml/2006/main">
              <a:ext uri="{FF2B5EF4-FFF2-40B4-BE49-F238E27FC236}">
                <a16:creationId xmlns:a16="http://schemas.microsoft.com/office/drawing/2014/main" id="{BA5E4ADE-AB37-420D-AA26-ADD4139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85000">
                <a:srgbClr val="454545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Google Shape;26;p10">
            <a:extLst xmlns:a="http://schemas.openxmlformats.org/drawingml/2006/main">
              <a:ext uri="{FF2B5EF4-FFF2-40B4-BE49-F238E27FC236}">
                <a16:creationId xmlns:a16="http://schemas.microsoft.com/office/drawing/2014/main" id="{D0CC75D9-B477-4138-99C4-E6C65896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Google Shape;27;p10">
            <a:extLst xmlns:a="http://schemas.openxmlformats.org/drawingml/2006/main">
              <a:ext uri="{FF2B5EF4-FFF2-40B4-BE49-F238E27FC236}">
                <a16:creationId xmlns:a16="http://schemas.microsoft.com/office/drawing/2014/main" id="{BA80E00B-CC12-4AD9-A82A-FF66FF23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pnw.edu/civs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ogle Shape;28;p10">
            <a:extLst xmlns:a="http://schemas.openxmlformats.org/drawingml/2006/main">
              <a:ext uri="{FF2B5EF4-FFF2-40B4-BE49-F238E27FC236}">
                <a16:creationId xmlns:a16="http://schemas.microsoft.com/office/drawing/2014/main" id="{65AA1698-C734-4F91-95E7-24A77E1D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2F2F2"/>
                </a:solidFill>
                <a:latin typeface="Arial"/>
                <a:ea typeface="Arial"/>
                <a:cs typeface="Arial"/>
              </a:rPr>
              <a:t>civs@pnw.edu</a:t>
            </a:r>
            <a:endParaRPr/>
          </a:p>
        </p:txBody>
      </p:sp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AC6E1AB3-7B00-48BA-8504-4E8DE95A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EB23A"/>
              </a:gs>
              <a:gs pos="11000">
                <a:srgbClr val="E6D89A"/>
              </a:gs>
              <a:gs pos="24000">
                <a:srgbClr val="DBC671"/>
              </a:gs>
              <a:gs pos="100000">
                <a:srgbClr val="D9C36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345F7FD5-92FD-454B-BBEB-895D65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8D8D8"/>
              </a:gs>
              <a:gs pos="100000">
                <a:schemeClr val="lt1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2D7B51C5-F1E4-49F9-94BD-09B9594E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16000">
                <a:srgbClr val="595959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oogle Shape;32;p10">
            <a:extLst xmlns:a="http://schemas.openxmlformats.org/drawingml/2006/main">
              <a:ext uri="{FF2B5EF4-FFF2-40B4-BE49-F238E27FC236}">
                <a16:creationId xmlns:a16="http://schemas.microsoft.com/office/drawing/2014/main" id="{B1D7D6B8-81F1-4FC0-B525-FEB1E785F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41" y="16065"/>
            <a:ext cx="8423857" cy="529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182875" rIns="91425" bIns="1828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600">
                <a:solidFill>
                  <a:schemeClr val="dk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19531915-1685-4AA9-841E-257B36D8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10">
            <a:extLst xmlns:a="http://schemas.openxmlformats.org/drawingml/2006/main">
              <a:ext uri="{FF2B5EF4-FFF2-40B4-BE49-F238E27FC236}">
                <a16:creationId xmlns:a16="http://schemas.microsoft.com/office/drawing/2014/main" id="{3F3CDE25-5077-4A00-814F-16A6A75C2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5" name="Google Shape;3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0a78d55cd044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3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b0117fab594f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E657CD3A-E55C-4739-887E-BD19C2D8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315FF194-D773-44E5-9CC9-59DA11D4A4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3200" y="613230"/>
            <a:ext cx="11785600" cy="5939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⮚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506481BC-CF2A-493D-8BC9-63C59151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chemeClr val="dk1"/>
                </a:solidFill>
                <a:latin typeface="Corsiva"/>
                <a:ea typeface="Corsiva"/>
                <a:cs typeface="Corsiva"/>
              </a:rPr>
              <a:t>“Where Ideas Become Reality”</a:t>
            </a:r>
            <a:endParaRPr/>
          </a:p>
        </p:txBody>
      </p:sp>
      <p:pic>
        <p:nvPicPr>
          <p:cNvPr id="60" name="Google Shape;4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f4c88dff524d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5eeb02025d4b92" /><Relationship Type="http://schemas.openxmlformats.org/officeDocument/2006/relationships/slideLayout" Target="/ppt/slideLayouts/slideLayout1.xml" Id="R51e1f89776ba43b8" /><Relationship Type="http://schemas.openxmlformats.org/officeDocument/2006/relationships/slideLayout" Target="/ppt/slideLayouts/slideLayout2.xml" Id="Rfd570827ff3d4083" /><Relationship Type="http://schemas.openxmlformats.org/officeDocument/2006/relationships/slideLayout" Target="/ppt/slideLayouts/slideLayout3.xml" Id="R35f0d58ce0b647bb" /><Relationship Type="http://schemas.openxmlformats.org/officeDocument/2006/relationships/slideLayout" Target="/ppt/slideLayouts/slideLayout4.xml" Id="R69d0469f2dfa4759" /><Relationship Type="http://schemas.openxmlformats.org/officeDocument/2006/relationships/slideLayout" Target="/ppt/slideLayouts/slideLayout5.xml" Id="Rc587321be53c4604" /><Relationship Type="http://schemas.openxmlformats.org/officeDocument/2006/relationships/slideLayout" Target="/ppt/slideLayouts/slideLayout6.xml" Id="R3527f4a4fdab4812" /><Relationship Type="http://schemas.openxmlformats.org/officeDocument/2006/relationships/slideLayout" Target="/ppt/slideLayouts/slideLayout7.xml" Id="R9a01e4e1c4ba40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351088C-8186-4C61-9952-53ED86787A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205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2AB0AC-5A41-4099-9C99-3AAF3BAA71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493F75-0DDD-4C94-B692-B14F556DD3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B50939-D9F6-40CE-B637-03A3934C12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D8F63B-2F2F-46F3-9C14-92F425C1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72200"/>
            <a:ext cx="111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1f89776ba43b8"/>
    <p:sldLayoutId xmlns:r="http://schemas.openxmlformats.org/officeDocument/2006/relationships" id="2147483650" r:id="Rfd570827ff3d4083"/>
    <p:sldLayoutId xmlns:r="http://schemas.openxmlformats.org/officeDocument/2006/relationships" id="2147483651" r:id="R35f0d58ce0b647bb"/>
    <p:sldLayoutId xmlns:r="http://schemas.openxmlformats.org/officeDocument/2006/relationships" id="2147483652" r:id="R69d0469f2dfa4759"/>
    <p:sldLayoutId xmlns:r="http://schemas.openxmlformats.org/officeDocument/2006/relationships" id="2147483653" r:id="Rc587321be53c4604"/>
    <p:sldLayoutId xmlns:r="http://schemas.openxmlformats.org/officeDocument/2006/relationships" id="2147483654" r:id="R3527f4a4fdab4812"/>
    <p:sldLayoutId xmlns:r="http://schemas.openxmlformats.org/officeDocument/2006/relationships" id="2147483655" r:id="R9a01e4e1c4ba4039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200" b="1" kern="1200">
          <a:solidFill>
            <a:srgbClr val="CC9900"/>
          </a:solidFill>
          <a:latin typeface="Arial"/>
          <a:ea typeface="Arial"/>
          <a:cs typeface="Arial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Wingdings"/>
        <a:buChar char="Ø"/>
        <a:defRPr sz="3200" kern="1200">
          <a:solidFill>
            <a:srgbClr val="D7C05F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250fcb284c497c" /><Relationship Type="http://schemas.openxmlformats.org/officeDocument/2006/relationships/notesSlide" Target="/ppt/notesSlides/notesSlide1.xml" Id="R78c65e82241a42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2af58c57af43d7" /><Relationship Type="http://schemas.openxmlformats.org/officeDocument/2006/relationships/notesSlide" Target="/ppt/notesSlides/notesSlide2.xml" Id="Re8df7b1494ac43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6fc804ea734779" /><Relationship Type="http://schemas.openxmlformats.org/officeDocument/2006/relationships/notesSlide" Target="/ppt/notesSlides/notesSlide3.xml" Id="R3235cd6f149b49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e318dc6f34335" /><Relationship Type="http://schemas.openxmlformats.org/officeDocument/2006/relationships/notesSlide" Target="/ppt/notesSlides/notesSlide4.xml" Id="R49dcfea26c9a4c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81a88fff9a47c9" /><Relationship Type="http://schemas.openxmlformats.org/officeDocument/2006/relationships/notesSlide" Target="/ppt/notesSlides/notesSlide5.xml" Id="Rc697b2bace2146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f1b187cbb141c0" /><Relationship Type="http://schemas.openxmlformats.org/officeDocument/2006/relationships/notesSlide" Target="/ppt/notesSlides/notesSlide6.xml" Id="R20b2cd2751a041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76292716cd496c" /><Relationship Type="http://schemas.openxmlformats.org/officeDocument/2006/relationships/notesSlide" Target="/ppt/notesSlides/notesSlide7.xml" Id="Reaa93bcb106242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37f8d52c624bb9" /><Relationship Type="http://schemas.openxmlformats.org/officeDocument/2006/relationships/notesSlide" Target="/ppt/notesSlides/notesSlide8.xml" Id="R0f84d36ad6f04a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69430-1576-4AEE-B78F-9C737BE7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Project #19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Standalone Root Cause Analysis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A2121-AE42-49BA-ACE9-DB2DD4B0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958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Progress through 22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43241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4F7D7-8758-4F03-82F8-A51F4241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AAF3D-E917-4980-9C23-8F2EA312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Step-by-step 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11267-527C-429D-8656-2F763EEC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716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Built iterative investigations with specialist questions, evidence references and preserved investigation versions.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714B3-FABC-4621-9A75-E2227A53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incident RCA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3113B-001B-4784-883E-C18FBCCF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528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 development experiments on the R3 beam and instrument-air cases. Prepared staged synthetic evidence packages.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DD4E6-A594-46F2-BCEA-5A7C0E7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open-source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9166E-C7BB-4458-A778-2C70FF94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33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 Qwen through real investigation workflows. Reliability and causal accuracy remain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20325326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F2EF9-7385-45D5-BD14-C1502D77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Iterative Investigation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E35C2-F699-4662-8114-A13F96F1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Establish the incident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CD141-37D9-420A-8369-99B1B3AF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62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Register the narrative and documents, identify relevant entities, and form preliminary explanations.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EBDDE-A415-4FB3-BD6F-DD9372E6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Investigate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B6F32-5166-41E2-8B46-9EE57721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432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Consult relevant specialists, combine overlapping requests, and route source-backed answers to their owners.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DD132-DF0C-474B-8E6C-35BB4E44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and revise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DFBDC-74C1-43DB-8142-B79B8619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244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Assess factual support, causal roles and connections separately. Save the current board and unresolved questions.</a:t>
            </a:r>
          </a:p>
        </p:txBody>
      </p:sp>
    </p:spTree>
    <p:extLst>
      <p:ext uri="{BB962C8B-B14F-4D97-AF65-F5344CB8AC3E}">
        <p14:creationId xmlns:p14="http://schemas.microsoft.com/office/powerpoint/2010/main" val="10742654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0BA18-11D1-4521-988C-113DB20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Findings from Development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516B3-5DF0-4A23-907D-C21AFB4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Earlier causal pipelines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F98BB-814A-4EBE-B087-9EB8B57C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52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Produced visible boards, but expanding context and candidate links could block completion or create excessive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10F05-E5D7-44DE-8169-D34F3D8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Persistent task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07F51-5263-4322-A9C1-75B4D85C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528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Improved recovery and inspection. Completing the workflow still did not guarantee a useful causal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0FC80-996E-44FB-BA96-12D246DD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revisions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457E9-B394-4EB5-9E1C-F57D2E06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529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Published V1 and V2, but some corrections failed to reach board wording and some questions remained stale.</a:t>
            </a:r>
          </a:p>
        </p:txBody>
      </p:sp>
    </p:spTree>
    <p:extLst>
      <p:ext uri="{BB962C8B-B14F-4D97-AF65-F5344CB8AC3E}">
        <p14:creationId xmlns:p14="http://schemas.microsoft.com/office/powerpoint/2010/main" val="19400423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F9C4F-7371-4B08-B030-61AB1B0B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Recent RCA System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C6822-C8E4-493C-9704-EAB5F776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BC0FE-76FE-4467-89C3-0541D47A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335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Track partial answers and subscriber delivery. Preserve different question purposes and expose reviewer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63CB7-5293-4BFF-8797-C6A3B8EC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Corrections and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B9141-34F2-4BE2-A654-D51F8F78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source-bound revisions with history. Separate factual support from causal-role and relationship judgments.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EECDF-3694-4BC3-AFAE-43A8F47B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Reproducible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E5934-B174-42E6-9FCC-1BF96C4A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958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Preserve snapshots, controlled-release receipts and experiment exports. The receipt reports 97 software checks passed.</a:t>
            </a:r>
          </a:p>
        </p:txBody>
      </p:sp>
    </p:spTree>
    <p:extLst>
      <p:ext uri="{BB962C8B-B14F-4D97-AF65-F5344CB8AC3E}">
        <p14:creationId xmlns:p14="http://schemas.microsoft.com/office/powerpoint/2010/main" val="7687245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9DA5D-2B07-401F-AE97-B9DDCC65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Latest Qwen Run: Partial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83181-8F65-4B9F-A6A3-A78FB34D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00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21 tasks 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0ABAA-0C1E-4123-ABE5-4E46EA1C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 V1 published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05F14-9349-4E36-9948-98D0E70F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selected observations and the focal event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causal links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C023C-0765-4735-848E-516DF70F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run exposed answer-routing and revision issues.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team implemented fixes and added regression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43D85-8132-4E6C-8D9F-53BF59A8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Execution-inconclusive: a fresh run with a frozen configuration is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21115195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4A8E2-BD2F-4B0A-B4BC-333C7620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Staged Evidence Packages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9ABE9-E72C-4E9C-9BD2-FCF35C2E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R3 carrier-beam fall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05C0A-9DA2-43DD-A05C-152C8F1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240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Staged reconstruction prepared. Load-path and circuit details require independent technical review before scoring.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74D6A-C892-435D-B60F-52C858AC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Instrument-air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3BC63-CD1B-4BDC-B942-8B7274C1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Package prepared for a pilot, with configuration, pressure observations and operating chronology across documents.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AC428-21C9-449C-997A-336BDEDA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evidence releases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95B7-D66A-4D98-A3C2-2A20399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Starter evidence supports V1. Later documents test whether V2 and V3 revise explanations for justified reasons.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9D955-A5CF-4967-8C2B-48BA2DCE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reconstructions of development cases. Independent validation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5713886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FA026-E419-4134-B55F-84C1E355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Next Steps: Controlled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C640E-76BE-412A-8FE3-B3F1FB4F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Freeze and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92AC8-8671-4EC2-9E96-C2B036B1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240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 the model, prompts and evidence schedule. Preserve each version and the inputs that produced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29839-9C18-4AE6-B79A-01968223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Assess the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92579-68CB-41ED-ABE3-03AEE96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factual accuracy, causal support, uncertainty and correction quality. Report software failures separately.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2B25D-0C4F-4DC2-AF22-EB6CE022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and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128A2-1951-4CE1-8CA5-11BE12E4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a simpler baseline on the same evidence. Seek technical review of case realism and causal interpretations.</a:t>
            </a:r>
          </a:p>
        </p:txBody>
      </p:sp>
    </p:spTree>
    <p:extLst>
      <p:ext uri="{BB962C8B-B14F-4D97-AF65-F5344CB8AC3E}">
        <p14:creationId xmlns:p14="http://schemas.microsoft.com/office/powerpoint/2010/main" val="1558644485"/>
      </p:ext>
    </p:extLst>
  </p:cSld>
</p:sld>
</file>

<file path=ppt/theme/theme1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2026-09-22T18:33:48.6440000Z</dcterms:created>
  <dcterms:modified xsi:type="dcterms:W3CDTF">2026-09-22T18:33:48.6440000Z</dcterms:modified>
</coreProperties>
</file>