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e2a792a2ac4029" /><Relationship Type="http://schemas.openxmlformats.org/officeDocument/2006/relationships/extended-properties" Target="/docProps/app.xml" Id="R7f688821fbc8455f" /><Relationship Type="http://schemas.openxmlformats.org/officeDocument/2006/relationships/officeDocument" Target="/ppt/presentation.xml" Id="R7036b5b9cbcb4e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c82f6f7c54459b"/>
  </p:sldMasterIdLst>
  <p:notesMasterIdLst>
    <p:notesMasterId xmlns:r="http://schemas.openxmlformats.org/officeDocument/2006/relationships" r:id="Rccfcbc5f2ea34ad6"/>
  </p:notesMasterIdLst>
  <p:sldIdLst>
    <p:sldId xmlns:r="http://schemas.openxmlformats.org/officeDocument/2006/relationships" id="256" r:id="Rfa2856f378ee4c4d"/>
    <p:sldId xmlns:r="http://schemas.openxmlformats.org/officeDocument/2006/relationships" id="257" r:id="Ra696149a165b4cea"/>
    <p:sldId xmlns:r="http://schemas.openxmlformats.org/officeDocument/2006/relationships" id="258" r:id="Rec6fe32c32a7458f"/>
    <p:sldId xmlns:r="http://schemas.openxmlformats.org/officeDocument/2006/relationships" id="259" r:id="Ra68f96c000c9416c"/>
    <p:sldId xmlns:r="http://schemas.openxmlformats.org/officeDocument/2006/relationships" id="260" r:id="Rb468880f691b41ce"/>
    <p:sldId xmlns:r="http://schemas.openxmlformats.org/officeDocument/2006/relationships" id="261" r:id="Rdf117044b5704914"/>
    <p:sldId xmlns:r="http://schemas.openxmlformats.org/officeDocument/2006/relationships" id="262" r:id="Raf63af98a0b341a3"/>
    <p:sldId xmlns:r="http://schemas.openxmlformats.org/officeDocument/2006/relationships" id="263" r:id="Rd5f7f57a9f8544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ea9cb3b6264f1c" /><Relationship Type="http://schemas.openxmlformats.org/officeDocument/2006/relationships/slideMaster" Target="/ppt/slideMasters/slideMaster1.xml" Id="R8cc82f6f7c54459b" /><Relationship Type="http://schemas.openxmlformats.org/officeDocument/2006/relationships/notesMaster" Target="/ppt/notesMasters/notesMaster1.xml" Id="Rccfcbc5f2ea34ad6" /><Relationship Type="http://schemas.openxmlformats.org/officeDocument/2006/relationships/presProps" Target="/ppt/presProps.xml" Id="R7a99b594f30f410d" /><Relationship Type="http://schemas.openxmlformats.org/officeDocument/2006/relationships/tableStyles" Target="/ppt/tableStyles.xml" Id="R35830aaa68314dca" /><Relationship Type="http://schemas.openxmlformats.org/officeDocument/2006/relationships/slide" Target="/ppt/slides/slide1.xml" Id="Rfa2856f378ee4c4d" /><Relationship Type="http://schemas.openxmlformats.org/officeDocument/2006/relationships/slide" Target="/ppt/slides/slide2.xml" Id="Ra696149a165b4cea" /><Relationship Type="http://schemas.openxmlformats.org/officeDocument/2006/relationships/slide" Target="/ppt/slides/slide3.xml" Id="Rec6fe32c32a7458f" /><Relationship Type="http://schemas.openxmlformats.org/officeDocument/2006/relationships/slide" Target="/ppt/slides/slide4.xml" Id="Ra68f96c000c9416c" /><Relationship Type="http://schemas.openxmlformats.org/officeDocument/2006/relationships/slide" Target="/ppt/slides/slide5.xml" Id="Rb468880f691b41ce" /><Relationship Type="http://schemas.openxmlformats.org/officeDocument/2006/relationships/slide" Target="/ppt/slides/slide6.xml" Id="Rdf117044b5704914" /><Relationship Type="http://schemas.openxmlformats.org/officeDocument/2006/relationships/slide" Target="/ppt/slides/slide7.xml" Id="Raf63af98a0b341a3" /><Relationship Type="http://schemas.openxmlformats.org/officeDocument/2006/relationships/slide" Target="/ppt/slides/slide8.xml" Id="Rd5f7f57a9f8544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a3cb0358db46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4a9827823e4b16" /><Relationship Type="http://schemas.openxmlformats.org/officeDocument/2006/relationships/notesMaster" Target="/ppt/notesMasters/notesMaster1.xml" Id="R6846820294c044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c19593d856481f" /><Relationship Type="http://schemas.openxmlformats.org/officeDocument/2006/relationships/notesMaster" Target="/ppt/notesMasters/notesMaster1.xml" Id="R66a212f23240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86da388a0a4870" /><Relationship Type="http://schemas.openxmlformats.org/officeDocument/2006/relationships/notesMaster" Target="/ppt/notesMasters/notesMaster1.xml" Id="R11b0ec37c6a847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46429a1bd14833" /><Relationship Type="http://schemas.openxmlformats.org/officeDocument/2006/relationships/notesMaster" Target="/ppt/notesMasters/notesMaster1.xml" Id="R232304bb09d34b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05567771fc41e2" /><Relationship Type="http://schemas.openxmlformats.org/officeDocument/2006/relationships/notesMaster" Target="/ppt/notesMasters/notesMaster1.xml" Id="Rece33805a8304d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b42375a8d64b8a" /><Relationship Type="http://schemas.openxmlformats.org/officeDocument/2006/relationships/notesMaster" Target="/ppt/notesMasters/notesMaster1.xml" Id="Rc7448ed2a17b4f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329bbe5166452c" /><Relationship Type="http://schemas.openxmlformats.org/officeDocument/2006/relationships/notesMaster" Target="/ppt/notesMasters/notesMaster1.xml" Id="Rd058f83e0ccb4e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d8bb6ee79a42a7" /><Relationship Type="http://schemas.openxmlformats.org/officeDocument/2006/relationships/notesMaster" Target="/ppt/notesMasters/notesMaster1.xml" Id="R3f62f959044e4e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527039d1745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a8b80503734219" /><Relationship Type="http://schemas.openxmlformats.org/officeDocument/2006/relationships/slideLayout" Target="/ppt/slideLayouts/slideLayout1.xml" Id="R3041ba6b8fe041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41ba6b8fe041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b5c8c4cfc449e" /><Relationship Type="http://schemas.openxmlformats.org/officeDocument/2006/relationships/notesSlide" Target="/ppt/notesSlides/notesSlide1.xml" Id="Rd5ca4377fe3c42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1af43e9724a5a" /><Relationship Type="http://schemas.openxmlformats.org/officeDocument/2006/relationships/notesSlide" Target="/ppt/notesSlides/notesSlide2.xml" Id="R95f056c5e63144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8729e488c4dc1" /><Relationship Type="http://schemas.openxmlformats.org/officeDocument/2006/relationships/notesSlide" Target="/ppt/notesSlides/notesSlide3.xml" Id="R7043db46983e49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3530bab634feb" /><Relationship Type="http://schemas.openxmlformats.org/officeDocument/2006/relationships/notesSlide" Target="/ppt/notesSlides/notesSlide4.xml" Id="R204358c078494f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1031da2ac45ed" /><Relationship Type="http://schemas.openxmlformats.org/officeDocument/2006/relationships/notesSlide" Target="/ppt/notesSlides/notesSlide5.xml" Id="Rae11cbd967694f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b1fd312774429" /><Relationship Type="http://schemas.openxmlformats.org/officeDocument/2006/relationships/notesSlide" Target="/ppt/notesSlides/notesSlide6.xml" Id="Rb9d04e26efcf4a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5a4e0be904346" /><Relationship Type="http://schemas.openxmlformats.org/officeDocument/2006/relationships/notesSlide" Target="/ppt/notesSlides/notesSlide7.xml" Id="Rb9fd393fbc004e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a070bb2c445a4" /><Relationship Type="http://schemas.openxmlformats.org/officeDocument/2006/relationships/notesSlide" Target="/ppt/notesSlides/notesSlide8.xml" Id="Re222c29df09b44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42A38-8FB4-469E-B722-FA6C5E6C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1B293-36F8-49DB-87B2-ABC36B08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10051-E75A-462F-8A58-210089C2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RCA Investigation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E1B14-08E3-4E30-80B8-D8FFBB3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E7490"/>
                </a:solidFill>
                <a:latin typeface="Aptos"/>
                <a:ea typeface="Aptos"/>
                <a:cs typeface="Aptos"/>
              </a:rPr>
              <a:t>From incident description to evidence-supported causal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6CC59-769F-41E3-A752-76B950D8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Separate specialist knowledge bases, one question handler and an iterative causal-analysis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DCF8-788C-445F-8450-EBFC9E4A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System 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BC028-D070-426F-A5C4-D21F1CE9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</p:spTree>
    <p:extLst>
      <p:ext uri="{BB962C8B-B14F-4D97-AF65-F5344CB8AC3E}">
        <p14:creationId xmlns:p14="http://schemas.microsoft.com/office/powerpoint/2010/main" val="1389239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7F4126-E71B-4D3D-B491-98AD34DC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5EB99-81CA-4D68-B8EA-D3DE8161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End-to-end investigation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F166B-90CD-4388-9753-CB46385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Knowledge develops first. Causal analysis then tests possible explanations against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EDD79-67A6-4E94-B3ED-E00515BB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33504-790A-4012-B061-A54AC5FF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A9112-6421-4EC0-AB11-C2084FBC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A21CC-2914-4A4C-A8EB-29CFED1E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Incident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93CB9-B3C6-4C99-BCBC-575348FF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System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understanding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AB315-6A58-455F-AFDA-3F0DDFD3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Tagging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EB54A-2E1F-466E-9D01-50E3673E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Selected specialist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C7227-5103-401C-B28B-23C34C3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Candidate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2E5CE-9AAC-4146-9A16-68EEE022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478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7192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959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2002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7440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D6EF2-01C3-4A39-9825-DDF93F98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FAE08-B067-4FE0-9251-05C88C20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returns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03A14-F1D0-49FE-B057-5025682A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Specialist knowledge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bases evolve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AE662-152C-4B31-843C-8E3F4207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03BA1-9B9B-4957-9BE7-D10A76A7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95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Supported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board</a:t>
            </a:r>
          </a:p>
        </p:txBody>
      </p:sp>
      <p:cxnSp>
        <p:nvCxnSpPr>
          <p:cNvPr id="56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858500" y="2305050"/>
            <a:ext cx="85725" cy="1790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9563100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7286625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5010150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2752725" y="44862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668E6-3010-43FB-8559-8409F2CF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62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089"/>
                </a:solidFill>
                <a:latin typeface="Aptos"/>
                <a:ea typeface="Aptos"/>
                <a:cs typeface="Aptos"/>
              </a:rPr>
              <a:t>Knowledge-building round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4ADA9-3671-4745-9BDD-06B7976C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089"/>
                </a:solidFill>
                <a:latin typeface="Aptos"/>
                <a:ea typeface="Aptos"/>
                <a:cs typeface="Aptos"/>
              </a:rPr>
              <a:t>Answer and causal-analysis round</a:t>
            </a:r>
          </a:p>
        </p:txBody>
      </p:sp>
      <p:cxnSp>
        <p:nvCxnSpPr>
          <p:cNvPr id="63" name=""/>
          <p:cNvCxnSpPr>
            <a:stCxn xmlns:a="http://schemas.openxmlformats.org/drawingml/2006/main" id="2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114800" y="2305050"/>
            <a:ext cx="6743700" cy="1790700"/>
          </a:xfrm>
          <a:prstGeom xmlns:a="http://schemas.openxmlformats.org/drawingml/2006/main" prst="bentConnector4">
            <a:avLst>
              <a:gd name="adj1" fmla="val 0"/>
              <a:gd name="adj2" fmla="val 87234"/>
            </a:avLst>
          </a:prstGeom>
          <a:ln xmlns:a="http://schemas.openxmlformats.org/drawingml/2006/main" w="19050">
            <a:solidFill>
              <a:srgbClr val="6941C6"/>
            </a:solidFill>
            <a:prstDash val="dash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17B44C-CF6E-4CAD-AF6F-6764670C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941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941C6"/>
                </a:solidFill>
                <a:latin typeface="Aptos"/>
                <a:ea typeface="Aptos"/>
                <a:cs typeface="Aptos"/>
              </a:rPr>
              <a:t>Missing facts create new questions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A2FE0C-D5CD-4B35-B7EB-400994FD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Each model track runs this flow independently.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A2F394-95AE-4876-99FE-73B6D176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5787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human investigator can answer, correct or override at any stage.</a:t>
            </a:r>
          </a:p>
        </p:txBody>
      </p:sp>
    </p:spTree>
    <p:extLst>
      <p:ext uri="{BB962C8B-B14F-4D97-AF65-F5344CB8AC3E}">
        <p14:creationId xmlns:p14="http://schemas.microsoft.com/office/powerpoint/2010/main" val="12508206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A84F35-EE8F-4ACC-8E27-2C2139AD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DD033-3822-4FEE-99FB-45728216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Separate specialist knowledge bases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C11A6-6C5B-47F6-9A8B-47590953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Specialists keep independent interpretations while the answer agent can search across all available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8E020-EC1A-49E6-A09A-DDFCC35E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93205-D118-484D-B80B-1D1493A4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F7841-E1E1-41E1-ACBB-9E0B8023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603F2-C7F3-42AD-AE60-5989CF20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Separate domain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88BEE-BE4D-47DB-A79B-40845F69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Equipment knowledge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60419-F5D1-4E79-97C3-5B33B21D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267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Stored-energy knowledge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F67C7-9637-4303-A125-8742A079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Maintenance knowledge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D1E2C-6A33-4811-BD79-8A4AD4B0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Human knowledge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EE267-C6FC-45E4-8A66-C68565F5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Other selected specialists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9C012-D245-4678-9320-3AB6CB1E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D14BB-0609-4CCA-A729-A7318492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0708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Documents, uploaded evidence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and user answers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6442E-0975-4F57-9B43-4BA6EC3D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52600"/>
            <a:ext cx="2762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B7425-431E-4A22-A9D3-D13183CB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05200"/>
            <a:ext cx="276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Relevant specialists and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 Agent</a:t>
            </a:r>
          </a:p>
        </p:txBody>
      </p:sp>
      <p:cxnSp>
        <p:nvCxnSpPr>
          <p:cNvPr id="44" name=""/>
          <p:cNvCxnSpPr>
            <a:stCxn xmlns:a="http://schemas.openxmlformats.org/drawingml/2006/main" id="13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3762375" y="1857375"/>
            <a:ext cx="857250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3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762375" y="2638425"/>
            <a:ext cx="857250" cy="133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3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762375" y="2771775"/>
            <a:ext cx="857250" cy="647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3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762375" y="2771775"/>
            <a:ext cx="85725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3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762375" y="2771775"/>
            <a:ext cx="857250" cy="2209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857875" y="31813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5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096125" y="2143125"/>
            <a:ext cx="1047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7096125" y="2533650"/>
            <a:ext cx="2428875" cy="23812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525000" y="253365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941C6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A9A1D0-CD80-46A2-948C-7009A8C4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197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answer agent searches. It does not merge specialist knowledge bases.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8713C-4F6B-4DED-B633-626970FD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38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Redundancy remains visible so one specialist can catch what another missed.</a:t>
            </a:r>
          </a:p>
        </p:txBody>
      </p:sp>
    </p:spTree>
    <p:extLst>
      <p:ext uri="{BB962C8B-B14F-4D97-AF65-F5344CB8AC3E}">
        <p14:creationId xmlns:p14="http://schemas.microsoft.com/office/powerpoint/2010/main" val="1778017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E18E46-4179-44D3-9E1E-AABBEEBC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B5AF9-381C-4BDD-8BED-648C9557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Question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2C679-F485-4CE6-BE2B-2BF98C9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same handler processes questions from specialist agents and from causal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FFD34-46AB-4AA8-91C6-7CE741A7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49688-9F81-460E-88EF-D212D382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B644B-3455-4804-BED1-EBFCE8F4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18AE9-51CF-4633-8A0E-C8C40606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Specialist Agent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proposes and justifies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9867C-FA27-4A0F-B0EF-1BCFE6A3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 Agent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identifies a missing 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C340E-0647-4374-9889-5C7BF98C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21431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D3366-543D-4B1D-AAE8-17452C4F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C503F-C078-4244-941E-3E469A0E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33675"/>
            <a:ext cx="1619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receives the answer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05125" y="2166938"/>
            <a:ext cx="100012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941C6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905125" y="3186113"/>
            <a:ext cx="1000125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12365D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48375" y="31861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9750" y="31861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8DEBF-5826-402C-9776-CA8C49F8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62500"/>
            <a:ext cx="54768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Broker distributes the answer to every contributing or relevant agent</a:t>
            </a:r>
          </a:p>
        </p:txBody>
      </p:sp>
      <p:cxnSp>
        <p:nvCxnSpPr>
          <p:cNvPr id="48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8977313" y="3638550"/>
            <a:ext cx="1928813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F855A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3C5F6-B866-4984-9885-E19BBBE3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Broker responsibilities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18C6F-652A-4C72-93A8-3D863A63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38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C63B9-26BB-490D-B2A2-BD6CC98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2437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Merge overlapping questions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E0D4E-B172-4F48-889F-4DDF52D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80B6C-1548-411B-9CED-5C45D7AB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Preserve contributors and purpose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37AA8-9E92-422A-8897-00DEE75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0696A-7D42-4F2E-9D19-2164102F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4352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8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Return the answer to the right 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2A0766-DE4D-43F3-83BE-4286DB52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81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Answer-agent responsibilities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FC4DFA-CC1B-45F1-8C5D-46CF5F06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086F14-64BA-4FD4-A3A2-E22919F6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9545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Search specialist knowledge bases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541EE-FD51-4A1C-B58B-790B6556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81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F5D8F-A11E-4DD1-99CB-16F4A41E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66925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Search documents and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16C4C1-6705-47F4-B38B-1054AC85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83CF71-4BE6-40D3-BEB7-16DFC0D3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3840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Ask the user when the answer remains unavailable</a:t>
            </a:r>
          </a:p>
        </p:txBody>
      </p:sp>
    </p:spTree>
    <p:extLst>
      <p:ext uri="{BB962C8B-B14F-4D97-AF65-F5344CB8AC3E}">
        <p14:creationId xmlns:p14="http://schemas.microsoft.com/office/powerpoint/2010/main" val="1096719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B9552-AE9A-4BFD-8778-43B6BFDB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C031E-A6CC-414C-AAE7-55991D34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The first causal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86DCB-46DD-4341-A09A-39F4B003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Causal analysis starts with the immediate event and creates competing explanations for what directly allowed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496BE-2430-45EA-A90E-2F282991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0F251-3C5F-42CA-A885-1D320DAA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64968-6F3C-4CA2-8516-24EB5208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B85FB-E790-47F7-A3B2-BAB016F3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Required support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was lost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C2804-1B3C-4D11-A762-18B4E6C2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 restraint was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ineffective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50FF0-15E9-4865-9C21-44CE5364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component moved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out of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A1AC4-5623-4594-A0B6-1B15EF8D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 external force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acted on the beam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1B698-2141-40F8-AA89-5C105854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R3 Exit Carrier Beam</a:t>
            </a:r>
          </a:p>
          <a:p xmlns:a="http://schemas.openxmlformats.org/drawingml/2006/main">
            <a:pPr algn="ctr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fell from the yoke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1790700"/>
            <a:ext cx="4381500" cy="1466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2857500"/>
            <a:ext cx="43815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619500" y="3257550"/>
            <a:ext cx="438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619500" y="3257550"/>
            <a:ext cx="4381500" cy="1733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6BC1A-4CE1-40D5-9A0B-C652A857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Possible direct explanations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ED5CD-E948-46D8-9F62-25AB76E9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Event to 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7FA9F-35A0-4849-B180-05B31AEC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676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 branch advances only when facts support a plausible mechanism.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F9DA4-E4C9-41D9-B95F-4491C317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At this stage, every explanation remains possible rather than proven.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8592C-1A30-4BD9-802C-49D5B410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agent asks which fact would distinguish one explanation from the others.</a:t>
            </a:r>
          </a:p>
        </p:txBody>
      </p:sp>
    </p:spTree>
    <p:extLst>
      <p:ext uri="{BB962C8B-B14F-4D97-AF65-F5344CB8AC3E}">
        <p14:creationId xmlns:p14="http://schemas.microsoft.com/office/powerpoint/2010/main" val="1556371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CEF15-35C4-4120-9372-521D6CFF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BB575-82C9-4468-95F5-12F1D4A8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Causal-analysis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CACBB-8E97-4C5E-BA77-D6A7A29E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agent moves backward only along explanations that survive evidence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08F33-ADF1-4D47-8FBF-9F90455C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13C37-793D-4F27-90CE-310E957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6D548-DDA7-4A9F-B8CC-C30B8BAD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983A9-74A6-4DDE-BD82-ACC1EFD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90625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1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Start with the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CD5FE-361D-4DBF-B78C-B5506066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57375"/>
            <a:ext cx="2667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2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Propose direct explanations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3CD8A-7734-46AA-AB68-5E01A59C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667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Connect facts through a 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2FE47-C2B1-44AC-B61E-7DF95BA2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4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Identify the missing 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69CF8-A4CC-46C9-8B11-D38BFAE7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2762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5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Ask through the Question Broker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C0571-9366-4271-8D1F-885BC7A6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2762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6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Receive the answer and revise status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239000" y="1543050"/>
            <a:ext cx="2333625" cy="31432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572625" y="2619375"/>
            <a:ext cx="333375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239000" y="4095750"/>
            <a:ext cx="1333500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3762375" y="4095750"/>
            <a:ext cx="1095375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2381250" y="26193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762375" y="1543050"/>
            <a:ext cx="1095375" cy="695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1B03C-3F5C-40C1-B2BE-92446EFF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Supported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69252-7B37-4805-B94A-8E69B243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Possible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C3ADF-684F-494A-B99E-935B3A2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Rejected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A8022-64D3-4B4F-B4ED-50E835AD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05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When a direct link becomes supported, the agent asks what created that condition and moves one step further backward.</a:t>
            </a:r>
          </a:p>
        </p:txBody>
      </p:sp>
    </p:spTree>
    <p:extLst>
      <p:ext uri="{BB962C8B-B14F-4D97-AF65-F5344CB8AC3E}">
        <p14:creationId xmlns:p14="http://schemas.microsoft.com/office/powerpoint/2010/main" val="642065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8179F-05A2-40D6-9F20-547D141C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6EF26-CAFF-4F59-BB95-85F0A24A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Causal connection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C96ED-0038-455B-8BA1-6CE7CD7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causal board stores an explicit claim and the evidence needed to assess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91DE8-A48E-48C0-911C-488EE294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F3060-57E1-4151-8958-6C956FB1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62C22-9E3D-4AE6-91D2-FF091DE4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048625"/>
              </a:tblGrid>
              <a:tr h="4095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Causal-link field</a:t>
                      </a:r>
                    </a:p>
                  </a:txBody>
                  <a:tcPr marL="91440" marR="91440" marT="45720" marB="45720"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the agent records</a:t>
                      </a:r>
                    </a:p>
                  </a:txBody>
                  <a:tcPr marL="91440" marR="91440" marT="45720" marB="45720">
                    <a:solidFill>
                      <a:srgbClr val="1236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existed or happened before the event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Effect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changed or occurred next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How the condition could have produced the effect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Supporting facts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Evidence that agrees with the proposed connection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Contradicting facts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Evidence that weakens or challenges the connection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Missing evidence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The specific fact that would distinguish the direction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Supported, possible, disputed or rejected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50978-E232-4818-9E16-0B748E14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Questions remain outside the causal board until an answer produces a fact or changes a connection.</a:t>
            </a:r>
          </a:p>
        </p:txBody>
      </p:sp>
    </p:spTree>
    <p:extLst>
      <p:ext uri="{BB962C8B-B14F-4D97-AF65-F5344CB8AC3E}">
        <p14:creationId xmlns:p14="http://schemas.microsoft.com/office/powerpoint/2010/main" val="1761651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8CEA8A-13FE-445D-8A04-A3DF89D4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3C895-5839-4FAD-9016-DBC7EE9F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Investigation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49F7B-9AEB-4883-935E-FA14FFFB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system preserves how knowledge and causal explanations changed over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67250-71A2-4B08-BA7C-ABB90C95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CD087-AC02-4A76-9FD4-68115092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A5A9A-D454-4E64-BD08-E53DF3C2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33EA3-0FEB-4FED-8675-6A2B0521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evolving record contains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5588D-FE17-40BD-A196-D3A64CA2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37B2D-0F1A-4F46-BA72-8C40247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Versioned knowledge base for every selected specialist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99123-A4E2-4186-AFB8-8FE8A6E1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FAB24-510A-48C6-B5B2-4D5C3650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Source and confidence attached to each 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91F65-A1D7-4A44-9675-F37643F6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E1105-ED83-4177-9B6B-86268DF5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Question history, merged wording and contributing 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3D7DD-E09D-4FC6-B14E-D33DB886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03266-8A8F-4823-8646-D55F7FE0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Unresolved contradictions and missing documents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4152B-2555-48A5-8FC4-93F4C6E1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BE44E-502A-45E4-844D-9C2EF70E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Competing causal paths with current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F7CDD-1802-4276-BB90-CA4106A1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5E4AD-2EC1-47BF-9251-FF5993BB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Human corrections, approvals and overrides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F9B3F-CA8A-4D66-9236-22EDEEDB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Established 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3D154-1B90-4B7B-B486-38D3B6B5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Competing causal paths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E73BC-7536-49AF-B748-42C54AA7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Evidence-supported</a:t>
            </a:r>
          </a:p>
          <a:p xmlns:a="http://schemas.openxmlformats.org/drawingml/2006/main">
            <a:pPr algn="ctr">
              <a:defRPr sz="17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board</a:t>
            </a:r>
          </a:p>
        </p:txBody>
      </p:sp>
      <p:cxnSp>
        <p:nvCxnSpPr>
          <p:cNvPr id="48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810625" y="211455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810625" y="34004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07F2CB-CC34-4DC7-B372-C6B7016F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768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Human approval remains the final gate</a:t>
            </a:r>
          </a:p>
        </p:txBody>
      </p:sp>
    </p:spTree>
    <p:extLst>
      <p:ext uri="{BB962C8B-B14F-4D97-AF65-F5344CB8AC3E}">
        <p14:creationId xmlns:p14="http://schemas.microsoft.com/office/powerpoint/2010/main" val="876774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2026-09-04T15:58:28.6370000Z</dcterms:created>
  <dcterms:modified xsi:type="dcterms:W3CDTF">2026-09-04T15:58:28.6370000Z</dcterms:modified>
</coreProperties>
</file>