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d2ff34d5a744faf" /><Relationship Type="http://schemas.openxmlformats.org/officeDocument/2006/relationships/extended-properties" Target="/docProps/app.xml" Id="R7b5e428706a04665" /><Relationship Type="http://schemas.openxmlformats.org/officeDocument/2006/relationships/officeDocument" Target="/ppt/presentation.xml" Id="R934ed0febd694dc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25c093dbd634f30"/>
  </p:sldMasterIdLst>
  <p:notesMasterIdLst>
    <p:notesMasterId xmlns:r="http://schemas.openxmlformats.org/officeDocument/2006/relationships" r:id="Ra761bd205cda45b9"/>
  </p:notesMasterIdLst>
  <p:sldIdLst>
    <p:sldId xmlns:r="http://schemas.openxmlformats.org/officeDocument/2006/relationships" id="256" r:id="Rf54ee94910244943"/>
    <p:sldId xmlns:r="http://schemas.openxmlformats.org/officeDocument/2006/relationships" id="257" r:id="Rf6cbf197d9034418"/>
    <p:sldId xmlns:r="http://schemas.openxmlformats.org/officeDocument/2006/relationships" id="258" r:id="Rc7a0fbaccba94704"/>
    <p:sldId xmlns:r="http://schemas.openxmlformats.org/officeDocument/2006/relationships" id="259" r:id="R6280ef02368b4caf"/>
    <p:sldId xmlns:r="http://schemas.openxmlformats.org/officeDocument/2006/relationships" id="260" r:id="Ra2ac54b7c9334381"/>
    <p:sldId xmlns:r="http://schemas.openxmlformats.org/officeDocument/2006/relationships" id="261" r:id="R82531d42e7f14c14"/>
    <p:sldId xmlns:r="http://schemas.openxmlformats.org/officeDocument/2006/relationships" id="262" r:id="Ra0158817db3d4c9a"/>
    <p:sldId xmlns:r="http://schemas.openxmlformats.org/officeDocument/2006/relationships" id="263" r:id="R8194bdc68f824dc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8a55a3d0688494d" /><Relationship Type="http://schemas.openxmlformats.org/officeDocument/2006/relationships/slideMaster" Target="/ppt/slideMasters/slideMaster1.xml" Id="R225c093dbd634f30" /><Relationship Type="http://schemas.openxmlformats.org/officeDocument/2006/relationships/notesMaster" Target="/ppt/notesMasters/notesMaster1.xml" Id="Ra761bd205cda45b9" /><Relationship Type="http://schemas.openxmlformats.org/officeDocument/2006/relationships/presProps" Target="/ppt/presProps.xml" Id="R5059e79515a7458c" /><Relationship Type="http://schemas.openxmlformats.org/officeDocument/2006/relationships/tableStyles" Target="/ppt/tableStyles.xml" Id="R67785eecc6a746e9" /><Relationship Type="http://schemas.openxmlformats.org/officeDocument/2006/relationships/slide" Target="/ppt/slides/slide1.xml" Id="Rf54ee94910244943" /><Relationship Type="http://schemas.openxmlformats.org/officeDocument/2006/relationships/slide" Target="/ppt/slides/slide2.xml" Id="Rf6cbf197d9034418" /><Relationship Type="http://schemas.openxmlformats.org/officeDocument/2006/relationships/slide" Target="/ppt/slides/slide3.xml" Id="Rc7a0fbaccba94704" /><Relationship Type="http://schemas.openxmlformats.org/officeDocument/2006/relationships/slide" Target="/ppt/slides/slide4.xml" Id="R6280ef02368b4caf" /><Relationship Type="http://schemas.openxmlformats.org/officeDocument/2006/relationships/slide" Target="/ppt/slides/slide5.xml" Id="Ra2ac54b7c9334381" /><Relationship Type="http://schemas.openxmlformats.org/officeDocument/2006/relationships/slide" Target="/ppt/slides/slide6.xml" Id="R82531d42e7f14c14" /><Relationship Type="http://schemas.openxmlformats.org/officeDocument/2006/relationships/slide" Target="/ppt/slides/slide7.xml" Id="Ra0158817db3d4c9a" /><Relationship Type="http://schemas.openxmlformats.org/officeDocument/2006/relationships/slide" Target="/ppt/slides/slide8.xml" Id="R8194bdc68f824dc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412d0f74e2d4bb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53f64e2722d4ad0" /><Relationship Type="http://schemas.openxmlformats.org/officeDocument/2006/relationships/notesMaster" Target="/ppt/notesMasters/notesMaster1.xml" Id="R25f905193fbb4ef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b38e156078445d0" /><Relationship Type="http://schemas.openxmlformats.org/officeDocument/2006/relationships/notesMaster" Target="/ppt/notesMasters/notesMaster1.xml" Id="Red2a0f19d7ad4f1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053ffec8de944d1" /><Relationship Type="http://schemas.openxmlformats.org/officeDocument/2006/relationships/notesMaster" Target="/ppt/notesMasters/notesMaster1.xml" Id="R795b6a147a41400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2a9d7becf654511" /><Relationship Type="http://schemas.openxmlformats.org/officeDocument/2006/relationships/notesMaster" Target="/ppt/notesMasters/notesMaster1.xml" Id="Rb3d1667a1d35409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b46760fd60f4a64" /><Relationship Type="http://schemas.openxmlformats.org/officeDocument/2006/relationships/notesMaster" Target="/ppt/notesMasters/notesMaster1.xml" Id="R88dcc526e1b6402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ad55ffcfff94b22" /><Relationship Type="http://schemas.openxmlformats.org/officeDocument/2006/relationships/notesMaster" Target="/ppt/notesMasters/notesMaster1.xml" Id="R66ef9920295b451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a9c947c028e4a24" /><Relationship Type="http://schemas.openxmlformats.org/officeDocument/2006/relationships/notesMaster" Target="/ppt/notesMasters/notesMaster1.xml" Id="Raf61f0d829c343f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056480549414695" /><Relationship Type="http://schemas.openxmlformats.org/officeDocument/2006/relationships/notesMaster" Target="/ppt/notesMasters/notesMaster1.xml" Id="R34103768e16449c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System design developed in the RCA application working session.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System design developed in the RCA application working session.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System design developed in the RCA application working session.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System design developed in the RCA application working session.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System design developed in the RCA application working session.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System design developed in the RCA application working session.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System design developed in the RCA application working session.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System design developed in the RCA application working session.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7d554178cf46e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db701c46ed142c4" /><Relationship Type="http://schemas.openxmlformats.org/officeDocument/2006/relationships/slideLayout" Target="/ppt/slideLayouts/slideLayout1.xml" Id="Rac570a06f32f4b4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c570a06f32f4b4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87759960d44f7f" /><Relationship Type="http://schemas.openxmlformats.org/officeDocument/2006/relationships/notesSlide" Target="/ppt/notesSlides/notesSlide1.xml" Id="Rb57c8db60bcc422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4fc3549b30436b" /><Relationship Type="http://schemas.openxmlformats.org/officeDocument/2006/relationships/notesSlide" Target="/ppt/notesSlides/notesSlide2.xml" Id="Rf60d9a15ab194fb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666a7f3bc54c53" /><Relationship Type="http://schemas.openxmlformats.org/officeDocument/2006/relationships/notesSlide" Target="/ppt/notesSlides/notesSlide3.xml" Id="Ra0580203783b463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74119f3a6f4659" /><Relationship Type="http://schemas.openxmlformats.org/officeDocument/2006/relationships/notesSlide" Target="/ppt/notesSlides/notesSlide4.xml" Id="R91e3ba1b4ffc421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f9527a7ed04d69" /><Relationship Type="http://schemas.openxmlformats.org/officeDocument/2006/relationships/notesSlide" Target="/ppt/notesSlides/notesSlide5.xml" Id="R2cc4bfe4835b4ab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eadc99940c4e9b" /><Relationship Type="http://schemas.openxmlformats.org/officeDocument/2006/relationships/notesSlide" Target="/ppt/notesSlides/notesSlide6.xml" Id="Rdb1c44d8e2ed48c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bb6677a6a34983" /><Relationship Type="http://schemas.openxmlformats.org/officeDocument/2006/relationships/notesSlide" Target="/ppt/notesSlides/notesSlide7.xml" Id="R4a14af0959d8423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75334623554243" /><Relationship Type="http://schemas.openxmlformats.org/officeDocument/2006/relationships/notesSlide" Target="/ppt/notesSlides/notesSlide8.xml" Id="R496751af2b3e436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974F31-62EC-4BDF-B87A-9B1EF7C1D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E7490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1334BE-DAEA-4EB5-8B27-6061155F4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666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77FA4F-5DBE-429F-BDE3-E53E92E79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571625"/>
            <a:ext cx="8572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2365D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12365D"/>
                </a:solidFill>
                <a:latin typeface="Aptos Display"/>
                <a:ea typeface="Aptos Display"/>
                <a:cs typeface="Aptos Display"/>
              </a:rPr>
              <a:t>RCA Investigation System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5650BF-3B2D-4D7A-BCEB-B081FCE8A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9555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E7490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0E7490"/>
                </a:solidFill>
                <a:latin typeface="Aptos"/>
                <a:ea typeface="Aptos"/>
                <a:cs typeface="Aptos"/>
              </a:rPr>
              <a:t>From incident description to evidence-supported causal paths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EA19EB-11B2-43B8-B61A-B60B476F9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09925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07089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07089"/>
                </a:solidFill>
                <a:latin typeface="Aptos"/>
                <a:ea typeface="Aptos"/>
                <a:cs typeface="Aptos"/>
              </a:rPr>
              <a:t>Separate specialist knowledge bases, one question handler and an iterative causal-analysis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8B72EC-3CF7-4642-8719-88A071A45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000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E749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E7490"/>
                </a:solidFill>
                <a:latin typeface="Aptos"/>
                <a:ea typeface="Aptos"/>
                <a:cs typeface="Aptos"/>
              </a:rPr>
              <a:t>System concept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8367FE-B69F-4FAB-A5D4-DB33A0CDC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0708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07089"/>
                </a:solidFill>
                <a:latin typeface="Aptos"/>
                <a:ea typeface="Aptos"/>
                <a:cs typeface="Aptos"/>
              </a:rPr>
              <a:t>RCA investigation system</a:t>
            </a:r>
          </a:p>
        </p:txBody>
      </p:sp>
    </p:spTree>
    <p:extLst>
      <p:ext uri="{BB962C8B-B14F-4D97-AF65-F5344CB8AC3E}">
        <p14:creationId xmlns:p14="http://schemas.microsoft.com/office/powerpoint/2010/main" val="16751380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1A69AB3-6760-40C1-9358-C384BEF23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E7490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3C29E6-FDFA-4A40-9751-035D604BC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2365D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2365D"/>
                </a:solidFill>
                <a:latin typeface="Aptos Display"/>
                <a:ea typeface="Aptos Display"/>
                <a:cs typeface="Aptos Display"/>
              </a:rPr>
              <a:t>End-to-end investigation 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A5BBF6-F9C2-49C3-A681-A08AAE536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81050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8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089"/>
                </a:solidFill>
                <a:latin typeface="Aptos"/>
                <a:ea typeface="Aptos"/>
                <a:cs typeface="Aptos"/>
              </a:rPr>
              <a:t>Knowledge develops first. Causal analysis then tests possible explanations against evidence.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DDDD67-FE05-43F8-87AE-89DAD4755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560785-F00E-4F1C-AD16-81BA8E9C2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6103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0708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07089"/>
                </a:solidFill>
                <a:latin typeface="Aptos"/>
                <a:ea typeface="Aptos"/>
                <a:cs typeface="Aptos"/>
              </a:rPr>
              <a:t>RCA investigation 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AC9514-2EAD-47EC-A65E-68CCE7B1A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6103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0708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07089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3C08C6-2E67-42A3-95FD-7C344C95D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524000"/>
            <a:ext cx="1619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7F4F8"/>
          </a:solidFill>
          <a:ln xmlns:a="http://schemas.openxmlformats.org/drawingml/2006/main" w="11430">
            <a:solidFill>
              <a:srgbClr val="CBD8E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Incident</a:t>
            </a:r>
          </a:p>
          <a:p xmlns:a="http://schemas.openxmlformats.org/drawingml/2006/main">
            <a:pPr algn="ctr">
              <a:defRPr sz="1275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description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55D5FC-5FF3-4091-BAD4-42F128F70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1524000"/>
            <a:ext cx="1619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EF6FB"/>
          </a:solidFill>
          <a:ln xmlns:a="http://schemas.openxmlformats.org/drawingml/2006/main" w="11430">
            <a:solidFill>
              <a:srgbClr val="CBD8E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System</a:t>
            </a:r>
          </a:p>
          <a:p xmlns:a="http://schemas.openxmlformats.org/drawingml/2006/main">
            <a:pPr algn="ctr">
              <a:defRPr sz="1275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understanding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5BB5AC-E033-47EE-B3FF-F2F322217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1524000"/>
            <a:ext cx="1619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11430">
            <a:solidFill>
              <a:srgbClr val="CBD8E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Tagging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4988C6-34B3-4E9E-89DA-49D6A1371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524000"/>
            <a:ext cx="1619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0EAFE"/>
          </a:solidFill>
          <a:ln xmlns:a="http://schemas.openxmlformats.org/drawingml/2006/main" w="11430">
            <a:solidFill>
              <a:srgbClr val="CBD8E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Selected specialist</a:t>
            </a:r>
          </a:p>
          <a:p xmlns:a="http://schemas.openxmlformats.org/drawingml/2006/main">
            <a:pPr algn="ctr">
              <a:defRPr sz="1275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agents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8D10B1-C7F0-43F3-B2A5-C516D7ADB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1524000"/>
            <a:ext cx="1619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EF6FB"/>
          </a:solidFill>
          <a:ln xmlns:a="http://schemas.openxmlformats.org/drawingml/2006/main" w="11430">
            <a:solidFill>
              <a:srgbClr val="CBD8E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Candidate</a:t>
            </a:r>
          </a:p>
          <a:p xmlns:a="http://schemas.openxmlformats.org/drawingml/2006/main">
            <a:pPr algn="ctr">
              <a:defRPr sz="1275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questions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F70A7E-6B89-47B6-9605-75D5B4165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1524000"/>
            <a:ext cx="1619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7F4F8"/>
          </a:solidFill>
          <a:ln xmlns:a="http://schemas.openxmlformats.org/drawingml/2006/main" w="11430">
            <a:solidFill>
              <a:srgbClr val="0E7490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Question</a:t>
            </a:r>
          </a:p>
          <a:p xmlns:a="http://schemas.openxmlformats.org/drawingml/2006/main">
            <a:pPr algn="ctr">
              <a:defRPr sz="1275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Broker</a:t>
            </a:r>
          </a:p>
        </p:txBody>
      </p:sp>
      <p:cxnSp>
        <p:nvCxnSpPr>
          <p:cNvPr id="46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047875" y="1914525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E7490"/>
            </a:solidFill>
            <a:prstDash val="solid"/>
            <a:tailEnd type="triangle" w="sm" len="sm"/>
          </a:ln>
        </p:spPr>
      </p:cxnSp>
      <p:cxnSp>
        <p:nvCxnSpPr>
          <p:cNvPr id="47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971925" y="1914525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E7490"/>
            </a:solidFill>
            <a:prstDash val="solid"/>
            <a:tailEnd type="triangle" w="sm" len="sm"/>
          </a:ln>
        </p:spPr>
      </p:cxnSp>
      <p:cxnSp>
        <p:nvCxnSpPr>
          <p:cNvPr id="48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895975" y="1914525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E7490"/>
            </a:solidFill>
            <a:prstDash val="solid"/>
            <a:tailEnd type="triangle" w="sm" len="sm"/>
          </a:ln>
        </p:spPr>
      </p:cxnSp>
      <p:cxnSp>
        <p:nvCxnSpPr>
          <p:cNvPr id="49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7820025" y="1914525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E7490"/>
            </a:solidFill>
            <a:prstDash val="solid"/>
            <a:tailEnd type="triangle" w="sm" len="sm"/>
          </a:ln>
        </p:spPr>
      </p:cxnSp>
      <p:cxnSp>
        <p:nvCxnSpPr>
          <p:cNvPr id="50" name=""/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9744075" y="1914525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E7490"/>
            </a:solidFill>
            <a:prstDash val="solid"/>
            <a:tailEnd type="triangle" w="sm" len="sm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879CC4-27AD-4703-A3A1-793E51C06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4095750"/>
            <a:ext cx="17907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11430">
            <a:solidFill>
              <a:srgbClr val="CBD8E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Answer-Fetching</a:t>
            </a:r>
          </a:p>
          <a:p xmlns:a="http://schemas.openxmlformats.org/drawingml/2006/main">
            <a:pPr algn="ctr">
              <a:defRPr sz="1275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Agent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EFDC65-107B-4089-825A-F943EF71D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095750"/>
            <a:ext cx="17907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7F4F8"/>
          </a:solidFill>
          <a:ln xmlns:a="http://schemas.openxmlformats.org/drawingml/2006/main" w="11430">
            <a:solidFill>
              <a:srgbClr val="CBD8E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Question Broker</a:t>
            </a:r>
          </a:p>
          <a:p xmlns:a="http://schemas.openxmlformats.org/drawingml/2006/main">
            <a:pPr algn="ctr">
              <a:defRPr sz="1275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returns answer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083173-BF22-43F7-9162-0589D2EB8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4095750"/>
            <a:ext cx="17907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0EAFE"/>
          </a:solidFill>
          <a:ln xmlns:a="http://schemas.openxmlformats.org/drawingml/2006/main" w="11430">
            <a:solidFill>
              <a:srgbClr val="CBD8E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Specialist knowledge</a:t>
            </a:r>
          </a:p>
          <a:p xmlns:a="http://schemas.openxmlformats.org/drawingml/2006/main">
            <a:pPr algn="ctr">
              <a:defRPr sz="1275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bases evolve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79045A-2F2C-4E35-8648-3B10634D7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095750"/>
            <a:ext cx="17907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EF6FB"/>
          </a:solidFill>
          <a:ln xmlns:a="http://schemas.openxmlformats.org/drawingml/2006/main" w="11430">
            <a:solidFill>
              <a:srgbClr val="CBD8E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Causal Analysis</a:t>
            </a:r>
          </a:p>
          <a:p xmlns:a="http://schemas.openxmlformats.org/drawingml/2006/main">
            <a:pPr algn="ctr">
              <a:defRPr sz="1275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Agent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F77F13-3AC7-4842-B6A2-520B0C4BC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095750"/>
            <a:ext cx="1809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7F6EC"/>
          </a:solidFill>
          <a:ln xmlns:a="http://schemas.openxmlformats.org/drawingml/2006/main" w="11430">
            <a:solidFill>
              <a:srgbClr val="2F855A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Supported</a:t>
            </a:r>
          </a:p>
          <a:p xmlns:a="http://schemas.openxmlformats.org/drawingml/2006/main">
            <a:pPr algn="ctr">
              <a:defRPr sz="1275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causal board</a:t>
            </a:r>
          </a:p>
        </p:txBody>
      </p:sp>
      <p:cxnSp>
        <p:nvCxnSpPr>
          <p:cNvPr id="56" name=""/>
          <p:cNvCxnSpPr>
            <a:stCxn xmlns:a="http://schemas.openxmlformats.org/drawingml/2006/main" id="12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>
            <a:off x="10858500" y="2305050"/>
            <a:ext cx="85725" cy="17907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0955">
            <a:solidFill>
              <a:srgbClr val="0E7490"/>
            </a:solidFill>
            <a:prstDash val="solid"/>
            <a:tailEnd type="triangle" w="sm" len="sm"/>
          </a:ln>
        </p:spPr>
      </p:cxnSp>
      <p:cxnSp>
        <p:nvCxnSpPr>
          <p:cNvPr id="57" name=""/>
          <p:cNvCxnSpPr>
            <a:stCxn xmlns:a="http://schemas.openxmlformats.org/drawingml/2006/main" id="18" idx="1"/>
            <a:endCxn xmlns:a="http://schemas.openxmlformats.org/drawingml/2006/main" id="19" idx="3"/>
          </p:cNvCxnSpPr>
          <p:nvPr/>
        </p:nvCxnSpPr>
        <p:spPr>
          <a:xfrm xmlns:a="http://schemas.openxmlformats.org/drawingml/2006/main" flipH="1">
            <a:off x="9563100" y="4486275"/>
            <a:ext cx="485775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E7490"/>
            </a:solidFill>
            <a:prstDash val="solid"/>
            <a:tailEnd type="triangle" w="sm" len="sm"/>
          </a:ln>
        </p:spPr>
      </p:cxnSp>
      <p:cxnSp>
        <p:nvCxnSpPr>
          <p:cNvPr id="58" name=""/>
          <p:cNvCxnSpPr>
            <a:stCxn xmlns:a="http://schemas.openxmlformats.org/drawingml/2006/main" id="19" idx="1"/>
            <a:endCxn xmlns:a="http://schemas.openxmlformats.org/drawingml/2006/main" id="20" idx="3"/>
          </p:cNvCxnSpPr>
          <p:nvPr/>
        </p:nvCxnSpPr>
        <p:spPr>
          <a:xfrm xmlns:a="http://schemas.openxmlformats.org/drawingml/2006/main" flipH="1">
            <a:off x="7286625" y="4486275"/>
            <a:ext cx="485775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E7490"/>
            </a:solidFill>
            <a:prstDash val="solid"/>
            <a:tailEnd type="triangle" w="sm" len="sm"/>
          </a:ln>
        </p:spPr>
      </p:cxnSp>
      <p:cxnSp>
        <p:nvCxnSpPr>
          <p:cNvPr id="59" name=""/>
          <p:cNvCxnSpPr>
            <a:stCxn xmlns:a="http://schemas.openxmlformats.org/drawingml/2006/main" id="20" idx="1"/>
            <a:endCxn xmlns:a="http://schemas.openxmlformats.org/drawingml/2006/main" id="21" idx="3"/>
          </p:cNvCxnSpPr>
          <p:nvPr/>
        </p:nvCxnSpPr>
        <p:spPr>
          <a:xfrm xmlns:a="http://schemas.openxmlformats.org/drawingml/2006/main" flipH="1">
            <a:off x="5010150" y="4486275"/>
            <a:ext cx="485775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E7490"/>
            </a:solidFill>
            <a:prstDash val="solid"/>
            <a:tailEnd type="triangle" w="sm" len="sm"/>
          </a:ln>
        </p:spPr>
      </p:cxnSp>
      <p:cxnSp>
        <p:nvCxnSpPr>
          <p:cNvPr id="60" name=""/>
          <p:cNvCxnSpPr>
            <a:stCxn xmlns:a="http://schemas.openxmlformats.org/drawingml/2006/main" id="21" idx="1"/>
            <a:endCxn xmlns:a="http://schemas.openxmlformats.org/drawingml/2006/main" id="22" idx="3"/>
          </p:cNvCxnSpPr>
          <p:nvPr/>
        </p:nvCxnSpPr>
        <p:spPr>
          <a:xfrm xmlns:a="http://schemas.openxmlformats.org/drawingml/2006/main" flipH="1">
            <a:off x="2752725" y="4486275"/>
            <a:ext cx="466725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E7490"/>
            </a:solidFill>
            <a:prstDash val="solid"/>
            <a:tailEnd type="triangle" w="sm" len="sm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29613DA-4E11-4A07-962B-3FA6DB340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162050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0708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07089"/>
                </a:solidFill>
                <a:latin typeface="Aptos"/>
                <a:ea typeface="Aptos"/>
                <a:cs typeface="Aptos"/>
              </a:rPr>
              <a:t>Knowledge-building round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CACEC1C-F7F7-45D9-ADF9-D1283C627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733800"/>
            <a:ext cx="428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0708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07089"/>
                </a:solidFill>
                <a:latin typeface="Aptos"/>
                <a:ea typeface="Aptos"/>
                <a:cs typeface="Aptos"/>
              </a:rPr>
              <a:t>Answer and causal-analysis round</a:t>
            </a:r>
          </a:p>
        </p:txBody>
      </p:sp>
      <p:cxnSp>
        <p:nvCxnSpPr>
          <p:cNvPr id="63" name=""/>
          <p:cNvCxnSpPr>
            <a:stCxn xmlns:a="http://schemas.openxmlformats.org/drawingml/2006/main" id="21" idx="0"/>
            <a:endCxn xmlns:a="http://schemas.openxmlformats.org/drawingml/2006/main" id="12" idx="2"/>
          </p:cNvCxnSpPr>
          <p:nvPr/>
        </p:nvCxnSpPr>
        <p:spPr>
          <a:xfrm xmlns:a="http://schemas.openxmlformats.org/drawingml/2006/main" flipV="1">
            <a:off x="4114800" y="2305050"/>
            <a:ext cx="6743700" cy="1790700"/>
          </a:xfrm>
          <a:prstGeom xmlns:a="http://schemas.openxmlformats.org/drawingml/2006/main" prst="bentConnector4">
            <a:avLst>
              <a:gd name="adj1" fmla="val 0"/>
              <a:gd name="adj2" fmla="val 87234"/>
            </a:avLst>
          </a:prstGeom>
          <a:ln xmlns:a="http://schemas.openxmlformats.org/drawingml/2006/main" w="19050">
            <a:solidFill>
              <a:srgbClr val="6941C6"/>
            </a:solidFill>
            <a:prstDash val="dash"/>
            <a:tailEnd type="triangle" w="sm" len="sm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020C2CE-6906-41F8-8563-06A0D318B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0289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941C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941C6"/>
                </a:solidFill>
                <a:latin typeface="Aptos"/>
                <a:ea typeface="Aptos"/>
                <a:cs typeface="Aptos"/>
              </a:rPr>
              <a:t>Missing facts create new questions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56A1349-2BE3-437B-8AB2-2BC2A7002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857875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Each model track runs this flow independently.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33AE0FA-0EC7-4130-A74E-0D3CFE37E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857875"/>
            <a:ext cx="581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0708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07089"/>
                </a:solidFill>
                <a:latin typeface="Aptos"/>
                <a:ea typeface="Aptos"/>
                <a:cs typeface="Aptos"/>
              </a:rPr>
              <a:t>The human investigator can answer, correct or override at any stage.</a:t>
            </a:r>
          </a:p>
        </p:txBody>
      </p:sp>
    </p:spTree>
    <p:extLst>
      <p:ext uri="{BB962C8B-B14F-4D97-AF65-F5344CB8AC3E}">
        <p14:creationId xmlns:p14="http://schemas.microsoft.com/office/powerpoint/2010/main" val="30537840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A85EF43-FCFD-4F41-AB0A-0A5FBD48C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E7490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EBD9E6-CF7D-462C-A333-98AD1AD2A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2365D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2365D"/>
                </a:solidFill>
                <a:latin typeface="Aptos Display"/>
                <a:ea typeface="Aptos Display"/>
                <a:cs typeface="Aptos Display"/>
              </a:rPr>
              <a:t>Separate specialist knowledge bases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CE4E4D-6B8C-4B25-89A4-399381ADF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81050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8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089"/>
                </a:solidFill>
                <a:latin typeface="Aptos"/>
                <a:ea typeface="Aptos"/>
                <a:cs typeface="Aptos"/>
              </a:rPr>
              <a:t>Specialists keep independent interpretations while the answer agent can search across all available knowledge.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76A787-2D50-4D79-B20B-2671564C1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EDB2F2-9548-4234-B845-95B09DB0A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6103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0708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07089"/>
                </a:solidFill>
                <a:latin typeface="Aptos"/>
                <a:ea typeface="Aptos"/>
                <a:cs typeface="Aptos"/>
              </a:rPr>
              <a:t>RCA investigation 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A37BC3-A7A7-4211-8E70-8A7E58718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6103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0708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07089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381A9D-4902-4B0D-9487-715140623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620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Separate domain views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B26EF0-A3B8-4674-84AA-15AE152DD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71625"/>
            <a:ext cx="32385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EF6FB"/>
          </a:solidFill>
          <a:ln xmlns:a="http://schemas.openxmlformats.org/drawingml/2006/main" w="11430">
            <a:solidFill>
              <a:srgbClr val="CBD8E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Equipment knowledge base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2CE0D7-5680-4C5A-A379-D38C666E2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352675"/>
            <a:ext cx="32385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8E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Stored-energy knowledge base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4321BC-E1E8-4431-A3DE-C837C06DF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133725"/>
            <a:ext cx="32385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EF6FB"/>
          </a:solidFill>
          <a:ln xmlns:a="http://schemas.openxmlformats.org/drawingml/2006/main" w="11430">
            <a:solidFill>
              <a:srgbClr val="CBD8E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Maintenance knowledge base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F5FDB0-B510-4D68-887E-1B7569DB8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914775"/>
            <a:ext cx="32385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8E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Human knowledge base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A0BDAF-B5C8-400D-B640-5C58C3973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695825"/>
            <a:ext cx="32385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EF6FB"/>
          </a:solidFill>
          <a:ln xmlns:a="http://schemas.openxmlformats.org/drawingml/2006/main" w="11430">
            <a:solidFill>
              <a:srgbClr val="CBD8E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Other selected specialists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ED0979-63F0-4F70-8A29-AC5A427FB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362200"/>
            <a:ext cx="24765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11430">
            <a:solidFill>
              <a:srgbClr val="F59E0B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Answer-Fetching Agent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1DBFF0-2785-4A02-9F04-B1485D866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905250"/>
            <a:ext cx="24765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607089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Documents, uploaded evidence</a:t>
            </a:r>
          </a:p>
          <a:p xmlns:a="http://schemas.openxmlformats.org/drawingml/2006/main">
            <a:pPr algn="ctr">
              <a:defRPr sz="1275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and user answers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B3E91D-7A45-49EB-8A0B-232915AD6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752600"/>
            <a:ext cx="2762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7F4F8"/>
          </a:solidFill>
          <a:ln xmlns:a="http://schemas.openxmlformats.org/drawingml/2006/main" w="11430">
            <a:solidFill>
              <a:srgbClr val="0E7490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Question Broker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037EF5-C902-41CA-828B-3A3E739BF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505200"/>
            <a:ext cx="276225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0EAFE"/>
          </a:solidFill>
          <a:ln xmlns:a="http://schemas.openxmlformats.org/drawingml/2006/main" w="11430">
            <a:solidFill>
              <a:srgbClr val="6941C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Relevant specialists and</a:t>
            </a:r>
          </a:p>
          <a:p xmlns:a="http://schemas.openxmlformats.org/drawingml/2006/main">
            <a:pPr algn="ctr">
              <a:defRPr sz="1350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Causal Analysis Agent</a:t>
            </a:r>
          </a:p>
        </p:txBody>
      </p:sp>
      <p:cxnSp>
        <p:nvCxnSpPr>
          <p:cNvPr id="44" name=""/>
          <p:cNvCxnSpPr>
            <a:stCxn xmlns:a="http://schemas.openxmlformats.org/drawingml/2006/main" id="13" idx="1"/>
            <a:endCxn xmlns:a="http://schemas.openxmlformats.org/drawingml/2006/main" id="8" idx="3"/>
          </p:cNvCxnSpPr>
          <p:nvPr/>
        </p:nvCxnSpPr>
        <p:spPr>
          <a:xfrm xmlns:a="http://schemas.openxmlformats.org/drawingml/2006/main" flipH="1" flipV="1">
            <a:off x="3762375" y="1857375"/>
            <a:ext cx="857250" cy="9144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3335">
            <a:solidFill>
              <a:srgbClr val="607089"/>
            </a:solidFill>
            <a:prstDash val="solid"/>
            <a:tailEnd type="triangle" w="sm" len="sm"/>
          </a:ln>
        </p:spPr>
      </p:cxnSp>
      <p:cxnSp>
        <p:nvCxnSpPr>
          <p:cNvPr id="45" name=""/>
          <p:cNvCxnSpPr>
            <a:stCxn xmlns:a="http://schemas.openxmlformats.org/drawingml/2006/main" id="13" idx="1"/>
            <a:endCxn xmlns:a="http://schemas.openxmlformats.org/drawingml/2006/main" id="9" idx="3"/>
          </p:cNvCxnSpPr>
          <p:nvPr/>
        </p:nvCxnSpPr>
        <p:spPr>
          <a:xfrm xmlns:a="http://schemas.openxmlformats.org/drawingml/2006/main" flipH="1" flipV="1">
            <a:off x="3762375" y="2638425"/>
            <a:ext cx="857250" cy="1333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3335">
            <a:solidFill>
              <a:srgbClr val="607089"/>
            </a:solidFill>
            <a:prstDash val="solid"/>
            <a:tailEnd type="triangle" w="sm" len="sm"/>
          </a:ln>
        </p:spPr>
      </p:cxnSp>
      <p:cxnSp>
        <p:nvCxnSpPr>
          <p:cNvPr id="46" name=""/>
          <p:cNvCxnSpPr>
            <a:stCxn xmlns:a="http://schemas.openxmlformats.org/drawingml/2006/main" id="13" idx="1"/>
            <a:endCxn xmlns:a="http://schemas.openxmlformats.org/drawingml/2006/main" id="10" idx="3"/>
          </p:cNvCxnSpPr>
          <p:nvPr/>
        </p:nvCxnSpPr>
        <p:spPr>
          <a:xfrm xmlns:a="http://schemas.openxmlformats.org/drawingml/2006/main" flipH="1">
            <a:off x="3762375" y="2771775"/>
            <a:ext cx="857250" cy="6477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3335">
            <a:solidFill>
              <a:srgbClr val="607089"/>
            </a:solidFill>
            <a:prstDash val="solid"/>
            <a:tailEnd type="triangle" w="sm" len="sm"/>
          </a:ln>
        </p:spPr>
      </p:cxnSp>
      <p:cxnSp>
        <p:nvCxnSpPr>
          <p:cNvPr id="47" name=""/>
          <p:cNvCxnSpPr>
            <a:stCxn xmlns:a="http://schemas.openxmlformats.org/drawingml/2006/main" id="13" idx="1"/>
            <a:endCxn xmlns:a="http://schemas.openxmlformats.org/drawingml/2006/main" id="11" idx="3"/>
          </p:cNvCxnSpPr>
          <p:nvPr/>
        </p:nvCxnSpPr>
        <p:spPr>
          <a:xfrm xmlns:a="http://schemas.openxmlformats.org/drawingml/2006/main" flipH="1">
            <a:off x="3762375" y="2771775"/>
            <a:ext cx="857250" cy="14287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3335">
            <a:solidFill>
              <a:srgbClr val="607089"/>
            </a:solidFill>
            <a:prstDash val="solid"/>
            <a:tailEnd type="triangle" w="sm" len="sm"/>
          </a:ln>
        </p:spPr>
      </p:cxnSp>
      <p:cxnSp>
        <p:nvCxnSpPr>
          <p:cNvPr id="48" name=""/>
          <p:cNvCxnSpPr>
            <a:stCxn xmlns:a="http://schemas.openxmlformats.org/drawingml/2006/main" id="13" idx="1"/>
            <a:endCxn xmlns:a="http://schemas.openxmlformats.org/drawingml/2006/main" id="12" idx="3"/>
          </p:cNvCxnSpPr>
          <p:nvPr/>
        </p:nvCxnSpPr>
        <p:spPr>
          <a:xfrm xmlns:a="http://schemas.openxmlformats.org/drawingml/2006/main" flipH="1">
            <a:off x="3762375" y="2771775"/>
            <a:ext cx="857250" cy="22098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3335">
            <a:solidFill>
              <a:srgbClr val="607089"/>
            </a:solidFill>
            <a:prstDash val="solid"/>
            <a:tailEnd type="triangle" w="sm" len="sm"/>
          </a:ln>
        </p:spPr>
      </p:cxnSp>
      <p:cxnSp>
        <p:nvCxnSpPr>
          <p:cNvPr id="49" name=""/>
          <p:cNvCxnSpPr>
            <a:stCxn xmlns:a="http://schemas.openxmlformats.org/drawingml/2006/main" id="13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>
            <a:off x="5857875" y="3181350"/>
            <a:ext cx="0" cy="72390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F59E0B"/>
            </a:solidFill>
            <a:prstDash val="solid"/>
            <a:tailEnd type="triangle" w="sm" len="sm"/>
          </a:ln>
        </p:spPr>
      </p:cxnSp>
      <p:cxnSp>
        <p:nvCxnSpPr>
          <p:cNvPr id="50" name=""/>
          <p:cNvCxnSpPr>
            <a:stCxn xmlns:a="http://schemas.openxmlformats.org/drawingml/2006/main" id="15" idx="1"/>
            <a:endCxn xmlns:a="http://schemas.openxmlformats.org/drawingml/2006/main" id="13" idx="3"/>
          </p:cNvCxnSpPr>
          <p:nvPr/>
        </p:nvCxnSpPr>
        <p:spPr>
          <a:xfrm xmlns:a="http://schemas.openxmlformats.org/drawingml/2006/main" flipH="1">
            <a:off x="7096125" y="2143125"/>
            <a:ext cx="1047750" cy="6286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0955">
            <a:solidFill>
              <a:srgbClr val="0E7490"/>
            </a:solidFill>
            <a:prstDash val="solid"/>
            <a:tailEnd type="triangle" w="sm" len="sm"/>
          </a:ln>
        </p:spPr>
      </p:cxnSp>
      <p:cxnSp>
        <p:nvCxnSpPr>
          <p:cNvPr id="51" name=""/>
          <p:cNvCxnSpPr>
            <a:stCxn xmlns:a="http://schemas.openxmlformats.org/drawingml/2006/main" id="13" idx="3"/>
            <a:endCxn xmlns:a="http://schemas.openxmlformats.org/drawingml/2006/main" id="15" idx="2"/>
          </p:cNvCxnSpPr>
          <p:nvPr/>
        </p:nvCxnSpPr>
        <p:spPr>
          <a:xfrm xmlns:a="http://schemas.openxmlformats.org/drawingml/2006/main" flipV="1">
            <a:off x="7096125" y="2533650"/>
            <a:ext cx="2428875" cy="238125"/>
          </a:xfrm>
          <a:prstGeom xmlns:a="http://schemas.openxmlformats.org/drawingml/2006/main" prst="bentConnector2">
            <a:avLst/>
          </a:prstGeom>
          <a:ln xmlns:a="http://schemas.openxmlformats.org/drawingml/2006/main" w="20955">
            <a:solidFill>
              <a:srgbClr val="0E7490"/>
            </a:solidFill>
            <a:prstDash val="solid"/>
            <a:tailEnd type="triangle" w="sm" len="sm"/>
          </a:ln>
        </p:spPr>
      </p:cxnSp>
      <p:cxnSp>
        <p:nvCxnSpPr>
          <p:cNvPr id="52" name=""/>
          <p:cNvCxnSpPr>
            <a:stCxn xmlns:a="http://schemas.openxmlformats.org/drawingml/2006/main" id="15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>
            <a:off x="9525000" y="2533650"/>
            <a:ext cx="0" cy="9715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6941C6"/>
            </a:solidFill>
            <a:prstDash val="solid"/>
            <a:tailEnd type="triangle" w="sm" len="sm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553971E-1FDF-42FE-B6EF-A83205F22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219700"/>
            <a:ext cx="685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The answer agent searches. It does not merge specialist knowledge bases.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6F97C13-AFC9-4B4C-B206-C0AEC11D2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638800"/>
            <a:ext cx="685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0708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07089"/>
                </a:solidFill>
                <a:latin typeface="Aptos"/>
                <a:ea typeface="Aptos"/>
                <a:cs typeface="Aptos"/>
              </a:rPr>
              <a:t>Redundancy remains visible so one specialist can catch what another missed.</a:t>
            </a:r>
          </a:p>
        </p:txBody>
      </p:sp>
    </p:spTree>
    <p:extLst>
      <p:ext uri="{BB962C8B-B14F-4D97-AF65-F5344CB8AC3E}">
        <p14:creationId xmlns:p14="http://schemas.microsoft.com/office/powerpoint/2010/main" val="100783580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55CABF7-85AD-4370-AE8B-5D16A53F4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E7490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41806B-1586-492D-A53F-4093A3338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2365D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2365D"/>
                </a:solidFill>
                <a:latin typeface="Aptos Display"/>
                <a:ea typeface="Aptos Display"/>
                <a:cs typeface="Aptos Display"/>
              </a:rPr>
              <a:t>Question handling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AFDF04-8A12-4EFF-A4C3-2F329898B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81050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8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089"/>
                </a:solidFill>
                <a:latin typeface="Aptos"/>
                <a:ea typeface="Aptos"/>
                <a:cs typeface="Aptos"/>
              </a:rPr>
              <a:t>The same handler processes questions from specialist agents and from causal analysis.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7BA4AC-F1D9-4141-AC1F-4B08D6210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063059-28E0-4767-8A3D-D71780D7C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6103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0708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07089"/>
                </a:solidFill>
                <a:latin typeface="Aptos"/>
                <a:ea typeface="Aptos"/>
                <a:cs typeface="Aptos"/>
              </a:rPr>
              <a:t>RCA investigation 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BBEBCD-290E-4AE7-A616-199C706F6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6103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0708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07089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CB763B-461A-45F5-A741-774A9E85B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2333625" cy="904875"/>
          </a:xfrm>
          <a:prstGeom xmlns:a="http://schemas.openxmlformats.org/drawingml/2006/main" prst="roundRect">
            <a:avLst>
              <a:gd name="adj" fmla="val 12632"/>
            </a:avLst>
          </a:prstGeom>
          <a:solidFill xmlns:a="http://schemas.openxmlformats.org/drawingml/2006/main">
            <a:srgbClr val="F0EAFE"/>
          </a:solidFill>
          <a:ln xmlns:a="http://schemas.openxmlformats.org/drawingml/2006/main" w="11430">
            <a:solidFill>
              <a:srgbClr val="6941C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Specialist Agent</a:t>
            </a:r>
          </a:p>
          <a:p xmlns:a="http://schemas.openxmlformats.org/drawingml/2006/main">
            <a:pPr algn="ctr">
              <a:defRPr sz="1350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proposes and justifies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14C99A-1EC7-4771-B513-E251B345D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0"/>
            <a:ext cx="2333625" cy="904875"/>
          </a:xfrm>
          <a:prstGeom xmlns:a="http://schemas.openxmlformats.org/drawingml/2006/main" prst="roundRect">
            <a:avLst>
              <a:gd name="adj" fmla="val 12632"/>
            </a:avLst>
          </a:prstGeom>
          <a:solidFill xmlns:a="http://schemas.openxmlformats.org/drawingml/2006/main">
            <a:srgbClr val="EEF6FB"/>
          </a:solidFill>
          <a:ln xmlns:a="http://schemas.openxmlformats.org/drawingml/2006/main" w="11430">
            <a:solidFill>
              <a:srgbClr val="12365D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Causal Analysis Agent</a:t>
            </a:r>
          </a:p>
          <a:p xmlns:a="http://schemas.openxmlformats.org/drawingml/2006/main">
            <a:pPr algn="ctr">
              <a:defRPr sz="1350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identifies a missing fact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F833E3-AD3E-4F34-8DBA-BEFA2FCD5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733675"/>
            <a:ext cx="2143125" cy="904875"/>
          </a:xfrm>
          <a:prstGeom xmlns:a="http://schemas.openxmlformats.org/drawingml/2006/main" prst="roundRect">
            <a:avLst>
              <a:gd name="adj" fmla="val 12632"/>
            </a:avLst>
          </a:prstGeom>
          <a:solidFill xmlns:a="http://schemas.openxmlformats.org/drawingml/2006/main">
            <a:srgbClr val="E7F4F8"/>
          </a:solidFill>
          <a:ln xmlns:a="http://schemas.openxmlformats.org/drawingml/2006/main" w="11430">
            <a:solidFill>
              <a:srgbClr val="0E7490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Question Broker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379119-11CF-4CA0-AFE2-E6E72FBB3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733675"/>
            <a:ext cx="2333625" cy="904875"/>
          </a:xfrm>
          <a:prstGeom xmlns:a="http://schemas.openxmlformats.org/drawingml/2006/main" prst="roundRect">
            <a:avLst>
              <a:gd name="adj" fmla="val 12632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11430">
            <a:solidFill>
              <a:srgbClr val="F59E0B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Answer-Fetching Agent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210FC6-1811-47D2-8B98-2278391E8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733675"/>
            <a:ext cx="1619250" cy="904875"/>
          </a:xfrm>
          <a:prstGeom xmlns:a="http://schemas.openxmlformats.org/drawingml/2006/main" prst="roundRect">
            <a:avLst>
              <a:gd name="adj" fmla="val 12632"/>
            </a:avLst>
          </a:prstGeom>
          <a:solidFill xmlns:a="http://schemas.openxmlformats.org/drawingml/2006/main">
            <a:srgbClr val="E7F4F8"/>
          </a:solidFill>
          <a:ln xmlns:a="http://schemas.openxmlformats.org/drawingml/2006/main" w="11430">
            <a:solidFill>
              <a:srgbClr val="0E7490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Question Broker</a:t>
            </a:r>
          </a:p>
          <a:p xmlns:a="http://schemas.openxmlformats.org/drawingml/2006/main">
            <a:pPr algn="ctr">
              <a:defRPr sz="1275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receives the answer</a:t>
            </a:r>
          </a:p>
        </p:txBody>
      </p:sp>
      <p:cxnSp>
        <p:nvCxnSpPr>
          <p:cNvPr id="43" name="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905125" y="2166938"/>
            <a:ext cx="1000125" cy="10191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0955">
            <a:solidFill>
              <a:srgbClr val="6941C6"/>
            </a:solidFill>
            <a:prstDash val="solid"/>
            <a:tailEnd type="triangle" w="sm" len="sm"/>
          </a:ln>
        </p:spPr>
      </p:cxnSp>
      <p:cxnSp>
        <p:nvCxnSpPr>
          <p:cNvPr id="44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2905125" y="3186113"/>
            <a:ext cx="1000125" cy="10763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0955">
            <a:solidFill>
              <a:srgbClr val="12365D"/>
            </a:solidFill>
            <a:prstDash val="solid"/>
            <a:tailEnd type="triangle" w="sm" len="sm"/>
          </a:ln>
        </p:spPr>
      </p:cxnSp>
      <p:cxnSp>
        <p:nvCxnSpPr>
          <p:cNvPr id="45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6048375" y="3186113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E7490"/>
            </a:solidFill>
            <a:prstDash val="solid"/>
            <a:tailEnd type="triangle" w="sm" len="sm"/>
          </a:ln>
        </p:spPr>
      </p:cxnSp>
      <p:cxnSp>
        <p:nvCxnSpPr>
          <p:cNvPr id="46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9429750" y="3186113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F59E0B"/>
            </a:solidFill>
            <a:prstDash val="solid"/>
            <a:tailEnd type="triangle" w="sm" len="sm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0BE32F-8F11-43E8-91B6-648A5E3F5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762500"/>
            <a:ext cx="5476875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E7F6EC"/>
          </a:solidFill>
          <a:ln xmlns:a="http://schemas.openxmlformats.org/drawingml/2006/main" w="11430">
            <a:solidFill>
              <a:srgbClr val="2F855A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Broker distributes the answer to every contributing or relevant agent</a:t>
            </a:r>
          </a:p>
        </p:txBody>
      </p:sp>
      <p:cxnSp>
        <p:nvCxnSpPr>
          <p:cNvPr id="48" name=""/>
          <p:cNvCxnSpPr>
            <a:stCxn xmlns:a="http://schemas.openxmlformats.org/drawingml/2006/main" id="11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 flipH="1">
            <a:off x="8977313" y="3638550"/>
            <a:ext cx="1928813" cy="11239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0955">
            <a:solidFill>
              <a:srgbClr val="2F855A"/>
            </a:solidFill>
            <a:prstDash val="solid"/>
            <a:tailEnd type="triangle" w="sm" len="sm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AAF3D0-9AC7-4E64-9B96-4463F3015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23862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E749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E7490"/>
                </a:solidFill>
                <a:latin typeface="Aptos"/>
                <a:ea typeface="Aptos"/>
                <a:cs typeface="Aptos"/>
              </a:rPr>
              <a:t>Broker responsibilities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B6FB29-8AFA-4616-9342-90A57040C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6386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E7490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0AD81C-664B-4CC9-AB06-BD1AE130E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524375"/>
            <a:ext cx="21431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Merge overlapping questions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9C4B77-D1C1-4676-9CF4-F68074B54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048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E7490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78FF57-F684-4784-AAED-773DD6DCB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933950"/>
            <a:ext cx="21431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317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Preserve contributors and purpose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9993EF0-DE71-4433-BE97-AAD6CC005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4578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E7490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8DD46BC-B20C-44A3-91D3-5DB777B2C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343525"/>
            <a:ext cx="21431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2803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Return the answer to the right agents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480C87A-4792-4BD9-9441-A8978BE0D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381125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Answer-agent responsibilities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94C7947-F393-4CF8-8612-48336FAB8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809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288041F-363F-4FA1-986F-F9A65BD0F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695450"/>
            <a:ext cx="4143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Search specialist knowledge bases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12A50C4-F861-4FF5-B50D-5112960B0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1812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203DD0A-231E-46A6-B43B-56576A74C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066925"/>
            <a:ext cx="4143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Search documents and evidence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5FB3667-E86E-43D7-8D44-CD56D8474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5527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F542358-FFD9-487A-9DC3-36AC877AA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438400"/>
            <a:ext cx="4143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Ask the user when the answer remains unavailable</a:t>
            </a:r>
          </a:p>
        </p:txBody>
      </p:sp>
    </p:spTree>
    <p:extLst>
      <p:ext uri="{BB962C8B-B14F-4D97-AF65-F5344CB8AC3E}">
        <p14:creationId xmlns:p14="http://schemas.microsoft.com/office/powerpoint/2010/main" val="26630918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D6CEE3-3BE5-4943-8D93-EB093AEA3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E7490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A0C986-0044-44C5-9EA8-74F1A7248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2365D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2365D"/>
                </a:solidFill>
                <a:latin typeface="Aptos Display"/>
                <a:ea typeface="Aptos Display"/>
                <a:cs typeface="Aptos Display"/>
              </a:rPr>
              <a:t>The first causal step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3588F1-CDD8-4594-AAEB-DD67E7A0D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81050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8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089"/>
                </a:solidFill>
                <a:latin typeface="Aptos"/>
                <a:ea typeface="Aptos"/>
                <a:cs typeface="Aptos"/>
              </a:rPr>
              <a:t>Causal analysis starts with the immediate event and creates competing explanations for what directly allowed it.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6538BA-E9C5-480E-9EAA-35DF2E835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08F593-7F82-464B-8B58-3126E3C52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6103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0708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07089"/>
                </a:solidFill>
                <a:latin typeface="Aptos"/>
                <a:ea typeface="Aptos"/>
                <a:cs typeface="Aptos"/>
              </a:rPr>
              <a:t>RCA investigation 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72749C-61E9-4491-9F36-7A8B62A19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6103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0708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07089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BF7105-AEE4-4A30-A144-4AECEF40A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29527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EF6FB"/>
          </a:solidFill>
          <a:ln xmlns:a="http://schemas.openxmlformats.org/drawingml/2006/main" w="11430">
            <a:solidFill>
              <a:srgbClr val="CBD8E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Required support</a:t>
            </a:r>
          </a:p>
          <a:p xmlns:a="http://schemas.openxmlformats.org/drawingml/2006/main">
            <a:pPr algn="ctr">
              <a:defRPr sz="1350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was lost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57E600-16CC-4FBC-A848-3464CFC28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95550"/>
            <a:ext cx="29527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8E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A restraint was</a:t>
            </a:r>
          </a:p>
          <a:p xmlns:a="http://schemas.openxmlformats.org/drawingml/2006/main">
            <a:pPr algn="ctr">
              <a:defRPr sz="1350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ineffective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E60D6B-196E-4850-BA97-9F6C6D548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62350"/>
            <a:ext cx="29527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EF6FB"/>
          </a:solidFill>
          <a:ln xmlns:a="http://schemas.openxmlformats.org/drawingml/2006/main" w="11430">
            <a:solidFill>
              <a:srgbClr val="CBD8E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The component moved</a:t>
            </a:r>
          </a:p>
          <a:p xmlns:a="http://schemas.openxmlformats.org/drawingml/2006/main">
            <a:pPr algn="ctr">
              <a:defRPr sz="1350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out of position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2B6E89-FB9E-4831-B4CF-FB7F805EA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29150"/>
            <a:ext cx="29527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8E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An external force</a:t>
            </a:r>
          </a:p>
          <a:p xmlns:a="http://schemas.openxmlformats.org/drawingml/2006/main">
            <a:pPr algn="ctr">
              <a:defRPr sz="1350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acted on the beam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013160-E032-4883-BB90-4FA74C29D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86050"/>
            <a:ext cx="32385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11430">
            <a:solidFill>
              <a:srgbClr val="B4231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R3 Exit Carrier Beam</a:t>
            </a:r>
          </a:p>
          <a:p xmlns:a="http://schemas.openxmlformats.org/drawingml/2006/main">
            <a:pPr algn="ctr">
              <a:defRPr sz="1800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fell from the yoke</a:t>
            </a:r>
          </a:p>
        </p:txBody>
      </p:sp>
      <p:cxnSp>
        <p:nvCxnSpPr>
          <p:cNvPr id="32" name=""/>
          <p:cNvCxnSpPr>
            <a:stCxn xmlns:a="http://schemas.openxmlformats.org/drawingml/2006/main" id="7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3619500" y="1790700"/>
            <a:ext cx="4381500" cy="14668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7145">
            <a:solidFill>
              <a:srgbClr val="607089"/>
            </a:solidFill>
            <a:prstDash val="solid"/>
            <a:tailEnd type="triangle" w="sm" len="sm"/>
          </a:ln>
        </p:spPr>
      </p:cxnSp>
      <p:cxnSp>
        <p:nvCxnSpPr>
          <p:cNvPr id="33" name="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3619500" y="2857500"/>
            <a:ext cx="4381500" cy="4000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7145">
            <a:solidFill>
              <a:srgbClr val="607089"/>
            </a:solidFill>
            <a:prstDash val="solid"/>
            <a:tailEnd type="triangle" w="sm" len="sm"/>
          </a:ln>
        </p:spPr>
      </p:cxnSp>
      <p:cxnSp>
        <p:nvCxnSpPr>
          <p:cNvPr id="34" name=""/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 flipV="1">
            <a:off x="3619500" y="3257550"/>
            <a:ext cx="4381500" cy="6667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7145">
            <a:solidFill>
              <a:srgbClr val="607089"/>
            </a:solidFill>
            <a:prstDash val="solid"/>
            <a:tailEnd type="triangle" w="sm" len="sm"/>
          </a:ln>
        </p:spPr>
      </p:cxnSp>
      <p:cxnSp>
        <p:nvCxnSpPr>
          <p:cNvPr id="35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 flipV="1">
            <a:off x="3619500" y="3257550"/>
            <a:ext cx="4381500" cy="17335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7145">
            <a:solidFill>
              <a:srgbClr val="607089"/>
            </a:solidFill>
            <a:prstDash val="solid"/>
            <a:tailEnd type="triangle" w="sm" len="sm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4B64CF-3948-411C-9C93-C914ACF4F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Possible direct explanations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9BA079-6356-4784-B7C1-230257987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6695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Event to explain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516128-7552-40FF-BC78-D8544207B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095875"/>
            <a:ext cx="67627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7F6EC"/>
          </a:solidFill>
          <a:ln xmlns:a="http://schemas.openxmlformats.org/drawingml/2006/main" w="11430">
            <a:solidFill>
              <a:srgbClr val="2F855A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A branch advances only when facts support a plausible mechanism.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65E454-4A48-4D25-9418-12B6FC8CD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714500"/>
            <a:ext cx="600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607089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07089"/>
                </a:solidFill>
                <a:latin typeface="Aptos"/>
                <a:ea typeface="Aptos"/>
                <a:cs typeface="Aptos"/>
              </a:rPr>
              <a:t>At this stage, every explanation remains possible rather than proven.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970D90-2A0D-42D5-AB45-A86D1A271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095750"/>
            <a:ext cx="600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982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The agent asks which fact would distinguish one explanation from the others.</a:t>
            </a:r>
          </a:p>
        </p:txBody>
      </p:sp>
    </p:spTree>
    <p:extLst>
      <p:ext uri="{BB962C8B-B14F-4D97-AF65-F5344CB8AC3E}">
        <p14:creationId xmlns:p14="http://schemas.microsoft.com/office/powerpoint/2010/main" val="96718184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C37A59-7221-4D9C-A517-1152F2E84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E7490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14BD39-5224-49CA-B786-966CBDBA2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2365D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2365D"/>
                </a:solidFill>
                <a:latin typeface="Aptos Display"/>
                <a:ea typeface="Aptos Display"/>
                <a:cs typeface="Aptos Display"/>
              </a:rPr>
              <a:t>Causal-analysis loop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7AA27C-AD5A-42F6-BDA7-3455E8C3C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81050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8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089"/>
                </a:solidFill>
                <a:latin typeface="Aptos"/>
                <a:ea typeface="Aptos"/>
                <a:cs typeface="Aptos"/>
              </a:rPr>
              <a:t>The agent moves backward only along explanations that survive evidence checks.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6262A5-C831-4258-8DB8-9F57DBCB2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4A51B1-D629-4CA7-AB8E-F98FEED27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6103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0708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07089"/>
                </a:solidFill>
                <a:latin typeface="Aptos"/>
                <a:ea typeface="Aptos"/>
                <a:cs typeface="Aptos"/>
              </a:rPr>
              <a:t>RCA investigation 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F33CEA-733B-49C0-B508-2F654C6A0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6103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0708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07089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F4714B-00A6-47A7-B8F4-2B6BB8905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190625"/>
            <a:ext cx="23812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11430">
            <a:solidFill>
              <a:srgbClr val="B4231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1</a:t>
            </a:r>
          </a:p>
          <a:p xmlns:a="http://schemas.openxmlformats.org/drawingml/2006/main">
            <a:pPr algn="ctr">
              <a:defRPr sz="1350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Start with the event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DF5018-679C-4996-866D-0B286115A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857375"/>
            <a:ext cx="26670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EEF6FB"/>
          </a:solidFill>
          <a:ln xmlns:a="http://schemas.openxmlformats.org/drawingml/2006/main" w="11430">
            <a:solidFill>
              <a:srgbClr val="12365D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2</a:t>
            </a:r>
          </a:p>
          <a:p xmlns:a="http://schemas.openxmlformats.org/drawingml/2006/main">
            <a:pPr algn="ctr">
              <a:defRPr sz="1350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Propose direct explanations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BBFCDB-9443-4E29-B9B1-367F08819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714750"/>
            <a:ext cx="26670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EEF6FB"/>
          </a:solidFill>
          <a:ln xmlns:a="http://schemas.openxmlformats.org/drawingml/2006/main" w="11430">
            <a:solidFill>
              <a:srgbClr val="12365D"/>
            </a:solidFill>
            <a:prstDash val="solid"/>
          </a:ln>
        </p:spPr>
        <p:txBody>
          <a:bodyPr xmlns:a="http://schemas.openxmlformats.org/drawingml/2006/main" anchor="ctr">
            <a:normAutofit fontScale="9779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3</a:t>
            </a:r>
          </a:p>
          <a:p xmlns:a="http://schemas.openxmlformats.org/drawingml/2006/main">
            <a:pPr algn="ctr">
              <a:defRPr sz="1350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Connect facts through a 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8AB7C9-467B-4579-B41B-4B9D5AD0A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953000"/>
            <a:ext cx="23812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11430">
            <a:solidFill>
              <a:srgbClr val="F59E0B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4</a:t>
            </a:r>
          </a:p>
          <a:p xmlns:a="http://schemas.openxmlformats.org/drawingml/2006/main">
            <a:pPr algn="ctr">
              <a:defRPr sz="1350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Identify the missing fact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3FB844-587D-437F-8168-D574C317A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14750"/>
            <a:ext cx="276225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E7F4F8"/>
          </a:solidFill>
          <a:ln xmlns:a="http://schemas.openxmlformats.org/drawingml/2006/main" w="11430">
            <a:solidFill>
              <a:srgbClr val="0E7490"/>
            </a:solidFill>
            <a:prstDash val="solid"/>
          </a:ln>
        </p:spPr>
        <p:txBody>
          <a:bodyPr xmlns:a="http://schemas.openxmlformats.org/drawingml/2006/main" anchor="ctr">
            <a:normAutofit fontScale="9779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5</a:t>
            </a:r>
          </a:p>
          <a:p xmlns:a="http://schemas.openxmlformats.org/drawingml/2006/main">
            <a:pPr algn="ctr">
              <a:defRPr sz="1350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Ask through the Question Broker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0D686D-52C8-417F-A582-5EC453E41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857375"/>
            <a:ext cx="276225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0EAFE"/>
          </a:solidFill>
          <a:ln xmlns:a="http://schemas.openxmlformats.org/drawingml/2006/main" w="11430">
            <a:solidFill>
              <a:srgbClr val="6941C6"/>
            </a:solidFill>
            <a:prstDash val="solid"/>
          </a:ln>
        </p:spPr>
        <p:txBody>
          <a:bodyPr xmlns:a="http://schemas.openxmlformats.org/drawingml/2006/main" anchor="ctr">
            <a:normAutofit fontScale="9779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6</a:t>
            </a:r>
          </a:p>
          <a:p xmlns:a="http://schemas.openxmlformats.org/drawingml/2006/main">
            <a:pPr algn="ctr">
              <a:defRPr sz="1350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Receive the answer and revise status</a:t>
            </a:r>
          </a:p>
        </p:txBody>
      </p:sp>
      <p:cxnSp>
        <p:nvCxnSpPr>
          <p:cNvPr id="35" name=""/>
          <p:cNvCxnSpPr>
            <a:stCxn xmlns:a="http://schemas.openxmlformats.org/drawingml/2006/main" id="7" idx="3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7239000" y="1543050"/>
            <a:ext cx="2333625" cy="314325"/>
          </a:xfrm>
          <a:prstGeom xmlns:a="http://schemas.openxmlformats.org/drawingml/2006/main" prst="bentConnector2">
            <a:avLst/>
          </a:prstGeom>
          <a:ln xmlns:a="http://schemas.openxmlformats.org/drawingml/2006/main" w="20955">
            <a:solidFill>
              <a:srgbClr val="607089"/>
            </a:solidFill>
            <a:prstDash val="solid"/>
            <a:tailEnd type="triangle" w="sm" len="sm"/>
          </a:ln>
        </p:spPr>
      </p:cxnSp>
      <p:cxnSp>
        <p:nvCxnSpPr>
          <p:cNvPr id="36" name=""/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9572625" y="2619375"/>
            <a:ext cx="333375" cy="10953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0955">
            <a:solidFill>
              <a:srgbClr val="607089"/>
            </a:solidFill>
            <a:prstDash val="solid"/>
            <a:tailEnd type="triangle" w="sm" len="sm"/>
          </a:ln>
        </p:spPr>
      </p:cxnSp>
      <p:cxnSp>
        <p:nvCxnSpPr>
          <p:cNvPr id="37" name=""/>
          <p:cNvCxnSpPr>
            <a:stCxn xmlns:a="http://schemas.openxmlformats.org/drawingml/2006/main" id="9" idx="1"/>
            <a:endCxn xmlns:a="http://schemas.openxmlformats.org/drawingml/2006/main" id="10" idx="3"/>
          </p:cNvCxnSpPr>
          <p:nvPr/>
        </p:nvCxnSpPr>
        <p:spPr>
          <a:xfrm xmlns:a="http://schemas.openxmlformats.org/drawingml/2006/main" flipH="1">
            <a:off x="7239000" y="4095750"/>
            <a:ext cx="1333500" cy="12096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0955">
            <a:solidFill>
              <a:srgbClr val="607089"/>
            </a:solidFill>
            <a:prstDash val="solid"/>
            <a:tailEnd type="triangle" w="sm" len="sm"/>
          </a:ln>
        </p:spPr>
      </p:cxnSp>
      <p:cxnSp>
        <p:nvCxnSpPr>
          <p:cNvPr id="38" name=""/>
          <p:cNvCxnSpPr>
            <a:stCxn xmlns:a="http://schemas.openxmlformats.org/drawingml/2006/main" id="10" idx="1"/>
            <a:endCxn xmlns:a="http://schemas.openxmlformats.org/drawingml/2006/main" id="11" idx="3"/>
          </p:cNvCxnSpPr>
          <p:nvPr/>
        </p:nvCxnSpPr>
        <p:spPr>
          <a:xfrm xmlns:a="http://schemas.openxmlformats.org/drawingml/2006/main" flipH="1" flipV="1">
            <a:off x="3762375" y="4095750"/>
            <a:ext cx="1095375" cy="12096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0955">
            <a:solidFill>
              <a:srgbClr val="607089"/>
            </a:solidFill>
            <a:prstDash val="solid"/>
            <a:tailEnd type="triangle" w="sm" len="sm"/>
          </a:ln>
        </p:spPr>
      </p:cxnSp>
      <p:cxnSp>
        <p:nvCxnSpPr>
          <p:cNvPr id="39" name=""/>
          <p:cNvCxnSpPr>
            <a:stCxn xmlns:a="http://schemas.openxmlformats.org/drawingml/2006/main" id="11" idx="0"/>
            <a:endCxn xmlns:a="http://schemas.openxmlformats.org/drawingml/2006/main" id="12" idx="2"/>
          </p:cNvCxnSpPr>
          <p:nvPr/>
        </p:nvCxnSpPr>
        <p:spPr>
          <a:xfrm xmlns:a="http://schemas.openxmlformats.org/drawingml/2006/main" flipV="1">
            <a:off x="2381250" y="2619375"/>
            <a:ext cx="0" cy="10953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607089"/>
            </a:solidFill>
            <a:prstDash val="solid"/>
            <a:tailEnd type="triangle" w="sm" len="sm"/>
          </a:ln>
        </p:spPr>
      </p:cxnSp>
      <p:cxnSp>
        <p:nvCxnSpPr>
          <p:cNvPr id="40" name=""/>
          <p:cNvCxnSpPr>
            <a:stCxn xmlns:a="http://schemas.openxmlformats.org/drawingml/2006/main" id="12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3762375" y="1543050"/>
            <a:ext cx="1095375" cy="6953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0955">
            <a:solidFill>
              <a:srgbClr val="607089"/>
            </a:solidFill>
            <a:prstDash val="solid"/>
            <a:tailEnd type="triangle" w="sm" len="sm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E4C3D3-E06F-4654-9EB1-858BF4042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57500"/>
            <a:ext cx="1476375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7F6EC"/>
          </a:solidFill>
          <a:ln xmlns:a="http://schemas.openxmlformats.org/drawingml/2006/main" w="11430">
            <a:solidFill>
              <a:srgbClr val="2F855A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Supported path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9C3130-5456-4BAD-AFFF-66B76F454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57500"/>
            <a:ext cx="1476375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11430">
            <a:solidFill>
              <a:srgbClr val="F59E0B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Possible path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9DA8E0-90B2-4E23-BF0C-90B8DBF18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571875"/>
            <a:ext cx="1476375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11430">
            <a:solidFill>
              <a:srgbClr val="B4231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Rejected path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8B0D24-DC16-4404-8935-923790EDD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5905500"/>
            <a:ext cx="619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314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When a direct link becomes supported, the agent asks what created that condition and moves one step further backward.</a:t>
            </a:r>
          </a:p>
        </p:txBody>
      </p:sp>
    </p:spTree>
    <p:extLst>
      <p:ext uri="{BB962C8B-B14F-4D97-AF65-F5344CB8AC3E}">
        <p14:creationId xmlns:p14="http://schemas.microsoft.com/office/powerpoint/2010/main" val="39436038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2B95A6-2F40-4C94-B470-3A557663C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E7490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B1FAD2-2D12-4CFF-8C93-35300C90C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2365D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2365D"/>
                </a:solidFill>
                <a:latin typeface="Aptos Display"/>
                <a:ea typeface="Aptos Display"/>
                <a:cs typeface="Aptos Display"/>
              </a:rPr>
              <a:t>Causal connection record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D9B17D-A97B-447A-B959-088EF39CB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81050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8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089"/>
                </a:solidFill>
                <a:latin typeface="Aptos"/>
                <a:ea typeface="Aptos"/>
                <a:cs typeface="Aptos"/>
              </a:rPr>
              <a:t>The causal board stores an explicit claim and the evidence needed to assess it.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194018-DD79-4A07-813E-9C0428B2D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D551CC-D575-47CA-B169-C2855D918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6103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0708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07089"/>
                </a:solidFill>
                <a:latin typeface="Aptos"/>
                <a:ea typeface="Aptos"/>
                <a:cs typeface="Aptos"/>
              </a:rPr>
              <a:t>RCA investigation 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16C67D-5586-404B-9B15-675674FA1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6103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0708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07089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666750" y="1333500"/>
          <a:ext xmlns:a="http://schemas.openxmlformats.org/drawingml/2006/main" cx="10858500" cy="4095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09875"/>
                <a:gridCol w="8048625"/>
              </a:tblGrid>
              <a:tr h="409575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Causal-link field</a:t>
                      </a:r>
                    </a:p>
                  </a:txBody>
                  <a:tcPr marL="91440" marR="91440" marT="45720" marB="45720">
                    <a:solidFill>
                      <a:srgbClr val="12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What the agent records</a:t>
                      </a:r>
                    </a:p>
                  </a:txBody>
                  <a:tcPr marL="91440" marR="91440" marT="45720" marB="45720">
                    <a:solidFill>
                      <a:srgbClr val="12365D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Condition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What existed or happened before the event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Effect</a:t>
                      </a:r>
                    </a:p>
                  </a:txBody>
                  <a:tcPr marL="91440" marR="91440" marT="45720" marB="45720">
                    <a:solidFill>
                      <a:srgbClr val="EE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What changed or occurred next</a:t>
                      </a:r>
                    </a:p>
                  </a:txBody>
                  <a:tcPr marL="91440" marR="91440" marT="45720" marB="45720">
                    <a:solidFill>
                      <a:srgbClr val="EEF6FB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Mechanism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How the condition could have produced the effect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Supporting facts</a:t>
                      </a:r>
                    </a:p>
                  </a:txBody>
                  <a:tcPr marL="91440" marR="91440" marT="45720" marB="45720">
                    <a:solidFill>
                      <a:srgbClr val="EE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Evidence that agrees with the proposed connection</a:t>
                      </a:r>
                    </a:p>
                  </a:txBody>
                  <a:tcPr marL="91440" marR="91440" marT="45720" marB="45720">
                    <a:solidFill>
                      <a:srgbClr val="EEF6FB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Contradicting facts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Evidence that weakens or challenges the connection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Missing evidence</a:t>
                      </a:r>
                    </a:p>
                  </a:txBody>
                  <a:tcPr marL="91440" marR="91440" marT="45720" marB="45720">
                    <a:solidFill>
                      <a:srgbClr val="EE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The specific fact that would distinguish the direction</a:t>
                      </a:r>
                    </a:p>
                  </a:txBody>
                  <a:tcPr marL="91440" marR="91440" marT="45720" marB="45720">
                    <a:solidFill>
                      <a:srgbClr val="EEF6FB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Status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Supported, possible, disputed or rejected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EA76E6-BB82-459B-BF00-DA9437411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71500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E749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E7490"/>
                </a:solidFill>
                <a:latin typeface="Aptos"/>
                <a:ea typeface="Aptos"/>
                <a:cs typeface="Aptos"/>
              </a:rPr>
              <a:t>Questions remain outside the causal board until an answer produces a fact or changes a connection.</a:t>
            </a:r>
          </a:p>
        </p:txBody>
      </p:sp>
    </p:spTree>
    <p:extLst>
      <p:ext uri="{BB962C8B-B14F-4D97-AF65-F5344CB8AC3E}">
        <p14:creationId xmlns:p14="http://schemas.microsoft.com/office/powerpoint/2010/main" val="113767829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A869C64-C899-4931-AF4F-5D3C2B9B3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E7490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272CEA-DF85-42C2-B4C5-0C4E0FFA7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2365D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2365D"/>
                </a:solidFill>
                <a:latin typeface="Aptos Display"/>
                <a:ea typeface="Aptos Display"/>
                <a:cs typeface="Aptos Display"/>
              </a:rPr>
              <a:t>Investigation record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549F23-D524-4645-A3BC-D803E3563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81050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8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089"/>
                </a:solidFill>
                <a:latin typeface="Aptos"/>
                <a:ea typeface="Aptos"/>
                <a:cs typeface="Aptos"/>
              </a:rPr>
              <a:t>The system preserves how knowledge and causal explanations changed over time.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2D151A-1019-48A6-BE93-92530E153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16AD99-BEC4-467F-B001-8BDFA1A9E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6103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0708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07089"/>
                </a:solidFill>
                <a:latin typeface="Aptos"/>
                <a:ea typeface="Aptos"/>
                <a:cs typeface="Aptos"/>
              </a:rPr>
              <a:t>RCA investigation 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DE3F6C-D89D-48C7-8E9F-FDDC0EA6C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6103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0708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07089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3470F9-9AAD-4386-B846-3BD671F72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85875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The evolving record contains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8A000C-A8BC-46F1-A075-E5CC5F5EA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24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5134A9-6988-45AC-ABEB-FA506AEAD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Versioned knowledge base for every selected specialist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8AB1DA-7373-4DEF-B56E-4A4171878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384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5F61B0-41DF-49B6-A6CA-677DC9BAA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24100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Source and confidence attached to each fact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B3AA89-E171-449D-90C2-16C852C02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52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83A9E2-A31D-4A8F-81B4-F5C3B0991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38450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Question history, merged wording and contributing agents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8C8EEE-E7C3-4A76-B3DD-AB0CD88EF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671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214D3A-E792-4E46-BCA2-D19345305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52800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Unresolved contradictions and missing documents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41C1B4-C2AA-4F5E-860F-8D1982F7D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81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ADEE2C-B204-45F0-BEFE-48ECD75D6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67150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Competing causal paths with current status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E3C50B-EF86-4648-A269-F7AF51F50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958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986253-430E-4341-B89B-4ACFC8DBB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81500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Human corrections, approvals and overrides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A915F1-B450-4618-9EB3-09563ABB6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428750"/>
            <a:ext cx="31432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EF6FB"/>
          </a:solidFill>
          <a:ln xmlns:a="http://schemas.openxmlformats.org/drawingml/2006/main" w="11430">
            <a:solidFill>
              <a:srgbClr val="12365D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Established facts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FBC535-011F-4211-BA87-15FD1621F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14625"/>
            <a:ext cx="31432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11430">
            <a:solidFill>
              <a:srgbClr val="F59E0B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Competing causal paths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54864E-B3B1-4AAE-80AD-2E16A9814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95750"/>
            <a:ext cx="314325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E7F6EC"/>
          </a:solidFill>
          <a:ln xmlns:a="http://schemas.openxmlformats.org/drawingml/2006/main" w="11430">
            <a:solidFill>
              <a:srgbClr val="2F855A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Evidence-supported</a:t>
            </a:r>
          </a:p>
          <a:p xmlns:a="http://schemas.openxmlformats.org/drawingml/2006/main">
            <a:pPr algn="ctr">
              <a:defRPr sz="1725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causal board</a:t>
            </a:r>
          </a:p>
        </p:txBody>
      </p:sp>
      <p:cxnSp>
        <p:nvCxnSpPr>
          <p:cNvPr id="48" name=""/>
          <p:cNvCxnSpPr>
            <a:stCxn xmlns:a="http://schemas.openxmlformats.org/drawingml/2006/main" id="20" idx="2"/>
            <a:endCxn xmlns:a="http://schemas.openxmlformats.org/drawingml/2006/main" id="21" idx="0"/>
          </p:cNvCxnSpPr>
          <p:nvPr/>
        </p:nvCxnSpPr>
        <p:spPr>
          <a:xfrm xmlns:a="http://schemas.openxmlformats.org/drawingml/2006/main">
            <a:off x="8810625" y="2114550"/>
            <a:ext cx="0" cy="6000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607089"/>
            </a:solidFill>
            <a:prstDash val="solid"/>
            <a:tailEnd type="triangle" w="sm" len="sm"/>
          </a:ln>
        </p:spPr>
      </p:cxnSp>
      <p:cxnSp>
        <p:nvCxnSpPr>
          <p:cNvPr id="49" name=""/>
          <p:cNvCxnSpPr>
            <a:stCxn xmlns:a="http://schemas.openxmlformats.org/drawingml/2006/main" id="21" idx="2"/>
            <a:endCxn xmlns:a="http://schemas.openxmlformats.org/drawingml/2006/main" id="22" idx="0"/>
          </p:cNvCxnSpPr>
          <p:nvPr/>
        </p:nvCxnSpPr>
        <p:spPr>
          <a:xfrm xmlns:a="http://schemas.openxmlformats.org/drawingml/2006/main">
            <a:off x="8810625" y="3400425"/>
            <a:ext cx="0" cy="6953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607089"/>
            </a:solidFill>
            <a:prstDash val="solid"/>
            <a:tailEnd type="triangle" w="sm" len="sm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F651D87-9D21-4EC9-A4C2-347DA27BF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476875"/>
            <a:ext cx="428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E749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E7490"/>
                </a:solidFill>
                <a:latin typeface="Aptos"/>
                <a:ea typeface="Aptos"/>
                <a:cs typeface="Aptos"/>
              </a:rPr>
              <a:t>Human approval remains the final gate</a:t>
            </a:r>
          </a:p>
        </p:txBody>
      </p:sp>
    </p:spTree>
    <p:extLst>
      <p:ext uri="{BB962C8B-B14F-4D97-AF65-F5344CB8AC3E}">
        <p14:creationId xmlns:p14="http://schemas.microsoft.com/office/powerpoint/2010/main" val="145152589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2026-09-04T15:55:34.6530000Z</dcterms:created>
  <dcterms:modified xsi:type="dcterms:W3CDTF">2026-09-04T15:55:34.6530000Z</dcterms:modified>
</coreProperties>
</file>