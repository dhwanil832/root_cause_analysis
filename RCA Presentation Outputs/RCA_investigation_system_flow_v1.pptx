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b81db41d3048cd" /><Relationship Type="http://schemas.openxmlformats.org/officeDocument/2006/relationships/extended-properties" Target="/docProps/app.xml" Id="R32e0534a618c4a31" /><Relationship Type="http://schemas.openxmlformats.org/officeDocument/2006/relationships/officeDocument" Target="/ppt/presentation.xml" Id="Re5bb259220a042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7a9a9d4cf54b60"/>
  </p:sldMasterIdLst>
  <p:notesMasterIdLst>
    <p:notesMasterId xmlns:r="http://schemas.openxmlformats.org/officeDocument/2006/relationships" r:id="Rba0f0bbd56394db3"/>
  </p:notesMasterIdLst>
  <p:sldIdLst>
    <p:sldId xmlns:r="http://schemas.openxmlformats.org/officeDocument/2006/relationships" id="256" r:id="R0b1216fcadf446d5"/>
    <p:sldId xmlns:r="http://schemas.openxmlformats.org/officeDocument/2006/relationships" id="257" r:id="Rfdbda1f3cf7947a8"/>
    <p:sldId xmlns:r="http://schemas.openxmlformats.org/officeDocument/2006/relationships" id="258" r:id="Rfa97c601754444c4"/>
    <p:sldId xmlns:r="http://schemas.openxmlformats.org/officeDocument/2006/relationships" id="259" r:id="Ra4b14da39e2549f6"/>
    <p:sldId xmlns:r="http://schemas.openxmlformats.org/officeDocument/2006/relationships" id="260" r:id="R9336750e4b3e4178"/>
    <p:sldId xmlns:r="http://schemas.openxmlformats.org/officeDocument/2006/relationships" id="261" r:id="Re96286abecd64609"/>
    <p:sldId xmlns:r="http://schemas.openxmlformats.org/officeDocument/2006/relationships" id="262" r:id="R0d054e5cf4a64fb4"/>
    <p:sldId xmlns:r="http://schemas.openxmlformats.org/officeDocument/2006/relationships" id="263" r:id="R25bcc8fe880044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01272e18784d90" /><Relationship Type="http://schemas.openxmlformats.org/officeDocument/2006/relationships/slideMaster" Target="/ppt/slideMasters/slideMaster1.xml" Id="Rc17a9a9d4cf54b60" /><Relationship Type="http://schemas.openxmlformats.org/officeDocument/2006/relationships/notesMaster" Target="/ppt/notesMasters/notesMaster1.xml" Id="Rba0f0bbd56394db3" /><Relationship Type="http://schemas.openxmlformats.org/officeDocument/2006/relationships/presProps" Target="/ppt/presProps.xml" Id="R5bede8f35190421b" /><Relationship Type="http://schemas.openxmlformats.org/officeDocument/2006/relationships/tableStyles" Target="/ppt/tableStyles.xml" Id="R80b77cf1489042f9" /><Relationship Type="http://schemas.openxmlformats.org/officeDocument/2006/relationships/slide" Target="/ppt/slides/slide1.xml" Id="R0b1216fcadf446d5" /><Relationship Type="http://schemas.openxmlformats.org/officeDocument/2006/relationships/slide" Target="/ppt/slides/slide2.xml" Id="Rfdbda1f3cf7947a8" /><Relationship Type="http://schemas.openxmlformats.org/officeDocument/2006/relationships/slide" Target="/ppt/slides/slide3.xml" Id="Rfa97c601754444c4" /><Relationship Type="http://schemas.openxmlformats.org/officeDocument/2006/relationships/slide" Target="/ppt/slides/slide4.xml" Id="Ra4b14da39e2549f6" /><Relationship Type="http://schemas.openxmlformats.org/officeDocument/2006/relationships/slide" Target="/ppt/slides/slide5.xml" Id="R9336750e4b3e4178" /><Relationship Type="http://schemas.openxmlformats.org/officeDocument/2006/relationships/slide" Target="/ppt/slides/slide6.xml" Id="Re96286abecd64609" /><Relationship Type="http://schemas.openxmlformats.org/officeDocument/2006/relationships/slide" Target="/ppt/slides/slide7.xml" Id="R0d054e5cf4a64fb4" /><Relationship Type="http://schemas.openxmlformats.org/officeDocument/2006/relationships/slide" Target="/ppt/slides/slide8.xml" Id="R25bcc8fe880044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329875568a43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1f5609edc54e38" /><Relationship Type="http://schemas.openxmlformats.org/officeDocument/2006/relationships/notesMaster" Target="/ppt/notesMasters/notesMaster1.xml" Id="R937c2b1b525e42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b0efb2247c497e" /><Relationship Type="http://schemas.openxmlformats.org/officeDocument/2006/relationships/notesMaster" Target="/ppt/notesMasters/notesMaster1.xml" Id="Rf0799ae7372a42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ff65c3c55a4a78" /><Relationship Type="http://schemas.openxmlformats.org/officeDocument/2006/relationships/notesMaster" Target="/ppt/notesMasters/notesMaster1.xml" Id="Re9c8b9940d3442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37a42ba9834873" /><Relationship Type="http://schemas.openxmlformats.org/officeDocument/2006/relationships/notesMaster" Target="/ppt/notesMasters/notesMaster1.xml" Id="R49a804abe59942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692d1e924948b9" /><Relationship Type="http://schemas.openxmlformats.org/officeDocument/2006/relationships/notesMaster" Target="/ppt/notesMasters/notesMaster1.xml" Id="R754ab3a7c99d47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109f967de84d10" /><Relationship Type="http://schemas.openxmlformats.org/officeDocument/2006/relationships/notesMaster" Target="/ppt/notesMasters/notesMaster1.xml" Id="R2ecb57ef7bd849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5fd2af950d49fc" /><Relationship Type="http://schemas.openxmlformats.org/officeDocument/2006/relationships/notesMaster" Target="/ppt/notesMasters/notesMaster1.xml" Id="R91317f2719274e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06d6a45f014a92" /><Relationship Type="http://schemas.openxmlformats.org/officeDocument/2006/relationships/notesMaster" Target="/ppt/notesMasters/notesMaster1.xml" Id="Rf11acf3e356049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f993085524e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41882edd11492d" /><Relationship Type="http://schemas.openxmlformats.org/officeDocument/2006/relationships/slideLayout" Target="/ppt/slideLayouts/slideLayout1.xml" Id="R9ddf19f395f04c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df19f395f04c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b2dde9fd74ebf" /><Relationship Type="http://schemas.openxmlformats.org/officeDocument/2006/relationships/notesSlide" Target="/ppt/notesSlides/notesSlide1.xml" Id="Rf294c34feb3248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8b5c9b07441e7" /><Relationship Type="http://schemas.openxmlformats.org/officeDocument/2006/relationships/notesSlide" Target="/ppt/notesSlides/notesSlide2.xml" Id="Rd3fa5e37e11b46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1af801e104da8" /><Relationship Type="http://schemas.openxmlformats.org/officeDocument/2006/relationships/notesSlide" Target="/ppt/notesSlides/notesSlide3.xml" Id="R2583d72dd2f24d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c6f48d26d441c" /><Relationship Type="http://schemas.openxmlformats.org/officeDocument/2006/relationships/notesSlide" Target="/ppt/notesSlides/notesSlide4.xml" Id="R59a163587d4048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ca018f6c647a9" /><Relationship Type="http://schemas.openxmlformats.org/officeDocument/2006/relationships/notesSlide" Target="/ppt/notesSlides/notesSlide5.xml" Id="R16a55a96a53d4b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51785ab3946a6" /><Relationship Type="http://schemas.openxmlformats.org/officeDocument/2006/relationships/notesSlide" Target="/ppt/notesSlides/notesSlide6.xml" Id="R3afa8aab550445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d3254135d4690" /><Relationship Type="http://schemas.openxmlformats.org/officeDocument/2006/relationships/notesSlide" Target="/ppt/notesSlides/notesSlide7.xml" Id="R77a6d3590cd14e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c596baa5b4a69" /><Relationship Type="http://schemas.openxmlformats.org/officeDocument/2006/relationships/notesSlide" Target="/ppt/notesSlides/notesSlide8.xml" Id="R259215e71f154d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1E669-576B-4BA3-A5C0-86611E76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EAE80-D226-4BF2-A58A-4AF2C4C3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BE0CD-55DE-42A0-8252-D83A4345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RCA Investigation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687DA-1E78-4947-9021-80E9AC96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E7490"/>
                </a:solidFill>
                <a:latin typeface="Aptos"/>
                <a:ea typeface="Aptos"/>
                <a:cs typeface="Aptos"/>
              </a:rPr>
              <a:t>From incident description to evidence-supported causal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BB586-21B5-4EA9-8E29-144A1F90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99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Separate specialist knowledge bases, one question handler and an iterative causal-analysis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44268-28E5-4908-9E1D-8E9EB3B0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System 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3EE27-7E06-4341-B392-092F56A4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</p:spTree>
    <p:extLst>
      <p:ext uri="{BB962C8B-B14F-4D97-AF65-F5344CB8AC3E}">
        <p14:creationId xmlns:p14="http://schemas.microsoft.com/office/powerpoint/2010/main" val="1995496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30CE45-0935-4A8B-9515-11E8BB91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4516D-3582-4A75-A2AF-B0F1FFA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End-to-end investigation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6AF4A-82FC-4DCA-A29C-DD444A86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Knowledge develops first. Causal analysis then tests possible explanations against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D1A34-6AAB-4A38-B0F3-5064643B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65823-7BE3-4A79-91E0-76C7BFA1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24F60-1382-49A6-932D-76DFDE6C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A6B1D-E61C-4E62-AC12-4FC7A269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Incident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96E15-0D1F-4C98-A878-93DCCC90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System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understanding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B3C5B-DFFA-40C7-A908-11CCE8C6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Tagging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D2000-9262-4D28-AD43-33572602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Selected specialist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E5053-27A3-4221-A315-2EA2386A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Candidate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8B42A-DCC9-48D8-AB71-7C3A61F7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Broker</a:t>
            </a:r>
          </a:p>
        </p:txBody>
      </p: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4787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head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7192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head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9597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head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2002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head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74407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head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B5CD8-93EC-492A-B26B-BA1588E8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Answer-Fetching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00E5B-3A4F-4EA3-B48C-F027137B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returns answer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4642E-7D71-447B-A1E9-6F378922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Specialist knowledge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bases evolve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4C339-0501-441C-966C-037DEEBD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Analysis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EBB57-219D-48B2-A85E-FBAAF90A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95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Evidence-supported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board</a:t>
            </a:r>
          </a:p>
        </p:txBody>
      </p:sp>
      <p:cxnSp>
        <p:nvCxnSpPr>
          <p:cNvPr id="56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0858500" y="2305050"/>
            <a:ext cx="85725" cy="1790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E7490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9563100" y="44862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head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7286625" y="44862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5010150" y="44862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head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2752725" y="44862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head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94DD28-7BE4-429D-A545-69205D90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62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089"/>
                </a:solidFill>
                <a:latin typeface="Aptos"/>
                <a:ea typeface="Aptos"/>
                <a:cs typeface="Aptos"/>
              </a:rPr>
              <a:t>Knowledge-building round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A9AC2D-C6CB-40C0-824D-1DBB96F2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338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089"/>
                </a:solidFill>
                <a:latin typeface="Aptos"/>
                <a:ea typeface="Aptos"/>
                <a:cs typeface="Aptos"/>
              </a:rPr>
              <a:t>Answer and causal-analysis round</a:t>
            </a:r>
          </a:p>
        </p:txBody>
      </p:sp>
      <p:cxnSp>
        <p:nvCxnSpPr>
          <p:cNvPr id="63" name=""/>
          <p:cNvCxnSpPr>
            <a:stCxn xmlns:a="http://schemas.openxmlformats.org/drawingml/2006/main" id="2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114800" y="2305050"/>
            <a:ext cx="6743700" cy="1790700"/>
          </a:xfrm>
          <a:prstGeom xmlns:a="http://schemas.openxmlformats.org/drawingml/2006/main" prst="bentConnector4">
            <a:avLst>
              <a:gd name="adj1" fmla="val 0"/>
              <a:gd name="adj2" fmla="val 87234"/>
            </a:avLst>
          </a:prstGeom>
          <a:ln xmlns:a="http://schemas.openxmlformats.org/drawingml/2006/main" w="19050">
            <a:solidFill>
              <a:srgbClr val="6941C6"/>
            </a:solidFill>
            <a:prstDash val="dash"/>
            <a:head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CEB64F-D1CB-47B0-8A05-8B4108BF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28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941C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941C6"/>
                </a:solidFill>
                <a:latin typeface="Aptos"/>
                <a:ea typeface="Aptos"/>
                <a:cs typeface="Aptos"/>
              </a:rPr>
              <a:t>Missing facts create new questions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D1AA58-6109-460D-AF75-5FE724FE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78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Each model track runs this flow independently.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B5F55D-790C-45D4-B0E1-D858B33E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5787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human investigator can answer, correct or override at any stage.</a:t>
            </a:r>
          </a:p>
        </p:txBody>
      </p:sp>
    </p:spTree>
    <p:extLst>
      <p:ext uri="{BB962C8B-B14F-4D97-AF65-F5344CB8AC3E}">
        <p14:creationId xmlns:p14="http://schemas.microsoft.com/office/powerpoint/2010/main" val="1024855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3C40F1-447E-4E8F-BEB0-4FB095D0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2673F-812A-41B9-B08D-AB475FBF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Separate specialist knowledge bases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8FF26-DFEC-411B-8C82-AE08C90D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Specialists keep independent interpretations while the answer agent can search across all available knowledge.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29250-94AA-444C-920F-CF631611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B531D-7643-408A-8917-592F1923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06DAE-CCB9-4889-801B-4B920D27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58F04-A1F8-409E-9D35-2728F362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Separate domain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BDB98-C555-4AEC-917C-7939FAAB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Equipment knowledge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66CB4-F91E-41B1-820E-2D3771AA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5267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Stored-energy knowledge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2D410-AD7D-41F9-A3CB-4899406B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3372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Maintenance knowledge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0A6FB-3E08-4ED9-AC94-CDFAB2F2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1477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Human knowledge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5AB7D-2155-41A6-87E7-524BDA59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9582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Other selected specialists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1E0A0-2ABE-4825-A45A-F8DABD5B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247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Answer-Fetching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5A84E-D8B3-4E74-AFCA-C044823F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05250"/>
            <a:ext cx="247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0708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Documents, uploaded evidence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and user answers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25FF2-0854-44A4-85B1-AA29EF71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52600"/>
            <a:ext cx="2762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B301D-6904-4AB1-8F5E-72019921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05200"/>
            <a:ext cx="276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Relevant specialists and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Analysis Agent</a:t>
            </a:r>
          </a:p>
        </p:txBody>
      </p: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762375" y="1857375"/>
            <a:ext cx="857250" cy="914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762375" y="2638425"/>
            <a:ext cx="857250" cy="133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762375" y="2771775"/>
            <a:ext cx="857250" cy="647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762375" y="2771775"/>
            <a:ext cx="85725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762375" y="2771775"/>
            <a:ext cx="857250" cy="2209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4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5857875" y="31813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59E0B"/>
            </a:solidFill>
            <a:prstDash val="solid"/>
            <a:head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5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7096125" y="2143125"/>
            <a:ext cx="10477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490"/>
            </a:solidFill>
            <a:prstDash val="solid"/>
            <a:head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7096125" y="2533650"/>
            <a:ext cx="2428875" cy="238125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head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525000" y="2533650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941C6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CA525-D8AD-46C0-91F0-C45E8736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197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answer agent searches. It does not merge specialist knowledge bases.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182145-D8B8-46E3-9F7C-0EFD303D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388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Redundancy remains visible so one specialist can catch what another missed.</a:t>
            </a:r>
          </a:p>
        </p:txBody>
      </p:sp>
    </p:spTree>
    <p:extLst>
      <p:ext uri="{BB962C8B-B14F-4D97-AF65-F5344CB8AC3E}">
        <p14:creationId xmlns:p14="http://schemas.microsoft.com/office/powerpoint/2010/main" val="555401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247687-9B0F-4619-986B-D795DCCD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B1E94-201A-4398-8D1B-CFE3DAD7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Question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DC271-AF3D-40D3-A5B8-2F95B0F9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same handler processes questions from specialist agents and from causal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0E214-BE60-44DE-96D3-B450A439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D4CAF-77F9-4F7E-B58C-89A46E2E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9725E-DE48-4939-969F-33B0B2C5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A5A35-CE3D-4F1A-80A2-C2D9D6EB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Specialist Agent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proposes and justifies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EF49C-7BB0-45E4-9D1C-B46CDF0F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Analysis Agent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identifies a missing 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B738C-639C-4D94-BDD4-472CB941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21431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CDA17-3F46-428D-9975-F84A0B25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Answer-Fetching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C8625-3794-4AA5-9323-8BEC5A3B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33675"/>
            <a:ext cx="1619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receives the answer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05125" y="2166938"/>
            <a:ext cx="1000125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941C6"/>
            </a:solidFill>
            <a:prstDash val="solid"/>
            <a:head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905125" y="3186113"/>
            <a:ext cx="1000125" cy="1076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12365D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48375" y="31861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head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9750" y="31861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59E0B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006FE-A688-4FBC-B35B-D7C8DAAE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62500"/>
            <a:ext cx="54768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Broker distributes the answer to every contributing or relevant agent</a:t>
            </a:r>
          </a:p>
        </p:txBody>
      </p:sp>
      <p:cxnSp>
        <p:nvCxnSpPr>
          <p:cNvPr id="48" name="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8977313" y="3638550"/>
            <a:ext cx="1928813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F855A"/>
            </a:solidFill>
            <a:prstDash val="solid"/>
            <a:head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822A7-424B-4330-B48D-8CCCC2A9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Broker responsibilities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A09E2-8D21-4E6C-9C89-DB463345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38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1FAF9-5F8D-4652-9A30-CF97ECE4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24375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Merge overlapping questions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ACE4D-2A4B-406C-854B-0E09E9F4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97D00-745D-4445-BC37-5D3DC950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33950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Preserve contributors and purpose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F861A-26C5-4518-9762-7DBB450F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1867E-F3C9-4458-9C90-4AF5DFD7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43525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8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Return the answer to the right agents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0DDAF-F479-405E-B5B3-D017C3C4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81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Answer-agent responsibilities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89637-2DDF-40B3-8620-3C883F40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73E6BA-CA97-4BD1-B4FE-4CB2E43E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95450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Search specialist knowledge bases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52B44A-3959-41CE-96ED-4D8BD1DF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81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DC36C6-7591-4EA0-A2B2-DCF36EEF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66925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Search documents and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1D2061-817E-4E2A-B6F9-12731012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D3DD35-8084-40A5-AA0A-ED20367E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38400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Ask the user when the answer remains unavailable</a:t>
            </a:r>
          </a:p>
        </p:txBody>
      </p:sp>
    </p:spTree>
    <p:extLst>
      <p:ext uri="{BB962C8B-B14F-4D97-AF65-F5344CB8AC3E}">
        <p14:creationId xmlns:p14="http://schemas.microsoft.com/office/powerpoint/2010/main" val="283414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D2E22-78AE-4B32-B3AA-8A703C2D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D378B-E56F-43D2-B71C-58E407D7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The first causal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FF5C5-2373-434A-9D26-0B74731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Causal analysis starts with the immediate event and creates competing explanations for what directly allowed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37E58-A8E9-41A3-8D79-3F9BBA96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BDEDB-7F37-4642-8097-963D0E06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81605-072E-4C52-87A0-B732F158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AD2D2-6558-4680-9789-B12EA07A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Required support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was lost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9FBFC-75F1-4BBD-A95F-BE799BB1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 restraint was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ineffective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9716D-591F-42E1-9CED-C38B0076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component moved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out of 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3C03E-A54B-4FA4-B603-7AAEBA4A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 external force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acted on the beam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63C4E-CFF3-454D-AFAC-E7E97520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R3 Exit Carrier Beam</a:t>
            </a:r>
          </a:p>
          <a:p xmlns:a="http://schemas.openxmlformats.org/drawingml/2006/main">
            <a:pPr algn="ctr">
              <a:defRPr sz="18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fell from the yoke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1790700"/>
            <a:ext cx="4381500" cy="1466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2857500"/>
            <a:ext cx="438150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619500" y="3257550"/>
            <a:ext cx="43815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619500" y="3257550"/>
            <a:ext cx="4381500" cy="1733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4ECBA-EB87-46FF-B0B6-DF27CA06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Possible direct explanations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E2ABE-203E-4851-B2BC-ABC39496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Event to 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135F9-C151-433F-B4DA-410A8DD2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6762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 branch advances only when facts support a plausible mechanism.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179D5F-2CBF-4FFC-A554-28D88185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At this stage, every explanation remains possible rather than proven.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53976-D7C4-485D-B885-E54655C5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agent asks which fact would distinguish one explanation from the others.</a:t>
            </a:r>
          </a:p>
        </p:txBody>
      </p:sp>
    </p:spTree>
    <p:extLst>
      <p:ext uri="{BB962C8B-B14F-4D97-AF65-F5344CB8AC3E}">
        <p14:creationId xmlns:p14="http://schemas.microsoft.com/office/powerpoint/2010/main" val="14310978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207E1-1F08-4790-9675-7573B89B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7B2D4-69FA-4CB1-98AF-51994082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Causal-analysis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7B0E2-9292-490C-A566-7503AFE3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agent moves backward only along explanations that survive evidence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F6CFC-2D12-494C-80EA-5D3CBE3D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1FEAD-2CA8-4982-83AE-09BF36D8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E1D20-FBE8-44A0-91B1-EFF44945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D895C-F099-4452-BDBA-A8667E41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90625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1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Start with the event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761C1-CD2B-45A9-B76E-5E6B3113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57375"/>
            <a:ext cx="2667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2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Propose direct explanations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6B7EF-4609-44B2-A841-8BCFB65F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667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9779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3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Connect facts through a 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54E9D-BC79-4738-B37D-61EDB1D5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4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Identify the missing 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B2C87-2F97-4C57-B248-3031918F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2762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9779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5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Ask through the Question Broker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1D871-8DE3-481F-AC09-7144A45A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2762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 anchor="ctr">
            <a:normAutofit fontScale="9779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6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Receive the answer and revise status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239000" y="1543050"/>
            <a:ext cx="2333625" cy="314325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572625" y="2619375"/>
            <a:ext cx="333375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239000" y="4095750"/>
            <a:ext cx="1333500" cy="1209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3762375" y="4095750"/>
            <a:ext cx="1095375" cy="1209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2381250" y="26193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2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762375" y="1543050"/>
            <a:ext cx="1095375" cy="695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21F9F-913C-4FBD-B793-72475689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Supported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E3D34-A0FD-47E7-ADE8-12A021EF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Possible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B68A4-5E0A-454B-A1B7-226DC80A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Rejected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59EF1-39CD-4B9E-973A-D093F9B1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055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When a direct link becomes supported, the agent asks what created that condition and moves one step further backward.</a:t>
            </a:r>
          </a:p>
        </p:txBody>
      </p:sp>
    </p:spTree>
    <p:extLst>
      <p:ext uri="{BB962C8B-B14F-4D97-AF65-F5344CB8AC3E}">
        <p14:creationId xmlns:p14="http://schemas.microsoft.com/office/powerpoint/2010/main" val="805098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A8D84-27DD-43FE-843F-78936CC7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F8D7A-78F0-4814-B9BC-9AD978A8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What makes a causal connection concrete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5AA09-F86E-43CD-B219-B98CA594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causal board stores an explicit claim and the evidence needed to assess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17A42-E1AD-4585-B1E9-141F3A6C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64715-593A-425E-AB4A-4913DC30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21CE1-4033-4DCF-AF01-C3DAE021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333500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8048625"/>
              </a:tblGrid>
              <a:tr h="4095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Causal-link field</a:t>
                      </a:r>
                    </a:p>
                  </a:txBody>
                  <a:tcPr marL="91440" marR="91440" marT="45720" marB="45720"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the agent records</a:t>
                      </a:r>
                    </a:p>
                  </a:txBody>
                  <a:tcPr marL="91440" marR="91440" marT="45720" marB="45720">
                    <a:solidFill>
                      <a:srgbClr val="12365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existed or happened before the event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Effect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changed or occurred next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How the condition could have produced the effect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Supporting facts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Evidence that agrees with the proposed connection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Contradicting facts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Evidence that weakens or challenges the connection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Missing evidence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The specific fact that would distinguish the direction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Supported, possible, disputed or rejected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18970-2356-4E53-ABAE-E842A25F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Questions remain outside the causal board until an answer produces a fact or changes a connection.</a:t>
            </a:r>
          </a:p>
        </p:txBody>
      </p:sp>
    </p:spTree>
    <p:extLst>
      <p:ext uri="{BB962C8B-B14F-4D97-AF65-F5344CB8AC3E}">
        <p14:creationId xmlns:p14="http://schemas.microsoft.com/office/powerpoint/2010/main" val="1217634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0A58A8-2C76-4A88-8D25-ACB683D6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A2E09-16A6-4A00-A4BD-073B6D29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Investigation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114C6-8BBD-4BA6-AFA8-4FEA1AD6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system preserves how knowledge and causal explanations changed over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6C2A3-B656-46FA-B855-A6AFF04D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B8656-1ED7-43A7-B302-2EDFDAAB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FA374-3330-444B-8782-2FB74396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47061-9175-46CF-ACF1-C26CD35B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evolving record contains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3E031-B030-4D56-B617-AFF04F0F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8EE20-EF27-4A45-827F-D1E97C1C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Versioned knowledge base for every selected specialist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15D6-E175-4CCB-BA3C-92105C88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4C587-5E45-4B65-BC4D-3CBB80CE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Source and confidence attached to each 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8F327-2219-4A50-9D39-2320DCFB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E57E8-35CF-40A6-B0C4-D6D45DFC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Question history, merged wording and contributing agents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11103-0C8E-46E9-BDE3-18640A5D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941A8-B889-44C5-AB46-A16B7AFC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Unresolved contradictions and missing documents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D0F48-93D0-4780-9BE2-8734A635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C5E88-1AB4-449A-9DA8-1FE1D850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Competing causal paths with current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84872-47B4-43D7-B547-5FA4A9F0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A9C62-1E83-4828-973F-1C5F6934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Human corrections, approvals and overrides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CE2FE7-2EA5-42D7-9C8F-7E6DDFBA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Established 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CEF0C5-128E-49F6-9E88-EED4BD13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Competing causal paths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4D016F-7C07-4D8A-BC9D-7CAA68AA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143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Evidence-supported</a:t>
            </a:r>
          </a:p>
          <a:p xmlns:a="http://schemas.openxmlformats.org/drawingml/2006/main">
            <a:pPr algn="ctr">
              <a:defRPr sz="172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board</a:t>
            </a:r>
          </a:p>
        </p:txBody>
      </p:sp>
      <p:cxnSp>
        <p:nvCxnSpPr>
          <p:cNvPr id="48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810625" y="211455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810625" y="34004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EA2C44-9853-4144-8118-56C62987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768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Human approval remains the final gate</a:t>
            </a:r>
          </a:p>
        </p:txBody>
      </p:sp>
    </p:spTree>
    <p:extLst>
      <p:ext uri="{BB962C8B-B14F-4D97-AF65-F5344CB8AC3E}">
        <p14:creationId xmlns:p14="http://schemas.microsoft.com/office/powerpoint/2010/main" val="1120067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2026-09-04T15:53:05.1380000Z</dcterms:created>
  <dcterms:modified xsi:type="dcterms:W3CDTF">2026-09-04T15:53:05.1380000Z</dcterms:modified>
</coreProperties>
</file>