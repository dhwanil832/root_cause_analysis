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262" r:id="rId5"/>
    <p:sldId id="532" r:id="rId6"/>
    <p:sldId id="534" r:id="rId7"/>
    <p:sldId id="540" r:id="rId8"/>
    <p:sldId id="539" r:id="rId9"/>
    <p:sldId id="537" r:id="rId10"/>
    <p:sldId id="538" r:id="rId11"/>
  </p:sldIdLst>
  <p:sldSz cx="9144000" cy="6858000" type="screen4x3"/>
  <p:notesSz cx="7023100" cy="93091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89C76B-C50E-4793-894B-E7283392C700}">
          <p14:sldIdLst>
            <p14:sldId id="262"/>
            <p14:sldId id="532"/>
            <p14:sldId id="534"/>
            <p14:sldId id="540"/>
            <p14:sldId id="539"/>
            <p14:sldId id="537"/>
            <p14:sldId id="538"/>
          </p14:sldIdLst>
        </p14:section>
      </p14:sectionLst>
    </p:ext>
    <p:ext uri="{EFAFB233-063F-42B5-8137-9DF3F51BA10A}">
      <p15:sldGuideLst xmlns:p15="http://schemas.microsoft.com/office/powerpoint/2012/main">
        <p15:guide id="1" orient="horz" pos="2256" userDrawn="1">
          <p15:clr>
            <a:srgbClr val="A4A3A4"/>
          </p15:clr>
        </p15:guide>
        <p15:guide id="2" pos="2880">
          <p15:clr>
            <a:srgbClr val="A4A3A4"/>
          </p15:clr>
        </p15:guide>
        <p15:guide id="4" orient="horz" pos="1200" userDrawn="1">
          <p15:clr>
            <a:srgbClr val="A4A3A4"/>
          </p15:clr>
        </p15:guide>
        <p15:guide id="5" pos="4608" userDrawn="1">
          <p15:clr>
            <a:srgbClr val="A4A3A4"/>
          </p15:clr>
        </p15:guide>
        <p15:guide id="7" pos="3696" userDrawn="1">
          <p15:clr>
            <a:srgbClr val="A4A3A4"/>
          </p15:clr>
        </p15:guide>
        <p15:guide id="8" pos="2688" userDrawn="1">
          <p15:clr>
            <a:srgbClr val="A4A3A4"/>
          </p15:clr>
        </p15:guide>
        <p15:guide id="9" pos="1728" userDrawn="1">
          <p15:clr>
            <a:srgbClr val="A4A3A4"/>
          </p15:clr>
        </p15:guide>
        <p15:guide id="10" pos="816" userDrawn="1">
          <p15:clr>
            <a:srgbClr val="A4A3A4"/>
          </p15:clr>
        </p15:guide>
        <p15:guide id="11" pos="5424" userDrawn="1">
          <p15:clr>
            <a:srgbClr val="A4A3A4"/>
          </p15:clr>
        </p15:guide>
        <p15:guide id="12" pos="336" userDrawn="1">
          <p15:clr>
            <a:srgbClr val="A4A3A4"/>
          </p15:clr>
        </p15:guide>
        <p15:guide id="13" orient="horz" pos="33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8D3B"/>
    <a:srgbClr val="005596"/>
    <a:srgbClr val="000000"/>
    <a:srgbClr val="8E9300"/>
    <a:srgbClr val="0098DB"/>
    <a:srgbClr val="87B2D8"/>
    <a:srgbClr val="5A447A"/>
    <a:srgbClr val="E58E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59A6C8-EACB-1575-8A6C-3E50E72EE796}" v="61" dt="2024-12-04T14:26:34.212"/>
    <p1510:client id="{C11A19A6-F68D-F623-F23E-B6C58A023D62}" v="1" dt="2024-12-04T15:50:50.079"/>
    <p1510:client id="{F5B8C479-4FB5-322C-5093-E00FABE1120D}" v="714" dt="2024-12-03T01:21:52.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51" autoAdjust="0"/>
  </p:normalViewPr>
  <p:slideViewPr>
    <p:cSldViewPr>
      <p:cViewPr varScale="1">
        <p:scale>
          <a:sx n="65" d="100"/>
          <a:sy n="65" d="100"/>
        </p:scale>
        <p:origin x="1518" y="78"/>
      </p:cViewPr>
      <p:guideLst>
        <p:guide orient="horz" pos="2256"/>
        <p:guide pos="2880"/>
        <p:guide orient="horz" pos="1200"/>
        <p:guide pos="4608"/>
        <p:guide pos="3696"/>
        <p:guide pos="2688"/>
        <p:guide pos="1728"/>
        <p:guide pos="816"/>
        <p:guide pos="5424"/>
        <p:guide pos="336"/>
        <p:guide orient="horz" pos="3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14"/>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Lbls>
            <c:spPr>
              <a:noFill/>
              <a:ln>
                <a:noFill/>
              </a:ln>
              <a:effectLst/>
            </c:spPr>
            <c:txPr>
              <a:bodyPr/>
              <a:lstStyle/>
              <a:p>
                <a:pPr>
                  <a:defRPr baseline="0">
                    <a:solidFill>
                      <a:schemeClr val="bg1"/>
                    </a:solidFill>
                  </a:defRPr>
                </a:pPr>
                <a:endParaRPr lang="en-US"/>
              </a:p>
            </c:txPr>
            <c:dLblPos val="in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8.2000000000000011</c:v>
                </c:pt>
                <c:pt idx="1">
                  <c:v>3.2</c:v>
                </c:pt>
                <c:pt idx="2">
                  <c:v>1.4</c:v>
                </c:pt>
                <c:pt idx="3">
                  <c:v>1.2</c:v>
                </c:pt>
              </c:numCache>
            </c:numRef>
          </c:val>
          <c:extLst>
            <c:ext xmlns:c16="http://schemas.microsoft.com/office/drawing/2014/chart" uri="{C3380CC4-5D6E-409C-BE32-E72D297353CC}">
              <c16:uniqueId val="{00000000-E2E6-4E63-BB4C-DA97532BFDD4}"/>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79381349390149769"/>
          <c:y val="0.6097964955084858"/>
          <c:w val="0.2061865060985022"/>
          <c:h val="0.36491405123655363"/>
        </c:manualLayout>
      </c:layout>
      <c:overlay val="0"/>
      <c:txPr>
        <a:bodyPr/>
        <a:lstStyle/>
        <a:p>
          <a:pPr>
            <a:defRPr sz="14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8E9300"/>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810-4252-A499-99B686652C4C}"/>
            </c:ext>
          </c:extLst>
        </c:ser>
        <c:ser>
          <c:idx val="1"/>
          <c:order val="1"/>
          <c:tx>
            <c:strRef>
              <c:f>Sheet1!$C$1</c:f>
              <c:strCache>
                <c:ptCount val="1"/>
                <c:pt idx="0">
                  <c:v>Series 2</c:v>
                </c:pt>
              </c:strCache>
            </c:strRef>
          </c:tx>
          <c:spPr>
            <a:solidFill>
              <a:srgbClr val="0098DB"/>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810-4252-A499-99B686652C4C}"/>
            </c:ext>
          </c:extLst>
        </c:ser>
        <c:ser>
          <c:idx val="2"/>
          <c:order val="2"/>
          <c:tx>
            <c:strRef>
              <c:f>Sheet1!$D$1</c:f>
              <c:strCache>
                <c:ptCount val="1"/>
                <c:pt idx="0">
                  <c:v>Series 3</c:v>
                </c:pt>
              </c:strCache>
            </c:strRef>
          </c:tx>
          <c:spPr>
            <a:solidFill>
              <a:srgbClr val="87B2D8"/>
            </a:solidFill>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810-4252-A499-99B686652C4C}"/>
            </c:ext>
          </c:extLst>
        </c:ser>
        <c:dLbls>
          <c:showLegendKey val="0"/>
          <c:showVal val="0"/>
          <c:showCatName val="0"/>
          <c:showSerName val="0"/>
          <c:showPercent val="0"/>
          <c:showBubbleSize val="0"/>
        </c:dLbls>
        <c:gapWidth val="150"/>
        <c:overlap val="100"/>
        <c:axId val="323672264"/>
        <c:axId val="323675400"/>
      </c:barChart>
      <c:catAx>
        <c:axId val="323672264"/>
        <c:scaling>
          <c:orientation val="minMax"/>
        </c:scaling>
        <c:delete val="0"/>
        <c:axPos val="b"/>
        <c:numFmt formatCode="General" sourceLinked="0"/>
        <c:majorTickMark val="out"/>
        <c:minorTickMark val="none"/>
        <c:tickLblPos val="nextTo"/>
        <c:txPr>
          <a:bodyPr/>
          <a:lstStyle/>
          <a:p>
            <a:pPr>
              <a:defRPr sz="1100"/>
            </a:pPr>
            <a:endParaRPr lang="en-US"/>
          </a:p>
        </c:txPr>
        <c:crossAx val="323675400"/>
        <c:crosses val="autoZero"/>
        <c:auto val="1"/>
        <c:lblAlgn val="ctr"/>
        <c:lblOffset val="100"/>
        <c:noMultiLvlLbl val="0"/>
      </c:catAx>
      <c:valAx>
        <c:axId val="323675400"/>
        <c:scaling>
          <c:orientation val="minMax"/>
        </c:scaling>
        <c:delete val="0"/>
        <c:axPos val="l"/>
        <c:majorGridlines/>
        <c:numFmt formatCode="General" sourceLinked="1"/>
        <c:majorTickMark val="out"/>
        <c:minorTickMark val="none"/>
        <c:tickLblPos val="nextTo"/>
        <c:txPr>
          <a:bodyPr/>
          <a:lstStyle/>
          <a:p>
            <a:pPr>
              <a:defRPr sz="1100"/>
            </a:pPr>
            <a:endParaRPr lang="en-US"/>
          </a:p>
        </c:txPr>
        <c:crossAx val="323672264"/>
        <c:crosses val="autoZero"/>
        <c:crossBetween val="between"/>
      </c:valAx>
    </c:plotArea>
    <c:legend>
      <c:legendPos val="r"/>
      <c:layout>
        <c:manualLayout>
          <c:xMode val="edge"/>
          <c:yMode val="edge"/>
          <c:x val="0.85190944881889841"/>
          <c:y val="0.80193467893978065"/>
          <c:w val="0.14073761000463178"/>
          <c:h val="0.19190501275368738"/>
        </c:manualLayout>
      </c:layout>
      <c:overlay val="0"/>
      <c:txPr>
        <a:bodyPr/>
        <a:lstStyle/>
        <a:p>
          <a:pPr>
            <a:defRPr sz="1100"/>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3043343" cy="465774"/>
          </a:xfrm>
          <a:prstGeom prst="rect">
            <a:avLst/>
          </a:prstGeom>
        </p:spPr>
        <p:txBody>
          <a:bodyPr vert="horz" lIns="91771" tIns="45885" rIns="91771" bIns="45885" rtlCol="0"/>
          <a:lstStyle>
            <a:lvl1pPr algn="l">
              <a:defRPr sz="1200"/>
            </a:lvl1pPr>
          </a:lstStyle>
          <a:p>
            <a:endParaRPr lang="en-US" dirty="0"/>
          </a:p>
        </p:txBody>
      </p:sp>
      <p:sp>
        <p:nvSpPr>
          <p:cNvPr id="3" name="Date Placeholder 2"/>
          <p:cNvSpPr>
            <a:spLocks noGrp="1"/>
          </p:cNvSpPr>
          <p:nvPr>
            <p:ph type="dt" idx="1"/>
          </p:nvPr>
        </p:nvSpPr>
        <p:spPr>
          <a:xfrm>
            <a:off x="3978137" y="2"/>
            <a:ext cx="3043343" cy="465774"/>
          </a:xfrm>
          <a:prstGeom prst="rect">
            <a:avLst/>
          </a:prstGeom>
        </p:spPr>
        <p:txBody>
          <a:bodyPr vert="horz" lIns="91771" tIns="45885" rIns="91771" bIns="45885" rtlCol="0"/>
          <a:lstStyle>
            <a:lvl1pPr algn="r">
              <a:defRPr sz="1200"/>
            </a:lvl1pPr>
          </a:lstStyle>
          <a:p>
            <a:fld id="{A964F8E4-E636-4686-AD31-8AB8AC7EBC32}" type="datetimeFigureOut">
              <a:rPr lang="en-US" smtClean="0"/>
              <a:pPr/>
              <a:t>8/20/2026</a:t>
            </a:fld>
            <a:endParaRPr lang="en-US" dirty="0"/>
          </a:p>
        </p:txBody>
      </p:sp>
      <p:sp>
        <p:nvSpPr>
          <p:cNvPr id="4" name="Slide Image Placeholder 3"/>
          <p:cNvSpPr>
            <a:spLocks noGrp="1" noRot="1" noChangeAspect="1"/>
          </p:cNvSpPr>
          <p:nvPr>
            <p:ph type="sldImg" idx="2"/>
          </p:nvPr>
        </p:nvSpPr>
        <p:spPr>
          <a:xfrm>
            <a:off x="1182688" y="696913"/>
            <a:ext cx="4657725" cy="3492500"/>
          </a:xfrm>
          <a:prstGeom prst="rect">
            <a:avLst/>
          </a:prstGeom>
          <a:noFill/>
          <a:ln w="12700">
            <a:solidFill>
              <a:prstClr val="black"/>
            </a:solidFill>
          </a:ln>
        </p:spPr>
        <p:txBody>
          <a:bodyPr vert="horz" lIns="91771" tIns="45885" rIns="91771" bIns="45885" rtlCol="0" anchor="ctr"/>
          <a:lstStyle/>
          <a:p>
            <a:endParaRPr lang="en-US" dirty="0"/>
          </a:p>
        </p:txBody>
      </p:sp>
      <p:sp>
        <p:nvSpPr>
          <p:cNvPr id="5" name="Notes Placeholder 4"/>
          <p:cNvSpPr>
            <a:spLocks noGrp="1"/>
          </p:cNvSpPr>
          <p:nvPr>
            <p:ph type="body" sz="quarter" idx="3"/>
          </p:nvPr>
        </p:nvSpPr>
        <p:spPr>
          <a:xfrm>
            <a:off x="702312" y="4422463"/>
            <a:ext cx="5618480" cy="4188778"/>
          </a:xfrm>
          <a:prstGeom prst="rect">
            <a:avLst/>
          </a:prstGeom>
        </p:spPr>
        <p:txBody>
          <a:bodyPr vert="horz" lIns="91771" tIns="45885" rIns="91771" bIns="4588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978137" y="8841738"/>
            <a:ext cx="3043343" cy="465774"/>
          </a:xfrm>
          <a:prstGeom prst="rect">
            <a:avLst/>
          </a:prstGeom>
        </p:spPr>
        <p:txBody>
          <a:bodyPr vert="horz" lIns="91771" tIns="45885" rIns="91771" bIns="45885" rtlCol="0" anchor="b"/>
          <a:lstStyle>
            <a:lvl1pPr algn="r">
              <a:defRPr sz="1200"/>
            </a:lvl1pPr>
          </a:lstStyle>
          <a:p>
            <a:fld id="{EDCEA4F7-A424-4828-AA0E-CEC3D71C8BE3}" type="slidenum">
              <a:rPr lang="en-US" smtClean="0"/>
              <a:pPr/>
              <a:t>‹#›</a:t>
            </a:fld>
            <a:endParaRPr lang="en-US" dirty="0"/>
          </a:p>
        </p:txBody>
      </p:sp>
    </p:spTree>
    <p:extLst>
      <p:ext uri="{BB962C8B-B14F-4D97-AF65-F5344CB8AC3E}">
        <p14:creationId xmlns:p14="http://schemas.microsoft.com/office/powerpoint/2010/main" val="1644492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CEA4F7-A424-4828-AA0E-CEC3D71C8BE3}" type="slidenum">
              <a:rPr lang="en-US" smtClean="0"/>
              <a:pPr/>
              <a:t>2</a:t>
            </a:fld>
            <a:endParaRPr lang="en-US" dirty="0"/>
          </a:p>
        </p:txBody>
      </p:sp>
    </p:spTree>
    <p:extLst>
      <p:ext uri="{BB962C8B-B14F-4D97-AF65-F5344CB8AC3E}">
        <p14:creationId xmlns:p14="http://schemas.microsoft.com/office/powerpoint/2010/main" val="2037840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CEA4F7-A424-4828-AA0E-CEC3D71C8BE3}" type="slidenum">
              <a:rPr lang="en-US" smtClean="0"/>
              <a:pPr/>
              <a:t>3</a:t>
            </a:fld>
            <a:endParaRPr lang="en-US" dirty="0"/>
          </a:p>
        </p:txBody>
      </p:sp>
    </p:spTree>
    <p:extLst>
      <p:ext uri="{BB962C8B-B14F-4D97-AF65-F5344CB8AC3E}">
        <p14:creationId xmlns:p14="http://schemas.microsoft.com/office/powerpoint/2010/main" val="490138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CEA4F7-A424-4828-AA0E-CEC3D71C8BE3}" type="slidenum">
              <a:rPr lang="en-US" smtClean="0"/>
              <a:pPr/>
              <a:t>6</a:t>
            </a:fld>
            <a:endParaRPr lang="en-US" dirty="0"/>
          </a:p>
        </p:txBody>
      </p:sp>
    </p:spTree>
    <p:extLst>
      <p:ext uri="{BB962C8B-B14F-4D97-AF65-F5344CB8AC3E}">
        <p14:creationId xmlns:p14="http://schemas.microsoft.com/office/powerpoint/2010/main" val="578738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CEA4F7-A424-4828-AA0E-CEC3D71C8BE3}" type="slidenum">
              <a:rPr lang="en-US" smtClean="0"/>
              <a:pPr/>
              <a:t>7</a:t>
            </a:fld>
            <a:endParaRPr lang="en-US" dirty="0"/>
          </a:p>
        </p:txBody>
      </p:sp>
    </p:spTree>
    <p:extLst>
      <p:ext uri="{BB962C8B-B14F-4D97-AF65-F5344CB8AC3E}">
        <p14:creationId xmlns:p14="http://schemas.microsoft.com/office/powerpoint/2010/main" val="34144292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cxnSp>
        <p:nvCxnSpPr>
          <p:cNvPr id="13" name="Straight Connector 12"/>
          <p:cNvCxnSpPr/>
          <p:nvPr userDrawn="1"/>
        </p:nvCxnSpPr>
        <p:spPr bwMode="auto">
          <a:xfrm>
            <a:off x="502725" y="6400800"/>
            <a:ext cx="8236525" cy="0"/>
          </a:xfrm>
          <a:prstGeom prst="line">
            <a:avLst/>
          </a:prstGeom>
          <a:solidFill>
            <a:schemeClr val="accent1"/>
          </a:solidFill>
          <a:ln w="41275" cap="flat" cmpd="sng" algn="ctr">
            <a:solidFill>
              <a:srgbClr val="6D8D3B"/>
            </a:solidFill>
            <a:prstDash val="solid"/>
            <a:round/>
            <a:headEnd type="none" w="med" len="med"/>
            <a:tailEnd type="none" w="med" len="med"/>
          </a:ln>
          <a:effectLst/>
        </p:spPr>
      </p:cxnSp>
      <p:sp>
        <p:nvSpPr>
          <p:cNvPr id="6" name="Title 5"/>
          <p:cNvSpPr>
            <a:spLocks noGrp="1"/>
          </p:cNvSpPr>
          <p:nvPr>
            <p:ph type="title"/>
          </p:nvPr>
        </p:nvSpPr>
        <p:spPr>
          <a:xfrm>
            <a:off x="533400" y="3429000"/>
            <a:ext cx="8229600" cy="1143000"/>
          </a:xfrm>
          <a:prstGeom prst="rect">
            <a:avLst/>
          </a:prstGeom>
        </p:spPr>
        <p:txBody>
          <a:bodyPr/>
          <a:lstStyle>
            <a:lvl1pPr algn="ctr">
              <a:defRPr sz="3200"/>
            </a:lvl1pPr>
          </a:lstStyle>
          <a:p>
            <a:r>
              <a:rPr lang="en-US" dirty="0"/>
              <a:t>Click to edit Master title style</a:t>
            </a:r>
          </a:p>
        </p:txBody>
      </p:sp>
      <p:pic>
        <p:nvPicPr>
          <p:cNvPr id="1026" name="Picture 2" descr="C:\Users\cadresch\Desktop\REFERENCE\Logos_Swatches\Cliffs Logos\CCI Lockup Logos\CLIFFS_Lock-up_RGB_8-1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057400" y="1828800"/>
            <a:ext cx="5003090" cy="12715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17" name="Text Placeholder 16"/>
          <p:cNvSpPr>
            <a:spLocks noGrp="1"/>
          </p:cNvSpPr>
          <p:nvPr>
            <p:ph type="body" sz="quarter" idx="12" hasCustomPrompt="1"/>
          </p:nvPr>
        </p:nvSpPr>
        <p:spPr>
          <a:xfrm>
            <a:off x="457200" y="1143000"/>
            <a:ext cx="8229600" cy="1676400"/>
          </a:xfrm>
          <a:prstGeom prst="rect">
            <a:avLst/>
          </a:prstGeom>
        </p:spPr>
        <p:txBody>
          <a:bodyPr/>
          <a:lstStyle>
            <a:lvl1pPr>
              <a:buNone/>
              <a:defRPr sz="1800" b="1">
                <a:solidFill>
                  <a:srgbClr val="005596"/>
                </a:solidFill>
              </a:defRPr>
            </a:lvl1pPr>
            <a:lvl2pPr>
              <a:buFont typeface="Arial" pitchFamily="34" charset="0"/>
              <a:buChar char="•"/>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Click to edit Sub-Head 1</a:t>
            </a:r>
          </a:p>
          <a:p>
            <a:pPr lvl="1"/>
            <a:r>
              <a:rPr lang="en-US" dirty="0"/>
              <a:t>Bullet 1</a:t>
            </a:r>
          </a:p>
          <a:p>
            <a:pPr lvl="1"/>
            <a:r>
              <a:rPr lang="en-US" dirty="0"/>
              <a:t>Bullet 2</a:t>
            </a:r>
          </a:p>
          <a:p>
            <a:pPr lvl="1"/>
            <a:r>
              <a:rPr lang="en-US" dirty="0"/>
              <a:t>Bullet 3</a:t>
            </a:r>
          </a:p>
        </p:txBody>
      </p:sp>
      <p:sp>
        <p:nvSpPr>
          <p:cNvPr id="11" name="Text Placeholder 16"/>
          <p:cNvSpPr>
            <a:spLocks noGrp="1"/>
          </p:cNvSpPr>
          <p:nvPr>
            <p:ph type="body" sz="quarter" idx="13" hasCustomPrompt="1"/>
          </p:nvPr>
        </p:nvSpPr>
        <p:spPr>
          <a:xfrm>
            <a:off x="457200" y="3657600"/>
            <a:ext cx="8229600" cy="1676400"/>
          </a:xfrm>
          <a:prstGeom prst="rect">
            <a:avLst/>
          </a:prstGeom>
        </p:spPr>
        <p:txBody>
          <a:bodyPr/>
          <a:lstStyle>
            <a:lvl1pPr>
              <a:buNone/>
              <a:defRPr sz="1800" b="1">
                <a:solidFill>
                  <a:srgbClr val="005596"/>
                </a:solidFill>
              </a:defRPr>
            </a:lvl1pPr>
            <a:lvl2pPr>
              <a:buFontTx/>
              <a:buNone/>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Click to edit Sub-Head 2</a:t>
            </a:r>
          </a:p>
          <a:p>
            <a:pPr lvl="1"/>
            <a:r>
              <a:rPr lang="en-US" dirty="0"/>
              <a:t>Insert 1 to 2 sentences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17" name="Text Placeholder 16"/>
          <p:cNvSpPr>
            <a:spLocks noGrp="1"/>
          </p:cNvSpPr>
          <p:nvPr>
            <p:ph type="body" sz="quarter" idx="12" hasCustomPrompt="1"/>
          </p:nvPr>
        </p:nvSpPr>
        <p:spPr>
          <a:xfrm>
            <a:off x="457200" y="1143000"/>
            <a:ext cx="8229600" cy="4800600"/>
          </a:xfrm>
          <a:prstGeom prst="rect">
            <a:avLst/>
          </a:prstGeom>
        </p:spPr>
        <p:txBody>
          <a:bodyPr/>
          <a:lstStyle>
            <a:lvl1pPr>
              <a:buNone/>
              <a:defRPr sz="1800" b="1">
                <a:solidFill>
                  <a:srgbClr val="005596"/>
                </a:solidFill>
              </a:defRPr>
            </a:lvl1pPr>
            <a:lvl2pPr>
              <a:buFont typeface="Arial" pitchFamily="34" charset="0"/>
              <a:buChar char="•"/>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Click to edit Sub-Head</a:t>
            </a:r>
          </a:p>
          <a:p>
            <a:pPr lvl="1"/>
            <a:r>
              <a:rPr lang="en-US" dirty="0"/>
              <a:t>Bullet 1</a:t>
            </a:r>
          </a:p>
          <a:p>
            <a:pPr lvl="2"/>
            <a:r>
              <a:rPr lang="en-US" dirty="0"/>
              <a:t>Bullet 2</a:t>
            </a:r>
          </a:p>
          <a:p>
            <a:pPr lvl="3"/>
            <a:r>
              <a:rPr lang="en-US" dirty="0"/>
              <a:t>Bullet 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_Bullets">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7" name="Picture Placeholder 6"/>
          <p:cNvSpPr>
            <a:spLocks noGrp="1"/>
          </p:cNvSpPr>
          <p:nvPr>
            <p:ph type="pic" sz="quarter" idx="10"/>
          </p:nvPr>
        </p:nvSpPr>
        <p:spPr>
          <a:xfrm>
            <a:off x="590359" y="1743075"/>
            <a:ext cx="2514600" cy="2133600"/>
          </a:xfrm>
          <a:prstGeom prst="rect">
            <a:avLst/>
          </a:prstGeom>
        </p:spPr>
        <p:txBody>
          <a:bodyPr/>
          <a:lstStyle>
            <a:lvl1pPr algn="ctr">
              <a:buFontTx/>
              <a:buNone/>
              <a:defRPr sz="1800">
                <a:solidFill>
                  <a:srgbClr val="005596"/>
                </a:solidFill>
              </a:defRPr>
            </a:lvl1pPr>
          </a:lstStyle>
          <a:p>
            <a:endParaRPr lang="en-US" dirty="0"/>
          </a:p>
        </p:txBody>
      </p:sp>
      <p:sp>
        <p:nvSpPr>
          <p:cNvPr id="13" name="Text Placeholder 12"/>
          <p:cNvSpPr>
            <a:spLocks noGrp="1"/>
          </p:cNvSpPr>
          <p:nvPr>
            <p:ph type="body" sz="quarter" idx="11" hasCustomPrompt="1"/>
          </p:nvPr>
        </p:nvSpPr>
        <p:spPr>
          <a:xfrm>
            <a:off x="590359" y="4029075"/>
            <a:ext cx="2514600" cy="1295400"/>
          </a:xfrm>
          <a:prstGeom prst="rect">
            <a:avLst/>
          </a:prstGeom>
        </p:spPr>
        <p:txBody>
          <a:bodyPr/>
          <a:lstStyle>
            <a:lvl1pPr>
              <a:buClr>
                <a:srgbClr val="6D8D3B"/>
              </a:buClr>
              <a:defRPr sz="1400"/>
            </a:lvl1pPr>
          </a:lstStyle>
          <a:p>
            <a:pPr lvl="0"/>
            <a:r>
              <a:rPr lang="en-US" dirty="0"/>
              <a:t>Bullet 1</a:t>
            </a:r>
          </a:p>
          <a:p>
            <a:pPr lvl="0"/>
            <a:r>
              <a:rPr lang="en-US" dirty="0"/>
              <a:t>Bullet 2</a:t>
            </a:r>
          </a:p>
          <a:p>
            <a:pPr lvl="0"/>
            <a:r>
              <a:rPr lang="en-US" dirty="0"/>
              <a:t>Bullet 3</a:t>
            </a:r>
          </a:p>
        </p:txBody>
      </p:sp>
      <p:sp>
        <p:nvSpPr>
          <p:cNvPr id="14" name="Picture Placeholder 6"/>
          <p:cNvSpPr>
            <a:spLocks noGrp="1"/>
          </p:cNvSpPr>
          <p:nvPr>
            <p:ph type="pic" sz="quarter" idx="12"/>
          </p:nvPr>
        </p:nvSpPr>
        <p:spPr>
          <a:xfrm>
            <a:off x="3384361" y="1743075"/>
            <a:ext cx="2514600" cy="2133600"/>
          </a:xfrm>
          <a:prstGeom prst="rect">
            <a:avLst/>
          </a:prstGeom>
        </p:spPr>
        <p:txBody>
          <a:bodyPr/>
          <a:lstStyle>
            <a:lvl1pPr algn="ctr">
              <a:buFontTx/>
              <a:buNone/>
              <a:defRPr sz="1800">
                <a:solidFill>
                  <a:srgbClr val="005596"/>
                </a:solidFill>
              </a:defRPr>
            </a:lvl1pPr>
          </a:lstStyle>
          <a:p>
            <a:endParaRPr lang="en-US" dirty="0"/>
          </a:p>
        </p:txBody>
      </p:sp>
      <p:sp>
        <p:nvSpPr>
          <p:cNvPr id="15" name="Text Placeholder 12"/>
          <p:cNvSpPr>
            <a:spLocks noGrp="1"/>
          </p:cNvSpPr>
          <p:nvPr>
            <p:ph type="body" sz="quarter" idx="13" hasCustomPrompt="1"/>
          </p:nvPr>
        </p:nvSpPr>
        <p:spPr>
          <a:xfrm>
            <a:off x="3384361" y="4029075"/>
            <a:ext cx="2514600" cy="1295400"/>
          </a:xfrm>
          <a:prstGeom prst="rect">
            <a:avLst/>
          </a:prstGeom>
        </p:spPr>
        <p:txBody>
          <a:bodyPr/>
          <a:lstStyle>
            <a:lvl1pPr>
              <a:buClr>
                <a:srgbClr val="6D8D3B"/>
              </a:buClr>
              <a:defRPr sz="1400"/>
            </a:lvl1pPr>
          </a:lstStyle>
          <a:p>
            <a:pPr lvl="0"/>
            <a:r>
              <a:rPr lang="en-US" dirty="0"/>
              <a:t>Bullet 1</a:t>
            </a:r>
          </a:p>
          <a:p>
            <a:pPr lvl="0"/>
            <a:r>
              <a:rPr lang="en-US" dirty="0"/>
              <a:t>Bullet 2</a:t>
            </a:r>
          </a:p>
          <a:p>
            <a:pPr lvl="0"/>
            <a:r>
              <a:rPr lang="en-US" dirty="0"/>
              <a:t>Bullet 3</a:t>
            </a:r>
          </a:p>
        </p:txBody>
      </p:sp>
      <p:sp>
        <p:nvSpPr>
          <p:cNvPr id="16" name="Picture Placeholder 6"/>
          <p:cNvSpPr>
            <a:spLocks noGrp="1"/>
          </p:cNvSpPr>
          <p:nvPr>
            <p:ph type="pic" sz="quarter" idx="14"/>
          </p:nvPr>
        </p:nvSpPr>
        <p:spPr>
          <a:xfrm>
            <a:off x="6133721" y="1743075"/>
            <a:ext cx="2514600" cy="2133600"/>
          </a:xfrm>
          <a:prstGeom prst="rect">
            <a:avLst/>
          </a:prstGeom>
        </p:spPr>
        <p:txBody>
          <a:bodyPr/>
          <a:lstStyle>
            <a:lvl1pPr algn="ctr">
              <a:buFontTx/>
              <a:buNone/>
              <a:defRPr sz="1800">
                <a:solidFill>
                  <a:srgbClr val="005596"/>
                </a:solidFill>
              </a:defRPr>
            </a:lvl1pPr>
          </a:lstStyle>
          <a:p>
            <a:endParaRPr lang="en-US" dirty="0"/>
          </a:p>
        </p:txBody>
      </p:sp>
      <p:sp>
        <p:nvSpPr>
          <p:cNvPr id="18" name="Text Placeholder 12"/>
          <p:cNvSpPr>
            <a:spLocks noGrp="1"/>
          </p:cNvSpPr>
          <p:nvPr>
            <p:ph type="body" sz="quarter" idx="15" hasCustomPrompt="1"/>
          </p:nvPr>
        </p:nvSpPr>
        <p:spPr>
          <a:xfrm>
            <a:off x="6133721" y="4029075"/>
            <a:ext cx="2514600" cy="1295400"/>
          </a:xfrm>
          <a:prstGeom prst="rect">
            <a:avLst/>
          </a:prstGeom>
        </p:spPr>
        <p:txBody>
          <a:bodyPr/>
          <a:lstStyle>
            <a:lvl1pPr>
              <a:buClr>
                <a:srgbClr val="6D8D3B"/>
              </a:buClr>
              <a:defRPr sz="1400"/>
            </a:lvl1pPr>
          </a:lstStyle>
          <a:p>
            <a:pPr lvl="0"/>
            <a:r>
              <a:rPr lang="en-US" dirty="0"/>
              <a:t>Bullet 1</a:t>
            </a:r>
          </a:p>
          <a:p>
            <a:pPr lvl="0"/>
            <a:r>
              <a:rPr lang="en-US" dirty="0"/>
              <a:t>Bullet 2</a:t>
            </a:r>
          </a:p>
          <a:p>
            <a:pPr lvl="0"/>
            <a:r>
              <a:rPr lang="en-US" dirty="0"/>
              <a:t>Bullet 3</a:t>
            </a:r>
          </a:p>
        </p:txBody>
      </p:sp>
      <p:sp>
        <p:nvSpPr>
          <p:cNvPr id="20" name="Text Placeholder 19"/>
          <p:cNvSpPr>
            <a:spLocks noGrp="1"/>
          </p:cNvSpPr>
          <p:nvPr>
            <p:ph type="body" sz="quarter" idx="16" hasCustomPrompt="1"/>
          </p:nvPr>
        </p:nvSpPr>
        <p:spPr>
          <a:xfrm>
            <a:off x="590359" y="1295400"/>
            <a:ext cx="2514600" cy="381000"/>
          </a:xfrm>
          <a:prstGeom prst="rect">
            <a:avLst/>
          </a:prstGeom>
        </p:spPr>
        <p:txBody>
          <a:bodyPr/>
          <a:lstStyle>
            <a:lvl1pPr algn="ctr">
              <a:buFontTx/>
              <a:buNone/>
              <a:defRPr sz="1800" b="1" baseline="0">
                <a:solidFill>
                  <a:srgbClr val="005596"/>
                </a:solidFill>
              </a:defRPr>
            </a:lvl1pPr>
            <a:lvl2pPr>
              <a:defRPr sz="1800">
                <a:solidFill>
                  <a:srgbClr val="005596"/>
                </a:solidFill>
              </a:defRPr>
            </a:lvl2pPr>
          </a:lstStyle>
          <a:p>
            <a:pPr lvl="0"/>
            <a:r>
              <a:rPr lang="en-US" dirty="0"/>
              <a:t>Photo Title</a:t>
            </a:r>
          </a:p>
        </p:txBody>
      </p:sp>
      <p:sp>
        <p:nvSpPr>
          <p:cNvPr id="21" name="Text Placeholder 19"/>
          <p:cNvSpPr>
            <a:spLocks noGrp="1"/>
          </p:cNvSpPr>
          <p:nvPr>
            <p:ph type="body" sz="quarter" idx="17" hasCustomPrompt="1"/>
          </p:nvPr>
        </p:nvSpPr>
        <p:spPr>
          <a:xfrm>
            <a:off x="3384361" y="1295400"/>
            <a:ext cx="2514600" cy="381000"/>
          </a:xfrm>
          <a:prstGeom prst="rect">
            <a:avLst/>
          </a:prstGeom>
        </p:spPr>
        <p:txBody>
          <a:bodyPr/>
          <a:lstStyle>
            <a:lvl1pPr algn="ctr">
              <a:buFontTx/>
              <a:buNone/>
              <a:defRPr sz="1800" b="1" baseline="0">
                <a:solidFill>
                  <a:srgbClr val="005596"/>
                </a:solidFill>
              </a:defRPr>
            </a:lvl1pPr>
            <a:lvl2pPr>
              <a:defRPr sz="1800">
                <a:solidFill>
                  <a:srgbClr val="005596"/>
                </a:solidFill>
              </a:defRPr>
            </a:lvl2pPr>
          </a:lstStyle>
          <a:p>
            <a:pPr lvl="0"/>
            <a:r>
              <a:rPr lang="en-US" dirty="0"/>
              <a:t>Photo Title</a:t>
            </a:r>
          </a:p>
        </p:txBody>
      </p:sp>
      <p:sp>
        <p:nvSpPr>
          <p:cNvPr id="22" name="Text Placeholder 19"/>
          <p:cNvSpPr>
            <a:spLocks noGrp="1"/>
          </p:cNvSpPr>
          <p:nvPr>
            <p:ph type="body" sz="quarter" idx="18" hasCustomPrompt="1"/>
          </p:nvPr>
        </p:nvSpPr>
        <p:spPr>
          <a:xfrm>
            <a:off x="6133721" y="1295400"/>
            <a:ext cx="2514600" cy="381000"/>
          </a:xfrm>
          <a:prstGeom prst="rect">
            <a:avLst/>
          </a:prstGeom>
        </p:spPr>
        <p:txBody>
          <a:bodyPr/>
          <a:lstStyle>
            <a:lvl1pPr algn="ctr">
              <a:buFontTx/>
              <a:buNone/>
              <a:defRPr sz="1800" b="1" baseline="0">
                <a:solidFill>
                  <a:srgbClr val="005596"/>
                </a:solidFill>
              </a:defRPr>
            </a:lvl1pPr>
            <a:lvl2pPr>
              <a:defRPr sz="1800">
                <a:solidFill>
                  <a:srgbClr val="005596"/>
                </a:solidFill>
              </a:defRPr>
            </a:lvl2pPr>
          </a:lstStyle>
          <a:p>
            <a:pPr lvl="0"/>
            <a:r>
              <a:rPr lang="en-US" dirty="0"/>
              <a:t>Photo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s_Content">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7" name="Picture Placeholder 6"/>
          <p:cNvSpPr>
            <a:spLocks noGrp="1"/>
          </p:cNvSpPr>
          <p:nvPr>
            <p:ph type="pic" sz="quarter" idx="10" hasCustomPrompt="1"/>
          </p:nvPr>
        </p:nvSpPr>
        <p:spPr>
          <a:xfrm>
            <a:off x="586296" y="1371600"/>
            <a:ext cx="2514600" cy="2133600"/>
          </a:xfrm>
          <a:prstGeom prst="rect">
            <a:avLst/>
          </a:prstGeom>
        </p:spPr>
        <p:txBody>
          <a:bodyPr/>
          <a:lstStyle>
            <a:lvl1pPr algn="ctr">
              <a:buFontTx/>
              <a:buNone/>
              <a:defRPr sz="1800">
                <a:solidFill>
                  <a:srgbClr val="005596"/>
                </a:solidFill>
              </a:defRPr>
            </a:lvl1pPr>
          </a:lstStyle>
          <a:p>
            <a:r>
              <a:rPr lang="en-US" dirty="0">
                <a:solidFill>
                  <a:srgbClr val="005596"/>
                </a:solidFill>
              </a:rPr>
              <a:t>Photo</a:t>
            </a:r>
            <a:endParaRPr lang="en-US" dirty="0"/>
          </a:p>
        </p:txBody>
      </p:sp>
      <p:sp>
        <p:nvSpPr>
          <p:cNvPr id="13" name="Text Placeholder 12"/>
          <p:cNvSpPr>
            <a:spLocks noGrp="1"/>
          </p:cNvSpPr>
          <p:nvPr>
            <p:ph type="body" sz="quarter" idx="11" hasCustomPrompt="1"/>
          </p:nvPr>
        </p:nvSpPr>
        <p:spPr>
          <a:xfrm>
            <a:off x="3253296" y="1371600"/>
            <a:ext cx="5357304" cy="2133600"/>
          </a:xfrm>
          <a:prstGeom prst="rect">
            <a:avLst/>
          </a:prstGeom>
        </p:spPr>
        <p:txBody>
          <a:bodyPr/>
          <a:lstStyle>
            <a:lvl1pPr>
              <a:buClr>
                <a:srgbClr val="6D8D3B"/>
              </a:buClr>
              <a:defRPr sz="1800"/>
            </a:lvl1pPr>
          </a:lstStyle>
          <a:p>
            <a:pPr lvl="0"/>
            <a:r>
              <a:rPr lang="en-US" dirty="0"/>
              <a:t>Bullet 1</a:t>
            </a:r>
          </a:p>
          <a:p>
            <a:pPr lvl="0"/>
            <a:r>
              <a:rPr lang="en-US" dirty="0"/>
              <a:t>Bullet 2</a:t>
            </a:r>
          </a:p>
          <a:p>
            <a:pPr lvl="0"/>
            <a:r>
              <a:rPr lang="en-US" dirty="0"/>
              <a:t>Bullet 3</a:t>
            </a:r>
          </a:p>
        </p:txBody>
      </p:sp>
      <p:sp>
        <p:nvSpPr>
          <p:cNvPr id="12" name="Line 11"/>
          <p:cNvSpPr>
            <a:spLocks noChangeShapeType="1"/>
          </p:cNvSpPr>
          <p:nvPr userDrawn="1"/>
        </p:nvSpPr>
        <p:spPr bwMode="gray">
          <a:xfrm>
            <a:off x="390553" y="7129466"/>
            <a:ext cx="8153400" cy="14287"/>
          </a:xfrm>
          <a:prstGeom prst="line">
            <a:avLst/>
          </a:prstGeom>
          <a:noFill/>
          <a:ln w="6350">
            <a:solidFill>
              <a:schemeClr val="bg1">
                <a:lumMod val="50000"/>
              </a:schemeClr>
            </a:solidFill>
            <a:prstDash val="sysDot"/>
            <a:round/>
            <a:headEnd/>
            <a:tailEnd/>
          </a:ln>
        </p:spPr>
        <p:txBody>
          <a:bodyPr/>
          <a:lstStyle/>
          <a:p>
            <a:pPr>
              <a:defRPr/>
            </a:pPr>
            <a:endParaRPr lang="en-US" dirty="0">
              <a:solidFill>
                <a:prstClr val="black"/>
              </a:solidFill>
              <a:latin typeface="+mn-lt"/>
              <a:cs typeface="Arial" pitchFamily="34" charset="0"/>
            </a:endParaRPr>
          </a:p>
        </p:txBody>
      </p:sp>
      <p:sp>
        <p:nvSpPr>
          <p:cNvPr id="17" name="Line 11"/>
          <p:cNvSpPr>
            <a:spLocks noChangeShapeType="1"/>
          </p:cNvSpPr>
          <p:nvPr userDrawn="1"/>
        </p:nvSpPr>
        <p:spPr bwMode="gray">
          <a:xfrm>
            <a:off x="500063" y="3810000"/>
            <a:ext cx="8153400" cy="14287"/>
          </a:xfrm>
          <a:prstGeom prst="line">
            <a:avLst/>
          </a:prstGeom>
          <a:noFill/>
          <a:ln w="6350">
            <a:solidFill>
              <a:schemeClr val="bg1">
                <a:lumMod val="50000"/>
              </a:schemeClr>
            </a:solidFill>
            <a:prstDash val="sysDot"/>
            <a:round/>
            <a:headEnd/>
            <a:tailEnd/>
          </a:ln>
        </p:spPr>
        <p:txBody>
          <a:bodyPr/>
          <a:lstStyle/>
          <a:p>
            <a:pPr>
              <a:defRPr/>
            </a:pPr>
            <a:endParaRPr lang="en-US" dirty="0">
              <a:solidFill>
                <a:prstClr val="black"/>
              </a:solidFill>
              <a:latin typeface="+mn-lt"/>
              <a:cs typeface="Arial" pitchFamily="34" charset="0"/>
            </a:endParaRPr>
          </a:p>
        </p:txBody>
      </p:sp>
      <p:sp>
        <p:nvSpPr>
          <p:cNvPr id="20" name="Picture Placeholder 6"/>
          <p:cNvSpPr>
            <a:spLocks noGrp="1"/>
          </p:cNvSpPr>
          <p:nvPr>
            <p:ph type="pic" sz="quarter" idx="12" hasCustomPrompt="1"/>
          </p:nvPr>
        </p:nvSpPr>
        <p:spPr>
          <a:xfrm>
            <a:off x="586296" y="3962400"/>
            <a:ext cx="2514600" cy="2133600"/>
          </a:xfrm>
          <a:prstGeom prst="rect">
            <a:avLst/>
          </a:prstGeom>
        </p:spPr>
        <p:txBody>
          <a:bodyPr/>
          <a:lstStyle>
            <a:lvl1pPr algn="ctr">
              <a:buFontTx/>
              <a:buNone/>
              <a:defRPr sz="1800">
                <a:solidFill>
                  <a:srgbClr val="005596"/>
                </a:solidFill>
              </a:defRPr>
            </a:lvl1pPr>
          </a:lstStyle>
          <a:p>
            <a:r>
              <a:rPr lang="en-US" dirty="0">
                <a:solidFill>
                  <a:srgbClr val="005596"/>
                </a:solidFill>
              </a:rPr>
              <a:t>Photo</a:t>
            </a:r>
            <a:endParaRPr lang="en-US" dirty="0"/>
          </a:p>
        </p:txBody>
      </p:sp>
      <p:sp>
        <p:nvSpPr>
          <p:cNvPr id="23" name="Text Placeholder 12"/>
          <p:cNvSpPr>
            <a:spLocks noGrp="1"/>
          </p:cNvSpPr>
          <p:nvPr>
            <p:ph type="body" sz="quarter" idx="13" hasCustomPrompt="1"/>
          </p:nvPr>
        </p:nvSpPr>
        <p:spPr>
          <a:xfrm>
            <a:off x="3253296" y="3962400"/>
            <a:ext cx="5357304" cy="2133600"/>
          </a:xfrm>
          <a:prstGeom prst="rect">
            <a:avLst/>
          </a:prstGeom>
        </p:spPr>
        <p:txBody>
          <a:bodyPr/>
          <a:lstStyle>
            <a:lvl1pPr>
              <a:buClr>
                <a:srgbClr val="6D8D3B"/>
              </a:buClr>
              <a:buNone/>
              <a:defRPr sz="1800"/>
            </a:lvl1pPr>
          </a:lstStyle>
          <a:p>
            <a:pPr lvl="0"/>
            <a:r>
              <a:rPr lang="en-US" dirty="0"/>
              <a:t>Text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e Chart">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17" name="Text Placeholder 16"/>
          <p:cNvSpPr>
            <a:spLocks noGrp="1"/>
          </p:cNvSpPr>
          <p:nvPr>
            <p:ph type="body" sz="quarter" idx="12" hasCustomPrompt="1"/>
          </p:nvPr>
        </p:nvSpPr>
        <p:spPr>
          <a:xfrm>
            <a:off x="457200" y="990600"/>
            <a:ext cx="8229600" cy="304800"/>
          </a:xfrm>
          <a:prstGeom prst="rect">
            <a:avLst/>
          </a:prstGeom>
        </p:spPr>
        <p:txBody>
          <a:bodyPr/>
          <a:lstStyle>
            <a:lvl1pPr>
              <a:buNone/>
              <a:defRPr sz="1800" b="1">
                <a:solidFill>
                  <a:schemeClr val="tx1"/>
                </a:solidFill>
              </a:defRPr>
            </a:lvl1pPr>
            <a:lvl2pPr>
              <a:buFont typeface="Arial" pitchFamily="34" charset="0"/>
              <a:buChar char="•"/>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Content Headline</a:t>
            </a:r>
          </a:p>
        </p:txBody>
      </p:sp>
      <p:sp>
        <p:nvSpPr>
          <p:cNvPr id="10" name="Text Placeholder 9"/>
          <p:cNvSpPr>
            <a:spLocks noGrp="1"/>
          </p:cNvSpPr>
          <p:nvPr>
            <p:ph type="body" sz="quarter" idx="13" hasCustomPrompt="1"/>
          </p:nvPr>
        </p:nvSpPr>
        <p:spPr>
          <a:xfrm>
            <a:off x="457200" y="1371600"/>
            <a:ext cx="2286000" cy="914400"/>
          </a:xfrm>
          <a:prstGeom prst="rect">
            <a:avLst/>
          </a:prstGeom>
        </p:spPr>
        <p:txBody>
          <a:bodyPr/>
          <a:lstStyle>
            <a:lvl1pPr>
              <a:buFontTx/>
              <a:buNone/>
              <a:defRPr sz="1800" b="1">
                <a:solidFill>
                  <a:srgbClr val="6D8D3B"/>
                </a:solidFill>
              </a:defRPr>
            </a:lvl1pPr>
            <a:lvl2pPr>
              <a:buFont typeface="Arial" pitchFamily="34" charset="0"/>
              <a:buChar char="•"/>
              <a:defRPr sz="1800"/>
            </a:lvl2pPr>
          </a:lstStyle>
          <a:p>
            <a:pPr lvl="0"/>
            <a:r>
              <a:rPr lang="en-US" dirty="0"/>
              <a:t>Subhead 1</a:t>
            </a:r>
          </a:p>
          <a:p>
            <a:pPr lvl="1"/>
            <a:r>
              <a:rPr lang="en-US" dirty="0"/>
              <a:t>Bullet 1</a:t>
            </a:r>
          </a:p>
          <a:p>
            <a:pPr lvl="1"/>
            <a:r>
              <a:rPr lang="en-US" dirty="0"/>
              <a:t>Bullet 2</a:t>
            </a:r>
          </a:p>
          <a:p>
            <a:pPr lvl="0"/>
            <a:endParaRPr lang="en-US" dirty="0"/>
          </a:p>
          <a:p>
            <a:pPr lvl="1"/>
            <a:endParaRPr lang="en-US" dirty="0"/>
          </a:p>
        </p:txBody>
      </p:sp>
      <p:graphicFrame>
        <p:nvGraphicFramePr>
          <p:cNvPr id="6" name="Chart 5"/>
          <p:cNvGraphicFramePr/>
          <p:nvPr userDrawn="1"/>
        </p:nvGraphicFramePr>
        <p:xfrm>
          <a:off x="2895600" y="1524000"/>
          <a:ext cx="5181600" cy="36068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r Chart">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17" name="Text Placeholder 16"/>
          <p:cNvSpPr>
            <a:spLocks noGrp="1"/>
          </p:cNvSpPr>
          <p:nvPr>
            <p:ph type="body" sz="quarter" idx="12" hasCustomPrompt="1"/>
          </p:nvPr>
        </p:nvSpPr>
        <p:spPr>
          <a:xfrm>
            <a:off x="457200" y="990600"/>
            <a:ext cx="8229600" cy="304800"/>
          </a:xfrm>
          <a:prstGeom prst="rect">
            <a:avLst/>
          </a:prstGeom>
        </p:spPr>
        <p:txBody>
          <a:bodyPr/>
          <a:lstStyle>
            <a:lvl1pPr>
              <a:buNone/>
              <a:defRPr sz="1800" b="1">
                <a:solidFill>
                  <a:schemeClr val="tx1"/>
                </a:solidFill>
              </a:defRPr>
            </a:lvl1pPr>
            <a:lvl2pPr>
              <a:buFont typeface="Arial" pitchFamily="34" charset="0"/>
              <a:buChar char="•"/>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Content Headline</a:t>
            </a:r>
          </a:p>
        </p:txBody>
      </p:sp>
      <p:graphicFrame>
        <p:nvGraphicFramePr>
          <p:cNvPr id="6" name="Chart 5"/>
          <p:cNvGraphicFramePr/>
          <p:nvPr userDrawn="1"/>
        </p:nvGraphicFramePr>
        <p:xfrm>
          <a:off x="762000" y="1524000"/>
          <a:ext cx="7543800" cy="4191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5" name="Slide Number Placeholder 14"/>
          <p:cNvSpPr txBox="1">
            <a:spLocks/>
          </p:cNvSpPr>
          <p:nvPr userDrawn="1"/>
        </p:nvSpPr>
        <p:spPr>
          <a:xfrm>
            <a:off x="457200" y="632460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D8CBEB-32F4-4143-9ECF-D9190BE988F1}" type="slidenum">
              <a:rPr kumimoji="0" lang="en-US" sz="10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itle 8"/>
          <p:cNvSpPr>
            <a:spLocks noGrp="1"/>
          </p:cNvSpPr>
          <p:nvPr>
            <p:ph type="title"/>
          </p:nvPr>
        </p:nvSpPr>
        <p:spPr>
          <a:xfrm>
            <a:off x="457200" y="533400"/>
            <a:ext cx="8229600" cy="533400"/>
          </a:xfrm>
          <a:prstGeom prst="rect">
            <a:avLst/>
          </a:prstGeom>
        </p:spPr>
        <p:txBody>
          <a:bodyPr/>
          <a:lstStyle>
            <a:lvl1pPr>
              <a:defRPr sz="1600" cap="all" baseline="0"/>
            </a:lvl1pPr>
          </a:lstStyle>
          <a:p>
            <a:r>
              <a:rPr lang="en-US" dirty="0"/>
              <a:t>Click to edit Master title style</a:t>
            </a:r>
          </a:p>
        </p:txBody>
      </p:sp>
      <p:sp>
        <p:nvSpPr>
          <p:cNvPr id="17" name="Text Placeholder 16"/>
          <p:cNvSpPr>
            <a:spLocks noGrp="1"/>
          </p:cNvSpPr>
          <p:nvPr>
            <p:ph type="body" sz="quarter" idx="12" hasCustomPrompt="1"/>
          </p:nvPr>
        </p:nvSpPr>
        <p:spPr>
          <a:xfrm>
            <a:off x="457200" y="990600"/>
            <a:ext cx="8229600" cy="304800"/>
          </a:xfrm>
          <a:prstGeom prst="rect">
            <a:avLst/>
          </a:prstGeom>
        </p:spPr>
        <p:txBody>
          <a:bodyPr/>
          <a:lstStyle>
            <a:lvl1pPr>
              <a:buNone/>
              <a:defRPr sz="1800" b="1">
                <a:solidFill>
                  <a:schemeClr val="tx1"/>
                </a:solidFill>
              </a:defRPr>
            </a:lvl1pPr>
            <a:lvl2pPr>
              <a:buFont typeface="Arial" pitchFamily="34" charset="0"/>
              <a:buChar char="•"/>
              <a:defRPr sz="1800" baseline="0"/>
            </a:lvl2pPr>
            <a:lvl3pPr>
              <a:buFont typeface="Arial" pitchFamily="34" charset="0"/>
              <a:buChar char="•"/>
              <a:defRPr sz="1600"/>
            </a:lvl3pPr>
            <a:lvl4pPr>
              <a:buFont typeface="Arial" pitchFamily="34" charset="0"/>
              <a:buChar char="•"/>
              <a:defRPr sz="1400"/>
            </a:lvl4pPr>
            <a:lvl5pPr>
              <a:buFont typeface="Arial" pitchFamily="34" charset="0"/>
              <a:buChar char="•"/>
              <a:defRPr sz="1200"/>
            </a:lvl5pPr>
          </a:lstStyle>
          <a:p>
            <a:pPr lvl="0"/>
            <a:r>
              <a:rPr lang="en-US" dirty="0"/>
              <a:t>Content Headline</a:t>
            </a:r>
          </a:p>
        </p:txBody>
      </p:sp>
      <p:sp>
        <p:nvSpPr>
          <p:cNvPr id="8" name="Table Placeholder 7"/>
          <p:cNvSpPr>
            <a:spLocks noGrp="1"/>
          </p:cNvSpPr>
          <p:nvPr>
            <p:ph type="tbl" sz="quarter" idx="13"/>
          </p:nvPr>
        </p:nvSpPr>
        <p:spPr>
          <a:xfrm>
            <a:off x="533400" y="1676400"/>
            <a:ext cx="8077200" cy="4267200"/>
          </a:xfrm>
          <a:prstGeom prst="rect">
            <a:avLst/>
          </a:prstGeom>
        </p:spPr>
        <p:txBody>
          <a:bodyPr/>
          <a:lstStyle>
            <a:lvl1pPr>
              <a:buFontTx/>
              <a:buNone/>
              <a:defRPr/>
            </a:lvl1pPr>
          </a:lstStyle>
          <a:p>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itle 1"/>
          <p:cNvSpPr txBox="1">
            <a:spLocks/>
          </p:cNvSpPr>
          <p:nvPr/>
        </p:nvSpPr>
        <p:spPr>
          <a:xfrm>
            <a:off x="469900" y="455613"/>
            <a:ext cx="8140700" cy="382587"/>
          </a:xfrm>
          <a:prstGeom prst="rect">
            <a:avLst/>
          </a:prstGeom>
        </p:spPr>
        <p:txBody>
          <a:bodyPr/>
          <a:lstStyle>
            <a:lvl1pPr algn="l" rtl="0" fontAlgn="base">
              <a:spcBef>
                <a:spcPct val="0"/>
              </a:spcBef>
              <a:spcAft>
                <a:spcPct val="0"/>
              </a:spcAft>
              <a:defRPr sz="2800">
                <a:solidFill>
                  <a:schemeClr val="tx1"/>
                </a:solidFill>
                <a:latin typeface="+mj-lt"/>
                <a:ea typeface="+mj-ea"/>
                <a:cs typeface="+mj-cs"/>
              </a:defRPr>
            </a:lvl1pPr>
            <a:lvl2pPr algn="l" rtl="0" fontAlgn="base">
              <a:spcBef>
                <a:spcPct val="0"/>
              </a:spcBef>
              <a:spcAft>
                <a:spcPct val="0"/>
              </a:spcAft>
              <a:defRPr sz="2800">
                <a:solidFill>
                  <a:schemeClr val="tx2"/>
                </a:solidFill>
                <a:latin typeface="Arial" pitchFamily="34" charset="0"/>
              </a:defRPr>
            </a:lvl2pPr>
            <a:lvl3pPr algn="l" rtl="0" fontAlgn="base">
              <a:spcBef>
                <a:spcPct val="0"/>
              </a:spcBef>
              <a:spcAft>
                <a:spcPct val="0"/>
              </a:spcAft>
              <a:defRPr sz="2800">
                <a:solidFill>
                  <a:schemeClr val="tx2"/>
                </a:solidFill>
                <a:latin typeface="Arial" pitchFamily="34" charset="0"/>
              </a:defRPr>
            </a:lvl3pPr>
            <a:lvl4pPr algn="l" rtl="0" fontAlgn="base">
              <a:spcBef>
                <a:spcPct val="0"/>
              </a:spcBef>
              <a:spcAft>
                <a:spcPct val="0"/>
              </a:spcAft>
              <a:defRPr sz="2800">
                <a:solidFill>
                  <a:schemeClr val="tx2"/>
                </a:solidFill>
                <a:latin typeface="Arial" pitchFamily="34" charset="0"/>
              </a:defRPr>
            </a:lvl4pPr>
            <a:lvl5pPr algn="l" rtl="0" fontAlgn="base">
              <a:spcBef>
                <a:spcPct val="0"/>
              </a:spcBef>
              <a:spcAft>
                <a:spcPct val="0"/>
              </a:spcAft>
              <a:defRPr sz="2800">
                <a:solidFill>
                  <a:schemeClr val="tx2"/>
                </a:solidFill>
                <a:latin typeface="Arial" pitchFamily="34" charset="0"/>
              </a:defRPr>
            </a:lvl5pPr>
            <a:lvl6pPr marL="457200" algn="l" rtl="0" eaLnBrk="1" fontAlgn="base" hangingPunct="1">
              <a:spcBef>
                <a:spcPct val="0"/>
              </a:spcBef>
              <a:spcAft>
                <a:spcPct val="0"/>
              </a:spcAft>
              <a:defRPr sz="2800">
                <a:solidFill>
                  <a:schemeClr val="tx2"/>
                </a:solidFill>
                <a:latin typeface="Arial" pitchFamily="34" charset="0"/>
              </a:defRPr>
            </a:lvl6pPr>
            <a:lvl7pPr marL="914400" algn="l" rtl="0" eaLnBrk="1" fontAlgn="base" hangingPunct="1">
              <a:spcBef>
                <a:spcPct val="0"/>
              </a:spcBef>
              <a:spcAft>
                <a:spcPct val="0"/>
              </a:spcAft>
              <a:defRPr sz="2800">
                <a:solidFill>
                  <a:schemeClr val="tx2"/>
                </a:solidFill>
                <a:latin typeface="Arial" pitchFamily="34" charset="0"/>
              </a:defRPr>
            </a:lvl7pPr>
            <a:lvl8pPr marL="1371600" algn="l" rtl="0" eaLnBrk="1" fontAlgn="base" hangingPunct="1">
              <a:spcBef>
                <a:spcPct val="0"/>
              </a:spcBef>
              <a:spcAft>
                <a:spcPct val="0"/>
              </a:spcAft>
              <a:defRPr sz="2800">
                <a:solidFill>
                  <a:schemeClr val="tx2"/>
                </a:solidFill>
                <a:latin typeface="Arial" pitchFamily="34" charset="0"/>
              </a:defRPr>
            </a:lvl8pPr>
            <a:lvl9pPr marL="1828800" algn="l" rtl="0" eaLnBrk="1" fontAlgn="base" hangingPunct="1">
              <a:spcBef>
                <a:spcPct val="0"/>
              </a:spcBef>
              <a:spcAft>
                <a:spcPct val="0"/>
              </a:spcAft>
              <a:defRPr sz="2800">
                <a:solidFill>
                  <a:schemeClr val="tx2"/>
                </a:solidFill>
                <a:latin typeface="Arial" pitchFamily="34" charset="0"/>
              </a:defRPr>
            </a:lvl9pPr>
          </a:lstStyle>
          <a:p>
            <a:pPr>
              <a:defRPr/>
            </a:pPr>
            <a:endParaRPr lang="en-US" sz="1600" dirty="0">
              <a:solidFill>
                <a:prstClr val="black"/>
              </a:solidFill>
            </a:endParaRPr>
          </a:p>
        </p:txBody>
      </p:sp>
      <p:cxnSp>
        <p:nvCxnSpPr>
          <p:cNvPr id="8" name="Straight Connector 7"/>
          <p:cNvCxnSpPr/>
          <p:nvPr userDrawn="1"/>
        </p:nvCxnSpPr>
        <p:spPr bwMode="auto">
          <a:xfrm>
            <a:off x="540325" y="457200"/>
            <a:ext cx="8153400" cy="0"/>
          </a:xfrm>
          <a:prstGeom prst="line">
            <a:avLst/>
          </a:prstGeom>
          <a:solidFill>
            <a:schemeClr val="accent1"/>
          </a:solidFill>
          <a:ln w="41275" cap="flat" cmpd="sng" algn="ctr">
            <a:solidFill>
              <a:srgbClr val="005596"/>
            </a:solidFill>
            <a:prstDash val="solid"/>
            <a:round/>
            <a:headEnd type="none" w="med" len="med"/>
            <a:tailEnd type="none" w="med" len="med"/>
          </a:ln>
          <a:effectLst/>
        </p:spPr>
      </p:cxnSp>
      <p:cxnSp>
        <p:nvCxnSpPr>
          <p:cNvPr id="11" name="Straight Connector 10"/>
          <p:cNvCxnSpPr/>
          <p:nvPr userDrawn="1"/>
        </p:nvCxnSpPr>
        <p:spPr bwMode="auto">
          <a:xfrm>
            <a:off x="502725" y="6324600"/>
            <a:ext cx="8236525" cy="0"/>
          </a:xfrm>
          <a:prstGeom prst="line">
            <a:avLst/>
          </a:prstGeom>
          <a:solidFill>
            <a:schemeClr val="accent1"/>
          </a:solidFill>
          <a:ln w="41275" cap="flat" cmpd="sng" algn="ctr">
            <a:solidFill>
              <a:srgbClr val="6D8D3B"/>
            </a:solidFill>
            <a:prstDash val="solid"/>
            <a:round/>
            <a:headEnd type="none" w="med" len="med"/>
            <a:tailEnd type="none" w="med" len="med"/>
          </a:ln>
          <a:effectLst/>
        </p:spPr>
      </p:cxnSp>
      <p:sp>
        <p:nvSpPr>
          <p:cNvPr id="15" name="Slide Number Placeholder 14"/>
          <p:cNvSpPr>
            <a:spLocks noGrp="1"/>
          </p:cNvSpPr>
          <p:nvPr>
            <p:ph type="sldNum" sz="quarter" idx="4"/>
          </p:nvPr>
        </p:nvSpPr>
        <p:spPr>
          <a:xfrm>
            <a:off x="457200" y="6356350"/>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D8CBEB-32F4-4143-9ECF-D9190BE988F1}" type="slidenum">
              <a:rPr lang="en-US" smtClean="0"/>
              <a:pPr/>
              <a:t>‹#›</a:t>
            </a:fld>
            <a:endParaRPr lang="en-US" dirty="0"/>
          </a:p>
        </p:txBody>
      </p:sp>
      <p:pic>
        <p:nvPicPr>
          <p:cNvPr id="2050" name="Picture 2" descr="C:\Users\cadresch\Desktop\REFERENCE\Logos_Swatches\Cliffs Logos\CCI Lockup Logos\CLIFFS_Lock-up_RGB_8-10.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7608716" y="6400800"/>
            <a:ext cx="1130534" cy="28733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62" r:id="rId3"/>
    <p:sldLayoutId id="2147483675" r:id="rId4"/>
    <p:sldLayoutId id="2147483676" r:id="rId5"/>
    <p:sldLayoutId id="2147483677" r:id="rId6"/>
    <p:sldLayoutId id="2147483678" r:id="rId7"/>
    <p:sldLayoutId id="2147483679" r:id="rId8"/>
  </p:sldLayoutIdLst>
  <p:hf hdr="0" ftr="0" dt="0"/>
  <p:txStyles>
    <p:titleStyle>
      <a:lvl1pPr algn="l" rtl="0" eaLnBrk="0" fontAlgn="base" hangingPunct="0">
        <a:spcBef>
          <a:spcPct val="0"/>
        </a:spcBef>
        <a:spcAft>
          <a:spcPct val="0"/>
        </a:spcAft>
        <a:defRPr sz="2800">
          <a:solidFill>
            <a:schemeClr val="tx2"/>
          </a:solidFill>
          <a:latin typeface="+mj-lt"/>
          <a:ea typeface="+mj-ea"/>
          <a:cs typeface="+mj-cs"/>
        </a:defRPr>
      </a:lvl1pPr>
      <a:lvl2pPr algn="l" rtl="0" eaLnBrk="0" fontAlgn="base" hangingPunct="0">
        <a:spcBef>
          <a:spcPct val="0"/>
        </a:spcBef>
        <a:spcAft>
          <a:spcPct val="0"/>
        </a:spcAft>
        <a:defRPr sz="2800">
          <a:solidFill>
            <a:schemeClr val="tx2"/>
          </a:solidFill>
          <a:latin typeface="Arial" pitchFamily="34" charset="0"/>
        </a:defRPr>
      </a:lvl2pPr>
      <a:lvl3pPr algn="l" rtl="0" eaLnBrk="0" fontAlgn="base" hangingPunct="0">
        <a:spcBef>
          <a:spcPct val="0"/>
        </a:spcBef>
        <a:spcAft>
          <a:spcPct val="0"/>
        </a:spcAft>
        <a:defRPr sz="2800">
          <a:solidFill>
            <a:schemeClr val="tx2"/>
          </a:solidFill>
          <a:latin typeface="Arial" pitchFamily="34" charset="0"/>
        </a:defRPr>
      </a:lvl3pPr>
      <a:lvl4pPr algn="l" rtl="0" eaLnBrk="0" fontAlgn="base" hangingPunct="0">
        <a:spcBef>
          <a:spcPct val="0"/>
        </a:spcBef>
        <a:spcAft>
          <a:spcPct val="0"/>
        </a:spcAft>
        <a:defRPr sz="2800">
          <a:solidFill>
            <a:schemeClr val="tx2"/>
          </a:solidFill>
          <a:latin typeface="Arial" pitchFamily="34" charset="0"/>
        </a:defRPr>
      </a:lvl4pPr>
      <a:lvl5pPr algn="l" rtl="0" eaLnBrk="0" fontAlgn="base" hangingPunct="0">
        <a:spcBef>
          <a:spcPct val="0"/>
        </a:spcBef>
        <a:spcAft>
          <a:spcPct val="0"/>
        </a:spcAft>
        <a:defRPr sz="2800">
          <a:solidFill>
            <a:schemeClr val="tx2"/>
          </a:solidFill>
          <a:latin typeface="Arial" pitchFamily="34" charset="0"/>
        </a:defRPr>
      </a:lvl5pPr>
      <a:lvl6pPr marL="457200" algn="l" rtl="0" eaLnBrk="1" fontAlgn="base" hangingPunct="1">
        <a:spcBef>
          <a:spcPct val="0"/>
        </a:spcBef>
        <a:spcAft>
          <a:spcPct val="0"/>
        </a:spcAft>
        <a:defRPr sz="2800">
          <a:solidFill>
            <a:schemeClr val="tx2"/>
          </a:solidFill>
          <a:latin typeface="Arial" pitchFamily="34" charset="0"/>
        </a:defRPr>
      </a:lvl6pPr>
      <a:lvl7pPr marL="914400" algn="l" rtl="0" eaLnBrk="1" fontAlgn="base" hangingPunct="1">
        <a:spcBef>
          <a:spcPct val="0"/>
        </a:spcBef>
        <a:spcAft>
          <a:spcPct val="0"/>
        </a:spcAft>
        <a:defRPr sz="2800">
          <a:solidFill>
            <a:schemeClr val="tx2"/>
          </a:solidFill>
          <a:latin typeface="Arial" pitchFamily="34" charset="0"/>
        </a:defRPr>
      </a:lvl7pPr>
      <a:lvl8pPr marL="1371600" algn="l" rtl="0" eaLnBrk="1" fontAlgn="base" hangingPunct="1">
        <a:spcBef>
          <a:spcPct val="0"/>
        </a:spcBef>
        <a:spcAft>
          <a:spcPct val="0"/>
        </a:spcAft>
        <a:defRPr sz="2800">
          <a:solidFill>
            <a:schemeClr val="tx2"/>
          </a:solidFill>
          <a:latin typeface="Arial" pitchFamily="34" charset="0"/>
        </a:defRPr>
      </a:lvl8pPr>
      <a:lvl9pPr marL="1828800" algn="l" rtl="0" eaLnBrk="1" fontAlgn="base" hangingPunct="1">
        <a:spcBef>
          <a:spcPct val="0"/>
        </a:spcBef>
        <a:spcAft>
          <a:spcPct val="0"/>
        </a:spcAft>
        <a:defRPr sz="2800">
          <a:solidFill>
            <a:schemeClr val="tx2"/>
          </a:solidFill>
          <a:latin typeface="Arial" pitchFamily="34" charset="0"/>
        </a:defRPr>
      </a:lvl9pPr>
    </p:titleStyle>
    <p:bodyStyle>
      <a:lvl1pPr marL="342900" indent="-342900" algn="l" rtl="0" eaLnBrk="0" fontAlgn="base" hangingPunct="0">
        <a:lnSpc>
          <a:spcPct val="90000"/>
        </a:lnSpc>
        <a:spcBef>
          <a:spcPct val="20000"/>
        </a:spcBef>
        <a:spcAft>
          <a:spcPct val="0"/>
        </a:spcAft>
        <a:buChar char="•"/>
        <a:defRPr sz="1600">
          <a:solidFill>
            <a:schemeClr val="tx1"/>
          </a:solidFill>
          <a:latin typeface="+mn-lt"/>
          <a:ea typeface="+mn-ea"/>
          <a:cs typeface="+mn-cs"/>
        </a:defRPr>
      </a:lvl1pPr>
      <a:lvl2pPr marL="288925"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2pPr>
      <a:lvl3pPr marL="684213" indent="-171450"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3pPr>
      <a:lvl4pPr marL="1089025"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4pPr>
      <a:lvl5pPr marL="1484313"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5pPr>
      <a:lvl6pPr marL="19415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6pPr>
      <a:lvl7pPr marL="23987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7pPr>
      <a:lvl8pPr marL="28559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8pPr>
      <a:lvl9pPr marL="33131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3429000"/>
            <a:ext cx="7772400" cy="762000"/>
          </a:xfrm>
          <a:prstGeom prst="rect">
            <a:avLst/>
          </a:prstGeom>
        </p:spPr>
        <p:txBody>
          <a:bodyPr/>
          <a:lstStyle/>
          <a:p>
            <a:pPr algn="ctr"/>
            <a:r>
              <a:rPr lang="en-US" sz="4000" dirty="0"/>
              <a:t>SIF In-depth Investigation </a:t>
            </a:r>
            <a:br>
              <a:rPr lang="en-US" sz="4000" dirty="0"/>
            </a:br>
            <a:r>
              <a:rPr lang="en-US" sz="2800" dirty="0"/>
              <a:t>Indiana Harbor: Near Miss R3 Carrier Beam  10/14/2024</a:t>
            </a:r>
          </a:p>
        </p:txBody>
      </p:sp>
      <p:sp>
        <p:nvSpPr>
          <p:cNvPr id="3" name="TextBox 2">
            <a:extLst>
              <a:ext uri="{FF2B5EF4-FFF2-40B4-BE49-F238E27FC236}">
                <a16:creationId xmlns:a16="http://schemas.microsoft.com/office/drawing/2014/main" id="{526693AD-A0E3-8918-BCAE-08DBA4B5696E}"/>
              </a:ext>
            </a:extLst>
          </p:cNvPr>
          <p:cNvSpPr txBox="1"/>
          <p:nvPr/>
        </p:nvSpPr>
        <p:spPr bwMode="auto">
          <a:xfrm>
            <a:off x="533400" y="5749334"/>
            <a:ext cx="2209800" cy="430887"/>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nSpc>
                <a:spcPct val="90000"/>
              </a:lnSpc>
              <a:spcBef>
                <a:spcPct val="20000"/>
              </a:spcBef>
            </a:pPr>
            <a:r>
              <a:rPr lang="en-US" sz="1400" i="1" kern="0" dirty="0"/>
              <a:t>Brian Warnock</a:t>
            </a:r>
            <a:endParaRPr lang="en-US" sz="1400" i="1" kern="0" dirty="0">
              <a:latin typeface="+mn-lt"/>
              <a:cs typeface="+mn-cs"/>
            </a:endParaRPr>
          </a:p>
          <a:p>
            <a:pPr>
              <a:lnSpc>
                <a:spcPct val="90000"/>
              </a:lnSpc>
              <a:spcBef>
                <a:spcPct val="20000"/>
              </a:spcBef>
            </a:pPr>
            <a:r>
              <a:rPr lang="en-US" sz="1400" i="1" kern="0" dirty="0"/>
              <a:t>December 6th, 2024</a:t>
            </a:r>
            <a:endParaRPr lang="en-US" dirty="0">
              <a:cs typeface="+mn-cs"/>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869" y="123333"/>
            <a:ext cx="8229600" cy="257667"/>
          </a:xfrm>
        </p:spPr>
        <p:txBody>
          <a:bodyPr/>
          <a:lstStyle/>
          <a:p>
            <a:r>
              <a:rPr lang="en-US" dirty="0"/>
              <a:t> SIF Incident Description</a:t>
            </a:r>
            <a:endParaRPr lang="en-US" sz="800" dirty="0"/>
          </a:p>
        </p:txBody>
      </p:sp>
      <p:sp>
        <p:nvSpPr>
          <p:cNvPr id="12" name="Text Placeholder 11">
            <a:extLst>
              <a:ext uri="{FF2B5EF4-FFF2-40B4-BE49-F238E27FC236}">
                <a16:creationId xmlns:a16="http://schemas.microsoft.com/office/drawing/2014/main" id="{7861042A-5B43-5D09-73C6-67CFD72689C3}"/>
              </a:ext>
            </a:extLst>
          </p:cNvPr>
          <p:cNvSpPr>
            <a:spLocks noGrp="1"/>
          </p:cNvSpPr>
          <p:nvPr>
            <p:ph type="body" sz="quarter" idx="11"/>
          </p:nvPr>
        </p:nvSpPr>
        <p:spPr>
          <a:xfrm>
            <a:off x="533400" y="554771"/>
            <a:ext cx="8084414" cy="871585"/>
          </a:xfrm>
        </p:spPr>
        <p:txBody>
          <a:bodyPr/>
          <a:lstStyle/>
          <a:p>
            <a:pPr marL="0" indent="0">
              <a:spcBef>
                <a:spcPts val="900"/>
              </a:spcBef>
              <a:buNone/>
            </a:pPr>
            <a:r>
              <a:rPr lang="en-US" sz="1400" b="0" i="0" dirty="0">
                <a:solidFill>
                  <a:srgbClr val="000000"/>
                </a:solidFill>
                <a:effectLst/>
                <a:latin typeface="arial" panose="020B0604020202020204" pitchFamily="34" charset="0"/>
              </a:rPr>
              <a:t>At approximately 13:03, R3 Delivery Carrier Beam (with designed keeper still installed) fell into the R3 Mill Pit onto the sled and scaffold platform. No Team members were working in the pit at the time. However, several contractor employees were working in the pit throughout the morning</a:t>
            </a:r>
            <a:r>
              <a:rPr lang="en-US" dirty="0">
                <a:solidFill>
                  <a:srgbClr val="000000"/>
                </a:solidFill>
                <a:latin typeface="arial" panose="020B0604020202020204" pitchFamily="34" charset="0"/>
              </a:rPr>
              <a:t> in preparation for the removal and replacement of the </a:t>
            </a:r>
            <a:r>
              <a:rPr lang="en-US" dirty="0"/>
              <a:t>R3 Stripper Guide Box change </a:t>
            </a:r>
            <a:r>
              <a:rPr lang="en-US" dirty="0">
                <a:solidFill>
                  <a:srgbClr val="000000"/>
                </a:solidFill>
                <a:latin typeface="arial" panose="020B0604020202020204" pitchFamily="34" charset="0"/>
              </a:rPr>
              <a:t>out.  </a:t>
            </a:r>
          </a:p>
          <a:p>
            <a:pPr marL="0" indent="0">
              <a:spcBef>
                <a:spcPts val="900"/>
              </a:spcBef>
              <a:buNone/>
            </a:pPr>
            <a:endParaRPr lang="en-US" sz="1400" dirty="0">
              <a:solidFill>
                <a:srgbClr val="000000"/>
              </a:solidFill>
              <a:latin typeface="arial" panose="020B0604020202020204" pitchFamily="34" charset="0"/>
            </a:endParaRPr>
          </a:p>
        </p:txBody>
      </p:sp>
      <p:sp>
        <p:nvSpPr>
          <p:cNvPr id="15" name="TextBox 14">
            <a:extLst>
              <a:ext uri="{FF2B5EF4-FFF2-40B4-BE49-F238E27FC236}">
                <a16:creationId xmlns:a16="http://schemas.microsoft.com/office/drawing/2014/main" id="{C5D59223-5CED-E77F-9C9F-0DEF45F4D8F2}"/>
              </a:ext>
            </a:extLst>
          </p:cNvPr>
          <p:cNvSpPr txBox="1"/>
          <p:nvPr/>
        </p:nvSpPr>
        <p:spPr bwMode="auto">
          <a:xfrm>
            <a:off x="4227412" y="5706621"/>
            <a:ext cx="2307918" cy="498598"/>
          </a:xfrm>
          <a:prstGeom prst="rect">
            <a:avLst/>
          </a:prstGeom>
          <a:solidFill>
            <a:schemeClr val="bg1"/>
          </a:solidFill>
          <a:ln w="19050">
            <a:solidFill>
              <a:schemeClr val="tx2"/>
            </a:solidFill>
            <a:miter lim="800000"/>
            <a:headEnd/>
            <a:tailEnd/>
          </a:ln>
        </p:spPr>
        <p:txBody>
          <a:bodyPr vert="horz" wrap="square" lIns="0" tIns="0" rIns="0" bIns="0" numCol="1" rtlCol="0" anchor="t" anchorCtr="0" compatLnSpc="1">
            <a:prstTxWarp prst="textNoShape">
              <a:avLst/>
            </a:prstTxWarp>
            <a:spAutoFit/>
          </a:bodyPr>
          <a:lstStyle/>
          <a:p>
            <a:pPr algn="ctr">
              <a:lnSpc>
                <a:spcPct val="90000"/>
              </a:lnSpc>
              <a:spcBef>
                <a:spcPct val="20000"/>
              </a:spcBef>
            </a:pPr>
            <a:r>
              <a:rPr lang="en-US" sz="1200" b="1" kern="0" dirty="0">
                <a:solidFill>
                  <a:schemeClr val="tx2"/>
                </a:solidFill>
                <a:latin typeface="+mn-lt"/>
                <a:cs typeface="+mn-cs"/>
              </a:rPr>
              <a:t>R3 Carrier Beam Inside Back Up Pit with Keeper Stil</a:t>
            </a:r>
            <a:r>
              <a:rPr lang="en-US" sz="1200" b="1" kern="0" dirty="0">
                <a:solidFill>
                  <a:schemeClr val="tx2"/>
                </a:solidFill>
              </a:rPr>
              <a:t>l Installed</a:t>
            </a:r>
            <a:r>
              <a:rPr lang="en-US" sz="1200" b="1" kern="0" dirty="0">
                <a:solidFill>
                  <a:schemeClr val="tx2"/>
                </a:solidFill>
                <a:latin typeface="+mn-lt"/>
                <a:cs typeface="+mn-cs"/>
              </a:rPr>
              <a:t> on Link Arm</a:t>
            </a: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5058975" y="2339449"/>
            <a:ext cx="3657600" cy="2743200"/>
          </a:xfrm>
          <a:prstGeom prst="rect">
            <a:avLst/>
          </a:prstGeom>
          <a:ln w="38100">
            <a:solidFill>
              <a:srgbClr val="005596"/>
            </a:solidFill>
          </a:ln>
        </p:spPr>
      </p:pic>
      <p:sp>
        <p:nvSpPr>
          <p:cNvPr id="18" name="Oval 17">
            <a:extLst>
              <a:ext uri="{FF2B5EF4-FFF2-40B4-BE49-F238E27FC236}">
                <a16:creationId xmlns:a16="http://schemas.microsoft.com/office/drawing/2014/main" id="{E4915262-E9EE-98A9-73EA-7E85D052DDBB}"/>
              </a:ext>
            </a:extLst>
          </p:cNvPr>
          <p:cNvSpPr/>
          <p:nvPr/>
        </p:nvSpPr>
        <p:spPr bwMode="auto">
          <a:xfrm>
            <a:off x="6997037" y="2907013"/>
            <a:ext cx="664622" cy="154747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19" name="Picture 2">
            <a:extLst>
              <a:ext uri="{FF2B5EF4-FFF2-40B4-BE49-F238E27FC236}">
                <a16:creationId xmlns:a16="http://schemas.microsoft.com/office/drawing/2014/main" id="{5FB6CB98-A74F-8942-366C-360B9A0119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2018351" y="2339449"/>
            <a:ext cx="3657600" cy="2743200"/>
          </a:xfrm>
          <a:prstGeom prst="rect">
            <a:avLst/>
          </a:prstGeom>
          <a:noFill/>
          <a:ln w="28575">
            <a:solidFill>
              <a:srgbClr val="6D8D3B"/>
            </a:solidFill>
          </a:ln>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3FD52047-CFC8-B4E9-9C11-4AC45EEB610F}"/>
              </a:ext>
            </a:extLst>
          </p:cNvPr>
          <p:cNvCxnSpPr>
            <a:cxnSpLocks/>
          </p:cNvCxnSpPr>
          <p:nvPr/>
        </p:nvCxnSpPr>
        <p:spPr bwMode="auto">
          <a:xfrm flipH="1" flipV="1">
            <a:off x="3860355" y="4419600"/>
            <a:ext cx="1104691" cy="1287021"/>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21" name="Oval 20">
            <a:extLst>
              <a:ext uri="{FF2B5EF4-FFF2-40B4-BE49-F238E27FC236}">
                <a16:creationId xmlns:a16="http://schemas.microsoft.com/office/drawing/2014/main" id="{70B96334-21FE-47C8-3B10-F0F4F728231F}"/>
              </a:ext>
            </a:extLst>
          </p:cNvPr>
          <p:cNvSpPr/>
          <p:nvPr/>
        </p:nvSpPr>
        <p:spPr bwMode="auto">
          <a:xfrm>
            <a:off x="3223540" y="2870026"/>
            <a:ext cx="766219" cy="200778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cxnSp>
        <p:nvCxnSpPr>
          <p:cNvPr id="22" name="Straight Arrow Connector 21">
            <a:extLst>
              <a:ext uri="{FF2B5EF4-FFF2-40B4-BE49-F238E27FC236}">
                <a16:creationId xmlns:a16="http://schemas.microsoft.com/office/drawing/2014/main" id="{3FD52047-CFC8-B4E9-9C11-4AC45EEB610F}"/>
              </a:ext>
            </a:extLst>
          </p:cNvPr>
          <p:cNvCxnSpPr>
            <a:cxnSpLocks/>
          </p:cNvCxnSpPr>
          <p:nvPr/>
        </p:nvCxnSpPr>
        <p:spPr bwMode="auto">
          <a:xfrm flipV="1">
            <a:off x="6172200" y="3873919"/>
            <a:ext cx="1202134" cy="1832702"/>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pic>
        <p:nvPicPr>
          <p:cNvPr id="26" name="Picture 25"/>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97675" y="1752600"/>
            <a:ext cx="1280160" cy="1280160"/>
          </a:xfrm>
          <a:prstGeom prst="rect">
            <a:avLst/>
          </a:prstGeom>
        </p:spPr>
      </p:pic>
    </p:spTree>
    <p:custDataLst>
      <p:tags r:id="rId1"/>
    </p:custDataLst>
    <p:extLst>
      <p:ext uri="{BB962C8B-B14F-4D97-AF65-F5344CB8AC3E}">
        <p14:creationId xmlns:p14="http://schemas.microsoft.com/office/powerpoint/2010/main" val="3641892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783" y="142652"/>
            <a:ext cx="8229600" cy="324292"/>
          </a:xfrm>
        </p:spPr>
        <p:txBody>
          <a:bodyPr/>
          <a:lstStyle/>
          <a:p>
            <a:r>
              <a:rPr lang="en-US" dirty="0"/>
              <a:t>Key findings from in-depth investigation</a:t>
            </a:r>
            <a:endParaRPr lang="en-US" sz="800" dirty="0"/>
          </a:p>
        </p:txBody>
      </p:sp>
      <p:sp>
        <p:nvSpPr>
          <p:cNvPr id="15" name="TextBox 14">
            <a:extLst>
              <a:ext uri="{FF2B5EF4-FFF2-40B4-BE49-F238E27FC236}">
                <a16:creationId xmlns:a16="http://schemas.microsoft.com/office/drawing/2014/main" id="{7775D49A-EB3D-43B0-BB66-8CBDFB244A4B}"/>
              </a:ext>
            </a:extLst>
          </p:cNvPr>
          <p:cNvSpPr txBox="1"/>
          <p:nvPr/>
        </p:nvSpPr>
        <p:spPr bwMode="auto">
          <a:xfrm>
            <a:off x="497983" y="1447800"/>
            <a:ext cx="8077200" cy="838691"/>
          </a:xfrm>
          <a:prstGeom prst="rect">
            <a:avLst/>
          </a:prstGeom>
          <a:noFill/>
          <a:ln w="9525">
            <a:noFill/>
            <a:miter lim="800000"/>
            <a:headEnd/>
            <a:tailEnd/>
          </a:ln>
        </p:spPr>
        <p:txBody>
          <a:bodyPr wrap="square">
            <a:spAutoFit/>
          </a:bodyPr>
          <a:lstStyle/>
          <a:p>
            <a:pPr marL="742950" lvl="1" indent="-285750" eaLnBrk="0" hangingPunct="0">
              <a:spcAft>
                <a:spcPts val="300"/>
              </a:spcAft>
              <a:buClr>
                <a:srgbClr val="6D8D3B"/>
              </a:buClr>
              <a:buFont typeface="Arial" panose="020B0604020202020204" pitchFamily="34" charset="0"/>
              <a:buChar char="•"/>
            </a:pPr>
            <a:endParaRPr lang="en-US" sz="1500" dirty="0">
              <a:solidFill>
                <a:srgbClr val="005596"/>
              </a:solidFill>
              <a:latin typeface="Arial" panose="020B0604020202020204" pitchFamily="34" charset="0"/>
              <a:cs typeface="Arial" panose="020B0604020202020204" pitchFamily="34" charset="0"/>
            </a:endParaRPr>
          </a:p>
          <a:p>
            <a:pPr eaLnBrk="0" hangingPunct="0"/>
            <a:endParaRPr lang="en-US" sz="1600" b="1" dirty="0">
              <a:solidFill>
                <a:srgbClr val="005596"/>
              </a:solidFill>
              <a:latin typeface="Arial" panose="020B0604020202020204" pitchFamily="34" charset="0"/>
              <a:cs typeface="Arial" panose="020B0604020202020204" pitchFamily="34" charset="0"/>
            </a:endParaRPr>
          </a:p>
          <a:p>
            <a:pPr lvl="1" eaLnBrk="0" hangingPunct="0">
              <a:spcAft>
                <a:spcPts val="300"/>
              </a:spcAft>
              <a:buClr>
                <a:srgbClr val="6D8D3B"/>
              </a:buClr>
            </a:pPr>
            <a:endParaRPr lang="en-US" sz="1500" dirty="0">
              <a:solidFill>
                <a:srgbClr val="005596"/>
              </a:solidFill>
              <a:latin typeface="Arial" panose="020B0604020202020204" pitchFamily="34" charset="0"/>
              <a:cs typeface="Arial" panose="020B0604020202020204" pitchFamily="34" charset="0"/>
            </a:endParaRPr>
          </a:p>
        </p:txBody>
      </p:sp>
      <p:sp>
        <p:nvSpPr>
          <p:cNvPr id="6" name="Text Placeholder 11">
            <a:extLst>
              <a:ext uri="{FF2B5EF4-FFF2-40B4-BE49-F238E27FC236}">
                <a16:creationId xmlns:a16="http://schemas.microsoft.com/office/drawing/2014/main" id="{0051ED15-F4CE-CEAD-00E8-EF790C3FE22B}"/>
              </a:ext>
            </a:extLst>
          </p:cNvPr>
          <p:cNvSpPr txBox="1">
            <a:spLocks/>
          </p:cNvSpPr>
          <p:nvPr/>
        </p:nvSpPr>
        <p:spPr>
          <a:xfrm>
            <a:off x="304800" y="469864"/>
            <a:ext cx="8700980" cy="5778536"/>
          </a:xfrm>
          <a:prstGeom prst="rect">
            <a:avLst/>
          </a:prstGeom>
        </p:spPr>
        <p:txBody>
          <a:bodyPr/>
          <a:lstStyle>
            <a:lvl1pPr marL="342900" indent="-342900" algn="l" rtl="0" eaLnBrk="0" fontAlgn="base" hangingPunct="0">
              <a:lnSpc>
                <a:spcPct val="90000"/>
              </a:lnSpc>
              <a:spcBef>
                <a:spcPct val="20000"/>
              </a:spcBef>
              <a:spcAft>
                <a:spcPct val="0"/>
              </a:spcAft>
              <a:buChar char="•"/>
              <a:defRPr sz="1600">
                <a:solidFill>
                  <a:schemeClr val="tx1"/>
                </a:solidFill>
                <a:latin typeface="+mn-lt"/>
                <a:ea typeface="+mn-ea"/>
                <a:cs typeface="+mn-cs"/>
              </a:defRPr>
            </a:lvl1pPr>
            <a:lvl2pPr marL="288925"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2pPr>
            <a:lvl3pPr marL="684213" indent="-171450"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3pPr>
            <a:lvl4pPr marL="1089025"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4pPr>
            <a:lvl5pPr marL="1484313" indent="-173038" algn="l" rtl="0" eaLnBrk="0" fontAlgn="base" hangingPunct="0">
              <a:lnSpc>
                <a:spcPct val="90000"/>
              </a:lnSpc>
              <a:spcBef>
                <a:spcPct val="20000"/>
              </a:spcBef>
              <a:spcAft>
                <a:spcPct val="0"/>
              </a:spcAft>
              <a:buClr>
                <a:srgbClr val="6D8D3A"/>
              </a:buClr>
              <a:buFont typeface="Wingdings" pitchFamily="2" charset="2"/>
              <a:buChar char="§"/>
              <a:defRPr sz="1200">
                <a:solidFill>
                  <a:schemeClr val="tx1"/>
                </a:solidFill>
                <a:latin typeface="+mn-lt"/>
              </a:defRPr>
            </a:lvl5pPr>
            <a:lvl6pPr marL="19415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6pPr>
            <a:lvl7pPr marL="23987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7pPr>
            <a:lvl8pPr marL="28559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8pPr>
            <a:lvl9pPr marL="3313113" indent="-173038" algn="l" rtl="0" eaLnBrk="1" fontAlgn="base" hangingPunct="1">
              <a:lnSpc>
                <a:spcPct val="90000"/>
              </a:lnSpc>
              <a:spcBef>
                <a:spcPct val="20000"/>
              </a:spcBef>
              <a:spcAft>
                <a:spcPct val="0"/>
              </a:spcAft>
              <a:buClr>
                <a:srgbClr val="6D8D3A"/>
              </a:buClr>
              <a:buFont typeface="Wingdings" pitchFamily="2" charset="2"/>
              <a:buChar char="§"/>
              <a:defRPr sz="1200">
                <a:solidFill>
                  <a:schemeClr val="tx1"/>
                </a:solidFill>
                <a:latin typeface="+mn-lt"/>
              </a:defRPr>
            </a:lvl9pPr>
          </a:lstStyle>
          <a:p>
            <a:pPr lvl="1">
              <a:lnSpc>
                <a:spcPct val="150000"/>
              </a:lnSpc>
            </a:pPr>
            <a:r>
              <a:rPr lang="en-US" sz="1400" dirty="0"/>
              <a:t>R3 Backup Rolls were removed from the mill stand on the previous turn for the outage work at R3.  </a:t>
            </a:r>
          </a:p>
          <a:p>
            <a:pPr lvl="1">
              <a:lnSpc>
                <a:spcPct val="150000"/>
              </a:lnSpc>
            </a:pPr>
            <a:r>
              <a:rPr lang="en-US" sz="1400" dirty="0"/>
              <a:t>R3 Top Backup Roll Balance was isolated at the valve stand and left in the fully raised position to allow for clearance for the Stripper Guide Box changeout prior to the planned work. The R3 Top Roll Balance was able to move above the normal stop position when the Backup Rolls are installed. </a:t>
            </a:r>
          </a:p>
          <a:p>
            <a:pPr lvl="1">
              <a:lnSpc>
                <a:spcPct val="150000"/>
              </a:lnSpc>
            </a:pPr>
            <a:r>
              <a:rPr lang="en-US" sz="1400" dirty="0"/>
              <a:t>The B Hydraulic System was shutdown and isolated for a separate planned job after the above R3 Stripper Guide Box work had commenced.  The hydraulic isolation valve at the R3 valve stand is believed to have been slowly bleeding through allowing the cylinder fluid to vacate the pipe back through the feed to the valve due to the system being shutdown.</a:t>
            </a:r>
          </a:p>
          <a:p>
            <a:pPr lvl="1">
              <a:lnSpc>
                <a:spcPct val="150000"/>
              </a:lnSpc>
            </a:pPr>
            <a:r>
              <a:rPr lang="en-US" sz="1400" dirty="0"/>
              <a:t>Upon video review of the incident, the Delivery Roll Balance Carrier Beam was hung up in the mill window housing due to being wedged against the top mill spreader and mill posts and the yoke unknowingly drifted down over the course of two hours.</a:t>
            </a:r>
          </a:p>
          <a:p>
            <a:pPr lvl="1">
              <a:lnSpc>
                <a:spcPct val="150000"/>
              </a:lnSpc>
            </a:pPr>
            <a:r>
              <a:rPr lang="en-US" sz="1400" dirty="0"/>
              <a:t>The Carrier Beam and Link Arm were forced away from the Mill Center Line allowing the link arm stop to clear the cylinder lifting point (Yoke). The yoke </a:t>
            </a:r>
            <a:r>
              <a:rPr lang="en-US" sz="1400" kern="0" dirty="0">
                <a:solidFill>
                  <a:srgbClr val="000000"/>
                </a:solidFill>
                <a:latin typeface="arial" panose="020B0604020202020204" pitchFamily="34" charset="0"/>
              </a:rPr>
              <a:t>drifted down but the carrier beam did not. </a:t>
            </a:r>
          </a:p>
          <a:p>
            <a:pPr lvl="1">
              <a:lnSpc>
                <a:spcPct val="150000"/>
              </a:lnSpc>
            </a:pPr>
            <a:r>
              <a:rPr lang="en-US" sz="1400" kern="0" dirty="0">
                <a:solidFill>
                  <a:srgbClr val="000000"/>
                </a:solidFill>
                <a:latin typeface="arial" panose="020B0604020202020204" pitchFamily="34" charset="0"/>
              </a:rPr>
              <a:t>Original mill design only incorporated one keeper installed on each link arm for Roughing Mill Stands.</a:t>
            </a:r>
          </a:p>
          <a:p>
            <a:pPr lvl="1">
              <a:lnSpc>
                <a:spcPct val="150000"/>
              </a:lnSpc>
            </a:pPr>
            <a:r>
              <a:rPr lang="en-US" sz="1400" kern="0" dirty="0">
                <a:solidFill>
                  <a:srgbClr val="000000"/>
                </a:solidFill>
                <a:latin typeface="arial" panose="020B0604020202020204" pitchFamily="34" charset="0"/>
              </a:rPr>
              <a:t>R3 Carrier Beam weighs approximately 8500 lbs. Wear was measured in the components of the link arm and yoke, however, the measurements do not allow for enough clearance for the link arm to dislodge from the yoke under normal operating conditions.</a:t>
            </a:r>
            <a:endParaRPr lang="en-US" sz="1400" kern="0" dirty="0">
              <a:solidFill>
                <a:srgbClr val="FF0000"/>
              </a:solidFill>
              <a:latin typeface="arial" panose="020B0604020202020204" pitchFamily="34" charset="0"/>
            </a:endParaRPr>
          </a:p>
          <a:p>
            <a:pPr marL="115887" lvl="1" indent="0">
              <a:lnSpc>
                <a:spcPct val="150000"/>
              </a:lnSpc>
              <a:buNone/>
            </a:pPr>
            <a:endParaRPr lang="en-US" sz="1600" kern="0" dirty="0">
              <a:solidFill>
                <a:srgbClr val="000000"/>
              </a:solidFill>
              <a:latin typeface="arial" panose="020B0604020202020204" pitchFamily="34" charset="0"/>
            </a:endParaRPr>
          </a:p>
          <a:p>
            <a:pPr marL="115887" lvl="1" indent="0">
              <a:buFont typeface="Wingdings" pitchFamily="2" charset="2"/>
              <a:buNone/>
            </a:pPr>
            <a:endParaRPr lang="en-US" sz="1600" kern="0" dirty="0">
              <a:solidFill>
                <a:srgbClr val="000000"/>
              </a:solidFill>
              <a:latin typeface="arial" panose="020B0604020202020204" pitchFamily="34" charset="0"/>
            </a:endParaRPr>
          </a:p>
          <a:p>
            <a:pPr marL="115887" lvl="1" indent="0">
              <a:buFont typeface="Wingdings" pitchFamily="2" charset="2"/>
              <a:buNone/>
            </a:pPr>
            <a:r>
              <a:rPr lang="en-US" sz="1600" kern="0" dirty="0">
                <a:solidFill>
                  <a:srgbClr val="000000"/>
                </a:solidFill>
                <a:latin typeface="arial" panose="020B0604020202020204" pitchFamily="34" charset="0"/>
              </a:rPr>
              <a:t> </a:t>
            </a:r>
          </a:p>
        </p:txBody>
      </p:sp>
    </p:spTree>
    <p:custDataLst>
      <p:tags r:id="rId1"/>
    </p:custDataLst>
    <p:extLst>
      <p:ext uri="{BB962C8B-B14F-4D97-AF65-F5344CB8AC3E}">
        <p14:creationId xmlns:p14="http://schemas.microsoft.com/office/powerpoint/2010/main" val="309899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C40C-163B-192C-E5EF-88A83DBC8459}"/>
              </a:ext>
            </a:extLst>
          </p:cNvPr>
          <p:cNvSpPr>
            <a:spLocks noGrp="1"/>
          </p:cNvSpPr>
          <p:nvPr>
            <p:ph type="title"/>
          </p:nvPr>
        </p:nvSpPr>
        <p:spPr>
          <a:xfrm>
            <a:off x="440579" y="150629"/>
            <a:ext cx="8229600" cy="381000"/>
          </a:xfrm>
        </p:spPr>
        <p:txBody>
          <a:bodyPr/>
          <a:lstStyle/>
          <a:p>
            <a:r>
              <a:rPr lang="en-US" dirty="0"/>
              <a:t>Key Findings</a:t>
            </a:r>
          </a:p>
        </p:txBody>
      </p:sp>
      <p:pic>
        <p:nvPicPr>
          <p:cNvPr id="4" name="Picture 3">
            <a:extLst>
              <a:ext uri="{FF2B5EF4-FFF2-40B4-BE49-F238E27FC236}">
                <a16:creationId xmlns:a16="http://schemas.microsoft.com/office/drawing/2014/main" id="{D1328E8E-5756-313B-D943-630073B7154D}"/>
              </a:ext>
            </a:extLst>
          </p:cNvPr>
          <p:cNvPicPr>
            <a:picLocks noChangeAspect="1"/>
          </p:cNvPicPr>
          <p:nvPr/>
        </p:nvPicPr>
        <p:blipFill>
          <a:blip r:embed="rId2"/>
          <a:srcRect t="6073"/>
          <a:stretch/>
        </p:blipFill>
        <p:spPr>
          <a:xfrm>
            <a:off x="0" y="956823"/>
            <a:ext cx="8964151" cy="5303520"/>
          </a:xfrm>
          <a:prstGeom prst="rect">
            <a:avLst/>
          </a:prstGeom>
        </p:spPr>
      </p:pic>
      <p:sp>
        <p:nvSpPr>
          <p:cNvPr id="9" name="TextBox 8">
            <a:extLst>
              <a:ext uri="{FF2B5EF4-FFF2-40B4-BE49-F238E27FC236}">
                <a16:creationId xmlns:a16="http://schemas.microsoft.com/office/drawing/2014/main" id="{013B00A6-2CBD-5744-6716-9C59C2DA36A7}"/>
              </a:ext>
            </a:extLst>
          </p:cNvPr>
          <p:cNvSpPr txBox="1"/>
          <p:nvPr/>
        </p:nvSpPr>
        <p:spPr bwMode="auto">
          <a:xfrm>
            <a:off x="1541207" y="614132"/>
            <a:ext cx="6061586" cy="523220"/>
          </a:xfrm>
          <a:prstGeom prst="rect">
            <a:avLst/>
          </a:prstGeom>
          <a:noFill/>
          <a:ln w="9525">
            <a:noFill/>
            <a:miter lim="800000"/>
            <a:headEnd/>
            <a:tailEnd/>
          </a:ln>
        </p:spPr>
        <p:txBody>
          <a:bodyPr wrap="square">
            <a:spAutoFit/>
          </a:bodyPr>
          <a:lstStyle/>
          <a:p>
            <a:pPr algn="ctr"/>
            <a:r>
              <a:rPr kumimoji="0" lang="en-US" sz="2800" b="0" i="0" u="none" strike="noStrike" kern="0" cap="none" spc="0" normalizeH="0" baseline="0" noProof="0" dirty="0">
                <a:ln>
                  <a:noFill/>
                </a:ln>
                <a:solidFill>
                  <a:srgbClr val="005596"/>
                </a:solidFill>
                <a:effectLst/>
                <a:uLnTx/>
                <a:uFillTx/>
                <a:latin typeface="Arial"/>
                <a:ea typeface="+mj-ea"/>
                <a:cs typeface="+mj-cs"/>
              </a:rPr>
              <a:t>Yoke End/Link Arm Clearance </a:t>
            </a:r>
            <a:endParaRPr lang="en-US" dirty="0"/>
          </a:p>
        </p:txBody>
      </p:sp>
    </p:spTree>
    <p:extLst>
      <p:ext uri="{BB962C8B-B14F-4D97-AF65-F5344CB8AC3E}">
        <p14:creationId xmlns:p14="http://schemas.microsoft.com/office/powerpoint/2010/main" val="3036289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3202D-9AE2-A4E7-67AE-701F18BE109A}"/>
              </a:ext>
            </a:extLst>
          </p:cNvPr>
          <p:cNvSpPr>
            <a:spLocks noGrp="1"/>
          </p:cNvSpPr>
          <p:nvPr>
            <p:ph type="title"/>
          </p:nvPr>
        </p:nvSpPr>
        <p:spPr>
          <a:xfrm>
            <a:off x="381000" y="37214"/>
            <a:ext cx="8229600" cy="340193"/>
          </a:xfrm>
        </p:spPr>
        <p:txBody>
          <a:bodyPr/>
          <a:lstStyle/>
          <a:p>
            <a:r>
              <a:rPr lang="en-US" dirty="0"/>
              <a:t>Containment actions</a:t>
            </a:r>
          </a:p>
        </p:txBody>
      </p:sp>
      <p:pic>
        <p:nvPicPr>
          <p:cNvPr id="4" name="Picture 3" descr="A large machine in a room&#10;&#10;Description automatically generated">
            <a:extLst>
              <a:ext uri="{FF2B5EF4-FFF2-40B4-BE49-F238E27FC236}">
                <a16:creationId xmlns:a16="http://schemas.microsoft.com/office/drawing/2014/main" id="{30B003DE-B4DB-5D41-692A-E834484B17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3523" y="975551"/>
            <a:ext cx="3429000" cy="4572000"/>
          </a:xfrm>
          <a:prstGeom prst="rect">
            <a:avLst/>
          </a:prstGeom>
          <a:ln w="28575">
            <a:solidFill>
              <a:srgbClr val="6D8D3B"/>
            </a:solidFill>
          </a:ln>
        </p:spPr>
      </p:pic>
      <p:pic>
        <p:nvPicPr>
          <p:cNvPr id="5" name="Picture 4" descr="A large piece of wood with a hole in the middle&#10;&#10;Description automatically generated">
            <a:extLst>
              <a:ext uri="{FF2B5EF4-FFF2-40B4-BE49-F238E27FC236}">
                <a16:creationId xmlns:a16="http://schemas.microsoft.com/office/drawing/2014/main" id="{2C380878-02FB-B51E-2292-8C1A85669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5507" y="975551"/>
            <a:ext cx="4141961" cy="4572000"/>
          </a:xfrm>
          <a:prstGeom prst="rect">
            <a:avLst/>
          </a:prstGeom>
          <a:ln w="28575">
            <a:solidFill>
              <a:srgbClr val="6D8D3B"/>
            </a:solidFill>
          </a:ln>
        </p:spPr>
      </p:pic>
      <p:sp>
        <p:nvSpPr>
          <p:cNvPr id="8" name="Oval 7">
            <a:extLst>
              <a:ext uri="{FF2B5EF4-FFF2-40B4-BE49-F238E27FC236}">
                <a16:creationId xmlns:a16="http://schemas.microsoft.com/office/drawing/2014/main" id="{0593702D-682D-6EC9-E370-DDEC9EA81E4A}"/>
              </a:ext>
            </a:extLst>
          </p:cNvPr>
          <p:cNvSpPr/>
          <p:nvPr/>
        </p:nvSpPr>
        <p:spPr bwMode="auto">
          <a:xfrm>
            <a:off x="1038274" y="1986207"/>
            <a:ext cx="2743200" cy="2743200"/>
          </a:xfrm>
          <a:prstGeom prst="ellipse">
            <a:avLst/>
          </a:prstGeom>
          <a:noFill/>
          <a:ln w="38100"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9" name="TextBox 8">
            <a:extLst>
              <a:ext uri="{FF2B5EF4-FFF2-40B4-BE49-F238E27FC236}">
                <a16:creationId xmlns:a16="http://schemas.microsoft.com/office/drawing/2014/main" id="{6F07614D-4402-D62D-9D11-9B181FDF42F6}"/>
              </a:ext>
            </a:extLst>
          </p:cNvPr>
          <p:cNvSpPr txBox="1"/>
          <p:nvPr/>
        </p:nvSpPr>
        <p:spPr>
          <a:xfrm>
            <a:off x="443023" y="5777056"/>
            <a:ext cx="3810000" cy="307777"/>
          </a:xfrm>
          <a:prstGeom prst="rect">
            <a:avLst/>
          </a:prstGeom>
          <a:noFill/>
        </p:spPr>
        <p:txBody>
          <a:bodyPr wrap="square" rtlCol="0">
            <a:spAutoFit/>
          </a:bodyPr>
          <a:lstStyle/>
          <a:p>
            <a:pPr algn="ctr"/>
            <a:r>
              <a:rPr lang="en-US" sz="1400" b="1" dirty="0">
                <a:solidFill>
                  <a:srgbClr val="005596"/>
                </a:solidFill>
              </a:rPr>
              <a:t>New R3 Delivery Carrier Beam Installed </a:t>
            </a:r>
          </a:p>
        </p:txBody>
      </p:sp>
      <p:sp>
        <p:nvSpPr>
          <p:cNvPr id="10" name="TextBox 9">
            <a:extLst>
              <a:ext uri="{FF2B5EF4-FFF2-40B4-BE49-F238E27FC236}">
                <a16:creationId xmlns:a16="http://schemas.microsoft.com/office/drawing/2014/main" id="{85E29E6A-AD19-E8A5-8F4C-9F55B7A9E616}"/>
              </a:ext>
            </a:extLst>
          </p:cNvPr>
          <p:cNvSpPr txBox="1"/>
          <p:nvPr/>
        </p:nvSpPr>
        <p:spPr>
          <a:xfrm>
            <a:off x="4449896" y="5669335"/>
            <a:ext cx="4521253" cy="523220"/>
          </a:xfrm>
          <a:prstGeom prst="rect">
            <a:avLst/>
          </a:prstGeom>
          <a:noFill/>
        </p:spPr>
        <p:txBody>
          <a:bodyPr wrap="square" rtlCol="0">
            <a:spAutoFit/>
          </a:bodyPr>
          <a:lstStyle/>
          <a:p>
            <a:pPr algn="ctr"/>
            <a:r>
              <a:rPr lang="en-US" sz="1400" b="1" dirty="0">
                <a:solidFill>
                  <a:srgbClr val="005596"/>
                </a:solidFill>
              </a:rPr>
              <a:t>Additional Keeper welded to Roll Balance Yoke (Cylinder Lifting Point for Carrier Beam)</a:t>
            </a:r>
          </a:p>
        </p:txBody>
      </p:sp>
      <p:sp>
        <p:nvSpPr>
          <p:cNvPr id="11" name="Oval 10">
            <a:extLst>
              <a:ext uri="{FF2B5EF4-FFF2-40B4-BE49-F238E27FC236}">
                <a16:creationId xmlns:a16="http://schemas.microsoft.com/office/drawing/2014/main" id="{A509EBF2-B04B-8DED-E268-19C0A4137331}"/>
              </a:ext>
            </a:extLst>
          </p:cNvPr>
          <p:cNvSpPr/>
          <p:nvPr/>
        </p:nvSpPr>
        <p:spPr bwMode="auto">
          <a:xfrm>
            <a:off x="5519088" y="2254075"/>
            <a:ext cx="2382868" cy="2207463"/>
          </a:xfrm>
          <a:prstGeom prst="ellipse">
            <a:avLst/>
          </a:prstGeom>
          <a:noFill/>
          <a:ln w="38100"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319796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717"/>
            <a:ext cx="8229600" cy="289483"/>
          </a:xfrm>
        </p:spPr>
        <p:txBody>
          <a:bodyPr/>
          <a:lstStyle/>
          <a:p>
            <a:r>
              <a:rPr lang="en-US" dirty="0"/>
              <a:t>Corrective actions / preventive actions</a:t>
            </a:r>
            <a:endParaRPr lang="en-US" sz="800" dirty="0"/>
          </a:p>
        </p:txBody>
      </p:sp>
      <p:sp>
        <p:nvSpPr>
          <p:cNvPr id="15" name="TextBox 14">
            <a:extLst>
              <a:ext uri="{FF2B5EF4-FFF2-40B4-BE49-F238E27FC236}">
                <a16:creationId xmlns:a16="http://schemas.microsoft.com/office/drawing/2014/main" id="{7775D49A-EB3D-43B0-BB66-8CBDFB244A4B}"/>
              </a:ext>
            </a:extLst>
          </p:cNvPr>
          <p:cNvSpPr txBox="1"/>
          <p:nvPr/>
        </p:nvSpPr>
        <p:spPr bwMode="auto">
          <a:xfrm>
            <a:off x="509803" y="1477958"/>
            <a:ext cx="8077200" cy="569387"/>
          </a:xfrm>
          <a:prstGeom prst="rect">
            <a:avLst/>
          </a:prstGeom>
          <a:noFill/>
          <a:ln w="9525">
            <a:noFill/>
            <a:miter lim="800000"/>
            <a:headEnd/>
            <a:tailEnd/>
          </a:ln>
        </p:spPr>
        <p:txBody>
          <a:bodyPr wrap="square">
            <a:spAutoFit/>
          </a:bodyPr>
          <a:lstStyle/>
          <a:p>
            <a:pPr eaLnBrk="0" hangingPunct="0"/>
            <a:endParaRPr lang="en-US" sz="1600" b="1" dirty="0">
              <a:solidFill>
                <a:srgbClr val="005596"/>
              </a:solidFill>
              <a:latin typeface="Arial" panose="020B0604020202020204" pitchFamily="34" charset="0"/>
              <a:cs typeface="Arial" panose="020B0604020202020204" pitchFamily="34" charset="0"/>
            </a:endParaRPr>
          </a:p>
          <a:p>
            <a:pPr lvl="1" eaLnBrk="0" hangingPunct="0">
              <a:spcAft>
                <a:spcPts val="300"/>
              </a:spcAft>
              <a:buClr>
                <a:srgbClr val="6D8D3B"/>
              </a:buClr>
            </a:pPr>
            <a:endParaRPr lang="en-US" sz="1500" dirty="0">
              <a:solidFill>
                <a:srgbClr val="005596"/>
              </a:solidFill>
              <a:latin typeface="Arial" panose="020B0604020202020204" pitchFamily="34" charset="0"/>
              <a:cs typeface="Arial" panose="020B0604020202020204" pitchFamily="34" charset="0"/>
            </a:endParaRPr>
          </a:p>
        </p:txBody>
      </p:sp>
      <p:graphicFrame>
        <p:nvGraphicFramePr>
          <p:cNvPr id="6" name="Content Placeholder 9">
            <a:extLst>
              <a:ext uri="{FF2B5EF4-FFF2-40B4-BE49-F238E27FC236}">
                <a16:creationId xmlns:a16="http://schemas.microsoft.com/office/drawing/2014/main" id="{5B1FAED1-71BD-4C18-BB2F-A864FFF6626B}"/>
              </a:ext>
            </a:extLst>
          </p:cNvPr>
          <p:cNvGraphicFramePr>
            <a:graphicFrameLocks/>
          </p:cNvGraphicFramePr>
          <p:nvPr>
            <p:extLst>
              <p:ext uri="{D42A27DB-BD31-4B8C-83A1-F6EECF244321}">
                <p14:modId xmlns:p14="http://schemas.microsoft.com/office/powerpoint/2010/main" val="1846382024"/>
              </p:ext>
            </p:extLst>
          </p:nvPr>
        </p:nvGraphicFramePr>
        <p:xfrm>
          <a:off x="522208" y="606343"/>
          <a:ext cx="8229601" cy="2964688"/>
        </p:xfrm>
        <a:graphic>
          <a:graphicData uri="http://schemas.openxmlformats.org/drawingml/2006/table">
            <a:tbl>
              <a:tblPr firstRow="1" bandRow="1">
                <a:tableStyleId>{5940675A-B579-460E-94D1-54222C63F5DA}</a:tableStyleId>
              </a:tblPr>
              <a:tblGrid>
                <a:gridCol w="668946">
                  <a:extLst>
                    <a:ext uri="{9D8B030D-6E8A-4147-A177-3AD203B41FA5}">
                      <a16:colId xmlns:a16="http://schemas.microsoft.com/office/drawing/2014/main" val="20000"/>
                    </a:ext>
                  </a:extLst>
                </a:gridCol>
                <a:gridCol w="4784816">
                  <a:extLst>
                    <a:ext uri="{9D8B030D-6E8A-4147-A177-3AD203B41FA5}">
                      <a16:colId xmlns:a16="http://schemas.microsoft.com/office/drawing/2014/main" val="20001"/>
                    </a:ext>
                  </a:extLst>
                </a:gridCol>
                <a:gridCol w="1046836">
                  <a:extLst>
                    <a:ext uri="{9D8B030D-6E8A-4147-A177-3AD203B41FA5}">
                      <a16:colId xmlns:a16="http://schemas.microsoft.com/office/drawing/2014/main" val="20002"/>
                    </a:ext>
                  </a:extLst>
                </a:gridCol>
                <a:gridCol w="1729003">
                  <a:extLst>
                    <a:ext uri="{9D8B030D-6E8A-4147-A177-3AD203B41FA5}">
                      <a16:colId xmlns:a16="http://schemas.microsoft.com/office/drawing/2014/main" val="20003"/>
                    </a:ext>
                  </a:extLst>
                </a:gridCol>
              </a:tblGrid>
              <a:tr h="303709">
                <a:tc gridSpan="4">
                  <a:txBody>
                    <a:bodyPr/>
                    <a:lstStyle/>
                    <a:p>
                      <a:pPr marL="0" algn="l" defTabSz="914400" rtl="0" eaLnBrk="0" latinLnBrk="0" hangingPunct="0">
                        <a:lnSpc>
                          <a:spcPct val="80000"/>
                        </a:lnSpc>
                        <a:spcAft>
                          <a:spcPts val="300"/>
                        </a:spcAft>
                      </a:pPr>
                      <a:r>
                        <a:rPr lang="en-US" sz="1600" b="1" kern="1200" dirty="0">
                          <a:solidFill>
                            <a:srgbClr val="005596"/>
                          </a:solidFill>
                          <a:latin typeface="Arial" panose="020B0604020202020204" pitchFamily="34" charset="0"/>
                          <a:ea typeface="+mn-ea"/>
                          <a:cs typeface="Arial" panose="020B0604020202020204" pitchFamily="34" charset="0"/>
                        </a:rPr>
                        <a:t>Upper Half HOC CAPAs</a:t>
                      </a:r>
                    </a:p>
                  </a:txBody>
                  <a:tcPr marL="0" marR="61079"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lnSpc>
                          <a:spcPct val="80000"/>
                        </a:lnSpc>
                      </a:pPr>
                      <a:endParaRPr lang="en-US" b="1" dirty="0"/>
                    </a:p>
                  </a:txBody>
                  <a:tcPr marL="61078" marR="61078" anchor="ctr"/>
                </a:tc>
                <a:tc hMerge="1">
                  <a:txBody>
                    <a:bodyPr/>
                    <a:lstStyle/>
                    <a:p>
                      <a:pPr algn="ctr">
                        <a:lnSpc>
                          <a:spcPct val="80000"/>
                        </a:lnSpc>
                      </a:pPr>
                      <a:endParaRPr lang="en-US" b="1" dirty="0"/>
                    </a:p>
                  </a:txBody>
                  <a:tcPr marL="61078" marR="61078" anchor="ctr"/>
                </a:tc>
                <a:tc hMerge="1">
                  <a:txBody>
                    <a:bodyPr/>
                    <a:lstStyle/>
                    <a:p>
                      <a:pPr algn="ctr">
                        <a:lnSpc>
                          <a:spcPct val="80000"/>
                        </a:lnSpc>
                      </a:pPr>
                      <a:endParaRPr lang="en-US" b="1" dirty="0"/>
                    </a:p>
                  </a:txBody>
                  <a:tcPr marL="61078" marR="61078" anchor="ctr"/>
                </a:tc>
                <a:extLst>
                  <a:ext uri="{0D108BD9-81ED-4DB2-BD59-A6C34878D82A}">
                    <a16:rowId xmlns:a16="http://schemas.microsoft.com/office/drawing/2014/main" val="10000"/>
                  </a:ext>
                </a:extLst>
              </a:tr>
              <a:tr h="413079">
                <a:tc>
                  <a:txBody>
                    <a:bodyPr/>
                    <a:lstStyle/>
                    <a:p>
                      <a:pPr algn="ctr">
                        <a:lnSpc>
                          <a:spcPct val="70000"/>
                        </a:lnSpc>
                      </a:pPr>
                      <a:r>
                        <a:rPr lang="en-US" sz="1600" b="1" dirty="0"/>
                        <a:t>HOC</a:t>
                      </a:r>
                    </a:p>
                    <a:p>
                      <a:pPr algn="ctr">
                        <a:lnSpc>
                          <a:spcPct val="70000"/>
                        </a:lnSpc>
                      </a:pPr>
                      <a:r>
                        <a:rPr lang="en-US" sz="1600" b="1" dirty="0"/>
                        <a:t>Level</a:t>
                      </a:r>
                    </a:p>
                  </a:txBody>
                  <a:tcPr marL="45720" marR="45720" marT="64008" marB="27432" anchor="ctr"/>
                </a:tc>
                <a:tc>
                  <a:txBody>
                    <a:bodyPr/>
                    <a:lstStyle/>
                    <a:p>
                      <a:pPr algn="ctr">
                        <a:lnSpc>
                          <a:spcPct val="70000"/>
                        </a:lnSpc>
                      </a:pPr>
                      <a:r>
                        <a:rPr lang="en-US" sz="1600" b="1" dirty="0"/>
                        <a:t>Action Description</a:t>
                      </a:r>
                    </a:p>
                  </a:txBody>
                  <a:tcPr marL="45720" marR="45720" marT="64008" marB="27432" anchor="ctr"/>
                </a:tc>
                <a:tc>
                  <a:txBody>
                    <a:bodyPr/>
                    <a:lstStyle/>
                    <a:p>
                      <a:pPr algn="ctr">
                        <a:lnSpc>
                          <a:spcPct val="70000"/>
                        </a:lnSpc>
                      </a:pPr>
                      <a:r>
                        <a:rPr lang="en-US" sz="1600" b="1" dirty="0"/>
                        <a:t>Selected</a:t>
                      </a:r>
                    </a:p>
                  </a:txBody>
                  <a:tcPr marL="45720" marR="45720" marT="64008" marB="27432" anchor="ctr"/>
                </a:tc>
                <a:tc>
                  <a:txBody>
                    <a:bodyPr/>
                    <a:lstStyle/>
                    <a:p>
                      <a:pPr algn="ctr">
                        <a:lnSpc>
                          <a:spcPct val="70000"/>
                        </a:lnSpc>
                      </a:pPr>
                      <a:r>
                        <a:rPr lang="en-US" sz="1600" b="1" dirty="0"/>
                        <a:t>Due Date</a:t>
                      </a:r>
                    </a:p>
                  </a:txBody>
                  <a:tcPr marL="45720" marR="45720" marT="64008" marB="27432" anchor="ctr"/>
                </a:tc>
                <a:extLst>
                  <a:ext uri="{0D108BD9-81ED-4DB2-BD59-A6C34878D82A}">
                    <a16:rowId xmlns:a16="http://schemas.microsoft.com/office/drawing/2014/main" val="10001"/>
                  </a:ext>
                </a:extLst>
              </a:tr>
              <a:tr h="548207">
                <a:tc>
                  <a:txBody>
                    <a:bodyPr/>
                    <a:lstStyle/>
                    <a:p>
                      <a:pPr algn="ctr" rtl="0" fontAlgn="base"/>
                      <a:r>
                        <a:rPr lang="en-US" sz="1400" b="1" i="0" dirty="0">
                          <a:solidFill>
                            <a:srgbClr val="000000"/>
                          </a:solidFill>
                          <a:effectLst/>
                        </a:rPr>
                        <a:t>3</a:t>
                      </a:r>
                    </a:p>
                  </a:txBody>
                  <a:tcPr anchor="ctr"/>
                </a:tc>
                <a:tc>
                  <a:txBody>
                    <a:bodyPr/>
                    <a:lstStyle/>
                    <a:p>
                      <a:pPr marL="0" algn="l" defTabSz="914400" rtl="0" eaLnBrk="1" fontAlgn="base" latinLnBrk="0" hangingPunct="1"/>
                      <a:r>
                        <a:rPr lang="en-US" sz="1400" dirty="0"/>
                        <a:t>Obtain Budgetary Proposal for an Engineering firm to design upgrades and modifications to the existing Top Roll Balance Carrier Beam System to include: Yoke/Link Connection, Link Arm Tie Bar, Top Chock Stops, Roll Balance Bypass &amp; Safety Stop.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B050"/>
                          </a:solidFill>
                          <a:latin typeface="Segoe UI Symbol" panose="020B0502040204020203" pitchFamily="34" charset="0"/>
                          <a:ea typeface="Segoe UI Symbol" panose="020B0502040204020203" pitchFamily="34" charset="0"/>
                        </a:rPr>
                        <a:t>✔</a:t>
                      </a:r>
                      <a:endParaRPr lang="en-US" sz="1400" dirty="0">
                        <a:solidFill>
                          <a:srgbClr val="00B050"/>
                        </a:solidFill>
                      </a:endParaRPr>
                    </a:p>
                  </a:txBody>
                  <a:tcPr marL="45720" marR="45720" marT="18288" marB="18288" anchor="ctr"/>
                </a:tc>
                <a:tc>
                  <a:txBody>
                    <a:bodyPr/>
                    <a:lstStyle/>
                    <a:p>
                      <a:pPr algn="ctr"/>
                      <a:r>
                        <a:rPr lang="en-US" sz="1400" dirty="0"/>
                        <a:t>Completed</a:t>
                      </a:r>
                    </a:p>
                  </a:txBody>
                  <a:tcPr marL="45720" marR="45720" marT="18288" marB="18288" anchor="ctr"/>
                </a:tc>
                <a:extLst>
                  <a:ext uri="{0D108BD9-81ED-4DB2-BD59-A6C34878D82A}">
                    <a16:rowId xmlns:a16="http://schemas.microsoft.com/office/drawing/2014/main" val="3402898705"/>
                  </a:ext>
                </a:extLst>
              </a:tr>
              <a:tr h="548207">
                <a:tc>
                  <a:txBody>
                    <a:bodyPr/>
                    <a:lstStyle/>
                    <a:p>
                      <a:pPr algn="ctr" rtl="0" fontAlgn="base"/>
                      <a:r>
                        <a:rPr lang="en-US" sz="1400" b="1" i="0" dirty="0">
                          <a:solidFill>
                            <a:srgbClr val="000000"/>
                          </a:solidFill>
                          <a:effectLst/>
                        </a:rPr>
                        <a:t>3</a:t>
                      </a:r>
                    </a:p>
                  </a:txBody>
                  <a:tcPr anchor="ctr"/>
                </a:tc>
                <a:tc>
                  <a:txBody>
                    <a:bodyPr/>
                    <a:lstStyle/>
                    <a:p>
                      <a:pPr marL="0" algn="l" defTabSz="914400" rtl="0" eaLnBrk="1" fontAlgn="base" latinLnBrk="0" hangingPunct="1"/>
                      <a:r>
                        <a:rPr lang="en-US" sz="1400" kern="1200" dirty="0">
                          <a:solidFill>
                            <a:schemeClr val="tx1"/>
                          </a:solidFill>
                          <a:latin typeface="+mn-lt"/>
                          <a:ea typeface="+mn-ea"/>
                          <a:cs typeface="+mn-cs"/>
                        </a:rPr>
                        <a:t>Replace R3 hydraulic isolation valves; Test &amp; tryout R1, R2, R4 &amp; R5-Replace if needed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B050"/>
                          </a:solidFill>
                          <a:latin typeface="Segoe UI Symbol" panose="020B0502040204020203" pitchFamily="34" charset="0"/>
                          <a:ea typeface="Segoe UI Symbol" panose="020B0502040204020203" pitchFamily="34" charset="0"/>
                        </a:rPr>
                        <a:t>✔</a:t>
                      </a:r>
                      <a:endParaRPr lang="en-US" sz="1400" dirty="0">
                        <a:solidFill>
                          <a:srgbClr val="00B050"/>
                        </a:solidFill>
                      </a:endParaRPr>
                    </a:p>
                  </a:txBody>
                  <a:tcPr marL="45720" marR="45720" marT="18288" marB="18288" anchor="ctr"/>
                </a:tc>
                <a:tc>
                  <a:txBody>
                    <a:bodyPr/>
                    <a:lstStyle/>
                    <a:p>
                      <a:pPr algn="ctr"/>
                      <a:r>
                        <a:rPr lang="en-US" sz="1400" dirty="0"/>
                        <a:t>Completed</a:t>
                      </a:r>
                    </a:p>
                  </a:txBody>
                  <a:tcPr marL="45720" marR="45720" marT="18288" marB="18288" anchor="ctr"/>
                </a:tc>
                <a:extLst>
                  <a:ext uri="{0D108BD9-81ED-4DB2-BD59-A6C34878D82A}">
                    <a16:rowId xmlns:a16="http://schemas.microsoft.com/office/drawing/2014/main" val="4159017461"/>
                  </a:ext>
                </a:extLst>
              </a:tr>
              <a:tr h="454496">
                <a:tc>
                  <a:txBody>
                    <a:bodyPr/>
                    <a:lstStyle/>
                    <a:p>
                      <a:pPr algn="ctr" rtl="0" fontAlgn="base"/>
                      <a:r>
                        <a:rPr lang="en-US" sz="1400" b="1" i="0" dirty="0">
                          <a:solidFill>
                            <a:srgbClr val="000000"/>
                          </a:solidFill>
                          <a:effectLst/>
                        </a:rPr>
                        <a:t>3</a:t>
                      </a:r>
                    </a:p>
                  </a:txBody>
                  <a:tcPr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dirty="0"/>
                        <a:t>Install additional keepers to roll balance yoke (cylinder lifting point for carrier beam link arm) as containment.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B050"/>
                          </a:solidFill>
                          <a:latin typeface="Segoe UI Symbol" panose="020B0502040204020203" pitchFamily="34" charset="0"/>
                          <a:ea typeface="Segoe UI Symbol" panose="020B0502040204020203" pitchFamily="34" charset="0"/>
                        </a:rPr>
                        <a:t>✔</a:t>
                      </a:r>
                      <a:endParaRPr lang="en-US" sz="1400" dirty="0">
                        <a:solidFill>
                          <a:srgbClr val="00B050"/>
                        </a:solidFill>
                      </a:endParaRPr>
                    </a:p>
                  </a:txBody>
                  <a:tcPr marL="45720" marR="45720" marT="18288" marB="18288" anchor="ctr"/>
                </a:tc>
                <a:tc>
                  <a:txBody>
                    <a:bodyPr/>
                    <a:lstStyle/>
                    <a:p>
                      <a:pPr algn="ctr"/>
                      <a:r>
                        <a:rPr lang="en-US" sz="1400" dirty="0"/>
                        <a:t>Completed</a:t>
                      </a:r>
                    </a:p>
                  </a:txBody>
                  <a:tcPr marL="45720" marR="45720" marT="18288" marB="18288" anchor="ctr"/>
                </a:tc>
                <a:extLst>
                  <a:ext uri="{0D108BD9-81ED-4DB2-BD59-A6C34878D82A}">
                    <a16:rowId xmlns:a16="http://schemas.microsoft.com/office/drawing/2014/main" val="1599363812"/>
                  </a:ext>
                </a:extLst>
              </a:tr>
            </a:tbl>
          </a:graphicData>
        </a:graphic>
      </p:graphicFrame>
      <p:graphicFrame>
        <p:nvGraphicFramePr>
          <p:cNvPr id="3" name="Content Placeholder 9">
            <a:extLst>
              <a:ext uri="{FF2B5EF4-FFF2-40B4-BE49-F238E27FC236}">
                <a16:creationId xmlns:a16="http://schemas.microsoft.com/office/drawing/2014/main" id="{D084821D-ACEF-2F41-791F-FA848E6DD468}"/>
              </a:ext>
            </a:extLst>
          </p:cNvPr>
          <p:cNvGraphicFramePr>
            <a:graphicFrameLocks/>
          </p:cNvGraphicFramePr>
          <p:nvPr>
            <p:extLst>
              <p:ext uri="{D42A27DB-BD31-4B8C-83A1-F6EECF244321}">
                <p14:modId xmlns:p14="http://schemas.microsoft.com/office/powerpoint/2010/main" val="2693620549"/>
              </p:ext>
            </p:extLst>
          </p:nvPr>
        </p:nvGraphicFramePr>
        <p:xfrm>
          <a:off x="522208" y="3732344"/>
          <a:ext cx="8229601" cy="2494788"/>
        </p:xfrm>
        <a:graphic>
          <a:graphicData uri="http://schemas.openxmlformats.org/drawingml/2006/table">
            <a:tbl>
              <a:tblPr firstRow="1" bandRow="1">
                <a:tableStyleId>{5940675A-B579-460E-94D1-54222C63F5DA}</a:tableStyleId>
              </a:tblPr>
              <a:tblGrid>
                <a:gridCol w="668946">
                  <a:extLst>
                    <a:ext uri="{9D8B030D-6E8A-4147-A177-3AD203B41FA5}">
                      <a16:colId xmlns:a16="http://schemas.microsoft.com/office/drawing/2014/main" val="20000"/>
                    </a:ext>
                  </a:extLst>
                </a:gridCol>
                <a:gridCol w="4784816">
                  <a:extLst>
                    <a:ext uri="{9D8B030D-6E8A-4147-A177-3AD203B41FA5}">
                      <a16:colId xmlns:a16="http://schemas.microsoft.com/office/drawing/2014/main" val="20001"/>
                    </a:ext>
                  </a:extLst>
                </a:gridCol>
                <a:gridCol w="1004500">
                  <a:extLst>
                    <a:ext uri="{9D8B030D-6E8A-4147-A177-3AD203B41FA5}">
                      <a16:colId xmlns:a16="http://schemas.microsoft.com/office/drawing/2014/main" val="20002"/>
                    </a:ext>
                  </a:extLst>
                </a:gridCol>
                <a:gridCol w="1771339">
                  <a:extLst>
                    <a:ext uri="{9D8B030D-6E8A-4147-A177-3AD203B41FA5}">
                      <a16:colId xmlns:a16="http://schemas.microsoft.com/office/drawing/2014/main" val="20003"/>
                    </a:ext>
                  </a:extLst>
                </a:gridCol>
              </a:tblGrid>
              <a:tr h="244635">
                <a:tc gridSpan="4">
                  <a:txBody>
                    <a:bodyPr/>
                    <a:lstStyle/>
                    <a:p>
                      <a:pPr marL="0" algn="l" defTabSz="914400" rtl="0" eaLnBrk="0" latinLnBrk="0" hangingPunct="0">
                        <a:lnSpc>
                          <a:spcPct val="80000"/>
                        </a:lnSpc>
                        <a:spcAft>
                          <a:spcPts val="300"/>
                        </a:spcAft>
                      </a:pPr>
                      <a:r>
                        <a:rPr lang="en-US" sz="1600" b="1" kern="1200" dirty="0">
                          <a:solidFill>
                            <a:srgbClr val="005596"/>
                          </a:solidFill>
                          <a:latin typeface="Arial" panose="020B0604020202020204" pitchFamily="34" charset="0"/>
                          <a:ea typeface="+mn-ea"/>
                          <a:cs typeface="Arial" panose="020B0604020202020204" pitchFamily="34" charset="0"/>
                        </a:rPr>
                        <a:t>Lower Half HOC CAPAs</a:t>
                      </a:r>
                    </a:p>
                  </a:txBody>
                  <a:tcPr marL="0" marR="61079"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lnSpc>
                          <a:spcPct val="80000"/>
                        </a:lnSpc>
                      </a:pPr>
                      <a:endParaRPr lang="en-US" b="1" dirty="0"/>
                    </a:p>
                  </a:txBody>
                  <a:tcPr marL="61078" marR="61078" anchor="ctr"/>
                </a:tc>
                <a:tc hMerge="1">
                  <a:txBody>
                    <a:bodyPr/>
                    <a:lstStyle/>
                    <a:p>
                      <a:pPr algn="ctr">
                        <a:lnSpc>
                          <a:spcPct val="80000"/>
                        </a:lnSpc>
                      </a:pPr>
                      <a:endParaRPr lang="en-US" b="1" dirty="0"/>
                    </a:p>
                  </a:txBody>
                  <a:tcPr marL="61078" marR="61078" anchor="ctr"/>
                </a:tc>
                <a:tc hMerge="1">
                  <a:txBody>
                    <a:bodyPr/>
                    <a:lstStyle/>
                    <a:p>
                      <a:pPr algn="ctr">
                        <a:lnSpc>
                          <a:spcPct val="80000"/>
                        </a:lnSpc>
                      </a:pPr>
                      <a:endParaRPr lang="en-US" b="1" dirty="0"/>
                    </a:p>
                  </a:txBody>
                  <a:tcPr marL="61078" marR="61078" anchor="ctr"/>
                </a:tc>
                <a:extLst>
                  <a:ext uri="{0D108BD9-81ED-4DB2-BD59-A6C34878D82A}">
                    <a16:rowId xmlns:a16="http://schemas.microsoft.com/office/drawing/2014/main" val="10000"/>
                  </a:ext>
                </a:extLst>
              </a:tr>
              <a:tr h="414847">
                <a:tc>
                  <a:txBody>
                    <a:bodyPr/>
                    <a:lstStyle/>
                    <a:p>
                      <a:pPr marL="0" algn="ctr" defTabSz="914400" rtl="0" eaLnBrk="1" latinLnBrk="0" hangingPunct="1">
                        <a:lnSpc>
                          <a:spcPct val="70000"/>
                        </a:lnSpc>
                      </a:pPr>
                      <a:r>
                        <a:rPr lang="en-US" sz="1600" b="1" kern="1200" dirty="0">
                          <a:solidFill>
                            <a:schemeClr val="tx1"/>
                          </a:solidFill>
                          <a:latin typeface="+mn-lt"/>
                          <a:ea typeface="+mn-ea"/>
                          <a:cs typeface="+mn-cs"/>
                        </a:rPr>
                        <a:t>HOC</a:t>
                      </a:r>
                    </a:p>
                    <a:p>
                      <a:pPr marL="0" algn="ctr" defTabSz="914400" rtl="0" eaLnBrk="1" latinLnBrk="0" hangingPunct="1">
                        <a:lnSpc>
                          <a:spcPct val="70000"/>
                        </a:lnSpc>
                      </a:pPr>
                      <a:r>
                        <a:rPr lang="en-US" sz="1600" b="1" kern="1200" dirty="0">
                          <a:solidFill>
                            <a:schemeClr val="tx1"/>
                          </a:solidFill>
                          <a:latin typeface="+mn-lt"/>
                          <a:ea typeface="+mn-ea"/>
                          <a:cs typeface="+mn-cs"/>
                        </a:rPr>
                        <a:t>Level</a:t>
                      </a:r>
                    </a:p>
                  </a:txBody>
                  <a:tcPr marL="45720" marR="45720" marT="64008" marB="27432" anchor="ctr"/>
                </a:tc>
                <a:tc>
                  <a:txBody>
                    <a:bodyPr/>
                    <a:lstStyle/>
                    <a:p>
                      <a:pPr algn="ctr">
                        <a:lnSpc>
                          <a:spcPct val="70000"/>
                        </a:lnSpc>
                      </a:pPr>
                      <a:r>
                        <a:rPr lang="en-US" sz="1600" b="1" dirty="0"/>
                        <a:t>Action Description</a:t>
                      </a:r>
                    </a:p>
                  </a:txBody>
                  <a:tcPr marL="45720" marR="45720" marT="64008" marB="27432" anchor="ctr"/>
                </a:tc>
                <a:tc>
                  <a:txBody>
                    <a:bodyPr/>
                    <a:lstStyle/>
                    <a:p>
                      <a:pPr marL="0" algn="ctr" defTabSz="914400" rtl="0" eaLnBrk="1" latinLnBrk="0" hangingPunct="1">
                        <a:lnSpc>
                          <a:spcPct val="70000"/>
                        </a:lnSpc>
                      </a:pPr>
                      <a:r>
                        <a:rPr lang="en-US" sz="1600" b="1" kern="1200" dirty="0">
                          <a:solidFill>
                            <a:schemeClr val="tx1"/>
                          </a:solidFill>
                          <a:latin typeface="+mn-lt"/>
                          <a:ea typeface="+mn-ea"/>
                          <a:cs typeface="+mn-cs"/>
                        </a:rPr>
                        <a:t>Selected</a:t>
                      </a:r>
                    </a:p>
                  </a:txBody>
                  <a:tcPr marL="45720" marR="45720" marT="64008" marB="27432" anchor="ctr"/>
                </a:tc>
                <a:tc>
                  <a:txBody>
                    <a:bodyPr/>
                    <a:lstStyle/>
                    <a:p>
                      <a:pPr marL="0" algn="ctr" defTabSz="914400" rtl="0" eaLnBrk="1" latinLnBrk="0" hangingPunct="1">
                        <a:lnSpc>
                          <a:spcPct val="70000"/>
                        </a:lnSpc>
                      </a:pPr>
                      <a:r>
                        <a:rPr lang="en-US" sz="1600" b="1" kern="1200" dirty="0">
                          <a:solidFill>
                            <a:schemeClr val="tx1"/>
                          </a:solidFill>
                          <a:latin typeface="+mn-lt"/>
                          <a:ea typeface="+mn-ea"/>
                          <a:cs typeface="+mn-cs"/>
                        </a:rPr>
                        <a:t>Due Date</a:t>
                      </a:r>
                    </a:p>
                  </a:txBody>
                  <a:tcPr marL="45720" marR="45720" marT="64008" marB="27432" anchor="ctr"/>
                </a:tc>
                <a:extLst>
                  <a:ext uri="{0D108BD9-81ED-4DB2-BD59-A6C34878D82A}">
                    <a16:rowId xmlns:a16="http://schemas.microsoft.com/office/drawing/2014/main" val="10001"/>
                  </a:ext>
                </a:extLst>
              </a:tr>
              <a:tr h="538480">
                <a:tc>
                  <a:txBody>
                    <a:bodyPr/>
                    <a:lstStyle/>
                    <a:p>
                      <a:pPr marL="0" lvl="0" algn="ctr" defTabSz="914400">
                        <a:buNone/>
                      </a:pPr>
                      <a:r>
                        <a:rPr lang="en-US" sz="1400" b="1" i="0" u="none" strike="noStrike" kern="1200" noProof="0" dirty="0">
                          <a:solidFill>
                            <a:srgbClr val="000000"/>
                          </a:solidFill>
                          <a:latin typeface="Arial"/>
                        </a:rPr>
                        <a:t>2</a:t>
                      </a:r>
                      <a:endParaRPr lang="en-US" dirty="0"/>
                    </a:p>
                  </a:txBody>
                  <a:tcPr anchor="ctr"/>
                </a:tc>
                <a:tc>
                  <a:txBody>
                    <a:bodyPr/>
                    <a:lstStyle/>
                    <a:p>
                      <a:pPr lvl="0" algn="l">
                        <a:lnSpc>
                          <a:spcPct val="100000"/>
                        </a:lnSpc>
                        <a:spcBef>
                          <a:spcPts val="0"/>
                        </a:spcBef>
                        <a:spcAft>
                          <a:spcPts val="0"/>
                        </a:spcAft>
                        <a:buNone/>
                      </a:pPr>
                      <a:r>
                        <a:rPr lang="en-US" sz="1400" b="0" i="0" u="none" strike="noStrike" kern="1200" noProof="0" dirty="0">
                          <a:solidFill>
                            <a:srgbClr val="000000"/>
                          </a:solidFill>
                          <a:latin typeface="Arial"/>
                        </a:rPr>
                        <a:t>Eliminate practice of isolating top roll balance in the upright position without pinning, blocking or cribbing.</a:t>
                      </a:r>
                    </a:p>
                  </a:txBody>
                  <a:tcPr anchor="ctr"/>
                </a:tc>
                <a:tc>
                  <a:txBody>
                    <a:bodyPr/>
                    <a:lstStyle/>
                    <a:p>
                      <a:pPr marL="0" lvl="0" indent="0" algn="ctr" defTabSz="914400">
                        <a:lnSpc>
                          <a:spcPct val="70000"/>
                        </a:lnSpc>
                        <a:spcBef>
                          <a:spcPts val="0"/>
                        </a:spcBef>
                        <a:spcAft>
                          <a:spcPts val="0"/>
                        </a:spcAft>
                        <a:buNone/>
                        <a:tabLst/>
                        <a:defRPr/>
                      </a:pPr>
                      <a:r>
                        <a:rPr lang="en-US" sz="1400" b="0" i="0" u="none" strike="noStrike" noProof="0" dirty="0">
                          <a:solidFill>
                            <a:srgbClr val="00B050"/>
                          </a:solidFill>
                          <a:latin typeface="Segoe UI Symbol"/>
                        </a:rPr>
                        <a:t>✔</a:t>
                      </a:r>
                      <a:endParaRPr lang="en-US" dirty="0"/>
                    </a:p>
                  </a:txBody>
                  <a:tcPr marL="45720" marR="45720" marT="18288" marB="18288" anchor="ctr"/>
                </a:tc>
                <a:tc>
                  <a:txBody>
                    <a:bodyPr/>
                    <a:lstStyle/>
                    <a:p>
                      <a:pPr marL="0" lvl="0" algn="ctr" defTabSz="914400">
                        <a:lnSpc>
                          <a:spcPct val="70000"/>
                        </a:lnSpc>
                        <a:buNone/>
                      </a:pPr>
                      <a:r>
                        <a:rPr lang="en-US" sz="1400" b="0" i="0" u="none" strike="noStrike" kern="1200" noProof="0" dirty="0">
                          <a:solidFill>
                            <a:schemeClr val="tx1"/>
                          </a:solidFill>
                          <a:latin typeface="Arial"/>
                        </a:rPr>
                        <a:t>Completed</a:t>
                      </a:r>
                      <a:endParaRPr lang="en-US" dirty="0"/>
                    </a:p>
                  </a:txBody>
                  <a:tcPr marL="45720" marR="45720" marT="18288" marB="18288" anchor="ctr"/>
                </a:tc>
                <a:extLst>
                  <a:ext uri="{0D108BD9-81ED-4DB2-BD59-A6C34878D82A}">
                    <a16:rowId xmlns:a16="http://schemas.microsoft.com/office/drawing/2014/main" val="3000570504"/>
                  </a:ext>
                </a:extLst>
              </a:tr>
              <a:tr h="538480">
                <a:tc>
                  <a:txBody>
                    <a:bodyPr/>
                    <a:lstStyle/>
                    <a:p>
                      <a:pPr marL="0" algn="ctr" defTabSz="914400" rtl="0" eaLnBrk="1" fontAlgn="base" latinLnBrk="0" hangingPunct="1"/>
                      <a:r>
                        <a:rPr lang="en-US" sz="1400" b="1" kern="1200" dirty="0">
                          <a:solidFill>
                            <a:schemeClr val="tx1"/>
                          </a:solidFill>
                          <a:latin typeface="+mn-lt"/>
                          <a:ea typeface="+mn-ea"/>
                          <a:cs typeface="+mn-cs"/>
                        </a:rPr>
                        <a:t>2</a:t>
                      </a:r>
                    </a:p>
                  </a:txBody>
                  <a:tcPr anchor="ctr"/>
                </a:tc>
                <a:tc>
                  <a:txBody>
                    <a:bodyPr/>
                    <a:lstStyle/>
                    <a:p>
                      <a:pPr marL="0" algn="l" defTabSz="914400" rtl="0" eaLnBrk="1" fontAlgn="base" latinLnBrk="0" hangingPunct="1"/>
                      <a:r>
                        <a:rPr lang="en-US" sz="1400" kern="1200" dirty="0">
                          <a:solidFill>
                            <a:schemeClr val="tx1"/>
                          </a:solidFill>
                          <a:latin typeface="+mn-lt"/>
                          <a:ea typeface="+mn-ea"/>
                          <a:cs typeface="+mn-cs"/>
                        </a:rPr>
                        <a:t>Contact all HSM employees on SIF Incident</a:t>
                      </a:r>
                      <a:r>
                        <a:rPr lang="en-US" sz="1400" kern="1200" baseline="0" dirty="0">
                          <a:solidFill>
                            <a:schemeClr val="tx1"/>
                          </a:solidFill>
                          <a:latin typeface="+mn-lt"/>
                          <a:ea typeface="+mn-ea"/>
                          <a:cs typeface="+mn-cs"/>
                        </a:rPr>
                        <a:t> Review SIB and</a:t>
                      </a:r>
                      <a:r>
                        <a:rPr lang="en-US" sz="1400" kern="1200" dirty="0">
                          <a:solidFill>
                            <a:schemeClr val="tx1"/>
                          </a:solidFill>
                          <a:latin typeface="+mn-lt"/>
                          <a:ea typeface="+mn-ea"/>
                          <a:cs typeface="+mn-cs"/>
                        </a:rPr>
                        <a:t> Lockout/Tryout</a:t>
                      </a:r>
                      <a:r>
                        <a:rPr lang="en-US" sz="1400" kern="1200" baseline="0" dirty="0">
                          <a:solidFill>
                            <a:schemeClr val="tx1"/>
                          </a:solidFill>
                          <a:latin typeface="+mn-lt"/>
                          <a:ea typeface="+mn-ea"/>
                          <a:cs typeface="+mn-cs"/>
                        </a:rPr>
                        <a:t> </a:t>
                      </a:r>
                      <a:r>
                        <a:rPr lang="en-US" sz="1400" kern="1200" dirty="0">
                          <a:solidFill>
                            <a:schemeClr val="tx1"/>
                          </a:solidFill>
                          <a:latin typeface="+mn-lt"/>
                          <a:ea typeface="+mn-ea"/>
                          <a:cs typeface="+mn-cs"/>
                        </a:rPr>
                        <a:t>requirements:</a:t>
                      </a:r>
                      <a:r>
                        <a:rPr lang="en-US" sz="1400" kern="1200" baseline="0" dirty="0">
                          <a:solidFill>
                            <a:schemeClr val="tx1"/>
                          </a:solidFill>
                          <a:latin typeface="+mn-lt"/>
                          <a:ea typeface="+mn-ea"/>
                          <a:cs typeface="+mn-cs"/>
                        </a:rPr>
                        <a:t> A</a:t>
                      </a:r>
                      <a:r>
                        <a:rPr lang="en-US" sz="1400" kern="1200" dirty="0">
                          <a:solidFill>
                            <a:schemeClr val="tx1"/>
                          </a:solidFill>
                          <a:latin typeface="+mn-lt"/>
                          <a:ea typeface="+mn-ea"/>
                          <a:cs typeface="+mn-cs"/>
                        </a:rPr>
                        <a:t>ll energy sources must be controlled including</a:t>
                      </a:r>
                      <a:r>
                        <a:rPr lang="en-US" sz="1400" kern="1200" baseline="0" dirty="0">
                          <a:solidFill>
                            <a:schemeClr val="tx1"/>
                          </a:solidFill>
                          <a:latin typeface="+mn-lt"/>
                          <a:ea typeface="+mn-ea"/>
                          <a:cs typeface="+mn-cs"/>
                        </a:rPr>
                        <a:t> </a:t>
                      </a:r>
                      <a:r>
                        <a:rPr lang="en-US" sz="1400" kern="1200" dirty="0">
                          <a:solidFill>
                            <a:schemeClr val="tx1"/>
                          </a:solidFill>
                          <a:latin typeface="+mn-lt"/>
                          <a:ea typeface="+mn-ea"/>
                          <a:cs typeface="+mn-cs"/>
                        </a:rPr>
                        <a:t>stored energy-gravity.</a:t>
                      </a:r>
                    </a:p>
                  </a:txBody>
                  <a:tcPr anchor="ctr"/>
                </a:tc>
                <a:tc>
                  <a:txBody>
                    <a:bodyPr/>
                    <a:lstStyle/>
                    <a:p>
                      <a:pPr marL="0" marR="0" lvl="0" indent="0" algn="ctr" defTabSz="914400" rtl="0" eaLnBrk="1" fontAlgn="auto" latinLnBrk="0" hangingPunct="1">
                        <a:lnSpc>
                          <a:spcPct val="70000"/>
                        </a:lnSpc>
                        <a:spcBef>
                          <a:spcPts val="0"/>
                        </a:spcBef>
                        <a:spcAft>
                          <a:spcPts val="0"/>
                        </a:spcAft>
                        <a:buClrTx/>
                        <a:buSzTx/>
                        <a:buFontTx/>
                        <a:buNone/>
                        <a:tabLst/>
                        <a:defRPr/>
                      </a:pPr>
                      <a:r>
                        <a:rPr lang="en-US" sz="1400" dirty="0">
                          <a:solidFill>
                            <a:srgbClr val="00B050"/>
                          </a:solidFill>
                          <a:latin typeface="Segoe UI Symbol" panose="020B0502040204020203" pitchFamily="34" charset="0"/>
                          <a:ea typeface="Segoe UI Symbol" panose="020B0502040204020203" pitchFamily="34" charset="0"/>
                        </a:rPr>
                        <a:t>✔</a:t>
                      </a:r>
                      <a:endParaRPr lang="en-US" sz="1400" dirty="0">
                        <a:solidFill>
                          <a:srgbClr val="00B050"/>
                        </a:solidFill>
                      </a:endParaRPr>
                    </a:p>
                  </a:txBody>
                  <a:tcPr marL="45720" marR="45720" marT="18288" marB="18288" anchor="ctr"/>
                </a:tc>
                <a:tc>
                  <a:txBody>
                    <a:bodyPr/>
                    <a:lstStyle/>
                    <a:p>
                      <a:pPr marL="0" algn="ctr" defTabSz="914400" rtl="0" eaLnBrk="1" latinLnBrk="0" hangingPunct="1">
                        <a:lnSpc>
                          <a:spcPct val="70000"/>
                        </a:lnSpc>
                      </a:pPr>
                      <a:r>
                        <a:rPr lang="en-US" sz="1400" b="0" kern="1200" dirty="0">
                          <a:solidFill>
                            <a:schemeClr val="tx1"/>
                          </a:solidFill>
                          <a:latin typeface="+mn-lt"/>
                          <a:ea typeface="+mn-ea"/>
                          <a:cs typeface="+mn-cs"/>
                        </a:rPr>
                        <a:t>12/15/24</a:t>
                      </a:r>
                    </a:p>
                  </a:txBody>
                  <a:tcPr marL="45720" marR="45720" marT="18288" marB="18288" anchor="ctr"/>
                </a:tc>
                <a:extLst>
                  <a:ext uri="{0D108BD9-81ED-4DB2-BD59-A6C34878D82A}">
                    <a16:rowId xmlns:a16="http://schemas.microsoft.com/office/drawing/2014/main" val="10002"/>
                  </a:ext>
                </a:extLst>
              </a:tr>
              <a:tr h="538480">
                <a:tc>
                  <a:txBody>
                    <a:bodyPr/>
                    <a:lstStyle/>
                    <a:p>
                      <a:pPr marL="0" algn="ctr" defTabSz="914400" rtl="0" eaLnBrk="1" fontAlgn="base" latinLnBrk="0" hangingPunct="1"/>
                      <a:r>
                        <a:rPr lang="en-US" sz="1400" b="1" kern="1200" dirty="0">
                          <a:solidFill>
                            <a:schemeClr val="tx1"/>
                          </a:solidFill>
                          <a:latin typeface="+mn-lt"/>
                          <a:ea typeface="+mn-ea"/>
                          <a:cs typeface="+mn-cs"/>
                        </a:rPr>
                        <a:t>2</a:t>
                      </a:r>
                    </a:p>
                  </a:txBody>
                  <a:tcPr anchor="ctr"/>
                </a:tc>
                <a:tc>
                  <a:txBody>
                    <a:bodyPr/>
                    <a:lstStyle/>
                    <a:p>
                      <a:pPr marL="0" algn="l" defTabSz="914400" rtl="0" eaLnBrk="1" fontAlgn="base" latinLnBrk="0" hangingPunct="1"/>
                      <a:r>
                        <a:rPr lang="en-US" sz="1400" kern="1200" dirty="0">
                          <a:solidFill>
                            <a:schemeClr val="tx1"/>
                          </a:solidFill>
                          <a:latin typeface="+mn-lt"/>
                          <a:ea typeface="+mn-ea"/>
                          <a:cs typeface="+mn-cs"/>
                        </a:rPr>
                        <a:t>Establish</a:t>
                      </a:r>
                      <a:r>
                        <a:rPr lang="en-US" sz="1400" kern="1200" baseline="0" dirty="0">
                          <a:solidFill>
                            <a:schemeClr val="tx1"/>
                          </a:solidFill>
                          <a:latin typeface="+mn-lt"/>
                          <a:ea typeface="+mn-ea"/>
                          <a:cs typeface="+mn-cs"/>
                        </a:rPr>
                        <a:t> inspection process for Roll Balance Carrier System in work order system with inspection components.</a:t>
                      </a:r>
                      <a:endParaRPr lang="en-US" sz="1400" kern="120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70000"/>
                        </a:lnSpc>
                        <a:spcBef>
                          <a:spcPts val="0"/>
                        </a:spcBef>
                        <a:spcAft>
                          <a:spcPts val="0"/>
                        </a:spcAft>
                        <a:buClrTx/>
                        <a:buSzTx/>
                        <a:buFontTx/>
                        <a:buNone/>
                        <a:tabLst/>
                        <a:defRPr/>
                      </a:pPr>
                      <a:r>
                        <a:rPr lang="en-US" sz="1400" dirty="0">
                          <a:solidFill>
                            <a:srgbClr val="00B050"/>
                          </a:solidFill>
                          <a:latin typeface="Segoe UI Symbol" panose="020B0502040204020203" pitchFamily="34" charset="0"/>
                          <a:ea typeface="Segoe UI Symbol" panose="020B0502040204020203" pitchFamily="34" charset="0"/>
                        </a:rPr>
                        <a:t>✔</a:t>
                      </a:r>
                      <a:endParaRPr lang="en-US" sz="1400" dirty="0">
                        <a:solidFill>
                          <a:srgbClr val="00B050"/>
                        </a:solidFill>
                      </a:endParaRPr>
                    </a:p>
                  </a:txBody>
                  <a:tcPr marL="45720" marR="45720" marT="18288" marB="18288" anchor="ctr"/>
                </a:tc>
                <a:tc>
                  <a:txBody>
                    <a:bodyPr/>
                    <a:lstStyle/>
                    <a:p>
                      <a:pPr marL="0" lvl="0" algn="ctr" defTabSz="914400">
                        <a:lnSpc>
                          <a:spcPct val="70000"/>
                        </a:lnSpc>
                        <a:buNone/>
                      </a:pPr>
                      <a:r>
                        <a:rPr lang="en-US" sz="1400" b="0" kern="1200" dirty="0">
                          <a:solidFill>
                            <a:schemeClr val="tx1"/>
                          </a:solidFill>
                          <a:latin typeface="+mn-lt"/>
                          <a:ea typeface="+mn-ea"/>
                          <a:cs typeface="+mn-cs"/>
                        </a:rPr>
                        <a:t>Completed</a:t>
                      </a:r>
                    </a:p>
                  </a:txBody>
                  <a:tcPr marL="45720" marR="45720" marT="18288" marB="18288"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35634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Takeaways and Follow-up Actions</a:t>
            </a:r>
            <a:endParaRPr lang="en-US" sz="800" dirty="0"/>
          </a:p>
        </p:txBody>
      </p:sp>
      <p:sp>
        <p:nvSpPr>
          <p:cNvPr id="4" name="Line 11">
            <a:extLst>
              <a:ext uri="{FF2B5EF4-FFF2-40B4-BE49-F238E27FC236}">
                <a16:creationId xmlns:a16="http://schemas.microsoft.com/office/drawing/2014/main" id="{44130AA9-BC14-4F6D-98AA-A1741B2D3867}"/>
              </a:ext>
            </a:extLst>
          </p:cNvPr>
          <p:cNvSpPr>
            <a:spLocks noChangeShapeType="1"/>
          </p:cNvSpPr>
          <p:nvPr/>
        </p:nvSpPr>
        <p:spPr bwMode="gray">
          <a:xfrm>
            <a:off x="533400" y="914400"/>
            <a:ext cx="8153400" cy="0"/>
          </a:xfrm>
          <a:prstGeom prst="line">
            <a:avLst/>
          </a:prstGeom>
          <a:noFill/>
          <a:ln w="6350">
            <a:solidFill>
              <a:schemeClr val="bg1">
                <a:lumMod val="50000"/>
              </a:schemeClr>
            </a:solidFill>
            <a:prstDash val="sysDot"/>
            <a:round/>
            <a:headEnd/>
            <a:tailEnd/>
          </a:ln>
        </p:spPr>
        <p:txBody>
          <a:bodyPr/>
          <a:lstStyle/>
          <a:p>
            <a:pPr fontAlgn="base">
              <a:spcBef>
                <a:spcPct val="0"/>
              </a:spcBef>
              <a:spcAft>
                <a:spcPct val="0"/>
              </a:spcAft>
              <a:defRPr/>
            </a:pPr>
            <a:endParaRPr lang="en-US" dirty="0">
              <a:solidFill>
                <a:prstClr val="black"/>
              </a:solidFill>
              <a:cs typeface="Arial" charset="0"/>
            </a:endParaRPr>
          </a:p>
        </p:txBody>
      </p:sp>
      <p:sp>
        <p:nvSpPr>
          <p:cNvPr id="15" name="TextBox 14">
            <a:extLst>
              <a:ext uri="{FF2B5EF4-FFF2-40B4-BE49-F238E27FC236}">
                <a16:creationId xmlns:a16="http://schemas.microsoft.com/office/drawing/2014/main" id="{7775D49A-EB3D-43B0-BB66-8CBDFB244A4B}"/>
              </a:ext>
            </a:extLst>
          </p:cNvPr>
          <p:cNvSpPr txBox="1"/>
          <p:nvPr/>
        </p:nvSpPr>
        <p:spPr bwMode="auto">
          <a:xfrm>
            <a:off x="509803" y="1477958"/>
            <a:ext cx="8077200" cy="1838965"/>
          </a:xfrm>
          <a:prstGeom prst="rect">
            <a:avLst/>
          </a:prstGeom>
          <a:noFill/>
          <a:ln w="9525">
            <a:noFill/>
            <a:miter lim="800000"/>
            <a:headEnd/>
            <a:tailEnd/>
          </a:ln>
        </p:spPr>
        <p:txBody>
          <a:bodyPr wrap="square" lIns="91440" tIns="45720" rIns="91440" bIns="45720" anchor="t">
            <a:spAutoFit/>
          </a:bodyPr>
          <a:lstStyle/>
          <a:p>
            <a:pPr eaLnBrk="0" hangingPunct="0">
              <a:spcAft>
                <a:spcPts val="300"/>
              </a:spcAft>
            </a:pPr>
            <a:r>
              <a:rPr lang="en-US" sz="1500" b="1" dirty="0">
                <a:solidFill>
                  <a:srgbClr val="005596"/>
                </a:solidFill>
                <a:latin typeface="Arial" panose="020B0604020202020204" pitchFamily="34" charset="0"/>
                <a:cs typeface="Arial" panose="020B0604020202020204" pitchFamily="34" charset="0"/>
              </a:rPr>
              <a:t>Key takeaways</a:t>
            </a:r>
          </a:p>
          <a:p>
            <a:pPr marL="285750" indent="-285750" eaLnBrk="0" hangingPunct="0">
              <a:spcAft>
                <a:spcPts val="300"/>
              </a:spcAft>
              <a:buClr>
                <a:schemeClr val="accent2"/>
              </a:buClr>
              <a:buFont typeface="Arial" panose="020B0604020202020204" pitchFamily="34" charset="0"/>
              <a:buChar char="•"/>
            </a:pPr>
            <a:r>
              <a:rPr lang="en-US" sz="1500" dirty="0">
                <a:solidFill>
                  <a:srgbClr val="005596"/>
                </a:solidFill>
                <a:latin typeface="Arial"/>
                <a:cs typeface="Arial"/>
              </a:rPr>
              <a:t>Hydraulically lifted equipment contains stored energy in the up position and is susceptible to drift from gravity and system pressure loss.</a:t>
            </a:r>
            <a:endParaRPr lang="en-US" sz="1500" dirty="0">
              <a:solidFill>
                <a:srgbClr val="005596"/>
              </a:solidFill>
              <a:latin typeface="Arial" panose="020B0604020202020204" pitchFamily="34" charset="0"/>
              <a:cs typeface="Arial" panose="020B0604020202020204" pitchFamily="34" charset="0"/>
            </a:endParaRPr>
          </a:p>
          <a:p>
            <a:pPr marL="285750" indent="-285750">
              <a:spcAft>
                <a:spcPts val="300"/>
              </a:spcAft>
              <a:buClr>
                <a:srgbClr val="6D8D3B"/>
              </a:buClr>
              <a:buFont typeface="Arial" panose="020B0604020202020204" pitchFamily="34" charset="0"/>
              <a:buChar char="•"/>
            </a:pPr>
            <a:r>
              <a:rPr lang="en-US" sz="1500" dirty="0">
                <a:solidFill>
                  <a:srgbClr val="005596"/>
                </a:solidFill>
                <a:latin typeface="Arial"/>
                <a:cs typeface="Arial"/>
              </a:rPr>
              <a:t>Objects that can drift down must be pinned, blocked, or cribbed as part of LOTO procedure before working on or under.</a:t>
            </a:r>
            <a:endParaRPr lang="en-US" sz="1500" dirty="0">
              <a:solidFill>
                <a:srgbClr val="005596"/>
              </a:solidFill>
              <a:latin typeface="Arial" panose="020B0604020202020204" pitchFamily="34" charset="0"/>
              <a:cs typeface="Arial" panose="020B0604020202020204" pitchFamily="34" charset="0"/>
            </a:endParaRPr>
          </a:p>
          <a:p>
            <a:pPr eaLnBrk="0" hangingPunct="0"/>
            <a:endParaRPr lang="en-US" sz="1600" b="1" dirty="0">
              <a:solidFill>
                <a:srgbClr val="005596"/>
              </a:solidFill>
              <a:latin typeface="Arial" panose="020B0604020202020204" pitchFamily="34" charset="0"/>
              <a:cs typeface="Arial" panose="020B0604020202020204" pitchFamily="34" charset="0"/>
            </a:endParaRPr>
          </a:p>
          <a:p>
            <a:pPr lvl="1" eaLnBrk="0" hangingPunct="0">
              <a:spcAft>
                <a:spcPts val="300"/>
              </a:spcAft>
              <a:buClr>
                <a:srgbClr val="6D8D3B"/>
              </a:buClr>
            </a:pPr>
            <a:endParaRPr lang="en-US" sz="1500" dirty="0">
              <a:solidFill>
                <a:srgbClr val="005596"/>
              </a:solidFill>
              <a:latin typeface="Arial" panose="020B0604020202020204" pitchFamily="34" charset="0"/>
              <a:cs typeface="Arial" panose="020B0604020202020204" pitchFamily="34" charset="0"/>
            </a:endParaRPr>
          </a:p>
        </p:txBody>
      </p:sp>
      <p:graphicFrame>
        <p:nvGraphicFramePr>
          <p:cNvPr id="6" name="Content Placeholder 9">
            <a:extLst>
              <a:ext uri="{FF2B5EF4-FFF2-40B4-BE49-F238E27FC236}">
                <a16:creationId xmlns:a16="http://schemas.microsoft.com/office/drawing/2014/main" id="{96CE9DF8-9DC1-4034-A81E-63F53BF9E2C5}"/>
              </a:ext>
            </a:extLst>
          </p:cNvPr>
          <p:cNvGraphicFramePr>
            <a:graphicFrameLocks/>
          </p:cNvGraphicFramePr>
          <p:nvPr>
            <p:extLst>
              <p:ext uri="{D42A27DB-BD31-4B8C-83A1-F6EECF244321}">
                <p14:modId xmlns:p14="http://schemas.microsoft.com/office/powerpoint/2010/main" val="2718563401"/>
              </p:ext>
            </p:extLst>
          </p:nvPr>
        </p:nvGraphicFramePr>
        <p:xfrm>
          <a:off x="533400" y="3124200"/>
          <a:ext cx="8114977" cy="1422275"/>
        </p:xfrm>
        <a:graphic>
          <a:graphicData uri="http://schemas.openxmlformats.org/drawingml/2006/table">
            <a:tbl>
              <a:tblPr firstRow="1" bandRow="1">
                <a:tableStyleId>{5940675A-B579-460E-94D1-54222C63F5DA}</a:tableStyleId>
              </a:tblPr>
              <a:tblGrid>
                <a:gridCol w="8114977">
                  <a:extLst>
                    <a:ext uri="{9D8B030D-6E8A-4147-A177-3AD203B41FA5}">
                      <a16:colId xmlns:a16="http://schemas.microsoft.com/office/drawing/2014/main" val="20001"/>
                    </a:ext>
                  </a:extLst>
                </a:gridCol>
              </a:tblGrid>
              <a:tr h="381000">
                <a:tc>
                  <a:txBody>
                    <a:bodyPr/>
                    <a:lstStyle/>
                    <a:p>
                      <a:pPr marL="0" algn="l" defTabSz="914400" rtl="0" eaLnBrk="0" latinLnBrk="0" hangingPunct="0">
                        <a:lnSpc>
                          <a:spcPct val="80000"/>
                        </a:lnSpc>
                        <a:spcAft>
                          <a:spcPts val="300"/>
                        </a:spcAft>
                      </a:pPr>
                      <a:r>
                        <a:rPr lang="en-US" sz="1500" b="1" kern="1200" dirty="0">
                          <a:solidFill>
                            <a:srgbClr val="005596"/>
                          </a:solidFill>
                          <a:latin typeface="Arial" panose="020B0604020202020204" pitchFamily="34" charset="0"/>
                          <a:ea typeface="+mn-ea"/>
                          <a:cs typeface="Arial" panose="020B0604020202020204" pitchFamily="34" charset="0"/>
                        </a:rPr>
                        <a:t>Follow-up Actions</a:t>
                      </a:r>
                    </a:p>
                  </a:txBody>
                  <a:tcPr marL="61079" marR="61079"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8899">
                <a:tc>
                  <a:txBody>
                    <a:bodyPr/>
                    <a:lstStyle/>
                    <a:p>
                      <a:pPr algn="ctr">
                        <a:lnSpc>
                          <a:spcPct val="70000"/>
                        </a:lnSpc>
                      </a:pPr>
                      <a:r>
                        <a:rPr lang="en-US" sz="1500" b="1" dirty="0"/>
                        <a:t>Action Description</a:t>
                      </a:r>
                    </a:p>
                  </a:txBody>
                  <a:tcPr marL="45720" marR="45720" marT="64008"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3340">
                <a:tc>
                  <a:txBody>
                    <a:bodyPr/>
                    <a:lstStyle/>
                    <a:p>
                      <a:pPr lvl="0">
                        <a:buNone/>
                      </a:pPr>
                      <a:r>
                        <a:rPr lang="en-US" sz="1500" dirty="0"/>
                        <a:t>Departments identify tasks that require hydraulic cylinders to be locked in the up (extended) position, susceptible to gravity and pressure bleed. Ensure engineered blocks/pins are included in LOTO procedure to protect against drift.</a:t>
                      </a:r>
                    </a:p>
                  </a:txBody>
                  <a:tcPr marL="45720" marR="45720" marT="18288" marB="18288"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7356234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3_Cliffs Natural Resources - Powerpoint Presentation">
  <a:themeElements>
    <a:clrScheme name="Cliffs Color Palette">
      <a:dk1>
        <a:sysClr val="windowText" lastClr="000000"/>
      </a:dk1>
      <a:lt1>
        <a:sysClr val="window" lastClr="FFFFFF"/>
      </a:lt1>
      <a:dk2>
        <a:srgbClr val="005596"/>
      </a:dk2>
      <a:lt2>
        <a:srgbClr val="EEECE1"/>
      </a:lt2>
      <a:accent1>
        <a:srgbClr val="005596"/>
      </a:accent1>
      <a:accent2>
        <a:srgbClr val="6D8D3B"/>
      </a:accent2>
      <a:accent3>
        <a:srgbClr val="5A447A"/>
      </a:accent3>
      <a:accent4>
        <a:srgbClr val="E58E1A"/>
      </a:accent4>
      <a:accent5>
        <a:srgbClr val="0098DB"/>
      </a:accent5>
      <a:accent6>
        <a:srgbClr val="87B2D8"/>
      </a:accent6>
      <a:hlink>
        <a:srgbClr val="005596"/>
      </a:hlink>
      <a:folHlink>
        <a:srgbClr val="5A447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smtClean="0">
            <a:ln>
              <a:noFill/>
            </a:ln>
            <a:solidFill>
              <a:schemeClr val="tx1"/>
            </a:solidFill>
            <a:effectLst/>
            <a:latin typeface="Times" charset="0"/>
          </a:defRPr>
        </a:defPPr>
      </a:lstStyle>
    </a:lnDef>
    <a:txDef>
      <a:spPr bwMode="auto">
        <a:noFill/>
        <a:ln w="9525">
          <a:noFill/>
          <a:miter lim="800000"/>
          <a:headEnd/>
          <a:tailEnd/>
        </a:ln>
      </a:spPr>
      <a:bodyPr vert="horz" wrap="square" lIns="0" tIns="0" rIns="0" bIns="0" numCol="1" anchor="t" anchorCtr="0" compatLnSpc="1">
        <a:prstTxWarp prst="textNoShape">
          <a:avLst/>
        </a:prstTxWarp>
      </a:bodyPr>
      <a:lstStyle>
        <a:defPPr>
          <a:lnSpc>
            <a:spcPct val="90000"/>
          </a:lnSpc>
          <a:spcBef>
            <a:spcPct val="20000"/>
          </a:spcBef>
          <a:defRPr sz="1400" i="1" kern="0" dirty="0" smtClean="0">
            <a:latin typeface="+mn-lt"/>
            <a:cs typeface="+mn-cs"/>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36FB3BB9AC8A4FB771E41FF8FE023F" ma:contentTypeVersion="17" ma:contentTypeDescription="Create a new document." ma:contentTypeScope="" ma:versionID="42c4efd20f6bdbdc04aadc6599297378">
  <xsd:schema xmlns:xsd="http://www.w3.org/2001/XMLSchema" xmlns:xs="http://www.w3.org/2001/XMLSchema" xmlns:p="http://schemas.microsoft.com/office/2006/metadata/properties" xmlns:ns2="c38012d2-0bd3-406d-8c76-9380735aa751" xmlns:ns3="97d2beef-3814-4b88-98fe-65ead2fd9ba1" targetNamespace="http://schemas.microsoft.com/office/2006/metadata/properties" ma:root="true" ma:fieldsID="14b71b735a8bc0452e0e4395eb66e97d" ns2:_="" ns3:_="">
    <xsd:import namespace="c38012d2-0bd3-406d-8c76-9380735aa751"/>
    <xsd:import namespace="97d2beef-3814-4b88-98fe-65ead2fd9ba1"/>
    <xsd:element name="properties">
      <xsd:complexType>
        <xsd:sequence>
          <xsd:element name="documentManagement">
            <xsd:complexType>
              <xsd:all>
                <xsd:element ref="ns2:Presented" minOccurs="0"/>
                <xsd:element ref="ns2:MediaServiceMetadata" minOccurs="0"/>
                <xsd:element ref="ns2:MediaServiceFastMetadata" minOccurs="0"/>
                <xsd:element ref="ns2:Site"/>
                <xsd:element ref="ns2:Classification"/>
                <xsd:element ref="ns2:Department"/>
                <xsd:element ref="ns2:DateofIncident" minOccurs="0"/>
                <xsd:element ref="ns2:BriefIncidentDescription" minOccurs="0"/>
                <xsd:element ref="ns3:SharedWithUsers" minOccurs="0"/>
                <xsd:element ref="ns3:SharedWithDetails" minOccurs="0"/>
                <xsd:element ref="ns2:MediaServiceObjectDetectorVersions" minOccurs="0"/>
                <xsd:element ref="ns2:IncidentDat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8012d2-0bd3-406d-8c76-9380735aa751" elementFormDefault="qualified">
    <xsd:import namespace="http://schemas.microsoft.com/office/2006/documentManagement/types"/>
    <xsd:import namespace="http://schemas.microsoft.com/office/infopath/2007/PartnerControls"/>
    <xsd:element name="Presented" ma:index="8" nillable="true" ma:displayName="Presented" ma:default="0" ma:format="Dropdown" ma:internalName="Presented">
      <xsd:simpleType>
        <xsd:restriction base="dms:Boolea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Site" ma:index="11" ma:displayName="Site" ma:description="Two Letter Site Code" ma:format="Dropdown" ma:internalName="Site">
      <xsd:simpleType>
        <xsd:restriction base="dms:Choice">
          <xsd:enumeration value="BH"/>
          <xsd:enumeration value="BHP"/>
          <xsd:enumeration value="BW"/>
          <xsd:enumeration value="CL"/>
          <xsd:enumeration value="CO"/>
          <xsd:enumeration value="CN"/>
          <xsd:enumeration value="CT"/>
          <xsd:enumeration value="CW"/>
          <xsd:enumeration value="DW"/>
          <xsd:enumeration value="GP"/>
          <xsd:enumeration value="IH"/>
          <xsd:enumeration value="MA"/>
          <xsd:enumeration value="MN"/>
          <xsd:enumeration value="MSC"/>
          <xsd:enumeration value="MW"/>
          <xsd:enumeration value="PD"/>
          <xsd:enumeration value="RV"/>
          <xsd:enumeration value="RW"/>
          <xsd:enumeration value="ST"/>
          <xsd:enumeration value="TK"/>
          <xsd:enumeration value="TO"/>
          <xsd:enumeration value="WN"/>
          <xsd:enumeration value="WT"/>
          <xsd:enumeration value="ZW"/>
        </xsd:restriction>
      </xsd:simpleType>
    </xsd:element>
    <xsd:element name="Classification" ma:index="12" ma:displayName="Classification" ma:description="SIF Actual or SIF Potential" ma:format="Dropdown" ma:internalName="Classification">
      <xsd:simpleType>
        <xsd:restriction base="dms:Choice">
          <xsd:enumeration value="SIFp"/>
          <xsd:enumeration value="SIFa"/>
        </xsd:restriction>
      </xsd:simpleType>
    </xsd:element>
    <xsd:element name="Department" ma:index="13" ma:displayName="Department" ma:description="Operating Department the incident occurred in." ma:format="Dropdown" ma:internalName="Department">
      <xsd:simpleType>
        <xsd:restriction base="dms:Text">
          <xsd:maxLength value="255"/>
        </xsd:restriction>
      </xsd:simpleType>
    </xsd:element>
    <xsd:element name="DateofIncident" ma:index="14" nillable="true" ma:displayName="Presentation Date" ma:default="2001-01-01T20:00:00.000Z" ma:format="DateOnly" ma:internalName="DateofIncident">
      <xsd:simpleType>
        <xsd:restriction base="dms:DateTime"/>
      </xsd:simpleType>
    </xsd:element>
    <xsd:element name="BriefIncidentDescription" ma:index="15" nillable="true" ma:displayName="HRE Category" ma:format="Dropdown" ma:internalName="BriefIncidentDescription">
      <xsd:simpleType>
        <xsd:restriction base="dms:Choice">
          <xsd:enumeration value="Mobile Equipment Operation"/>
          <xsd:enumeration value="Falling Object"/>
          <xsd:enumeration value="Slip,Trip,Fall"/>
          <xsd:enumeration value="Molten Metal"/>
          <xsd:enumeration value="Pinch Point"/>
          <xsd:enumeration value="Material Handling"/>
          <xsd:enumeration value="Exposed to Steam"/>
          <xsd:enumeration value="Work at Elevation"/>
          <xsd:enumeration value="Lockout/Tryout"/>
          <xsd:enumeration value="Exposed to Heat"/>
          <xsd:enumeration value="Exposed to Chemical"/>
          <xsd:enumeration value="Exposed to Electricity"/>
          <xsd:enumeration value="ARC Flash"/>
          <xsd:enumeration value="Confined Space"/>
          <xsd:enumeration value="Crane Operation"/>
          <xsd:enumeration value="Railroad Operations"/>
          <xsd:enumeration value="Exposed to noise"/>
          <xsd:enumeration value="Exposed to High Pressure"/>
          <xsd:enumeration value="Exposed to Fire"/>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IncidentDate" ma:index="19" nillable="true" ma:displayName="Incident Date" ma:format="DateOnly" ma:internalName="IncidentDate">
      <xsd:simpleType>
        <xsd:restriction base="dms:DateTim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d2beef-3814-4b88-98fe-65ead2fd9ba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Site xmlns="c38012d2-0bd3-406d-8c76-9380735aa751">IH</Site>
    <Classification xmlns="c38012d2-0bd3-406d-8c76-9380735aa751">SIFp</Classification>
    <Presented xmlns="c38012d2-0bd3-406d-8c76-9380735aa751">false</Presented>
    <DateofIncident xmlns="c38012d2-0bd3-406d-8c76-9380735aa751">2001-01-01T20:00:00+00:00</DateofIncident>
    <BriefIncidentDescription xmlns="c38012d2-0bd3-406d-8c76-9380735aa751">Falling Object</BriefIncidentDescription>
    <Department xmlns="c38012d2-0bd3-406d-8c76-9380735aa751"/>
    <IncidentDate xmlns="c38012d2-0bd3-406d-8c76-9380735aa75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D26E52-17D5-46A7-9A10-15CED0594C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8012d2-0bd3-406d-8c76-9380735aa751"/>
    <ds:schemaRef ds:uri="97d2beef-3814-4b88-98fe-65ead2fd9b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1EA2DB3-3120-4F0E-A92D-7BADE5A3660D}">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29cfcce8-ec42-4fc6-a103-3703a36f1b33"/>
    <ds:schemaRef ds:uri="http://purl.org/dc/elements/1.1/"/>
    <ds:schemaRef ds:uri="http://schemas.microsoft.com/office/2006/metadata/properties"/>
    <ds:schemaRef ds:uri="a0ba85ff-558b-4b0e-81d0-2da2e3be4245"/>
    <ds:schemaRef ds:uri="http://www.w3.org/XML/1998/namespace"/>
    <ds:schemaRef ds:uri="http://purl.org/dc/dcmitype/"/>
    <ds:schemaRef ds:uri="0b3b5223-3ccc-4ae0-835c-40b41675250c"/>
    <ds:schemaRef ds:uri="c38012d2-0bd3-406d-8c76-9380735aa751"/>
  </ds:schemaRefs>
</ds:datastoreItem>
</file>

<file path=customXml/itemProps3.xml><?xml version="1.0" encoding="utf-8"?>
<ds:datastoreItem xmlns:ds="http://schemas.openxmlformats.org/officeDocument/2006/customXml" ds:itemID="{B374FFE4-FC0D-44BB-AD5C-472967752F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6807</TotalTime>
  <Words>640</Words>
  <Application>Microsoft Office PowerPoint</Application>
  <PresentationFormat>On-screen Show (4:3)</PresentationFormat>
  <Paragraphs>71</Paragraphs>
  <Slides>7</Slides>
  <Notes>4</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3_Cliffs Natural Resources - Powerpoint Presentation</vt:lpstr>
      <vt:lpstr>SIF In-depth Investigation  Indiana Harbor: Near Miss R3 Carrier Beam  10/14/2024</vt:lpstr>
      <vt:lpstr> SIF Incident Description</vt:lpstr>
      <vt:lpstr>Key findings from in-depth investigation</vt:lpstr>
      <vt:lpstr>Key Findings</vt:lpstr>
      <vt:lpstr>Containment actions</vt:lpstr>
      <vt:lpstr>Corrective actions / preventive actions</vt:lpstr>
      <vt:lpstr>Key Takeaways and Follow-up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Persico, Patricia M.</dc:creator>
  <cp:lastModifiedBy>Hanas, Nicole</cp:lastModifiedBy>
  <cp:revision>278</cp:revision>
  <cp:lastPrinted>2024-11-19T19:25:57Z</cp:lastPrinted>
  <dcterms:created xsi:type="dcterms:W3CDTF">2011-07-13T16:04:09Z</dcterms:created>
  <dcterms:modified xsi:type="dcterms:W3CDTF">2026-08-20T15:43:39Z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0x0101003436FB3BB9AC8A4FB771E41FF8FE023F</vt:lpwstr>
  </property>
  <property fmtid="{D5CDD505-2E9C-101B-9397-08002B2CF9AE}" pid="3" name="ArticulateGUID">
    <vt:lpwstr>59310C47-CE7E-450D-A0DF-5132B3A34728</vt:lpwstr>
  </property>
  <property fmtid="{D5CDD505-2E9C-101B-9397-08002B2CF9AE}" pid="4" name="ArticulatePath">
    <vt:lpwstr>Sue's sample (002)</vt:lpwstr>
  </property>
  <property fmtid="{D5CDD505-2E9C-101B-9397-08002B2CF9AE}" pid="5" name="Status">
    <vt:lpwstr>Draft</vt:lpwstr>
  </property>
  <property fmtid="{D5CDD505-2E9C-101B-9397-08002B2CF9AE}" pid="6" name="HRECategory">
    <vt:lpwstr>Falling Object</vt:lpwstr>
  </property>
  <property fmtid="{D5CDD505-2E9C-101B-9397-08002B2CF9AE}" pid="7" name="PresentationDate">
    <vt:filetime>2024-12-06T05:00:00Z</vt:filetime>
  </property>
</Properties>
</file>