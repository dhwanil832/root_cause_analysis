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78bd1047aa45c5" /><Relationship Type="http://schemas.openxmlformats.org/officeDocument/2006/relationships/extended-properties" Target="/docProps/app.xml" Id="R69e243d40b8243bd" /><Relationship Type="http://schemas.openxmlformats.org/officeDocument/2006/relationships/officeDocument" Target="/ppt/presentation.xml" Id="R9fef7d8b97d74c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b47bde0d3e4fdd"/>
  </p:sldMasterIdLst>
  <p:notesMasterIdLst>
    <p:notesMasterId xmlns:r="http://schemas.openxmlformats.org/officeDocument/2006/relationships" r:id="Re823c046819f4532"/>
  </p:notesMasterIdLst>
  <p:sldIdLst>
    <p:sldId xmlns:r="http://schemas.openxmlformats.org/officeDocument/2006/relationships" id="256" r:id="R877a27a467c240a5"/>
    <p:sldId xmlns:r="http://schemas.openxmlformats.org/officeDocument/2006/relationships" id="257" r:id="R09dffb3386794314"/>
    <p:sldId xmlns:r="http://schemas.openxmlformats.org/officeDocument/2006/relationships" id="258" r:id="Rcd340d1141d1497f"/>
    <p:sldId xmlns:r="http://schemas.openxmlformats.org/officeDocument/2006/relationships" id="259" r:id="Rec1b32178930498c"/>
    <p:sldId xmlns:r="http://schemas.openxmlformats.org/officeDocument/2006/relationships" id="260" r:id="Ra0bc3202814b4213"/>
    <p:sldId xmlns:r="http://schemas.openxmlformats.org/officeDocument/2006/relationships" id="261" r:id="Rd1d02861930d40ba"/>
    <p:sldId xmlns:r="http://schemas.openxmlformats.org/officeDocument/2006/relationships" id="262" r:id="Rfd8925981a5949da"/>
    <p:sldId xmlns:r="http://schemas.openxmlformats.org/officeDocument/2006/relationships" id="263" r:id="R31886533e4e14fe8"/>
    <p:sldId xmlns:r="http://schemas.openxmlformats.org/officeDocument/2006/relationships" id="264" r:id="R75e05dfc7c174034"/>
    <p:sldId xmlns:r="http://schemas.openxmlformats.org/officeDocument/2006/relationships" id="265" r:id="R2f5fae60d8c14513"/>
    <p:sldId xmlns:r="http://schemas.openxmlformats.org/officeDocument/2006/relationships" id="266" r:id="Rb777d06d1d8840fe"/>
    <p:sldId xmlns:r="http://schemas.openxmlformats.org/officeDocument/2006/relationships" id="267" r:id="R88deae5088694956"/>
    <p:sldId xmlns:r="http://schemas.openxmlformats.org/officeDocument/2006/relationships" id="268" r:id="R067337c9d8ba4e01"/>
    <p:sldId xmlns:r="http://schemas.openxmlformats.org/officeDocument/2006/relationships" id="269" r:id="Reaf7f7be8f384300"/>
    <p:sldId xmlns:r="http://schemas.openxmlformats.org/officeDocument/2006/relationships" id="270" r:id="Rda754d6b10204b29"/>
    <p:sldId xmlns:r="http://schemas.openxmlformats.org/officeDocument/2006/relationships" id="271" r:id="Rde593182aa2243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e876ec83094e55" /><Relationship Type="http://schemas.openxmlformats.org/officeDocument/2006/relationships/slideMaster" Target="/ppt/slideMasters/slideMaster1.xml" Id="R58b47bde0d3e4fdd" /><Relationship Type="http://schemas.openxmlformats.org/officeDocument/2006/relationships/notesMaster" Target="/ppt/notesMasters/notesMaster1.xml" Id="Re823c046819f4532" /><Relationship Type="http://schemas.openxmlformats.org/officeDocument/2006/relationships/presProps" Target="/ppt/presProps.xml" Id="Rc99b61d059284d7e" /><Relationship Type="http://schemas.openxmlformats.org/officeDocument/2006/relationships/viewProps" Target="/ppt/viewProps.xml" Id="Rc5fbdd7a6fd54496" /><Relationship Type="http://schemas.openxmlformats.org/officeDocument/2006/relationships/tableStyles" Target="/ppt/tableStyles.xml" Id="R7a24852707cc4bda" /><Relationship Type="http://schemas.openxmlformats.org/officeDocument/2006/relationships/slide" Target="/ppt/slides/slide1.xml" Id="R877a27a467c240a5" /><Relationship Type="http://schemas.openxmlformats.org/officeDocument/2006/relationships/slide" Target="/ppt/slides/slide2.xml" Id="R09dffb3386794314" /><Relationship Type="http://schemas.openxmlformats.org/officeDocument/2006/relationships/slide" Target="/ppt/slides/slide3.xml" Id="Rcd340d1141d1497f" /><Relationship Type="http://schemas.openxmlformats.org/officeDocument/2006/relationships/slide" Target="/ppt/slides/slide4.xml" Id="Rec1b32178930498c" /><Relationship Type="http://schemas.openxmlformats.org/officeDocument/2006/relationships/slide" Target="/ppt/slides/slide5.xml" Id="Ra0bc3202814b4213" /><Relationship Type="http://schemas.openxmlformats.org/officeDocument/2006/relationships/slide" Target="/ppt/slides/slide6.xml" Id="Rd1d02861930d40ba" /><Relationship Type="http://schemas.openxmlformats.org/officeDocument/2006/relationships/slide" Target="/ppt/slides/slide7.xml" Id="Rfd8925981a5949da" /><Relationship Type="http://schemas.openxmlformats.org/officeDocument/2006/relationships/slide" Target="/ppt/slides/slide8.xml" Id="R31886533e4e14fe8" /><Relationship Type="http://schemas.openxmlformats.org/officeDocument/2006/relationships/slide" Target="/ppt/slides/slide9.xml" Id="R75e05dfc7c174034" /><Relationship Type="http://schemas.openxmlformats.org/officeDocument/2006/relationships/slide" Target="/ppt/slides/slide10.xml" Id="R2f5fae60d8c14513" /><Relationship Type="http://schemas.openxmlformats.org/officeDocument/2006/relationships/slide" Target="/ppt/slides/slide11.xml" Id="Rb777d06d1d8840fe" /><Relationship Type="http://schemas.openxmlformats.org/officeDocument/2006/relationships/slide" Target="/ppt/slides/slide12.xml" Id="R88deae5088694956" /><Relationship Type="http://schemas.openxmlformats.org/officeDocument/2006/relationships/slide" Target="/ppt/slides/slide13.xml" Id="R067337c9d8ba4e01" /><Relationship Type="http://schemas.openxmlformats.org/officeDocument/2006/relationships/slide" Target="/ppt/slides/slide14.xml" Id="Reaf7f7be8f384300" /><Relationship Type="http://schemas.openxmlformats.org/officeDocument/2006/relationships/slide" Target="/ppt/slides/slide15.xml" Id="Rda754d6b10204b29" /><Relationship Type="http://schemas.openxmlformats.org/officeDocument/2006/relationships/slide" Target="/ppt/slides/slide16.xml" Id="Rde593182aa2243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07347b905f4a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0949c31ce34a20" /><Relationship Type="http://schemas.openxmlformats.org/officeDocument/2006/relationships/notesMaster" Target="/ppt/notesMasters/notesMaster1.xml" Id="R20cadcf746fa47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bb4d4ee32d4ebb" /><Relationship Type="http://schemas.openxmlformats.org/officeDocument/2006/relationships/notesMaster" Target="/ppt/notesMasters/notesMaster1.xml" Id="R5256510f2c4e4e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38a103d96f4569" /><Relationship Type="http://schemas.openxmlformats.org/officeDocument/2006/relationships/notesMaster" Target="/ppt/notesMasters/notesMaster1.xml" Id="Rd5684d4968954b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b093442b454725" /><Relationship Type="http://schemas.openxmlformats.org/officeDocument/2006/relationships/notesMaster" Target="/ppt/notesMasters/notesMaster1.xml" Id="Rded4d3b8b3c04b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0b5792e5554760" /><Relationship Type="http://schemas.openxmlformats.org/officeDocument/2006/relationships/notesMaster" Target="/ppt/notesMasters/notesMaster1.xml" Id="R978353ec061c4d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efe6c62236401a" /><Relationship Type="http://schemas.openxmlformats.org/officeDocument/2006/relationships/notesMaster" Target="/ppt/notesMasters/notesMaster1.xml" Id="R739c8cf93aab48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9cccccccf74902" /><Relationship Type="http://schemas.openxmlformats.org/officeDocument/2006/relationships/notesMaster" Target="/ppt/notesMasters/notesMaster1.xml" Id="Rd2ecc134d78741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1ae51a4c0c4e29" /><Relationship Type="http://schemas.openxmlformats.org/officeDocument/2006/relationships/notesMaster" Target="/ppt/notesMasters/notesMaster1.xml" Id="R6d19dbec907845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f51ed7687944e5" /><Relationship Type="http://schemas.openxmlformats.org/officeDocument/2006/relationships/notesMaster" Target="/ppt/notesMasters/notesMaster1.xml" Id="Re684990017404d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b8c28311dd4e6d" /><Relationship Type="http://schemas.openxmlformats.org/officeDocument/2006/relationships/notesMaster" Target="/ppt/notesMasters/notesMaster1.xml" Id="R79d5bc2d3e8a48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32d9938bf84fed" /><Relationship Type="http://schemas.openxmlformats.org/officeDocument/2006/relationships/notesMaster" Target="/ppt/notesMasters/notesMaster1.xml" Id="R87344b99298544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9793fe62cd4e89" /><Relationship Type="http://schemas.openxmlformats.org/officeDocument/2006/relationships/notesMaster" Target="/ppt/notesMasters/notesMaster1.xml" Id="R9ea051f625c049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a3e89a6d2364787" /><Relationship Type="http://schemas.openxmlformats.org/officeDocument/2006/relationships/notesMaster" Target="/ppt/notesMasters/notesMaster1.xml" Id="R6afec0d2c7bf40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1768eab6c84304" /><Relationship Type="http://schemas.openxmlformats.org/officeDocument/2006/relationships/notesMaster" Target="/ppt/notesMasters/notesMaster1.xml" Id="R969805621ec949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68fef31a0a4ce6" /><Relationship Type="http://schemas.openxmlformats.org/officeDocument/2006/relationships/notesMaster" Target="/ppt/notesMasters/notesMaster1.xml" Id="R9e31f7dd05f4413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7b80017f4ff4c64" /><Relationship Type="http://schemas.openxmlformats.org/officeDocument/2006/relationships/notesMaster" Target="/ppt/notesMasters/notesMaster1.xml" Id="R1edd15de25f34d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9fdd9f6dcf41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77bce89f5451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ASE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8DD7A70-3015-420C-A5C8-B028E286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1968"/>
            <a:ext cx="12191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501CB8C-D246-4DF5-BDBA-B90CC888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647688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kickoff maps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1FCD4CF-794B-4D2E-B4C4-8141C41FEB5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64768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c841687404454b" /><Relationship Type="http://schemas.openxmlformats.org/officeDocument/2006/relationships/slideLayout" Target="/ppt/slideLayouts/slideLayout1.xml" Id="R12d7596a81cf4e3a" /><Relationship Type="http://schemas.openxmlformats.org/officeDocument/2006/relationships/slideLayout" Target="/ppt/slideLayouts/slideLayout2.xml" Id="R5b60855cb187446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6D33070-B880-4DCA-9388-F9DD5FEA7C6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64768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d7596a81cf4e3a"/>
    <p:sldLayoutId xmlns:r="http://schemas.openxmlformats.org/officeDocument/2006/relationships" id="2147483650" r:id="R5b60855cb187446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023c43a421481e" /><Relationship Type="http://schemas.openxmlformats.org/officeDocument/2006/relationships/notesSlide" Target="/ppt/notesSlides/notesSlide1.xml" Id="Re63dd5cc96e847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09a25c2f0047fc" /><Relationship Type="http://schemas.openxmlformats.org/officeDocument/2006/relationships/notesSlide" Target="/ppt/notesSlides/notesSlide2.xml" Id="R7ec023aded2048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9334209475454a" /><Relationship Type="http://schemas.openxmlformats.org/officeDocument/2006/relationships/notesSlide" Target="/ppt/notesSlides/notesSlide3.xml" Id="R9ea756899e2d4f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db7fd9dee94c47" /><Relationship Type="http://schemas.openxmlformats.org/officeDocument/2006/relationships/notesSlide" Target="/ppt/notesSlides/notesSlide4.xml" Id="R0c2525f38d9b43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2d5c8a3e3b4588" /><Relationship Type="http://schemas.openxmlformats.org/officeDocument/2006/relationships/notesSlide" Target="/ppt/notesSlides/notesSlide5.xml" Id="R080deedea7314d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50aad695634616" /><Relationship Type="http://schemas.openxmlformats.org/officeDocument/2006/relationships/notesSlide" Target="/ppt/notesSlides/notesSlide6.xml" Id="Rb21e298cf4c542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210c906bdb427d" /><Relationship Type="http://schemas.openxmlformats.org/officeDocument/2006/relationships/notesSlide" Target="/ppt/notesSlides/notesSlide7.xml" Id="R5e75ab1e0f894c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bca4696f99486c" /><Relationship Type="http://schemas.openxmlformats.org/officeDocument/2006/relationships/notesSlide" Target="/ppt/notesSlides/notesSlide8.xml" Id="Rbf82501265c34b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628d4b0c3548c9" /><Relationship Type="http://schemas.openxmlformats.org/officeDocument/2006/relationships/notesSlide" Target="/ppt/notesSlides/notesSlide9.xml" Id="R5073c21c8ff747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e7741fee534299" /><Relationship Type="http://schemas.openxmlformats.org/officeDocument/2006/relationships/notesSlide" Target="/ppt/notesSlides/notesSlide10.xml" Id="Rd5b2b171dd594d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f59a65f6944900" /><Relationship Type="http://schemas.openxmlformats.org/officeDocument/2006/relationships/notesSlide" Target="/ppt/notesSlides/notesSlide11.xml" Id="R82784aca68d74a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928b756d864811" /><Relationship Type="http://schemas.openxmlformats.org/officeDocument/2006/relationships/notesSlide" Target="/ppt/notesSlides/notesSlide12.xml" Id="Rd2bba97d013449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e04dd15fe5437f" /><Relationship Type="http://schemas.openxmlformats.org/officeDocument/2006/relationships/notesSlide" Target="/ppt/notesSlides/notesSlide13.xml" Id="R96669cddc63b4a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20e68e2d4b44f4" /><Relationship Type="http://schemas.openxmlformats.org/officeDocument/2006/relationships/notesSlide" Target="/ppt/notesSlides/notesSlide14.xml" Id="Rf78f1397624b40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4121c1ff9e40f1" /><Relationship Type="http://schemas.openxmlformats.org/officeDocument/2006/relationships/notesSlide" Target="/ppt/notesSlides/notesSlide15.xml" Id="R7f292260ef704e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75f1bc9d0941ae" /><Relationship Type="http://schemas.openxmlformats.org/officeDocument/2006/relationships/notesSlide" Target="/ppt/notesSlides/notesSlide16.xml" Id="Rcef9fa54f936469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7A0C6BE-77E0-409B-B9A0-0D9F3220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EF6BC60-7583-495D-B0B4-F656F1E3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9601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Human involvement</a:t>
            </a:r>
            <a:endParaRPr sz="2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DD9EEC1-4B37-4965-A28E-EAA1D4D4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74320"/>
            <a:ext cx="141732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6350">
            <a:solidFill>
              <a:srgbClr val="CF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CDD229C-DA71-4F8D-A281-D96B896B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352044"/>
            <a:ext cx="1417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Table 1/15</a:t>
            </a:r>
            <a:endParaRPr sz="750"/>
          </a:p>
        </p:txBody>
      </p:sp>
      <p:graphicFrame>
        <p:nvGraphicFramePr>
          <p:cNvPr id="31" name="Table 0"/>
          <p:cNvGraphicFramePr/>
          <p:nvPr/>
        </p:nvGraphicFramePr>
        <p:xfrm>
          <a:off xmlns:a="http://schemas.openxmlformats.org/drawingml/2006/main" x="411480" y="1042416"/>
          <a:ext xmlns:a="http://schemas.openxmlformats.org/drawingml/2006/main" cx="11365992" cy="5440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09160"/>
                <a:gridCol w="665683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Initial question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Potential direction it opens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Who was involved or exposed, and what role did each person have?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Worker, contractor, supervisor, operator, witness, bystander; assigned responsibility, authority, exposure location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was each person trying to accomplish immediately before the event?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Task objective, competing priorities, production pressure, troubleshooting goal, informal work, mismatch between assigned and actual work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actions or non-actions are factually established, and what remains assumed?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Verified sequence, decision points, perception, response, omitted action, unreliable reconstruction, premature human-error conclusion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information, cues, instructions, or warnings were available at the time?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Briefing, alarm, label, signal, visibility, language, comprehension, missing or conflicting information; may activate Communication / supervision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qualifications, training, authorization, or task familiarity were relevant?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Competency, certification, authorization, contractor qualification, refresher training, unfamiliar or non-routine task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Were fatigue, overtime, workload, physical capability, ergonomics, or time pressure potentially relevant?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Shift length, staffing, workload, fatigue, distraction, reach, force, posture, physical limitation, schedule pressure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PPE or protective clothing was expected, available, and observed?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PPE selection, availability, condition, fit, compatibility, use, enforcement, hazard assessment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How did the task setup, equipment, environment, or organization shape the person’s available choices?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Equipment design, access, visibility, procedure practicality, supervision, staffing, incentives, line of fire; handoff to the relevant specialist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8DC4379-7097-46AD-8D8A-6AB6D217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" y="1042416"/>
            <a:ext cx="45720" cy="544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668F8CA-FC4C-4190-9EC9-50A091F4050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64768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30325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7A0C6BE-77E0-409B-B9A0-0D9F3220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EF6BC60-7583-495D-B0B4-F656F1E3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9601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Human involvement</a:t>
            </a:r>
            <a:endParaRPr sz="2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DD9EEC1-4B37-4965-A28E-EAA1D4D4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74320"/>
            <a:ext cx="141732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6350">
            <a:solidFill>
              <a:srgbClr val="CF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CDD229C-DA71-4F8D-A281-D96B896B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352044"/>
            <a:ext cx="1417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Table 1/15</a:t>
            </a:r>
            <a:endParaRPr sz="750"/>
          </a:p>
        </p:txBody>
      </p:sp>
      <p:graphicFrame>
        <p:nvGraphicFramePr>
          <p:cNvPr id="31" name="Table 0"/>
          <p:cNvGraphicFramePr/>
          <p:nvPr/>
        </p:nvGraphicFramePr>
        <p:xfrm>
          <a:off xmlns:a="http://schemas.openxmlformats.org/drawingml/2006/main" x="411480" y="1042416"/>
          <a:ext xmlns:a="http://schemas.openxmlformats.org/drawingml/2006/main" cx="11365992" cy="5440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09160"/>
                <a:gridCol w="665683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Initial question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Potential direction it opens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Who was involved or exposed, and what role did each person have?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Worker, contractor, supervisor, operator, witness, bystander; assigned responsibility, authority, exposure location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was each person trying to accomplish immediately before the event?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Task objective, competing priorities, production pressure, troubleshooting goal, informal work, mismatch between assigned and actual work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actions or non-actions are factually established, and what remains assumed?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Verified sequence, decision points, perception, response, omitted action, unreliable reconstruction, premature human-error conclusion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information, cues, instructions, or warnings were available at the time?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Briefing, alarm, label, signal, visibility, language, comprehension, missing or conflicting information; may activate Communication / supervision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qualifications, training, authorization, or task familiarity were relevant?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Competency, certification, authorization, contractor qualification, refresher training, unfamiliar or non-routine task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Were fatigue, overtime, workload, physical capability, ergonomics, or time pressure potentially relevant?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Shift length, staffing, workload, fatigue, distraction, reach, force, posture, physical limitation, schedule pressure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PPE or protective clothing was expected, available, and observed?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PPE selection, availability, condition, fit, compatibility, use, enforcement, hazard assessment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How did the task setup, equipment, environment, or organization shape the person’s available choices?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7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Equipment design, access, visibility, procedure practicality, supervision, staffing, incentives, line of fire; handoff to the relevant specialist</a:t>
                      </a:r>
                      <a:endParaRPr sz="87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8DC4379-7097-46AD-8D8A-6AB6D217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" y="1042416"/>
            <a:ext cx="45720" cy="544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668F8CA-FC4C-4190-9EC9-50A091F4050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64768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30325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20D9F8B-B02D-469B-B1F7-3BC50B9D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B37D973-D6EB-44CA-B900-5F707C93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9601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Electrical incident</a:t>
            </a:r>
            <a:endParaRPr sz="2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77D701F-12C3-423C-AC38-1724C309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74320"/>
            <a:ext cx="141732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6350">
            <a:solidFill>
              <a:srgbClr val="CF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BC6424-4026-4C79-BA85-4C61A18C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352044"/>
            <a:ext cx="1417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Table 2/15</a:t>
            </a:r>
            <a:endParaRPr sz="750"/>
          </a:p>
        </p:txBody>
      </p:sp>
      <p:graphicFrame>
        <p:nvGraphicFramePr>
          <p:cNvPr id="31" name="Table 0"/>
          <p:cNvGraphicFramePr/>
          <p:nvPr/>
        </p:nvGraphicFramePr>
        <p:xfrm>
          <a:off xmlns:a="http://schemas.openxmlformats.org/drawingml/2006/main" x="411480" y="1042416"/>
          <a:ext xmlns:a="http://schemas.openxmlformats.org/drawingml/2006/main" cx="11365992" cy="5440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09160"/>
                <a:gridCol w="665683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Initial question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Potential direction it opens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electrical asset, circuit, or system could be involved?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Equipment/tool, wiring, panel, battery, controls, temporary power, upstream or downstream circuit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was the confirmed energy state immediately before and during the event?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Energized work, unexpected energization, stored energy, induced voltage, battery power, unknown or unverified state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work, interaction, or change was occurring around the electrical system?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Operating, maintenance, testing, troubleshooting, installation, cleaning, switching, physical contact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evidence suggests an electrical event or abnormal condition?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Shock, arc flash, heat, smoke, tripped device, damaged insulation, exposed conductor, abnormal equipment behavior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was different from the normal equipment or work condition?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Temporary wiring, outage configuration, bypass, recent repair, damaged component, changed setup, wet or contaminated condition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protection or control was expected to prevent exposure, and what was its observed state?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Isolation / LOTO, breaker, fuse, relay, interlock, grounding, guarding, PPE; may activate equipment or procedure paths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Who or what could have been exposed, and by what possible path?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Human involvement, direct or indirect contact, conductive path, nearby personnel, contractor exposure, equipment damage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Were surrounding conditions relevant to the electrical exposure or failure?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Work-environment involvement: water, dampness, confined access, poor visibility, conductive surfaces, congestion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5D517B8-756E-40D7-8F0A-AA1A0DEF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" y="1042416"/>
            <a:ext cx="45720" cy="544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045C356-DB32-4CAE-B3B4-F7D5B00AD45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64768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5196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AD8EC52-4C92-4D2A-B776-BC43EDCE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C57E28F-7DA4-4FB4-92E3-88BD8FCC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9601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Equipment or tool involvement</a:t>
            </a:r>
            <a:endParaRPr sz="2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BC7FFDC-91C4-4905-8215-49437FF1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74320"/>
            <a:ext cx="141732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6350">
            <a:solidFill>
              <a:srgbClr val="CF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9372368-05CD-4C13-ABEC-7888F722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352044"/>
            <a:ext cx="1417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Table 3/15</a:t>
            </a:r>
            <a:endParaRPr sz="750"/>
          </a:p>
        </p:txBody>
      </p:sp>
      <p:graphicFrame>
        <p:nvGraphicFramePr>
          <p:cNvPr id="31" name="Table 0"/>
          <p:cNvGraphicFramePr/>
          <p:nvPr/>
        </p:nvGraphicFramePr>
        <p:xfrm>
          <a:off xmlns:a="http://schemas.openxmlformats.org/drawingml/2006/main" x="411480" y="1042416"/>
          <a:ext xmlns:a="http://schemas.openxmlformats.org/drawingml/2006/main" cx="11365992" cy="5440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09160"/>
                <a:gridCol w="665683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Initial question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Potential direction it opens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equipment, tool, component, or interface was involved?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Machine, hand tool, power tool, guard, fixture, attachment, structural component, connection or interface boundary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was it expected to do, and what did it actually do?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Functional deviation, failure to move, unintended movement, drift, release, jam, loss of control, abnormal response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was its physical and operating condition before and after the event?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Wear, fracture, deformation, corrosion, contamination, overheating, misalignment, damage pattern, latent defect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Was it the correct equipment or tool for the task and conditions?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Selection, suitability, compatibility, capacity, rating, substitute tool, improper application; may activate Procedure / planning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Had it been inspected, maintained, repaired, modified, or reported defective?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Missed inspection, maintenance quality, recurring defect, modification, temporary repair, deferred work, defect reporting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setup, alignment, guarding, support, clearance, or attachment condition existed?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Installation error, removed guard, temporary support, inadequate restraint, interference, loose attachment, outage configuration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operating limits, loads, tolerances, or failure modes may be relevant?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Overload, fatigue, tolerance stack-up, design margin, pressure, speed, temperature, foreseeable failure mode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physical evidence could distinguish failure, misuse, unsuitable design, or external influence?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Fracture surface, witness marks, measurements, logs, testing, photographs, debris, sequence evidence, expert examination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C5B0D41-FAB1-4B50-AACD-0B754AFD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" y="1042416"/>
            <a:ext cx="45720" cy="544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8E6248E-E8AD-46B0-8CF1-13AF649BCFD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64768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42126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B81A7E6-FDB0-40FA-8CFA-ADA44997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FF97027-563D-4EB5-A83C-1E529AC7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9601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Mobile equipment / vehicle involvement</a:t>
            </a:r>
            <a:endParaRPr sz="2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91D86DA-386F-47EE-AEAE-F94F16CB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74320"/>
            <a:ext cx="141732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6350">
            <a:solidFill>
              <a:srgbClr val="CF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CA367BC-C2DE-4D1D-BC04-CCF2FC2D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352044"/>
            <a:ext cx="1417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Table 4/15</a:t>
            </a:r>
            <a:endParaRPr sz="750"/>
          </a:p>
        </p:txBody>
      </p:sp>
      <p:graphicFrame>
        <p:nvGraphicFramePr>
          <p:cNvPr id="31" name="Table 0"/>
          <p:cNvGraphicFramePr/>
          <p:nvPr/>
        </p:nvGraphicFramePr>
        <p:xfrm>
          <a:off xmlns:a="http://schemas.openxmlformats.org/drawingml/2006/main" x="411480" y="1042416"/>
          <a:ext xmlns:a="http://schemas.openxmlformats.org/drawingml/2006/main" cx="11365992" cy="5440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09160"/>
                <a:gridCol w="665683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Initial question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Potential direction it opens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mobile equipment or vehicle was involved, and what task was it performing?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Forklift, loader, truck, trailer, cart, tractor; travel, loading, unloading, towing, parking, positioning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was its movement, position, speed, load, and direction immediately before the event?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Backing, turning, stopping, acceleration, rollaway, unstable load, blind-side travel, collision sequence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route, travel surface, clearance, traffic pattern, and exclusion zone existed?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Poor surface, slope, congestion, restricted clearance, traffic-plan weakness, pedestrian separation, route change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could the operator and nearby people see or hear?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Blind spots, mirrors, cameras, alarms, lighting, noise, obstruction, line of sight, pedestrian awareness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was the equipment’s condition, including brakes, steering, tires, alarms, lights, restraints, and attachments?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Mechanical failure, missed pre-use inspection, maintenance issue, disabled warning, tire or brake condition, attachment defect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Was the load stable, secured, within capacity, and compatible with the equipment?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Overcapacity, shifted load, poor center of gravity, incorrect attachment, inadequate securement, visibility obstruction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Who controlled or directed the movement, and how was coordination handled?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Operator qualification, spotter, signal, radio, movement authority, conflicting direction; activates Communication / supervision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changed from the normal route, task, equipment, load, or surrounding activity?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Temporary route, substitute vehicle, unusual load, outage congestion, simultaneous work, changed traffic control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041B07A-6CEC-469E-82C1-9571EB29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" y="1042416"/>
            <a:ext cx="45720" cy="544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0D5846F-A89C-4162-854C-EFD07105C61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64768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15239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3E60DF8-6AB5-4860-95D0-0B476BB1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C5DED40-FD67-4423-AAC4-F93320CB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9601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Crane, lifting, or suspended-load involvement</a:t>
            </a:r>
            <a:endParaRPr sz="2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CF94C1F-9061-4097-9E80-6A94789A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74320"/>
            <a:ext cx="141732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6350">
            <a:solidFill>
              <a:srgbClr val="CF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72B9AFC-EE70-4B7C-B3DC-56234112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352044"/>
            <a:ext cx="1417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Table 5/15</a:t>
            </a:r>
            <a:endParaRPr sz="750"/>
          </a:p>
        </p:txBody>
      </p:sp>
      <p:graphicFrame>
        <p:nvGraphicFramePr>
          <p:cNvPr id="31" name="Table 0"/>
          <p:cNvGraphicFramePr/>
          <p:nvPr/>
        </p:nvGraphicFramePr>
        <p:xfrm>
          <a:off xmlns:a="http://schemas.openxmlformats.org/drawingml/2006/main" x="411480" y="1042416"/>
          <a:ext xmlns:a="http://schemas.openxmlformats.org/drawingml/2006/main" cx="11365992" cy="5440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09160"/>
                <a:gridCol w="665683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Initial question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Potential direction it opens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lifting equipment, rigging, attachment, and load were involved?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Crane, hoist, sling, hook, magnet, chainfall, lifting beam, attachment point, load identity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stage of the lift or suspended condition existed at the time?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Rigging, initial take-up, hoisting, travel, rotation, landing, release, parked suspension, residual suspended state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were the load’s weight, center of gravity, geometry, stability, and attachment points?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Unknown weight, shifting center of gravity, unstable geometry, inadequate pick points, unbalanced or changing load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Were the crane, hoist, rigging, and lifting devices suitable and within rated capacity?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Capacity, load chart, rigging angle, side loading, component compatibility, below-the-hook rating, overload protection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inspections, condition checks, and lift planning applied?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Pre-use inspection, rigging condition, critical-lift plan, engineering review, missed defect, unsuitable or absent plan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Who operated, rigged, signaled, directed, or worked near the lift?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Operator, rigger, signaler, lift director, qualification, role clarity, positioning; Human involvement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line-of-fire, exclusion-zone, clearance, swing, or travel conditions existed?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People beneath or near load, pinch point, swing radius, overhead obstruction, wind, congestion, inadequate barricade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evidence explains any unintended movement, release, contact, shift, or fall?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Rigging failure, attachment release, control input, overload, contact, structural failure, gravity path, event sequence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C4586A4-E8D0-47D2-8AA6-5711C169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" y="1042416"/>
            <a:ext cx="45720" cy="544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CB478F2-6848-4275-BEC5-2880B4C9FCF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64768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43886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E5C8180-EDE0-4D99-9DF5-85D2489C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71848A9-89E1-4424-854A-E38A8CDC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9601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Rail / locomotive involvement</a:t>
            </a:r>
            <a:endParaRPr sz="2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F28D5DB-F410-4682-963A-D3615903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74320"/>
            <a:ext cx="141732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6350">
            <a:solidFill>
              <a:srgbClr val="CF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945C754-693A-481D-8575-1197B980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352044"/>
            <a:ext cx="1417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Table 6/15</a:t>
            </a:r>
            <a:endParaRPr sz="750"/>
          </a:p>
        </p:txBody>
      </p:sp>
      <p:graphicFrame>
        <p:nvGraphicFramePr>
          <p:cNvPr id="31" name="Table 0"/>
          <p:cNvGraphicFramePr/>
          <p:nvPr/>
        </p:nvGraphicFramePr>
        <p:xfrm>
          <a:off xmlns:a="http://schemas.openxmlformats.org/drawingml/2006/main" x="411480" y="1042416"/>
          <a:ext xmlns:a="http://schemas.openxmlformats.org/drawingml/2006/main" cx="11365992" cy="5440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09160"/>
                <a:gridCol w="665683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Initial question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Potential direction it opens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locomotive, rail car, track, switch, derail, or related equipment was involved?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Rolling stock, trackmobile, switch, derail, crossing, coupler, brake, loading or unloading equipment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movement or rail task was occurring, and what was the intended route?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Switching, coupling, uncoupling, spotting, loading, securement, authorized route, unintended movement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were the positions and securement states of the rolling stock before the event?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Hand brakes, chocks, air brakes, gradient, uncoupled cars, rollaway, incorrect consist position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was the condition of the track, switches, derails, brakes, couplers, and warning systems?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Track defect, switch alignment, derail position, brake failure, coupler defect, signal or warning malfunction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Who controlled, authorized, directed, or observed the movement?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Engineer, conductor, ground person, dispatcher, contractor, movement authority, qualification, role clarity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signals, radio calls, confirmations, or switching instructions were used?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Missed or misunderstood signal, radio failure, readback, confirmation, conflicting instruction; Communication / supervision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clearance, fouling, crossing, pedestrian, vehicle, or loading conditions existed?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Fouled track, close clearance, crossing conflict, pedestrian exposure, vehicle interaction, loading interference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changed from the planned consist, route, load, switching sequence, or operating condition?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Route change, added car, unusual load, altered sequence, temporary track condition, maintenance or outage activity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168E5D0-9560-4050-B5D7-7D0E828A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" y="1042416"/>
            <a:ext cx="45720" cy="544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C9DA296-037E-46E4-82F1-AB476BD3D0C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64768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81613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9C8BC2-6AAD-4FB6-9930-3253D53B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DA71ADB-495C-4072-A495-A4DDD11E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9601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Stored, released, or gravity energy</a:t>
            </a:r>
            <a:endParaRPr sz="2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B2670B6-D047-4BA6-9B34-37745092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74320"/>
            <a:ext cx="141732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6350">
            <a:solidFill>
              <a:srgbClr val="CF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97FA362-0F8A-41A0-AFC5-500D5A06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352044"/>
            <a:ext cx="1417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Table 7/15</a:t>
            </a:r>
            <a:endParaRPr sz="750"/>
          </a:p>
        </p:txBody>
      </p:sp>
      <p:graphicFrame>
        <p:nvGraphicFramePr>
          <p:cNvPr id="31" name="Table 0"/>
          <p:cNvGraphicFramePr/>
          <p:nvPr/>
        </p:nvGraphicFramePr>
        <p:xfrm>
          <a:off xmlns:a="http://schemas.openxmlformats.org/drawingml/2006/main" x="411480" y="1042416"/>
          <a:ext xmlns:a="http://schemas.openxmlformats.org/drawingml/2006/main" cx="11365992" cy="5440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09160"/>
                <a:gridCol w="665683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Initial question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Potential direction it opens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form or forms of energy were present?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Gravity, hydraulic, pneumatic, pressure, spring, tension, thermal, steam, compressed air, mechanical or rotational energy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Where was the energy stored, supported, restrained, or generated?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Raised component, pressure vessel, accumulator, cylinder, line, spring, counterweight, suspended or tensioned object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prevented the energy from being released during normal conditions?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Support, keeper, pin, brake, valve, block, restraint, interlock, structural member, pressure-control device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changed immediately before the movement or release?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Removal, loss of pressure, control action, vibration, component failure, contact, temperature change, altered configuration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object, fluid, component, or person was within the potential energy path?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Line of fire, crush zone, fall zone, pressure discharge, moving component, nearby structure, exposed worker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blocking, support, restraint, pressure control, or secondary protection existed?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Primary and secondary blocks, cribbing, mechanical stop, check valve, relief device, redundant support, exclusion zone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Was the amount or direction of energy understood and accounted for in the work?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Energy assessment, load or pressure calculation, hidden energy, unexpected direction, incomplete hazard recognition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physical evidence could identify the release point, sequence, and failure of containment or support?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Damage pattern, fracture, displaced parts, gauge or control records, witness marks, fluid path, photographs, measurements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B709F2A-0A26-42A8-8B7B-492183E7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" y="1042416"/>
            <a:ext cx="45720" cy="544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0F5ED13-24EE-43B6-AF20-F8F51642D78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64768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80152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6C12992-B219-4D23-8CCF-334092CE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6F94F9-2F25-4509-B387-AA2EAEFF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9601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Isolation / LOTO involvement</a:t>
            </a:r>
            <a:endParaRPr sz="2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8AF43DE-2528-4A28-81E0-41E44045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74320"/>
            <a:ext cx="141732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6350">
            <a:solidFill>
              <a:srgbClr val="CF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D48677C-C42A-4B0C-B42A-AFE2A51A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352044"/>
            <a:ext cx="1417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Table 8/15</a:t>
            </a:r>
            <a:endParaRPr sz="750"/>
          </a:p>
        </p:txBody>
      </p:sp>
      <p:graphicFrame>
        <p:nvGraphicFramePr>
          <p:cNvPr id="31" name="Table 0"/>
          <p:cNvGraphicFramePr/>
          <p:nvPr/>
        </p:nvGraphicFramePr>
        <p:xfrm>
          <a:off xmlns:a="http://schemas.openxmlformats.org/drawingml/2006/main" x="411480" y="1042416"/>
          <a:ext xmlns:a="http://schemas.openxmlformats.org/drawingml/2006/main" cx="11365992" cy="5440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09160"/>
                <a:gridCol w="665683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Initial question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Potential direction it opens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equipment or system was being isolated, and for what work?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Isolation scope, affected equipment, maintenance boundary, task dependency, wrong or incomplete equipment identification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hazardous-energy sources and boundaries were identified?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Electrical, hydraulic, pneumatic, gravity, thermal, chemical, mechanical, stored or secondary energy; boundary completeness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isolation points, locks, tags, blocks, blanks, disconnects, or valves were used?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Correct isolation point, missing device, ineffective valve, wrong disconnect, absent block, lock or tag application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How was zero energy or the intended safe state verified?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Tryout, meter test, pressure check, visual verification, drain or bleed, test-before-touch, assumed rather than verified state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stored, residual, induced, gravity, or secondary energy remained possible?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Accumulator pressure, trapped fluid, elevated load, induced voltage, spring force, thermal energy, backfeed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Who established, controlled, changed, or relied on the isolation?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Authorized employee, affected employee, contractor, supervisor, system owner, authority, handoff and reliance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Were group, contractor, shift-change, testing, temporary-energization, or restoration conditions involved?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Group lockbox, transfer, turnover, exception, test energization, lock removal, startup and restoration sequence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evidence confirms the isolation state at each important point in the event sequence?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LOTO sheet, lockbox log, switching record, photographs, meter readings, valve position, witness statement, timestamped state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0FCD7AC-39FD-45F6-BB1A-107BCAD8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" y="1042416"/>
            <a:ext cx="45720" cy="544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A51FBEF-620F-4053-81EB-11FE96E61BF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64768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439696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E689A97-5DA3-4271-9217-6322A7B8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80973CA-A2A4-444C-B16D-4D40931B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9601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Maintenance, outage, or non-routine work</a:t>
            </a:r>
            <a:endParaRPr sz="2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DF01FFD-34BE-4E82-81CB-A164D8C1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74320"/>
            <a:ext cx="141732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6350">
            <a:solidFill>
              <a:srgbClr val="CF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FC73F92-55C0-41A6-A71D-8FA6791E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352044"/>
            <a:ext cx="1417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Table 9/15</a:t>
            </a:r>
            <a:endParaRPr sz="750"/>
          </a:p>
        </p:txBody>
      </p:sp>
      <p:graphicFrame>
        <p:nvGraphicFramePr>
          <p:cNvPr id="31" name="Table 0"/>
          <p:cNvGraphicFramePr/>
          <p:nvPr/>
        </p:nvGraphicFramePr>
        <p:xfrm>
          <a:off xmlns:a="http://schemas.openxmlformats.org/drawingml/2006/main" x="411480" y="1042416"/>
          <a:ext xmlns:a="http://schemas.openxmlformats.org/drawingml/2006/main" cx="11365992" cy="5440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09160"/>
                <a:gridCol w="665683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Initial question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Potential direction it opens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work was planned, and what was actually being performed?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Planned versus actual scope, emergent work, troubleshooting, informal task, scope drift, conflicting work orders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equipment, process, or area was placed in a non-normal condition?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Shutdown, opened system, bypass, removed guard, disabled control, isolated area, changed process or access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had been removed, disabled, bypassed, opened, supported, or temporarily configured?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Missing component, temporary support, defeated interlock, open boundary, abnormal load path, incomplete reassembly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work occurred on previous shifts or by other crews and contractors?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Shift handoff, incomplete work, changed state, contractor interface, undocumented action, ownership gap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scope changes, discoveries, delays, or conflicting activities occurred?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Change control, new hazard, schedule pressure, simultaneous operations, work conflict, contingency planning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condition was the system expected to be left in between work stages?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Interim safe state, temporary configuration, responsibility, tagging, preservation, unattended equipment condition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inspections, hold points, testing, and return-to-service steps applied?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Missed verification, premature release, incomplete testing, signoff, commissioning, restoration or startup control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evidence documents the configuration and work sequence?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Work order, outage schedule, shift log, photographs, permits, configuration drawing, contractor record, control-system history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BF9BF27-7458-4D98-A085-851065DF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" y="1042416"/>
            <a:ext cx="45720" cy="544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24320BF-AB48-44FD-9F43-4A4307AD144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64768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313696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9D42450-FD65-4E81-BB6E-67CC0B54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0E7B642-8508-4F05-9B9B-9F514EA8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9601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Process or material involvement</a:t>
            </a:r>
            <a:endParaRPr sz="2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A2CE995-2E6F-4603-842A-DA12CD7A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74320"/>
            <a:ext cx="141732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6350">
            <a:solidFill>
              <a:srgbClr val="CF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9CBE59A-EC82-4C6C-832C-CBC52E65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352044"/>
            <a:ext cx="1417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Table 10/15</a:t>
            </a:r>
            <a:endParaRPr sz="750"/>
          </a:p>
        </p:txBody>
      </p:sp>
      <p:graphicFrame>
        <p:nvGraphicFramePr>
          <p:cNvPr id="31" name="Table 0"/>
          <p:cNvGraphicFramePr/>
          <p:nvPr/>
        </p:nvGraphicFramePr>
        <p:xfrm>
          <a:off xmlns:a="http://schemas.openxmlformats.org/drawingml/2006/main" x="411480" y="1042416"/>
          <a:ext xmlns:a="http://schemas.openxmlformats.org/drawingml/2006/main" cx="11365992" cy="5440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09160"/>
                <a:gridCol w="665683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Initial question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Potential direction it opens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process and material were involved, and what condition were they expected to be in?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Normal process state, material specification, molten metal, chemical, gas, coil, scrap, fluid, expected containment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were the actual temperature, pressure, composition, moisture, quantity, shape, or physical state?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Overtemperature, overpressure, contamination, moisture reaction, unstable shape, excess quantity, unexpected phase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containment, separation, cooling, ventilation, or handling controls applied?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Vessel, piping, barrier, cooling, exhaust, segregation, transfer method, loss of containment or control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changed in the process or material before the event?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Process excursion, feed change, startup or shutdown, blockage, buildup, contamination, changed recipe or material source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Was the material compatible with the equipment, container, environment, and task?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Chemical incompatibility, unsuitable container, thermal effect, moisture contact, equipment rating, handling mismatch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signs of leakage, buildup, contamination, reaction, overheating, instability, or loss of containment existed?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Leak path, residue, pressure rise, smoke, discoloration, unusual odor, deformation, unstable load or reaction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process monitoring, sampling, alarms, inspections, or quality checks were available?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Alarm response, missing instrument, trend data, sampling gap, inspection frequency, out-of-limit condition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evidence could distinguish a material problem, process excursion, equipment failure, or handling issue?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Samples, lab results, historian data, damage pattern, equipment inspection, batch record, witness account, CCTV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F52A5A8-D653-49E4-9901-DFBF011B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" y="1042416"/>
            <a:ext cx="45720" cy="544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2CE17A8-DD3D-4AD5-9080-4920C44D6CE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64768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14054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2E8F4A8-D9D5-44ED-9D60-C1CEDA99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E204408-FF11-4BA0-B3E3-C3CE2F12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9601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Work-environment involvement</a:t>
            </a:r>
            <a:endParaRPr sz="2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D26E10D-8032-4484-92FE-0E069E30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74320"/>
            <a:ext cx="141732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6350">
            <a:solidFill>
              <a:srgbClr val="CF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ADCD16F-3969-4A63-8029-C9C22B7B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352044"/>
            <a:ext cx="1417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Table 11/15</a:t>
            </a:r>
            <a:endParaRPr sz="750"/>
          </a:p>
        </p:txBody>
      </p:sp>
      <p:graphicFrame>
        <p:nvGraphicFramePr>
          <p:cNvPr id="31" name="Table 0"/>
          <p:cNvGraphicFramePr/>
          <p:nvPr/>
        </p:nvGraphicFramePr>
        <p:xfrm>
          <a:off xmlns:a="http://schemas.openxmlformats.org/drawingml/2006/main" x="411480" y="1042416"/>
          <a:ext xmlns:a="http://schemas.openxmlformats.org/drawingml/2006/main" cx="11365992" cy="5440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09160"/>
                <a:gridCol w="665683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Initial question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Potential direction it opens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Where did the event occur, and what physical features of the area were relevant?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Area layout, pit, platform, confined space, aisle, elevation, equipment proximity, restricted or unusual access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Were height, access, openings, ladders, scaffolds, stairs, or changing elevations involved?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Fall exposure, scaffold or ladder condition, open hole, access method, edge protection, elevation transition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were the walking and working surfaces, housekeeping, drainage, and congestion conditions?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Slip, trip, uneven surface, debris, water, poor drainage, blocked route, material congestion, unstable footing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lighting, visibility, noise, weather, temperature, or wind conditions existed?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Poor visibility, glare, noise masking, heat or cold stress, rain, ice, wind effect, communication difficulty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Was dust, fume, gas, oxygen level, ventilation, or another atmospheric exposure possible?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Toxic or combustible atmosphere, oxygen deficiency, welding fume, dust, vapor, asbestos, inadequate ventilation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clearances, barriers, exclusion zones, escape paths, and lines of sight existed?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Line of fire, inadequate barricade, restricted egress, blind area, pinch point, pedestrian or equipment separation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Was the area in its normal condition, or had work, deterioration, or temporary arrangements changed it?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Outage scaffold, temporary barrier, removed floor section, deterioration, construction, maintenance staging, changed access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photographs, measurements, monitoring results, inspections, or witness observations establish the conditions?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Scene documentation, atmospheric readings, lighting level, dimensions, weather record, inspection, corroborated observations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8945135-73C1-411E-AC75-77408093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" y="1042416"/>
            <a:ext cx="45720" cy="544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2456804-4038-439C-B3CC-55B08D49074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64768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833795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A2A8EB4-CE37-41FE-8E98-6C678273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6E9806B-083D-4D69-B440-F0B6D994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9601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Procedure / planning involvement</a:t>
            </a:r>
            <a:endParaRPr sz="2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81FF581-1A95-4427-A645-2F8C5A3D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74320"/>
            <a:ext cx="141732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6350">
            <a:solidFill>
              <a:srgbClr val="CF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04D5B7-A802-457C-BB7D-4983D749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352044"/>
            <a:ext cx="1417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Table 12/15</a:t>
            </a:r>
            <a:endParaRPr sz="750"/>
          </a:p>
        </p:txBody>
      </p:sp>
      <p:graphicFrame>
        <p:nvGraphicFramePr>
          <p:cNvPr id="31" name="Table 0"/>
          <p:cNvGraphicFramePr/>
          <p:nvPr/>
        </p:nvGraphicFramePr>
        <p:xfrm>
          <a:off xmlns:a="http://schemas.openxmlformats.org/drawingml/2006/main" x="411480" y="1042416"/>
          <a:ext xmlns:a="http://schemas.openxmlformats.org/drawingml/2006/main" cx="11365992" cy="5440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09160"/>
                <a:gridCol w="665683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Initial question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Potential direction it opens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work was intended, and what governing procedure, plan, permit, or assessment applied?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Work scope, procedure, JSHA, permit, risk assessment, checklist, undocumented or misclassified work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Did the document match the actual task, equipment, hazards, people, and conditions?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Generic or outdated procedure, wrong asset, omitted hazard, contractor mismatch, field conditions not represented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critical steps, limits, hold points, prerequisites, and contingencies were defined?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Missing step, unclear limit, absent verification, weak prerequisite, no contingency, uncontrolled decision point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resources, staffing, time, tools, and information were planned and available?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Understaffing, unavailable tool, insufficient time, missing drawing, skill mix, production pressure, resource conflict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changes or discoveries occurred, and how were they assessed and authorized?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Scope change, emergent condition, management of change, stop-work, approval, informal workaround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Was the sequence workable, understandable, and consistent with how the job was actually performed?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Impractical sequence, ambiguous instruction, work-as-imagined versus work-as-done, deviation driven by field reality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known hazards and previous lessons were incorporated?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Repeat event, missed learning, outdated risk assessment, known defect, absent historical control, weak organizational learning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evidence shows how the plan was briefed, used, revised, or departed from?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Pre-job briefing, signoff, field copy, revision history, permit record, observed practice, deviation or approval trail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EA69583-49E8-4C5E-B201-22FB75D2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" y="1042416"/>
            <a:ext cx="45720" cy="544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4EE3D56-ADA4-4272-B8E1-6050D9A411B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64768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576079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AD748FD-4712-4A30-B083-8AC6BDBA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31501B-2E19-4B6A-99CF-34BE6307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9601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Communication / supervision involvement</a:t>
            </a:r>
            <a:endParaRPr sz="2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DBD6754-EC63-422F-A685-45A03A06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74320"/>
            <a:ext cx="141732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6350">
            <a:solidFill>
              <a:srgbClr val="CF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CA36504-C979-4EFF-B1C1-5D77A8A7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352044"/>
            <a:ext cx="1417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Table 13/15</a:t>
            </a:r>
            <a:endParaRPr sz="750"/>
          </a:p>
        </p:txBody>
      </p:sp>
      <p:graphicFrame>
        <p:nvGraphicFramePr>
          <p:cNvPr id="31" name="Table 0"/>
          <p:cNvGraphicFramePr/>
          <p:nvPr/>
        </p:nvGraphicFramePr>
        <p:xfrm>
          <a:off xmlns:a="http://schemas.openxmlformats.org/drawingml/2006/main" x="411480" y="1042416"/>
          <a:ext xmlns:a="http://schemas.openxmlformats.org/drawingml/2006/main" cx="11365992" cy="5440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09160"/>
                <a:gridCol w="665683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Initial question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Potential direction it opens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Who needed to communicate or coordinate, and for what decision or action?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Crew interfaces, contractor coordination, operator-maintainer boundary, movement authority, isolation or work ownership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information was sent, received, understood, confirmed, or missing?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Incomplete message, misunderstanding, no readback, missing warning, conflicting information, language or comprehension gap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communication method was used, and was it suitable for the conditions?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Radio, hand signal, face-to-face instruction, written handoff, noise, visibility, channel failure, unsuitable medium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Who had authority and responsibility for the work, movement, isolation, or area?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Unclear ownership, overlapping authority, absent decision-maker, contractor role, supervisor accountability, stop-work authority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shift, contractor, department, or crew handoffs occurred?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Turnover quality, changed equipment state, incomplete work, undocumented condition, responsibility transfer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supervision, verification, or field presence was expected and available?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Span of control, absent supervisor, verification point, remote direction, inadequate field oversight, staffing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Were concerns, changes, conflicts, or abnormal conditions raised and resolved?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Escalation, stop-work, unresolved concern, normalized deviation, production conflict, feedback failure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records or independent evidence establish the communication sequence?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Shift log, radio recording, text or email, permit, briefing record, witness accounts, timestamped control data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5075C23-B900-4C02-BEED-E01B2B8B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" y="1042416"/>
            <a:ext cx="45720" cy="544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7BBD6B6-5D80-4B6C-9C78-1E2E843A792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64768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035584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A207EFF-78B3-45B8-B1ED-92DFE4C2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3EB061B-1AF2-4629-932A-40946F36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9601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Animal / wildlife / insect involvement</a:t>
            </a:r>
            <a:endParaRPr sz="2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5D30098-2193-4A81-B0B1-57C1A4BC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74320"/>
            <a:ext cx="141732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6350">
            <a:solidFill>
              <a:srgbClr val="CF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E908FA-1B77-414A-AA22-5AC98E26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352044"/>
            <a:ext cx="1417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Table 14/15</a:t>
            </a:r>
            <a:endParaRPr sz="750"/>
          </a:p>
        </p:txBody>
      </p:sp>
      <p:graphicFrame>
        <p:nvGraphicFramePr>
          <p:cNvPr id="31" name="Table 0"/>
          <p:cNvGraphicFramePr/>
          <p:nvPr/>
        </p:nvGraphicFramePr>
        <p:xfrm>
          <a:off xmlns:a="http://schemas.openxmlformats.org/drawingml/2006/main" x="411480" y="1042416"/>
          <a:ext xmlns:a="http://schemas.openxmlformats.org/drawingml/2006/main" cx="11365992" cy="5440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09160"/>
                <a:gridCol w="665683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Initial question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Potential direction it opens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animal, wildlife, or insect was involved, and how was it identified?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Species or agent, bite or sting risk, contamination, behavior, mistaken identification, required response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Where and when was it encountered, and was the presence expected or previously reported?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Habitat, seasonal pattern, recurring sighting, prior warning, inspection history, location-specific exposure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contact, bite, sting, startle, distraction, contamination, or movement occurred?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Direct injury, allergic response, startled movement, loss of balance, distraction, contaminated area or equipment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Were nests, food sources, openings, seasonal conditions, or habitat factors present?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Entry point, nesting site, attractant, housekeeping, vegetation, weather, facility deterioration, pest-management need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immediate medical, first-aid, containment, or area-control response occurred?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Treatment delay, allergy protocol, emergency response, exclusion zone, containment, decontamination, reporting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pest-management, inspection, warning, or reporting controls existed?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Preventive inspection, pest contractor, missing warning, reporting pathway, recurring unresolved condition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Did the encounter create a secondary exposure such as a fall, vehicle movement, dropped object, or equipment contact?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Stored energy, mobile equipment, work at height, dropped object, line of fire, unintended machine interaction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evidence establishes the encounter and its role in the event?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Photograph, specimen, medical finding, witness account, nest or entry point, pest record, scene evidence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CEF364A-1C57-45FD-B8B9-75380380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" y="1042416"/>
            <a:ext cx="45720" cy="544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AF37101-2595-4C29-9599-1C6BDED9339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64768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11198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9D6E81B-2A4E-456E-980F-D0E073D5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074F9EE-5314-4EFB-9B89-C5821866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9601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Other / novel condition</a:t>
            </a:r>
            <a:endParaRPr sz="2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7A67C39-A58F-46C9-81D5-DC425A4B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74320"/>
            <a:ext cx="141732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6350">
            <a:solidFill>
              <a:srgbClr val="CFEA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47D1A88-B985-477F-9FFF-AB8B6D5B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352044"/>
            <a:ext cx="1417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Table 15/15</a:t>
            </a:r>
            <a:endParaRPr sz="750"/>
          </a:p>
        </p:txBody>
      </p:sp>
      <p:graphicFrame>
        <p:nvGraphicFramePr>
          <p:cNvPr id="31" name="Table 0"/>
          <p:cNvGraphicFramePr/>
          <p:nvPr/>
        </p:nvGraphicFramePr>
        <p:xfrm>
          <a:off xmlns:a="http://schemas.openxmlformats.org/drawingml/2006/main" x="411480" y="1042416"/>
          <a:ext xmlns:a="http://schemas.openxmlformats.org/drawingml/2006/main" cx="11365992" cy="5440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09160"/>
                <a:gridCol w="665683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Initial question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Potential direction it opens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12365D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condition or subject is not represented by the existing tags?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Precise definition of the potentially novel direction; prevents Other from becoming a general uncertainty bucket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facts show that it is materially connected to the event?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Evidence of relevance, temporal connection, mechanism, exposure, consequence; screens out interesting but immaterial details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Which existing tag is closest, and why is it insufficient?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Taxonomy boundary, possible reassignment, overlap, hidden distinction, need for a genuinely separate investigative path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distinct investigation questions does this condition require?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Unique mechanism, evidence source, subject-matter expertise, control family, causal branch not covered elsewhere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Is it genuinely novel, or is only the wording or specific object unusual?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Synonym resolution, site terminology, unusual equipment still covered by Equipment/tool, avoid unnecessary new tags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Has the same theme appeared in other incidents under different language?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Recurrence, historical pattern, taxonomy normalization, broader category, trend analysis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evidence could confirm or screen out this direction quickly?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Discriminating test, record, expert review, inspection, measurement, interview, rapid reassignment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Should the condition remain a case-specific note or be proposed for taxonomy review?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1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One-off condition, recurring gap, new permanent tag candidate, governance and taxonomy-change decision</a:t>
                      </a:r>
                      <a:endParaRPr sz="91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41148" marR="41148" marT="41148" marB="41148">
                    <a:lnL w="7620" cmpd="sng">
                      <a:solidFill>
                        <a:srgbClr val="CAD5E3"/>
                      </a:solidFill>
                      <a:prstDash val="solid"/>
                    </a:lnL>
                    <a:lnR w="7620" cmpd="sng">
                      <a:solidFill>
                        <a:srgbClr val="CAD5E3"/>
                      </a:solidFill>
                      <a:prstDash val="solid"/>
                    </a:lnR>
                    <a:lnT w="7620" cmpd="sng">
                      <a:solidFill>
                        <a:srgbClr val="CAD5E3"/>
                      </a:solidFill>
                      <a:prstDash val="solid"/>
                    </a:lnT>
                    <a:lnB w="7620" cmpd="sng">
                      <a:solidFill>
                        <a:srgbClr val="CAD5E3"/>
                      </a:solidFill>
                      <a:prstDash val="solid"/>
                    </a:lnB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E9B7F3A-0C36-46E0-B47E-7CA75B73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" y="1042416"/>
            <a:ext cx="45720" cy="544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D1FE6C6-EFCE-44CE-AB8E-B089358DD6B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64768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680262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2026-09-02T20:00:29.6150000Z</dcterms:created>
  <dcterms:modified xsi:type="dcterms:W3CDTF">2026-09-02T20:00:29.6150000Z</dcterms:modified>
</coreProperties>
</file>