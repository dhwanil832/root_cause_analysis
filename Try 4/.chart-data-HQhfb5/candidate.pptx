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1c23c8303d049ee" /><Relationship Type="http://schemas.openxmlformats.org/officeDocument/2006/relationships/extended-properties" Target="/docProps/app.xml" Id="R341f1df59b754a14" /><Relationship Type="http://schemas.openxmlformats.org/officeDocument/2006/relationships/officeDocument" Target="/ppt/presentation.xml" Id="R7cc71e65bdb048f1" /></Relationships>
</file>

<file path=ppt/presentation.xml><?xml version="1.0" encoding="utf-8"?>
<p:presentation xmlns:p="http://schemas.openxmlformats.org/presentationml/2006/main">
  <p:sldMasterIdLst>
    <p:sldMasterId xmlns:r="http://schemas.openxmlformats.org/officeDocument/2006/relationships" id="2147483648" r:id="R11ab372b02af471c"/>
  </p:sldMasterIdLst>
  <p:notesMasterIdLst>
    <p:notesMasterId xmlns:r="http://schemas.openxmlformats.org/officeDocument/2006/relationships" r:id="R90014850f0224e06"/>
  </p:notesMasterIdLst>
  <p:sldIdLst>
    <p:sldId xmlns:r="http://schemas.openxmlformats.org/officeDocument/2006/relationships" id="256" r:id="Rba6dfc73a41d452c"/>
    <p:sldId xmlns:r="http://schemas.openxmlformats.org/officeDocument/2006/relationships" id="257" r:id="R23644092bbd04336"/>
    <p:sldId xmlns:r="http://schemas.openxmlformats.org/officeDocument/2006/relationships" id="258" r:id="R3ee116f8471f4b53"/>
    <p:sldId xmlns:r="http://schemas.openxmlformats.org/officeDocument/2006/relationships" id="259" r:id="Rb40ffd85846d4b0b"/>
    <p:sldId xmlns:r="http://schemas.openxmlformats.org/officeDocument/2006/relationships" id="260" r:id="Ra5273726b20d45d9"/>
    <p:sldId xmlns:r="http://schemas.openxmlformats.org/officeDocument/2006/relationships" id="261" r:id="R83b3f9cc2b374a9e"/>
    <p:sldId xmlns:r="http://schemas.openxmlformats.org/officeDocument/2006/relationships" id="262" r:id="Rf2ba770606ef4bd5"/>
    <p:sldId xmlns:r="http://schemas.openxmlformats.org/officeDocument/2006/relationships" id="263" r:id="R038bc5749d924392"/>
    <p:sldId xmlns:r="http://schemas.openxmlformats.org/officeDocument/2006/relationships" id="264" r:id="R8955449abe8d487f"/>
    <p:sldId xmlns:r="http://schemas.openxmlformats.org/officeDocument/2006/relationships" id="265" r:id="R325113c5dbec4941"/>
    <p:sldId xmlns:r="http://schemas.openxmlformats.org/officeDocument/2006/relationships" id="266" r:id="R95bdcd55ddc647e9"/>
    <p:sldId xmlns:r="http://schemas.openxmlformats.org/officeDocument/2006/relationships" id="267" r:id="R7bfa07e7f7e84e0e"/>
    <p:sldId xmlns:r="http://schemas.openxmlformats.org/officeDocument/2006/relationships" id="268" r:id="Ra3570d2e344848a7"/>
    <p:sldId xmlns:r="http://schemas.openxmlformats.org/officeDocument/2006/relationships" id="269" r:id="Rb395fabd5ec84891"/>
    <p:sldId xmlns:r="http://schemas.openxmlformats.org/officeDocument/2006/relationships" id="270" r:id="R3bf6ae03abba4a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d3243cf77c480e" /><Relationship Type="http://schemas.openxmlformats.org/officeDocument/2006/relationships/slideMaster" Target="/ppt/slideMasters/slideMaster1.xml" Id="R11ab372b02af471c" /><Relationship Type="http://schemas.openxmlformats.org/officeDocument/2006/relationships/notesMaster" Target="/ppt/notesMasters/notesMaster1.xml" Id="R90014850f0224e06" /><Relationship Type="http://schemas.openxmlformats.org/officeDocument/2006/relationships/presProps" Target="/ppt/presProps.xml" Id="R90a5ad8584e6425d" /><Relationship Type="http://schemas.openxmlformats.org/officeDocument/2006/relationships/tableStyles" Target="/ppt/tableStyles.xml" Id="R36b5bf47427b4e34" /><Relationship Type="http://schemas.openxmlformats.org/officeDocument/2006/relationships/slide" Target="/ppt/slides/slide1.xml" Id="Rba6dfc73a41d452c" /><Relationship Type="http://schemas.openxmlformats.org/officeDocument/2006/relationships/slide" Target="/ppt/slides/slide2.xml" Id="R23644092bbd04336" /><Relationship Type="http://schemas.openxmlformats.org/officeDocument/2006/relationships/slide" Target="/ppt/slides/slide3.xml" Id="R3ee116f8471f4b53" /><Relationship Type="http://schemas.openxmlformats.org/officeDocument/2006/relationships/slide" Target="/ppt/slides/slide4.xml" Id="Rb40ffd85846d4b0b" /><Relationship Type="http://schemas.openxmlformats.org/officeDocument/2006/relationships/slide" Target="/ppt/slides/slide5.xml" Id="Ra5273726b20d45d9" /><Relationship Type="http://schemas.openxmlformats.org/officeDocument/2006/relationships/slide" Target="/ppt/slides/slide6.xml" Id="R83b3f9cc2b374a9e" /><Relationship Type="http://schemas.openxmlformats.org/officeDocument/2006/relationships/slide" Target="/ppt/slides/slide7.xml" Id="Rf2ba770606ef4bd5" /><Relationship Type="http://schemas.openxmlformats.org/officeDocument/2006/relationships/slide" Target="/ppt/slides/slide8.xml" Id="R038bc5749d924392" /><Relationship Type="http://schemas.openxmlformats.org/officeDocument/2006/relationships/slide" Target="/ppt/slides/slide9.xml" Id="R8955449abe8d487f" /><Relationship Type="http://schemas.openxmlformats.org/officeDocument/2006/relationships/slide" Target="/ppt/slides/slide10.xml" Id="R325113c5dbec4941" /><Relationship Type="http://schemas.openxmlformats.org/officeDocument/2006/relationships/slide" Target="/ppt/slides/slide11.xml" Id="R95bdcd55ddc647e9" /><Relationship Type="http://schemas.openxmlformats.org/officeDocument/2006/relationships/slide" Target="/ppt/slides/slide12.xml" Id="R7bfa07e7f7e84e0e" /><Relationship Type="http://schemas.openxmlformats.org/officeDocument/2006/relationships/slide" Target="/ppt/slides/slide13.xml" Id="Ra3570d2e344848a7" /><Relationship Type="http://schemas.openxmlformats.org/officeDocument/2006/relationships/slide" Target="/ppt/slides/slide14.xml" Id="Rb395fabd5ec84891" /><Relationship Type="http://schemas.openxmlformats.org/officeDocument/2006/relationships/slide" Target="/ppt/slides/slide15.xml" Id="R3bf6ae03abba4a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6c32fe87c141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8eed2f06414237" /><Relationship Type="http://schemas.openxmlformats.org/officeDocument/2006/relationships/notesMaster" Target="/ppt/notesMasters/notesMaster1.xml" Id="R7a2f9214957946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e0edbde39a450f" /><Relationship Type="http://schemas.openxmlformats.org/officeDocument/2006/relationships/notesMaster" Target="/ppt/notesMasters/notesMaster1.xml" Id="R99bd3af0bdd448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a586244a644c70" /><Relationship Type="http://schemas.openxmlformats.org/officeDocument/2006/relationships/notesMaster" Target="/ppt/notesMasters/notesMaster1.xml" Id="R466e3a6855e04c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243a7c6f07447d" /><Relationship Type="http://schemas.openxmlformats.org/officeDocument/2006/relationships/notesMaster" Target="/ppt/notesMasters/notesMaster1.xml" Id="R87f9c783947b42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2e50a4b4f247d0" /><Relationship Type="http://schemas.openxmlformats.org/officeDocument/2006/relationships/notesMaster" Target="/ppt/notesMasters/notesMaster1.xml" Id="R833ea572087a45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f32c947102401f" /><Relationship Type="http://schemas.openxmlformats.org/officeDocument/2006/relationships/notesMaster" Target="/ppt/notesMasters/notesMaster1.xml" Id="R9c8f3e2769b347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eaa845a6944731" /><Relationship Type="http://schemas.openxmlformats.org/officeDocument/2006/relationships/notesMaster" Target="/ppt/notesMasters/notesMaster1.xml" Id="Rb47cd8b0779d4c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cca65d9d8345be" /><Relationship Type="http://schemas.openxmlformats.org/officeDocument/2006/relationships/notesMaster" Target="/ppt/notesMasters/notesMaster1.xml" Id="R42ede58e6d2a4e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eab665569c4116" /><Relationship Type="http://schemas.openxmlformats.org/officeDocument/2006/relationships/notesMaster" Target="/ppt/notesMasters/notesMaster1.xml" Id="R9a68e6bc8f6b4f3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44bd98e6baf4af4" /><Relationship Type="http://schemas.openxmlformats.org/officeDocument/2006/relationships/notesMaster" Target="/ppt/notesMasters/notesMaster1.xml" Id="R2771f420a478479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675adb754e4242" /><Relationship Type="http://schemas.openxmlformats.org/officeDocument/2006/relationships/notesMaster" Target="/ppt/notesMasters/notesMaster1.xml" Id="R239888a2397844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2d547cf71194eab" /><Relationship Type="http://schemas.openxmlformats.org/officeDocument/2006/relationships/notesMaster" Target="/ppt/notesMasters/notesMaster1.xml" Id="Rb2b0c4bb755845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179b8fdaa2420b" /><Relationship Type="http://schemas.openxmlformats.org/officeDocument/2006/relationships/notesMaster" Target="/ppt/notesMasters/notesMaster1.xml" Id="R44254e087469407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55f4a36da9f4b0d" /><Relationship Type="http://schemas.openxmlformats.org/officeDocument/2006/relationships/notesMaster" Target="/ppt/notesMasters/notesMaster1.xml" Id="R8bf3448d407541d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628c3abf23540c0" /><Relationship Type="http://schemas.openxmlformats.org/officeDocument/2006/relationships/notesMaster" Target="/ppt/notesMasters/notesMaster1.xml" Id="R2adcdc51810844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Try 3 benchmark results and Try 4 qwen3.5 evaluation produced in the RCA Fieldwork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3 score leader: qwen3.5 at 64/100. Try 4 qwen3.5 score: 68/100 using the same rubric. Try 4 did not test other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3 architecture summary. The flow is simplified for presentation and preserves the model-track separation described in the evaluation 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Rubric weights: comprehension 10, tags 10, questions 15, evidence targeting 15, provenance and contradictions 15, causal reasoning 20, corrective actions 10, calibration and trace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rubric wording from evaluation_protocol.md, shortened only for slide fit without changing the scoring meaning.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3 scores: qwen3.5 64, qwen2.5 38, gemma3 31, mistral 29, llama3.1 27, hermes3 18, llama3.2 17, phi4-mini-reasoning 13, deepseek-r1 0, granite3.3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Explanations summarize the detailed findings in Try 3 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3 lower-ranked model findings. Zero scores reflect the absence of a committed artifact, not a claim that the models have no general capability.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Cross-model findings from Try 3: no scored output detected the seeded conflicts, several stages failed structured validation, and multiple boards contained weak or reversed causal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4 changes implemented in the duplicated application. No model combination or model fallback was used in the scored qwen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scored Try 4 run had 15 completed checkpoints, no failed reasoning stages, and one blocked corrective-action stage. Runtime was approximately 23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Dimension scores. Try 3 qwen: 9, 8, 13, 13, 4, 6, 7, 4. Try 4 qwen: 9, 9, 13, 14, 6, 12, 0, 5. Totals are 64 and 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Simplified rendering of the Try 4 qwen causal board. The actual board contains 13 nodes and 7 links. None were verified. Six blocking findings remained.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synthetic package contains useful records but lacks authoritative design and execution evidence required to verify the beam-release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next validation step. Do not give the completed RCA to the model during the blind test. Use it as the scoring reference and supply the underlying evidence records as model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8627ee33dd47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f558e2ae68445e" /><Relationship Type="http://schemas.openxmlformats.org/officeDocument/2006/relationships/slideLayout" Target="/ppt/slideLayouts/slideLayout1.xml" Id="R240024ad335541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0024ad335541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353510ffc5490f" /><Relationship Type="http://schemas.openxmlformats.org/officeDocument/2006/relationships/notesSlide" Target="/ppt/notesSlides/notesSlide1.xml" Id="Rf68993b676ac44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fcc718bc1774deb" /><Relationship Type="http://schemas.openxmlformats.org/officeDocument/2006/relationships/notesSlide" Target="/ppt/notesSlides/notesSlide2.xml" Id="R3940c2da7f4047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02546a83cc4558" /><Relationship Type="http://schemas.openxmlformats.org/officeDocument/2006/relationships/notesSlide" Target="/ppt/notesSlides/notesSlide3.xml" Id="R7dd42d87609542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998b8dd9154df1" /><Relationship Type="http://schemas.openxmlformats.org/officeDocument/2006/relationships/chart" Target="/ppt/slides/charts/chart1.xml" Id="R84b4e7bc0b334f30" /><Relationship Type="http://schemas.openxmlformats.org/officeDocument/2006/relationships/notesSlide" Target="/ppt/notesSlides/notesSlide4.xml" Id="R8b9f6522dbbd41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623294210de4f0e" /><Relationship Type="http://schemas.openxmlformats.org/officeDocument/2006/relationships/notesSlide" Target="/ppt/notesSlides/notesSlide5.xml" Id="R673366c0a6df45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485a838e9974d8b" /><Relationship Type="http://schemas.openxmlformats.org/officeDocument/2006/relationships/chart" Target="/ppt/slides/charts/chart2.xml" Id="R511fdf8d230d4868" /><Relationship Type="http://schemas.openxmlformats.org/officeDocument/2006/relationships/notesSlide" Target="/ppt/notesSlides/notesSlide6.xml" Id="R3028c1c77b5540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da6582dbd6d42b2" /><Relationship Type="http://schemas.openxmlformats.org/officeDocument/2006/relationships/notesSlide" Target="/ppt/notesSlides/notesSlide7.xml" Id="R749d5287214642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59c1cfec5d64834" /><Relationship Type="http://schemas.openxmlformats.org/officeDocument/2006/relationships/notesSlide" Target="/ppt/notesSlides/notesSlide8.xml" Id="R19966e9e28f543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9c495a82618408e" /><Relationship Type="http://schemas.openxmlformats.org/officeDocument/2006/relationships/notesSlide" Target="/ppt/notesSlides/notesSlide9.xml" Id="R60afa0fcbc004f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753a4fa873c41dc" /><Relationship Type="http://schemas.openxmlformats.org/officeDocument/2006/relationships/notesSlide" Target="/ppt/notesSlides/notesSlide10.xml" Id="R98ab26136cfc4f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2aa94fee5424b54" /><Relationship Type="http://schemas.openxmlformats.org/officeDocument/2006/relationships/notesSlide" Target="/ppt/notesSlides/notesSlide11.xml" Id="R8995ef751ec541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a92f7e027d545f8" /><Relationship Type="http://schemas.openxmlformats.org/officeDocument/2006/relationships/chart" Target="/ppt/slides/charts/chart3.xml" Id="R078cf96d0a104553" /><Relationship Type="http://schemas.openxmlformats.org/officeDocument/2006/relationships/notesSlide" Target="/ppt/notesSlides/notesSlide12.xml" Id="R904daf98dcf4401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48f6939fc914306" /><Relationship Type="http://schemas.openxmlformats.org/officeDocument/2006/relationships/notesSlide" Target="/ppt/notesSlides/notesSlide13.xml" Id="R78f32dc194304a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60e861e7aef4025" /><Relationship Type="http://schemas.openxmlformats.org/officeDocument/2006/relationships/notesSlide" Target="/ppt/notesSlides/notesSlide14.xml" Id="Rbb752b9a92c244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ff74d5e6a104045" /><Relationship Type="http://schemas.openxmlformats.org/officeDocument/2006/relationships/notesSlide" Target="/ppt/notesSlides/notesSlide15.xml" Id="Rab9a4abb72c845f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Available points</c:v>
          </c:tx>
          <c:spPr>
            <a:solidFill xmlns:a="http://schemas.openxmlformats.org/drawingml/2006/main">
              <a:srgbClr val="3377B5"/>
            </a:solidFill>
          </c:spPr>
          <c:cat>
            <c:strRef>
              <c:f>'Chart Data'!$A$2:$A$9</c:f>
              <c:strCache>
                <c:ptCount val="8"/>
                <c:pt idx="0">
                  <c:v>Causal reasoning</c:v>
                </c:pt>
                <c:pt idx="1">
                  <c:v>Questions</c:v>
                </c:pt>
                <c:pt idx="2">
                  <c:v>Evidence targeting</c:v>
                </c:pt>
                <c:pt idx="3">
                  <c:v>Provenance</c:v>
                </c:pt>
                <c:pt idx="4">
                  <c:v>Comprehension</c:v>
                </c:pt>
                <c:pt idx="5">
                  <c:v>Tags</c:v>
                </c:pt>
                <c:pt idx="6">
                  <c:v>Corrective actions</c:v>
                </c:pt>
                <c:pt idx="7">
                  <c:v>Calibration</c:v>
                </c:pt>
              </c:strCache>
            </c:strRef>
          </c:cat>
          <c:val>
            <c:numRef>
              <c:f>'Chart Data'!$B$2:$B$9</c:f>
              <c:numCache>
                <c:formatCode>General</c:formatCode>
                <c:ptCount val="8"/>
                <c:pt idx="0">
                  <c:v>20</c:v>
                </c:pt>
                <c:pt idx="1">
                  <c:v>15</c:v>
                </c:pt>
                <c:pt idx="2">
                  <c:v>15</c:v>
                </c:pt>
                <c:pt idx="3">
                  <c:v>15</c:v>
                </c:pt>
                <c:pt idx="4">
                  <c:v>10</c:v>
                </c:pt>
                <c:pt idx="5">
                  <c:v>10</c:v>
                </c:pt>
                <c:pt idx="6">
                  <c:v>10</c:v>
                </c:pt>
                <c:pt idx="7">
                  <c:v>5</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026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CCD3D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B7B8C"/>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CD3D9"/>
            </a:solidFill>
            <a:prstDash val="solid"/>
          </a:ln>
        </c:spPr>
        <c:txPr>
          <a:bodyPr xmlns:a="http://schemas.openxmlformats.org/drawingml/2006/main" anchorCtr="1"/>
          <a:lstStyle xmlns:a="http://schemas.openxmlformats.org/drawingml/2006/main"/>
          <a:p xmlns:a="http://schemas.openxmlformats.org/drawingml/2006/main">
            <a:pPr>
              <a:defRPr sz="1125">
                <a:solidFill>
                  <a:srgbClr val="17212B"/>
                </a:solidFill>
                <a:latin typeface="Helvetica Neue"/>
                <a:ea typeface="Helvetica Neue"/>
                <a:cs typeface="Helvetica Neue"/>
              </a:defRPr>
            </a:pPr>
          </a:p>
        </c:txPr>
        <c:crossAx val="48650112"/>
        <c:crossBetween val="between"/>
      </c:valAx>
      <c:spPr>
        <a:solidFill xmlns:a="http://schemas.openxmlformats.org/drawingml/2006/main">
          <a:srgbClr val="F6F3ED"/>
        </a:solidFill>
      </c:spPr>
    </c:plotArea>
    <c:plotVisOnly val="1"/>
  </c:chart>
  <c:spPr>
    <a:solidFill xmlns:a="http://schemas.openxmlformats.org/drawingml/2006/main">
      <a:srgbClr val="F6F3ED"/>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Score out of 100</c:v>
          </c:tx>
          <c:spPr>
            <a:solidFill xmlns:a="http://schemas.openxmlformats.org/drawingml/2006/main">
              <a:srgbClr val="3377B5"/>
            </a:solidFill>
          </c:spPr>
          <c:dPt>
            <c:idx val="0"/>
            <c:invertIfNegative val="0"/>
            <c:spPr>
              <a:solidFill xmlns:a="http://schemas.openxmlformats.org/drawingml/2006/main">
                <a:srgbClr val="168B85"/>
              </a:solidFill>
            </c:spPr>
          </c:dPt>
          <c:dPt>
            <c:idx val="8"/>
            <c:invertIfNegative val="0"/>
            <c:spPr>
              <a:solidFill xmlns:a="http://schemas.openxmlformats.org/drawingml/2006/main">
                <a:srgbClr val="C9564D"/>
              </a:solidFill>
            </c:spPr>
          </c:dPt>
          <c:dPt>
            <c:idx val="9"/>
            <c:invertIfNegative val="0"/>
            <c:spPr>
              <a:solidFill xmlns:a="http://schemas.openxmlformats.org/drawingml/2006/main">
                <a:srgbClr val="C9564D"/>
              </a:solidFill>
            </c:spPr>
          </c:dPt>
          <c:cat>
            <c:strRef>
              <c:f>'Chart Data'!$A$2:$A$11</c:f>
              <c:strCache>
                <c:ptCount val="10"/>
                <c:pt idx="0">
                  <c:v>qwen3.5</c:v>
                </c:pt>
                <c:pt idx="1">
                  <c:v>qwen2.5</c:v>
                </c:pt>
                <c:pt idx="2">
                  <c:v>gemma3</c:v>
                </c:pt>
                <c:pt idx="3">
                  <c:v>mistral</c:v>
                </c:pt>
                <c:pt idx="4">
                  <c:v>llama3.1</c:v>
                </c:pt>
                <c:pt idx="5">
                  <c:v>hermes3</c:v>
                </c:pt>
                <c:pt idx="6">
                  <c:v>llama3.2</c:v>
                </c:pt>
                <c:pt idx="7">
                  <c:v>phi4-mini</c:v>
                </c:pt>
                <c:pt idx="8">
                  <c:v>deepseek-r1</c:v>
                </c:pt>
                <c:pt idx="9">
                  <c:v>granite3.3</c:v>
                </c:pt>
              </c:strCache>
            </c:strRef>
          </c:cat>
          <c:val>
            <c:numRef>
              <c:f>'Chart Data'!$B$2:$B$11</c:f>
              <c:numCache>
                <c:formatCode>General</c:formatCode>
                <c:ptCount val="10"/>
                <c:pt idx="0">
                  <c:v>64</c:v>
                </c:pt>
                <c:pt idx="1">
                  <c:v>38</c:v>
                </c:pt>
                <c:pt idx="2">
                  <c:v>31</c:v>
                </c:pt>
                <c:pt idx="3">
                  <c:v>29</c:v>
                </c:pt>
                <c:pt idx="4">
                  <c:v>27</c:v>
                </c:pt>
                <c:pt idx="5">
                  <c:v>18</c:v>
                </c:pt>
                <c:pt idx="6">
                  <c:v>17</c:v>
                </c:pt>
                <c:pt idx="7">
                  <c:v>13</c:v>
                </c:pt>
                <c:pt idx="8">
                  <c:v>0</c:v>
                </c:pt>
                <c:pt idx="9">
                  <c:v>0</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026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majorGridlines>
          <c:spPr>
            <a:ln xmlns:a="http://schemas.openxmlformats.org/drawingml/2006/main" w="9525">
              <a:solidFill>
                <a:srgbClr val="CCD3D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B7B8C"/>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CD3D9"/>
            </a:solidFill>
            <a:prstDash val="solid"/>
          </a:ln>
        </c:spPr>
        <c:txPr>
          <a:bodyPr xmlns:a="http://schemas.openxmlformats.org/drawingml/2006/main" anchorCtr="1"/>
          <a:lstStyle xmlns:a="http://schemas.openxmlformats.org/drawingml/2006/main"/>
          <a:p xmlns:a="http://schemas.openxmlformats.org/drawingml/2006/main">
            <a:pPr>
              <a:defRPr sz="1125">
                <a:solidFill>
                  <a:srgbClr val="17212B"/>
                </a:solidFill>
                <a:latin typeface="Helvetica Neue"/>
                <a:ea typeface="Helvetica Neue"/>
                <a:cs typeface="Helvetica Neue"/>
              </a:defRPr>
            </a:pPr>
          </a:p>
        </c:txPr>
        <c:crossAx val="48650112"/>
        <c:crossBetween val="between"/>
      </c:valAx>
      <c:spPr>
        <a:solidFill xmlns:a="http://schemas.openxmlformats.org/drawingml/2006/main">
          <a:srgbClr val="F6F3ED"/>
        </a:solidFill>
      </c:spPr>
    </c:plotArea>
    <c:plotVisOnly val="1"/>
  </c:chart>
  <c:spPr>
    <a:solidFill xmlns:a="http://schemas.openxmlformats.org/drawingml/2006/main">
      <a:srgbClr val="F6F3ED"/>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Try 3</c:v>
          </c:tx>
          <c:spPr>
            <a:solidFill xmlns:a="http://schemas.openxmlformats.org/drawingml/2006/main">
              <a:srgbClr val="3377B5"/>
            </a:solidFill>
          </c:spPr>
          <c:cat>
            <c:strRef>
              <c:f>'Chart Data'!$A$2:$A$9</c:f>
              <c:strCache>
                <c:ptCount val="8"/>
                <c:pt idx="0">
                  <c:v>Comprehension</c:v>
                </c:pt>
                <c:pt idx="1">
                  <c:v>Tags</c:v>
                </c:pt>
                <c:pt idx="2">
                  <c:v>Questions</c:v>
                </c:pt>
                <c:pt idx="3">
                  <c:v>Evidence targeting</c:v>
                </c:pt>
                <c:pt idx="4">
                  <c:v>Provenance</c:v>
                </c:pt>
                <c:pt idx="5">
                  <c:v>Causal reasoning</c:v>
                </c:pt>
                <c:pt idx="6">
                  <c:v>Corrective actions</c:v>
                </c:pt>
                <c:pt idx="7">
                  <c:v>Calibration</c:v>
                </c:pt>
              </c:strCache>
            </c:strRef>
          </c:cat>
          <c:val>
            <c:numRef>
              <c:f>'Chart Data'!$B$2:$B$9</c:f>
              <c:numCache>
                <c:formatCode>General</c:formatCode>
                <c:ptCount val="8"/>
                <c:pt idx="0">
                  <c:v>9</c:v>
                </c:pt>
                <c:pt idx="1">
                  <c:v>8</c:v>
                </c:pt>
                <c:pt idx="2">
                  <c:v>13</c:v>
                </c:pt>
                <c:pt idx="3">
                  <c:v>13</c:v>
                </c:pt>
                <c:pt idx="4">
                  <c:v>4</c:v>
                </c:pt>
                <c:pt idx="5">
                  <c:v>6</c:v>
                </c:pt>
                <c:pt idx="6">
                  <c:v>7</c:v>
                </c:pt>
                <c:pt idx="7">
                  <c:v>4</c:v>
                </c:pt>
              </c:numCache>
            </c:numRef>
          </c:val>
        </c:ser>
        <c:ser>
          <c:idx val="1"/>
          <c:order val="1"/>
          <c:tx>
            <c:v>Try 4</c:v>
          </c:tx>
          <c:spPr>
            <a:solidFill xmlns:a="http://schemas.openxmlformats.org/drawingml/2006/main">
              <a:srgbClr val="168B85"/>
            </a:solidFill>
          </c:spPr>
          <c:cat>
            <c:strRef>
              <c:f>'Chart Data'!$C$2:$C$9</c:f>
              <c:strCache>
                <c:ptCount val="8"/>
                <c:pt idx="0">
                  <c:v>Comprehension</c:v>
                </c:pt>
                <c:pt idx="1">
                  <c:v>Tags</c:v>
                </c:pt>
                <c:pt idx="2">
                  <c:v>Questions</c:v>
                </c:pt>
                <c:pt idx="3">
                  <c:v>Evidence targeting</c:v>
                </c:pt>
                <c:pt idx="4">
                  <c:v>Provenance</c:v>
                </c:pt>
                <c:pt idx="5">
                  <c:v>Causal reasoning</c:v>
                </c:pt>
                <c:pt idx="6">
                  <c:v>Corrective actions</c:v>
                </c:pt>
                <c:pt idx="7">
                  <c:v>Calibration</c:v>
                </c:pt>
              </c:strCache>
            </c:strRef>
          </c:cat>
          <c:val>
            <c:numRef>
              <c:f>'Chart Data'!$D$2:$D$9</c:f>
              <c:numCache>
                <c:formatCode>General</c:formatCode>
                <c:ptCount val="8"/>
                <c:pt idx="0">
                  <c:v>9</c:v>
                </c:pt>
                <c:pt idx="1">
                  <c:v>9</c:v>
                </c:pt>
                <c:pt idx="2">
                  <c:v>13</c:v>
                </c:pt>
                <c:pt idx="3">
                  <c:v>14</c:v>
                </c:pt>
                <c:pt idx="4">
                  <c:v>6</c:v>
                </c:pt>
                <c:pt idx="5">
                  <c:v>12</c:v>
                </c:pt>
                <c:pt idx="6">
                  <c:v>0</c:v>
                </c:pt>
                <c:pt idx="7">
                  <c:v>5</c:v>
                </c:pt>
              </c:numCache>
            </c:numRef>
          </c:val>
        </c:ser>
        <c:dLbls>
          <c:txPr>
            <a:bodyPr xmlns:a="http://schemas.openxmlformats.org/drawingml/2006/main" anchorCtr="1"/>
            <a:lstStyle xmlns:a="http://schemas.openxmlformats.org/drawingml/2006/main"/>
            <a:p xmlns:a="http://schemas.openxmlformats.org/drawingml/2006/main">
              <a:pPr>
                <a:defRPr sz="900" b="1">
                  <a:solidFill>
                    <a:srgbClr val="1026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majorGridlines>
          <c:spPr>
            <a:ln xmlns:a="http://schemas.openxmlformats.org/drawingml/2006/main" w="9525">
              <a:solidFill>
                <a:srgbClr val="CCD3D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B7B8C"/>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CD3D9"/>
            </a:solidFill>
            <a:prstDash val="solid"/>
          </a:ln>
        </c:spPr>
        <c:txPr>
          <a:bodyPr xmlns:a="http://schemas.openxmlformats.org/drawingml/2006/main" anchorCtr="1"/>
          <a:lstStyle xmlns:a="http://schemas.openxmlformats.org/drawingml/2006/main"/>
          <a:p xmlns:a="http://schemas.openxmlformats.org/drawingml/2006/main">
            <a:pPr>
              <a:defRPr sz="1050">
                <a:solidFill>
                  <a:srgbClr val="17212B"/>
                </a:solidFill>
                <a:latin typeface="Helvetica Neue"/>
                <a:ea typeface="Helvetica Neue"/>
                <a:cs typeface="Helvetica Neue"/>
              </a:defRPr>
            </a:pPr>
          </a:p>
        </c:txPr>
        <c:crossAx val="48650112"/>
        <c:crossBetween val="between"/>
      </c:valAx>
      <c:spPr>
        <a:solidFill xmlns:a="http://schemas.openxmlformats.org/drawingml/2006/main">
          <a:srgbClr val="F6F3ED"/>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17212B"/>
              </a:solidFill>
              <a:latin typeface="Helvetica Neue"/>
              <a:ea typeface="Helvetica Neue"/>
              <a:cs typeface="Helvetica Neue"/>
            </a:defRPr>
          </a:pPr>
        </a:p>
      </c:txPr>
    </c:legend>
    <c:plotVisOnly val="1"/>
  </c:chart>
  <c:spPr>
    <a:solidFill xmlns:a="http://schemas.openxmlformats.org/drawingml/2006/main">
      <a:srgbClr val="F6F3ED"/>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63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B9B22C-453E-433D-8AFA-A00D80F42EF6}"/>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8574971-5D6D-427A-B998-836DE4CAD737}"/>
              </a:ext>
            </a:extLst>
          </p:cNvPr>
          <p:cNvSpPr>
            <a:spLocks xmlns:a="http://schemas.openxmlformats.org/drawingml/2006/main" noGrp="1"/>
          </p:cNvSpPr>
          <p:nvPr/>
        </p:nvSpPr>
        <p:spPr>
          <a:xfrm xmlns:a="http://schemas.openxmlformats.org/drawingml/2006/main">
            <a:off x="781050" y="1238250"/>
            <a:ext cx="885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782"/>
          </a:bodyPr>
          <a:lstStyle xmlns:a="http://schemas.openxmlformats.org/drawingml/2006/main"/>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RCA Fieldwork</a:t>
            </a:r>
          </a:p>
        </p:txBody>
      </p:sp>
      <p:sp>
        <p:nvSpPr>
          <p:cNvPr id="3" name="">
            <a:extLst xmlns:a="http://schemas.openxmlformats.org/drawingml/2006/main">
              <a:ext uri="{FF2B5EF4-FFF2-40B4-BE49-F238E27FC236}">
                <a16:creationId xmlns:a16="http://schemas.microsoft.com/office/drawing/2014/main" id="{44385CBC-425C-4E2E-85D3-C989ED4AF953}"/>
              </a:ext>
            </a:extLst>
          </p:cNvPr>
          <p:cNvSpPr>
            <a:spLocks xmlns:a="http://schemas.openxmlformats.org/drawingml/2006/main" noGrp="1"/>
          </p:cNvSpPr>
          <p:nvPr/>
        </p:nvSpPr>
        <p:spPr>
          <a:xfrm xmlns:a="http://schemas.openxmlformats.org/drawingml/2006/main">
            <a:off x="819150" y="2095500"/>
            <a:ext cx="9620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325" b="0">
                <a:solidFill>
                  <a:srgbClr val="D8E3EB"/>
                </a:solidFill>
                <a:latin typeface="Helvetica Neue"/>
                <a:ea typeface="Helvetica Neue"/>
                <a:cs typeface="Helvetica Neue"/>
              </a:defRPr>
            </a:pPr>
            <a:r>
              <a:rPr sz="2325" b="0">
                <a:solidFill>
                  <a:srgbClr val="D8E3EB"/>
                </a:solidFill>
                <a:latin typeface="Helvetica Neue"/>
                <a:ea typeface="Helvetica Neue"/>
                <a:cs typeface="Helvetica Neue"/>
              </a:rPr>
              <a:t>What Try 3 tested, what Try 4 changed, and why the investigation remains open</a:t>
            </a:r>
          </a:p>
        </p:txBody>
      </p:sp>
      <p:sp>
        <p:nvSpPr>
          <p:cNvPr id="4" name="">
            <a:extLst xmlns:a="http://schemas.openxmlformats.org/drawingml/2006/main">
              <a:ext uri="{FF2B5EF4-FFF2-40B4-BE49-F238E27FC236}">
                <a16:creationId xmlns:a16="http://schemas.microsoft.com/office/drawing/2014/main" id="{5F0E7EB7-BD28-4271-A4D8-F67739DDB2B4}"/>
              </a:ext>
            </a:extLst>
          </p:cNvPr>
          <p:cNvSpPr>
            <a:spLocks xmlns:a="http://schemas.openxmlformats.org/drawingml/2006/main" noGrp="1"/>
          </p:cNvSpPr>
          <p:nvPr/>
        </p:nvSpPr>
        <p:spPr>
          <a:xfrm xmlns:a="http://schemas.openxmlformats.org/drawingml/2006/main">
            <a:off x="819150" y="3467100"/>
            <a:ext cx="228600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A8FE47B-B86E-4A5D-ABDD-91AE516B5D8B}"/>
              </a:ext>
            </a:extLst>
          </p:cNvPr>
          <p:cNvSpPr>
            <a:spLocks xmlns:a="http://schemas.openxmlformats.org/drawingml/2006/main" noGrp="1"/>
          </p:cNvSpPr>
          <p:nvPr/>
        </p:nvSpPr>
        <p:spPr>
          <a:xfrm xmlns:a="http://schemas.openxmlformats.org/drawingml/2006/main">
            <a:off x="819150" y="3743325"/>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75" b="1">
                <a:solidFill>
                  <a:srgbClr val="E5A32D"/>
                </a:solidFill>
                <a:latin typeface="Helvetica Neue"/>
                <a:ea typeface="Helvetica Neue"/>
                <a:cs typeface="Helvetica Neue"/>
              </a:defRPr>
            </a:pPr>
            <a:r>
              <a:rPr sz="1275" b="1">
                <a:solidFill>
                  <a:srgbClr val="E5A32D"/>
                </a:solidFill>
                <a:latin typeface="Helvetica Neue"/>
                <a:ea typeface="Helvetica Neue"/>
                <a:cs typeface="Helvetica Neue"/>
              </a:rPr>
              <a:t>R3 EXIT CARRIER BEAM CASE</a:t>
            </a:r>
          </a:p>
        </p:txBody>
      </p:sp>
      <p:sp>
        <p:nvSpPr>
          <p:cNvPr id="6" name="">
            <a:extLst xmlns:a="http://schemas.openxmlformats.org/drawingml/2006/main">
              <a:ext uri="{FF2B5EF4-FFF2-40B4-BE49-F238E27FC236}">
                <a16:creationId xmlns:a16="http://schemas.microsoft.com/office/drawing/2014/main" id="{F40D5774-44CD-4538-881C-AFCCA1E5B46E}"/>
              </a:ext>
            </a:extLst>
          </p:cNvPr>
          <p:cNvSpPr>
            <a:spLocks xmlns:a="http://schemas.openxmlformats.org/drawingml/2006/main" noGrp="1"/>
          </p:cNvSpPr>
          <p:nvPr/>
        </p:nvSpPr>
        <p:spPr>
          <a:xfrm xmlns:a="http://schemas.openxmlformats.org/drawingml/2006/main">
            <a:off x="819150" y="4143375"/>
            <a:ext cx="657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Model behavior benchmark and causal-analysis review</a:t>
            </a:r>
          </a:p>
        </p:txBody>
      </p:sp>
      <p:sp>
        <p:nvSpPr>
          <p:cNvPr id="7" name="">
            <a:extLst xmlns:a="http://schemas.openxmlformats.org/drawingml/2006/main">
              <a:ext uri="{FF2B5EF4-FFF2-40B4-BE49-F238E27FC236}">
                <a16:creationId xmlns:a16="http://schemas.microsoft.com/office/drawing/2014/main" id="{C92E4E44-3599-4F0D-930D-BECDE7CED1A1}"/>
              </a:ext>
            </a:extLst>
          </p:cNvPr>
          <p:cNvSpPr>
            <a:spLocks xmlns:a="http://schemas.openxmlformats.org/drawingml/2006/main" noGrp="1"/>
          </p:cNvSpPr>
          <p:nvPr/>
        </p:nvSpPr>
        <p:spPr>
          <a:xfrm xmlns:a="http://schemas.openxmlformats.org/drawingml/2006/main">
            <a:off x="819150" y="60388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1111"/>
          </a:bodyPr>
          <a:lstStyle xmlns:a="http://schemas.openxmlformats.org/drawingml/2006/main"/>
          <a:p xmlns:a="http://schemas.openxmlformats.org/drawingml/2006/main">
            <a:pPr algn="l">
              <a:defRPr sz="1125" b="0">
                <a:solidFill>
                  <a:srgbClr val="9FB2C1"/>
                </a:solidFill>
                <a:latin typeface="Helvetica Neue"/>
                <a:ea typeface="Helvetica Neue"/>
                <a:cs typeface="Helvetica Neue"/>
              </a:defRPr>
            </a:pPr>
            <a:r>
              <a:rPr sz="1125" b="0">
                <a:solidFill>
                  <a:srgbClr val="9FB2C1"/>
                </a:solidFill>
                <a:latin typeface="Helvetica Neue"/>
                <a:ea typeface="Helvetica Neue"/>
                <a:cs typeface="Helvetica Neue"/>
              </a:rPr>
              <a:t>September 2026</a:t>
            </a:r>
          </a:p>
        </p:txBody>
      </p:sp>
    </p:spTree>
    <p:extLst>
      <p:ext uri="{BB962C8B-B14F-4D97-AF65-F5344CB8AC3E}">
        <p14:creationId xmlns:p14="http://schemas.microsoft.com/office/powerpoint/2010/main" val="447058767"/>
      </p:ext>
    </p:extLst>
  </p:cSld>
</p:sld>
</file>

<file path=ppt/slides/slide2.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6A53858-2789-4097-B09D-5FE6302B6D3F}"/>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Two experiments with different purposes</a:t>
            </a:r>
          </a:p>
        </p:txBody>
      </p:sp>
      <p:sp>
        <p:nvSpPr>
          <p:cNvPr id="2" name="">
            <a:extLst xmlns:a="http://schemas.openxmlformats.org/drawingml/2006/main">
              <a:ext uri="{FF2B5EF4-FFF2-40B4-BE49-F238E27FC236}">
                <a16:creationId xmlns:a16="http://schemas.microsoft.com/office/drawing/2014/main" id="{BA6E9E26-9F78-4EB1-AE8E-56F101305121}"/>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Try 3 compared models. Try 4 strengthened the investigation harness around the best model.</a:t>
            </a:r>
          </a:p>
        </p:txBody>
      </p:sp>
      <p:sp>
        <p:nvSpPr>
          <p:cNvPr id="3" name="">
            <a:extLst xmlns:a="http://schemas.openxmlformats.org/drawingml/2006/main">
              <a:ext uri="{FF2B5EF4-FFF2-40B4-BE49-F238E27FC236}">
                <a16:creationId xmlns:a16="http://schemas.microsoft.com/office/drawing/2014/main" id="{7E048A42-BA26-40E3-A971-89CCDA645438}"/>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4749AD4-56BC-42CF-B65B-CA20ED6686AC}"/>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Sources: Try 3 benchmark results; Try 4 evaluation report</a:t>
            </a:r>
          </a:p>
        </p:txBody>
      </p:sp>
      <p:sp>
        <p:nvSpPr>
          <p:cNvPr id="5" name="">
            <a:extLst xmlns:a="http://schemas.openxmlformats.org/drawingml/2006/main">
              <a:ext uri="{FF2B5EF4-FFF2-40B4-BE49-F238E27FC236}">
                <a16:creationId xmlns:a16="http://schemas.microsoft.com/office/drawing/2014/main" id="{45B5171A-45D9-4CB9-ABC7-B7D2DD319FF6}"/>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73094739-5244-4527-BFB0-418B24B68877}"/>
              </a:ext>
            </a:extLst>
          </p:cNvPr>
          <p:cNvSpPr>
            <a:spLocks xmlns:a="http://schemas.openxmlformats.org/drawingml/2006/main" noGrp="1"/>
          </p:cNvSpPr>
          <p:nvPr/>
        </p:nvSpPr>
        <p:spPr>
          <a:xfrm xmlns:a="http://schemas.openxmlformats.org/drawingml/2006/main">
            <a:off x="723900" y="1619250"/>
            <a:ext cx="76200" cy="209550"/>
          </a:xfrm>
          <a:prstGeom xmlns:a="http://schemas.openxmlformats.org/drawingml/2006/main" prst="rect">
            <a:avLst/>
          </a:prstGeom>
          <a:solidFill xmlns:a="http://schemas.openxmlformats.org/drawingml/2006/main">
            <a:srgbClr val="3377B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B4AFCC4-4CDE-492F-BB31-10F75BCC07BD}"/>
              </a:ext>
            </a:extLst>
          </p:cNvPr>
          <p:cNvSpPr>
            <a:spLocks xmlns:a="http://schemas.openxmlformats.org/drawingml/2006/main" noGrp="1"/>
          </p:cNvSpPr>
          <p:nvPr/>
        </p:nvSpPr>
        <p:spPr>
          <a:xfrm xmlns:a="http://schemas.openxmlformats.org/drawingml/2006/main">
            <a:off x="895350" y="1581150"/>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425466"/>
                </a:solidFill>
                <a:latin typeface="Helvetica Neue"/>
                <a:ea typeface="Helvetica Neue"/>
                <a:cs typeface="Helvetica Neue"/>
              </a:defRPr>
            </a:pPr>
            <a:r>
              <a:rPr sz="1125" b="1">
                <a:solidFill>
                  <a:srgbClr val="425466"/>
                </a:solidFill>
                <a:latin typeface="Helvetica Neue"/>
                <a:ea typeface="Helvetica Neue"/>
                <a:cs typeface="Helvetica Neue"/>
              </a:rPr>
              <a:t>TRY 3</a:t>
            </a:r>
          </a:p>
        </p:txBody>
      </p:sp>
      <p:sp>
        <p:nvSpPr>
          <p:cNvPr id="8" name="">
            <a:extLst xmlns:a="http://schemas.openxmlformats.org/drawingml/2006/main">
              <a:ext uri="{FF2B5EF4-FFF2-40B4-BE49-F238E27FC236}">
                <a16:creationId xmlns:a16="http://schemas.microsoft.com/office/drawing/2014/main" id="{31876AF1-26DC-4B23-A42A-C23840D50CFF}"/>
              </a:ext>
            </a:extLst>
          </p:cNvPr>
          <p:cNvSpPr>
            <a:spLocks xmlns:a="http://schemas.openxmlformats.org/drawingml/2006/main" noGrp="1"/>
          </p:cNvSpPr>
          <p:nvPr/>
        </p:nvSpPr>
        <p:spPr>
          <a:xfrm xmlns:a="http://schemas.openxmlformats.org/drawingml/2006/main">
            <a:off x="723900" y="1952625"/>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0263C"/>
                </a:solidFill>
                <a:latin typeface="Helvetica Neue"/>
                <a:ea typeface="Helvetica Neue"/>
                <a:cs typeface="Helvetica Neue"/>
              </a:defRPr>
            </a:pPr>
            <a:r>
              <a:rPr sz="2550" b="1">
                <a:solidFill>
                  <a:srgbClr val="10263C"/>
                </a:solidFill>
                <a:latin typeface="Helvetica Neue"/>
                <a:ea typeface="Helvetica Neue"/>
                <a:cs typeface="Helvetica Neue"/>
              </a:rPr>
              <a:t>Model benchmark</a:t>
            </a:r>
          </a:p>
        </p:txBody>
      </p:sp>
      <p:sp>
        <p:nvSpPr>
          <p:cNvPr id="9" name="">
            <a:extLst xmlns:a="http://schemas.openxmlformats.org/drawingml/2006/main">
              <a:ext uri="{FF2B5EF4-FFF2-40B4-BE49-F238E27FC236}">
                <a16:creationId xmlns:a16="http://schemas.microsoft.com/office/drawing/2014/main" id="{9B9531C4-A823-479D-808E-D9298454508B}"/>
              </a:ext>
            </a:extLst>
          </p:cNvPr>
          <p:cNvSpPr>
            <a:spLocks xmlns:a="http://schemas.openxmlformats.org/drawingml/2006/main" noGrp="1"/>
          </p:cNvSpPr>
          <p:nvPr/>
        </p:nvSpPr>
        <p:spPr>
          <a:xfrm xmlns:a="http://schemas.openxmlformats.org/drawingml/2006/main">
            <a:off x="723900" y="2552700"/>
            <a:ext cx="4095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425466"/>
                </a:solidFill>
                <a:latin typeface="Helvetica Neue"/>
                <a:ea typeface="Helvetica Neue"/>
                <a:cs typeface="Helvetica Neue"/>
              </a:defRPr>
            </a:pPr>
            <a:r>
              <a:rPr sz="1650" b="0">
                <a:solidFill>
                  <a:srgbClr val="425466"/>
                </a:solidFill>
                <a:latin typeface="Helvetica Neue"/>
                <a:ea typeface="Helvetica Neue"/>
                <a:cs typeface="Helvetica Neue"/>
              </a:rPr>
              <a:t>Ten installed Ollama models received independent R3 incidents and the same evidence framework.</a:t>
            </a:r>
          </a:p>
        </p:txBody>
      </p:sp>
      <p:sp>
        <p:nvSpPr>
          <p:cNvPr id="10" name="">
            <a:extLst xmlns:a="http://schemas.openxmlformats.org/drawingml/2006/main">
              <a:ext uri="{FF2B5EF4-FFF2-40B4-BE49-F238E27FC236}">
                <a16:creationId xmlns:a16="http://schemas.microsoft.com/office/drawing/2014/main" id="{959AC86A-E2FB-4705-BF00-7EFA93BB15F7}"/>
              </a:ext>
            </a:extLst>
          </p:cNvPr>
          <p:cNvSpPr>
            <a:spLocks xmlns:a="http://schemas.openxmlformats.org/drawingml/2006/main" noGrp="1"/>
          </p:cNvSpPr>
          <p:nvPr/>
        </p:nvSpPr>
        <p:spPr>
          <a:xfrm xmlns:a="http://schemas.openxmlformats.org/drawingml/2006/main">
            <a:off x="723900" y="36671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lgn="l">
              <a:defRPr sz="1200" b="1">
                <a:solidFill>
                  <a:srgbClr val="3377B5"/>
                </a:solidFill>
                <a:latin typeface="Helvetica Neue"/>
                <a:ea typeface="Helvetica Neue"/>
                <a:cs typeface="Helvetica Neue"/>
              </a:defRPr>
            </a:pPr>
            <a:r>
              <a:rPr sz="1200" b="1">
                <a:solidFill>
                  <a:srgbClr val="3377B5"/>
                </a:solidFill>
                <a:latin typeface="Helvetica Neue"/>
                <a:ea typeface="Helvetica Neue"/>
                <a:cs typeface="Helvetica Neue"/>
              </a:rPr>
              <a:t>Question tested</a:t>
            </a:r>
          </a:p>
        </p:txBody>
      </p:sp>
      <p:sp>
        <p:nvSpPr>
          <p:cNvPr id="11" name="">
            <a:extLst xmlns:a="http://schemas.openxmlformats.org/drawingml/2006/main">
              <a:ext uri="{FF2B5EF4-FFF2-40B4-BE49-F238E27FC236}">
                <a16:creationId xmlns:a16="http://schemas.microsoft.com/office/drawing/2014/main" id="{6FEC489D-DEEF-4CE2-ADF8-1665194855C0}"/>
              </a:ext>
            </a:extLst>
          </p:cNvPr>
          <p:cNvSpPr>
            <a:spLocks xmlns:a="http://schemas.openxmlformats.org/drawingml/2006/main" noGrp="1"/>
          </p:cNvSpPr>
          <p:nvPr/>
        </p:nvSpPr>
        <p:spPr>
          <a:xfrm xmlns:a="http://schemas.openxmlformats.org/drawingml/2006/main">
            <a:off x="723900" y="3981450"/>
            <a:ext cx="4095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950" b="1">
                <a:solidFill>
                  <a:srgbClr val="17212B"/>
                </a:solidFill>
                <a:latin typeface="Helvetica Neue"/>
                <a:ea typeface="Helvetica Neue"/>
                <a:cs typeface="Helvetica Neue"/>
              </a:defRPr>
            </a:pPr>
            <a:r>
              <a:rPr sz="1950" b="1">
                <a:solidFill>
                  <a:srgbClr val="17212B"/>
                </a:solidFill>
                <a:latin typeface="Helvetica Neue"/>
                <a:ea typeface="Helvetica Neue"/>
                <a:cs typeface="Helvetica Neue"/>
              </a:rPr>
              <a:t>Which local model behaves best inside the existing pipeline?</a:t>
            </a:r>
          </a:p>
        </p:txBody>
      </p:sp>
      <p:sp>
        <p:nvSpPr>
          <p:cNvPr id="12" name="">
            <a:extLst xmlns:a="http://schemas.openxmlformats.org/drawingml/2006/main">
              <a:ext uri="{FF2B5EF4-FFF2-40B4-BE49-F238E27FC236}">
                <a16:creationId xmlns:a16="http://schemas.microsoft.com/office/drawing/2014/main" id="{AD1B4FE3-63E4-4D68-9A7B-6018C470CDCB}"/>
              </a:ext>
            </a:extLst>
          </p:cNvPr>
          <p:cNvSpPr>
            <a:spLocks xmlns:a="http://schemas.openxmlformats.org/drawingml/2006/main" noGrp="1"/>
          </p:cNvSpPr>
          <p:nvPr/>
        </p:nvSpPr>
        <p:spPr>
          <a:xfrm xmlns:a="http://schemas.openxmlformats.org/drawingml/2006/main">
            <a:off x="5619750" y="1543050"/>
            <a:ext cx="19050" cy="4210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02562DA-A181-4FAB-BEF3-3623D9E72323}"/>
              </a:ext>
            </a:extLst>
          </p:cNvPr>
          <p:cNvSpPr>
            <a:spLocks xmlns:a="http://schemas.openxmlformats.org/drawingml/2006/main" noGrp="1"/>
          </p:cNvSpPr>
          <p:nvPr/>
        </p:nvSpPr>
        <p:spPr>
          <a:xfrm xmlns:a="http://schemas.openxmlformats.org/drawingml/2006/main">
            <a:off x="6267450" y="1619250"/>
            <a:ext cx="76200" cy="209550"/>
          </a:xfrm>
          <a:prstGeom xmlns:a="http://schemas.openxmlformats.org/drawingml/2006/main" prst="rect">
            <a:avLst/>
          </a:prstGeom>
          <a:solidFill xmlns:a="http://schemas.openxmlformats.org/drawingml/2006/main">
            <a:srgbClr val="168B8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3D95268-CB87-4E12-970E-1DC68EB062B5}"/>
              </a:ext>
            </a:extLst>
          </p:cNvPr>
          <p:cNvSpPr>
            <a:spLocks xmlns:a="http://schemas.openxmlformats.org/drawingml/2006/main" noGrp="1"/>
          </p:cNvSpPr>
          <p:nvPr/>
        </p:nvSpPr>
        <p:spPr>
          <a:xfrm xmlns:a="http://schemas.openxmlformats.org/drawingml/2006/main">
            <a:off x="6438900" y="1581150"/>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425466"/>
                </a:solidFill>
                <a:latin typeface="Helvetica Neue"/>
                <a:ea typeface="Helvetica Neue"/>
                <a:cs typeface="Helvetica Neue"/>
              </a:defRPr>
            </a:pPr>
            <a:r>
              <a:rPr sz="1125" b="1">
                <a:solidFill>
                  <a:srgbClr val="425466"/>
                </a:solidFill>
                <a:latin typeface="Helvetica Neue"/>
                <a:ea typeface="Helvetica Neue"/>
                <a:cs typeface="Helvetica Neue"/>
              </a:rPr>
              <a:t>TRY 4</a:t>
            </a:r>
          </a:p>
        </p:txBody>
      </p:sp>
      <p:sp>
        <p:nvSpPr>
          <p:cNvPr id="15" name="">
            <a:extLst xmlns:a="http://schemas.openxmlformats.org/drawingml/2006/main">
              <a:ext uri="{FF2B5EF4-FFF2-40B4-BE49-F238E27FC236}">
                <a16:creationId xmlns:a16="http://schemas.microsoft.com/office/drawing/2014/main" id="{F35A7EFF-1040-47D3-8F00-25D20850AD3A}"/>
              </a:ext>
            </a:extLst>
          </p:cNvPr>
          <p:cNvSpPr>
            <a:spLocks xmlns:a="http://schemas.openxmlformats.org/drawingml/2006/main" noGrp="1"/>
          </p:cNvSpPr>
          <p:nvPr/>
        </p:nvSpPr>
        <p:spPr>
          <a:xfrm xmlns:a="http://schemas.openxmlformats.org/drawingml/2006/main">
            <a:off x="6267450" y="1952625"/>
            <a:ext cx="419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0263C"/>
                </a:solidFill>
                <a:latin typeface="Helvetica Neue"/>
                <a:ea typeface="Helvetica Neue"/>
                <a:cs typeface="Helvetica Neue"/>
              </a:defRPr>
            </a:pPr>
            <a:r>
              <a:rPr sz="2550" b="1">
                <a:solidFill>
                  <a:srgbClr val="10263C"/>
                </a:solidFill>
                <a:latin typeface="Helvetica Neue"/>
                <a:ea typeface="Helvetica Neue"/>
                <a:cs typeface="Helvetica Neue"/>
              </a:rPr>
              <a:t>Harness validation</a:t>
            </a:r>
          </a:p>
        </p:txBody>
      </p:sp>
      <p:sp>
        <p:nvSpPr>
          <p:cNvPr id="16" name="">
            <a:extLst xmlns:a="http://schemas.openxmlformats.org/drawingml/2006/main">
              <a:ext uri="{FF2B5EF4-FFF2-40B4-BE49-F238E27FC236}">
                <a16:creationId xmlns:a16="http://schemas.microsoft.com/office/drawing/2014/main" id="{E6F19197-E0E9-44E7-8EE1-382AD951382C}"/>
              </a:ext>
            </a:extLst>
          </p:cNvPr>
          <p:cNvSpPr>
            <a:spLocks xmlns:a="http://schemas.openxmlformats.org/drawingml/2006/main" noGrp="1"/>
          </p:cNvSpPr>
          <p:nvPr/>
        </p:nvSpPr>
        <p:spPr>
          <a:xfrm xmlns:a="http://schemas.openxmlformats.org/drawingml/2006/main">
            <a:off x="6267450" y="2552700"/>
            <a:ext cx="44386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425466"/>
                </a:solidFill>
                <a:latin typeface="Helvetica Neue"/>
                <a:ea typeface="Helvetica Neue"/>
                <a:cs typeface="Helvetica Neue"/>
              </a:defRPr>
            </a:pPr>
            <a:r>
              <a:rPr sz="1650" b="0">
                <a:solidFill>
                  <a:srgbClr val="425466"/>
                </a:solidFill>
                <a:latin typeface="Helvetica Neue"/>
                <a:ea typeface="Helvetica Neue"/>
                <a:cs typeface="Helvetica Neue"/>
              </a:rPr>
              <a:t>Only qwen3.5 ran. The system added evidence adjudication, stricter causal tests, checkpoints, and action gating.</a:t>
            </a:r>
          </a:p>
        </p:txBody>
      </p:sp>
      <p:sp>
        <p:nvSpPr>
          <p:cNvPr id="17" name="">
            <a:extLst xmlns:a="http://schemas.openxmlformats.org/drawingml/2006/main">
              <a:ext uri="{FF2B5EF4-FFF2-40B4-BE49-F238E27FC236}">
                <a16:creationId xmlns:a16="http://schemas.microsoft.com/office/drawing/2014/main" id="{B293C839-B450-46D0-B4AB-08D2A4C80EB7}"/>
              </a:ext>
            </a:extLst>
          </p:cNvPr>
          <p:cNvSpPr>
            <a:spLocks xmlns:a="http://schemas.openxmlformats.org/drawingml/2006/main" noGrp="1"/>
          </p:cNvSpPr>
          <p:nvPr/>
        </p:nvSpPr>
        <p:spPr>
          <a:xfrm xmlns:a="http://schemas.openxmlformats.org/drawingml/2006/main">
            <a:off x="6267450" y="36671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lgn="l">
              <a:defRPr sz="1200" b="1">
                <a:solidFill>
                  <a:srgbClr val="168B85"/>
                </a:solidFill>
                <a:latin typeface="Helvetica Neue"/>
                <a:ea typeface="Helvetica Neue"/>
                <a:cs typeface="Helvetica Neue"/>
              </a:defRPr>
            </a:pPr>
            <a:r>
              <a:rPr sz="1200" b="1">
                <a:solidFill>
                  <a:srgbClr val="168B85"/>
                </a:solidFill>
                <a:latin typeface="Helvetica Neue"/>
                <a:ea typeface="Helvetica Neue"/>
                <a:cs typeface="Helvetica Neue"/>
              </a:rPr>
              <a:t>Question tested</a:t>
            </a:r>
          </a:p>
        </p:txBody>
      </p:sp>
      <p:sp>
        <p:nvSpPr>
          <p:cNvPr id="18" name="">
            <a:extLst xmlns:a="http://schemas.openxmlformats.org/drawingml/2006/main">
              <a:ext uri="{FF2B5EF4-FFF2-40B4-BE49-F238E27FC236}">
                <a16:creationId xmlns:a16="http://schemas.microsoft.com/office/drawing/2014/main" id="{1DEEA7D9-2CAB-443D-9181-87441B925E2A}"/>
              </a:ext>
            </a:extLst>
          </p:cNvPr>
          <p:cNvSpPr>
            <a:spLocks xmlns:a="http://schemas.openxmlformats.org/drawingml/2006/main" noGrp="1"/>
          </p:cNvSpPr>
          <p:nvPr/>
        </p:nvSpPr>
        <p:spPr>
          <a:xfrm xmlns:a="http://schemas.openxmlformats.org/drawingml/2006/main">
            <a:off x="6267450" y="3981450"/>
            <a:ext cx="438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950" b="1">
                <a:solidFill>
                  <a:srgbClr val="17212B"/>
                </a:solidFill>
                <a:latin typeface="Helvetica Neue"/>
                <a:ea typeface="Helvetica Neue"/>
                <a:cs typeface="Helvetica Neue"/>
              </a:defRPr>
            </a:pPr>
            <a:r>
              <a:rPr sz="1950" b="1">
                <a:solidFill>
                  <a:srgbClr val="17212B"/>
                </a:solidFill>
                <a:latin typeface="Helvetica Neue"/>
                <a:ea typeface="Helvetica Neue"/>
                <a:cs typeface="Helvetica Neue"/>
              </a:rPr>
              <a:t>Does a stronger harness produce a more defensible investigation?</a:t>
            </a:r>
          </a:p>
        </p:txBody>
      </p:sp>
      <p:sp>
        <p:nvSpPr>
          <p:cNvPr id="19" name="">
            <a:extLst xmlns:a="http://schemas.openxmlformats.org/drawingml/2006/main">
              <a:ext uri="{FF2B5EF4-FFF2-40B4-BE49-F238E27FC236}">
                <a16:creationId xmlns:a16="http://schemas.microsoft.com/office/drawing/2014/main" id="{F76AD8F5-F607-4C94-A7B1-1712966E340F}"/>
              </a:ext>
            </a:extLst>
          </p:cNvPr>
          <p:cNvSpPr>
            <a:spLocks xmlns:a="http://schemas.openxmlformats.org/drawingml/2006/main" noGrp="1"/>
          </p:cNvSpPr>
          <p:nvPr/>
        </p:nvSpPr>
        <p:spPr>
          <a:xfrm xmlns:a="http://schemas.openxmlformats.org/drawingml/2006/main">
            <a:off x="2057400" y="5067300"/>
            <a:ext cx="85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435"/>
          </a:bodyPr>
          <a:lstStyle xmlns:a="http://schemas.openxmlformats.org/drawingml/2006/main"/>
          <a:p xmlns:a="http://schemas.openxmlformats.org/drawingml/2006/main">
            <a:pPr algn="ctr">
              <a:defRPr sz="3450" b="1">
                <a:solidFill>
                  <a:srgbClr val="3377B5"/>
                </a:solidFill>
                <a:latin typeface="Helvetica Neue"/>
                <a:ea typeface="Helvetica Neue"/>
                <a:cs typeface="Helvetica Neue"/>
              </a:defRPr>
            </a:pPr>
            <a:r>
              <a:rPr sz="3450" b="1">
                <a:solidFill>
                  <a:srgbClr val="3377B5"/>
                </a:solidFill>
                <a:latin typeface="Helvetica Neue"/>
                <a:ea typeface="Helvetica Neue"/>
                <a:cs typeface="Helvetica Neue"/>
              </a:rPr>
              <a:t>64</a:t>
            </a:r>
          </a:p>
        </p:txBody>
      </p:sp>
      <p:sp>
        <p:nvSpPr>
          <p:cNvPr id="20" name="">
            <a:extLst xmlns:a="http://schemas.openxmlformats.org/drawingml/2006/main">
              <a:ext uri="{FF2B5EF4-FFF2-40B4-BE49-F238E27FC236}">
                <a16:creationId xmlns:a16="http://schemas.microsoft.com/office/drawing/2014/main" id="{58D5827E-B75B-43D6-9905-5A7600587A28}"/>
              </a:ext>
            </a:extLst>
          </p:cNvPr>
          <p:cNvSpPr>
            <a:spLocks xmlns:a="http://schemas.openxmlformats.org/drawingml/2006/main" noGrp="1"/>
          </p:cNvSpPr>
          <p:nvPr/>
        </p:nvSpPr>
        <p:spPr>
          <a:xfrm xmlns:a="http://schemas.openxmlformats.org/drawingml/2006/main">
            <a:off x="2971800" y="52006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6B7B8C"/>
                </a:solidFill>
                <a:latin typeface="Helvetica Neue"/>
                <a:ea typeface="Helvetica Neue"/>
                <a:cs typeface="Helvetica Neue"/>
              </a:defRPr>
            </a:pPr>
            <a:r>
              <a:rPr sz="1350" b="0">
                <a:solidFill>
                  <a:srgbClr val="6B7B8C"/>
                </a:solidFill>
                <a:latin typeface="Helvetica Neue"/>
                <a:ea typeface="Helvetica Neue"/>
                <a:cs typeface="Helvetica Neue"/>
              </a:rPr>
              <a:t>best Try 3 score</a:t>
            </a:r>
          </a:p>
        </p:txBody>
      </p:sp>
      <p:sp>
        <p:nvSpPr>
          <p:cNvPr id="21" name="">
            <a:extLst xmlns:a="http://schemas.openxmlformats.org/drawingml/2006/main">
              <a:ext uri="{FF2B5EF4-FFF2-40B4-BE49-F238E27FC236}">
                <a16:creationId xmlns:a16="http://schemas.microsoft.com/office/drawing/2014/main" id="{A3E83023-8B5C-43AC-9539-913FCAA4BA91}"/>
              </a:ext>
            </a:extLst>
          </p:cNvPr>
          <p:cNvSpPr>
            <a:spLocks xmlns:a="http://schemas.openxmlformats.org/drawingml/2006/main" noGrp="1"/>
          </p:cNvSpPr>
          <p:nvPr/>
        </p:nvSpPr>
        <p:spPr>
          <a:xfrm xmlns:a="http://schemas.openxmlformats.org/drawingml/2006/main">
            <a:off x="7658100" y="5067300"/>
            <a:ext cx="85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435"/>
          </a:bodyPr>
          <a:lstStyle xmlns:a="http://schemas.openxmlformats.org/drawingml/2006/main"/>
          <a:p xmlns:a="http://schemas.openxmlformats.org/drawingml/2006/main">
            <a:pPr algn="ctr">
              <a:defRPr sz="3450" b="1">
                <a:solidFill>
                  <a:srgbClr val="168B85"/>
                </a:solidFill>
                <a:latin typeface="Helvetica Neue"/>
                <a:ea typeface="Helvetica Neue"/>
                <a:cs typeface="Helvetica Neue"/>
              </a:defRPr>
            </a:pPr>
            <a:r>
              <a:rPr sz="3450" b="1">
                <a:solidFill>
                  <a:srgbClr val="168B85"/>
                </a:solidFill>
                <a:latin typeface="Helvetica Neue"/>
                <a:ea typeface="Helvetica Neue"/>
                <a:cs typeface="Helvetica Neue"/>
              </a:rPr>
              <a:t>68</a:t>
            </a:r>
          </a:p>
        </p:txBody>
      </p:sp>
      <p:sp>
        <p:nvSpPr>
          <p:cNvPr id="22" name="">
            <a:extLst xmlns:a="http://schemas.openxmlformats.org/drawingml/2006/main">
              <a:ext uri="{FF2B5EF4-FFF2-40B4-BE49-F238E27FC236}">
                <a16:creationId xmlns:a16="http://schemas.microsoft.com/office/drawing/2014/main" id="{A925F4E6-08BE-4C0E-8EFD-DF9751AAFE99}"/>
              </a:ext>
            </a:extLst>
          </p:cNvPr>
          <p:cNvSpPr>
            <a:spLocks xmlns:a="http://schemas.openxmlformats.org/drawingml/2006/main" noGrp="1"/>
          </p:cNvSpPr>
          <p:nvPr/>
        </p:nvSpPr>
        <p:spPr>
          <a:xfrm xmlns:a="http://schemas.openxmlformats.org/drawingml/2006/main">
            <a:off x="8572500" y="52006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6B7B8C"/>
                </a:solidFill>
                <a:latin typeface="Helvetica Neue"/>
                <a:ea typeface="Helvetica Neue"/>
                <a:cs typeface="Helvetica Neue"/>
              </a:defRPr>
            </a:pPr>
            <a:r>
              <a:rPr sz="1350" b="0">
                <a:solidFill>
                  <a:srgbClr val="6B7B8C"/>
                </a:solidFill>
                <a:latin typeface="Helvetica Neue"/>
                <a:ea typeface="Helvetica Neue"/>
                <a:cs typeface="Helvetica Neue"/>
              </a:rPr>
              <a:t>Try 4 qwen score</a:t>
            </a:r>
          </a:p>
        </p:txBody>
      </p:sp>
    </p:spTree>
    <p:extLst>
      <p:ext uri="{BB962C8B-B14F-4D97-AF65-F5344CB8AC3E}">
        <p14:creationId xmlns:p14="http://schemas.microsoft.com/office/powerpoint/2010/main" val="41214066"/>
      </p:ext>
    </p:extLst>
  </p:cSld>
</p:sld>
</file>

<file path=ppt/slides/slide3.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82DB599-2CB8-4085-A027-ACE7C2C973BF}"/>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3 investigation flow</a:t>
            </a:r>
          </a:p>
        </p:txBody>
      </p:sp>
      <p:sp>
        <p:nvSpPr>
          <p:cNvPr id="2" name="">
            <a:extLst xmlns:a="http://schemas.openxmlformats.org/drawingml/2006/main">
              <a:ext uri="{FF2B5EF4-FFF2-40B4-BE49-F238E27FC236}">
                <a16:creationId xmlns:a16="http://schemas.microsoft.com/office/drawing/2014/main" id="{9B69F126-1482-49C3-84E4-DE6290091847}"/>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Each model owned a separate incident track and generated its own versioned investigation.</a:t>
            </a:r>
          </a:p>
        </p:txBody>
      </p:sp>
      <p:sp>
        <p:nvSpPr>
          <p:cNvPr id="3" name="">
            <a:extLst xmlns:a="http://schemas.openxmlformats.org/drawingml/2006/main">
              <a:ext uri="{FF2B5EF4-FFF2-40B4-BE49-F238E27FC236}">
                <a16:creationId xmlns:a16="http://schemas.microsoft.com/office/drawing/2014/main" id="{D1CED6C1-A83D-49E1-99AB-57959050B6BF}"/>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8495629-D598-404C-B41A-095623E98A82}"/>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application design and evaluation protocol</a:t>
            </a:r>
          </a:p>
        </p:txBody>
      </p:sp>
      <p:sp>
        <p:nvSpPr>
          <p:cNvPr id="5" name="">
            <a:extLst xmlns:a="http://schemas.openxmlformats.org/drawingml/2006/main">
              <a:ext uri="{FF2B5EF4-FFF2-40B4-BE49-F238E27FC236}">
                <a16:creationId xmlns:a16="http://schemas.microsoft.com/office/drawing/2014/main" id="{7ABBCC9E-4466-4190-8FE2-9563B5290083}"/>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1FFD9CF6-2E7B-4FF3-B33A-40B5D0412860}"/>
              </a:ext>
            </a:extLst>
          </p:cNvPr>
          <p:cNvSpPr>
            <a:spLocks xmlns:a="http://schemas.openxmlformats.org/drawingml/2006/main" noGrp="1"/>
          </p:cNvSpPr>
          <p:nvPr/>
        </p:nvSpPr>
        <p:spPr>
          <a:xfrm xmlns:a="http://schemas.openxmlformats.org/drawingml/2006/main">
            <a:off x="609600" y="1809750"/>
            <a:ext cx="1762125" cy="819150"/>
          </a:xfrm>
          <a:prstGeom xmlns:a="http://schemas.openxmlformats.org/drawingml/2006/main" prst="roundRect">
            <a:avLst>
              <a:gd name="adj" fmla="val 9302"/>
            </a:avLst>
          </a:prstGeom>
          <a:solidFill xmlns:a="http://schemas.openxmlformats.org/drawingml/2006/main">
            <a:srgbClr val="DCE9F4"/>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Incident description</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 starter records</a:t>
            </a:r>
          </a:p>
        </p:txBody>
      </p:sp>
      <p:sp>
        <p:nvSpPr>
          <p:cNvPr id="7" name="">
            <a:extLst xmlns:a="http://schemas.openxmlformats.org/drawingml/2006/main">
              <a:ext uri="{FF2B5EF4-FFF2-40B4-BE49-F238E27FC236}">
                <a16:creationId xmlns:a16="http://schemas.microsoft.com/office/drawing/2014/main" id="{492B77F1-6D13-42FE-8CCC-DF9DBD91BFB5}"/>
              </a:ext>
            </a:extLst>
          </p:cNvPr>
          <p:cNvSpPr>
            <a:spLocks xmlns:a="http://schemas.openxmlformats.org/drawingml/2006/main" noGrp="1"/>
          </p:cNvSpPr>
          <p:nvPr/>
        </p:nvSpPr>
        <p:spPr>
          <a:xfrm xmlns:a="http://schemas.openxmlformats.org/drawingml/2006/main">
            <a:off x="2724150" y="1809750"/>
            <a:ext cx="156210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Baseline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understanding</a:t>
            </a:r>
          </a:p>
        </p:txBody>
      </p:sp>
      <p:sp>
        <p:nvSpPr>
          <p:cNvPr id="8" name="">
            <a:extLst xmlns:a="http://schemas.openxmlformats.org/drawingml/2006/main">
              <a:ext uri="{FF2B5EF4-FFF2-40B4-BE49-F238E27FC236}">
                <a16:creationId xmlns:a16="http://schemas.microsoft.com/office/drawing/2014/main" id="{30B14675-B175-4690-BF48-AE2875BDF5DC}"/>
              </a:ext>
            </a:extLst>
          </p:cNvPr>
          <p:cNvSpPr>
            <a:spLocks xmlns:a="http://schemas.openxmlformats.org/drawingml/2006/main" noGrp="1"/>
          </p:cNvSpPr>
          <p:nvPr/>
        </p:nvSpPr>
        <p:spPr>
          <a:xfrm xmlns:a="http://schemas.openxmlformats.org/drawingml/2006/main">
            <a:off x="4638675" y="1809750"/>
            <a:ext cx="14287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Tag selection</a:t>
            </a:r>
          </a:p>
        </p:txBody>
      </p:sp>
      <p:sp>
        <p:nvSpPr>
          <p:cNvPr id="9" name="">
            <a:extLst xmlns:a="http://schemas.openxmlformats.org/drawingml/2006/main">
              <a:ext uri="{FF2B5EF4-FFF2-40B4-BE49-F238E27FC236}">
                <a16:creationId xmlns:a16="http://schemas.microsoft.com/office/drawing/2014/main" id="{D3613E6C-643D-4C44-B54F-326F1CE53610}"/>
              </a:ext>
            </a:extLst>
          </p:cNvPr>
          <p:cNvSpPr>
            <a:spLocks xmlns:a="http://schemas.openxmlformats.org/drawingml/2006/main" noGrp="1"/>
          </p:cNvSpPr>
          <p:nvPr/>
        </p:nvSpPr>
        <p:spPr>
          <a:xfrm xmlns:a="http://schemas.openxmlformats.org/drawingml/2006/main">
            <a:off x="6419850" y="1809750"/>
            <a:ext cx="152400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Selected</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specialists</a:t>
            </a:r>
          </a:p>
        </p:txBody>
      </p:sp>
      <p:sp>
        <p:nvSpPr>
          <p:cNvPr id="10" name="">
            <a:extLst xmlns:a="http://schemas.openxmlformats.org/drawingml/2006/main">
              <a:ext uri="{FF2B5EF4-FFF2-40B4-BE49-F238E27FC236}">
                <a16:creationId xmlns:a16="http://schemas.microsoft.com/office/drawing/2014/main" id="{F62BF219-96A1-4180-B221-EC7AE93FC7F6}"/>
              </a:ext>
            </a:extLst>
          </p:cNvPr>
          <p:cNvSpPr>
            <a:spLocks xmlns:a="http://schemas.openxmlformats.org/drawingml/2006/main" noGrp="1"/>
          </p:cNvSpPr>
          <p:nvPr/>
        </p:nvSpPr>
        <p:spPr>
          <a:xfrm xmlns:a="http://schemas.openxmlformats.org/drawingml/2006/main">
            <a:off x="8296275" y="1809750"/>
            <a:ext cx="14287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Question</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broker</a:t>
            </a:r>
          </a:p>
        </p:txBody>
      </p:sp>
      <p:sp>
        <p:nvSpPr>
          <p:cNvPr id="11" name="">
            <a:extLst xmlns:a="http://schemas.openxmlformats.org/drawingml/2006/main">
              <a:ext uri="{FF2B5EF4-FFF2-40B4-BE49-F238E27FC236}">
                <a16:creationId xmlns:a16="http://schemas.microsoft.com/office/drawing/2014/main" id="{C8436F5A-0573-469B-BAF7-C2510B355CF7}"/>
              </a:ext>
            </a:extLst>
          </p:cNvPr>
          <p:cNvSpPr>
            <a:spLocks xmlns:a="http://schemas.openxmlformats.org/drawingml/2006/main" noGrp="1"/>
          </p:cNvSpPr>
          <p:nvPr/>
        </p:nvSpPr>
        <p:spPr>
          <a:xfrm xmlns:a="http://schemas.openxmlformats.org/drawingml/2006/main">
            <a:off x="10077450" y="1809750"/>
            <a:ext cx="1485900" cy="819150"/>
          </a:xfrm>
          <a:prstGeom xmlns:a="http://schemas.openxmlformats.org/drawingml/2006/main" prst="roundRect">
            <a:avLst>
              <a:gd name="adj" fmla="val 9302"/>
            </a:avLst>
          </a:prstGeom>
          <a:solidFill xmlns:a="http://schemas.openxmlformats.org/drawingml/2006/main">
            <a:srgbClr val="F7E5BE"/>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Answer</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fetchers</a:t>
            </a:r>
          </a:p>
        </p:txBody>
      </p:sp>
      <p:cxnSp>
        <p:nvCxnSpPr>
          <p:cNvPr id="38" name=""/>
          <p:cNvCxnSpPr>
            <a:stCxn xmlns:a="http://schemas.openxmlformats.org/drawingml/2006/main" id="6" idx="3"/>
            <a:endCxn xmlns:a="http://schemas.openxmlformats.org/drawingml/2006/main" id="7" idx="1"/>
          </p:cNvCxnSpPr>
          <p:nvPr/>
        </p:nvCxnSpPr>
        <p:spPr>
          <a:xfrm xmlns:a="http://schemas.openxmlformats.org/drawingml/2006/main">
            <a:off x="2371725" y="2219325"/>
            <a:ext cx="352425" cy="0"/>
          </a:xfrm>
          <a:prstGeom xmlns:a="http://schemas.openxmlformats.org/drawingml/2006/main" prst="straightConnector1">
            <a:avLst/>
          </a:prstGeom>
          <a:ln xmlns:a="http://schemas.openxmlformats.org/drawingml/2006/main" w="19050">
            <a:solidFill>
              <a:srgbClr val="425466"/>
            </a:solidFill>
            <a:prstDash val="solid"/>
            <a:headEnd type="arrow" w="med" len="med"/>
          </a:ln>
        </p:spPr>
      </p:cxnSp>
      <p:cxnSp>
        <p:nvCxnSpPr>
          <p:cNvPr id="39" name=""/>
          <p:cNvCxnSpPr>
            <a:stCxn xmlns:a="http://schemas.openxmlformats.org/drawingml/2006/main" id="7" idx="3"/>
            <a:endCxn xmlns:a="http://schemas.openxmlformats.org/drawingml/2006/main" id="8" idx="1"/>
          </p:cNvCxnSpPr>
          <p:nvPr/>
        </p:nvCxnSpPr>
        <p:spPr>
          <a:xfrm xmlns:a="http://schemas.openxmlformats.org/drawingml/2006/main">
            <a:off x="4286250" y="2219325"/>
            <a:ext cx="352425" cy="0"/>
          </a:xfrm>
          <a:prstGeom xmlns:a="http://schemas.openxmlformats.org/drawingml/2006/main" prst="straightConnector1">
            <a:avLst/>
          </a:prstGeom>
          <a:ln xmlns:a="http://schemas.openxmlformats.org/drawingml/2006/main" w="19050">
            <a:solidFill>
              <a:srgbClr val="425466"/>
            </a:solidFill>
            <a:prstDash val="solid"/>
            <a:headEnd type="arrow" w="med" len="med"/>
          </a:ln>
        </p:spPr>
      </p:cxnSp>
      <p:cxnSp>
        <p:nvCxnSpPr>
          <p:cNvPr id="40" name=""/>
          <p:cNvCxnSpPr>
            <a:stCxn xmlns:a="http://schemas.openxmlformats.org/drawingml/2006/main" id="8" idx="3"/>
            <a:endCxn xmlns:a="http://schemas.openxmlformats.org/drawingml/2006/main" id="9" idx="1"/>
          </p:cNvCxnSpPr>
          <p:nvPr/>
        </p:nvCxnSpPr>
        <p:spPr>
          <a:xfrm xmlns:a="http://schemas.openxmlformats.org/drawingml/2006/main">
            <a:off x="6067425" y="2219325"/>
            <a:ext cx="352425" cy="0"/>
          </a:xfrm>
          <a:prstGeom xmlns:a="http://schemas.openxmlformats.org/drawingml/2006/main" prst="straightConnector1">
            <a:avLst/>
          </a:prstGeom>
          <a:ln xmlns:a="http://schemas.openxmlformats.org/drawingml/2006/main" w="19050">
            <a:solidFill>
              <a:srgbClr val="425466"/>
            </a:solidFill>
            <a:prstDash val="solid"/>
            <a:headEnd type="arrow" w="med" len="med"/>
          </a:ln>
        </p:spPr>
      </p:cxnSp>
      <p:cxnSp>
        <p:nvCxnSpPr>
          <p:cNvPr id="41" name=""/>
          <p:cNvCxnSpPr>
            <a:stCxn xmlns:a="http://schemas.openxmlformats.org/drawingml/2006/main" id="9" idx="3"/>
            <a:endCxn xmlns:a="http://schemas.openxmlformats.org/drawingml/2006/main" id="10" idx="1"/>
          </p:cNvCxnSpPr>
          <p:nvPr/>
        </p:nvCxnSpPr>
        <p:spPr>
          <a:xfrm xmlns:a="http://schemas.openxmlformats.org/drawingml/2006/main">
            <a:off x="7943850" y="2219325"/>
            <a:ext cx="352425" cy="0"/>
          </a:xfrm>
          <a:prstGeom xmlns:a="http://schemas.openxmlformats.org/drawingml/2006/main" prst="straightConnector1">
            <a:avLst/>
          </a:prstGeom>
          <a:ln xmlns:a="http://schemas.openxmlformats.org/drawingml/2006/main" w="19050">
            <a:solidFill>
              <a:srgbClr val="425466"/>
            </a:solidFill>
            <a:prstDash val="solid"/>
            <a:headEnd type="arrow" w="med" len="med"/>
          </a:ln>
        </p:spPr>
      </p:cxnSp>
      <p:cxnSp>
        <p:nvCxnSpPr>
          <p:cNvPr id="42" name=""/>
          <p:cNvCxnSpPr>
            <a:stCxn xmlns:a="http://schemas.openxmlformats.org/drawingml/2006/main" id="10" idx="3"/>
            <a:endCxn xmlns:a="http://schemas.openxmlformats.org/drawingml/2006/main" id="11" idx="1"/>
          </p:cNvCxnSpPr>
          <p:nvPr/>
        </p:nvCxnSpPr>
        <p:spPr>
          <a:xfrm xmlns:a="http://schemas.openxmlformats.org/drawingml/2006/main">
            <a:off x="9725025" y="2219325"/>
            <a:ext cx="352425" cy="0"/>
          </a:xfrm>
          <a:prstGeom xmlns:a="http://schemas.openxmlformats.org/drawingml/2006/main" prst="straightConnector1">
            <a:avLst/>
          </a:prstGeom>
          <a:ln xmlns:a="http://schemas.openxmlformats.org/drawingml/2006/main" w="19050">
            <a:solidFill>
              <a:srgbClr val="425466"/>
            </a:solidFill>
            <a:prstDash val="solid"/>
            <a:headEnd type="arrow" w="med" len="med"/>
          </a:ln>
        </p:spPr>
      </p:cxnSp>
      <p:sp>
        <p:nvSpPr>
          <p:cNvPr id="17" name="">
            <a:extLst xmlns:a="http://schemas.openxmlformats.org/drawingml/2006/main">
              <a:ext uri="{FF2B5EF4-FFF2-40B4-BE49-F238E27FC236}">
                <a16:creationId xmlns:a16="http://schemas.microsoft.com/office/drawing/2014/main" id="{E8C637FE-F44C-4020-AA38-2C609DB6280B}"/>
              </a:ext>
            </a:extLst>
          </p:cNvPr>
          <p:cNvSpPr>
            <a:spLocks xmlns:a="http://schemas.openxmlformats.org/drawingml/2006/main" noGrp="1"/>
          </p:cNvSpPr>
          <p:nvPr/>
        </p:nvSpPr>
        <p:spPr>
          <a:xfrm xmlns:a="http://schemas.openxmlformats.org/drawingml/2006/main">
            <a:off x="8058150" y="3714750"/>
            <a:ext cx="157162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Evidence claims</a:t>
            </a:r>
          </a:p>
        </p:txBody>
      </p:sp>
      <p:sp>
        <p:nvSpPr>
          <p:cNvPr id="18" name="">
            <a:extLst xmlns:a="http://schemas.openxmlformats.org/drawingml/2006/main">
              <a:ext uri="{FF2B5EF4-FFF2-40B4-BE49-F238E27FC236}">
                <a16:creationId xmlns:a16="http://schemas.microsoft.com/office/drawing/2014/main" id="{8C59EEB3-E1C3-49EB-9900-6EC1E39B81F8}"/>
              </a:ext>
            </a:extLst>
          </p:cNvPr>
          <p:cNvSpPr>
            <a:spLocks xmlns:a="http://schemas.openxmlformats.org/drawingml/2006/main" noGrp="1"/>
          </p:cNvSpPr>
          <p:nvPr/>
        </p:nvSpPr>
        <p:spPr>
          <a:xfrm xmlns:a="http://schemas.openxmlformats.org/drawingml/2006/main">
            <a:off x="6000750" y="3714750"/>
            <a:ext cx="157162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Causal board</a:t>
            </a:r>
          </a:p>
        </p:txBody>
      </p:sp>
      <p:sp>
        <p:nvSpPr>
          <p:cNvPr id="19" name="">
            <a:extLst xmlns:a="http://schemas.openxmlformats.org/drawingml/2006/main">
              <a:ext uri="{FF2B5EF4-FFF2-40B4-BE49-F238E27FC236}">
                <a16:creationId xmlns:a16="http://schemas.microsoft.com/office/drawing/2014/main" id="{C5534CE9-7B9F-48BC-9A08-2CFE42EA76CD}"/>
              </a:ext>
            </a:extLst>
          </p:cNvPr>
          <p:cNvSpPr>
            <a:spLocks xmlns:a="http://schemas.openxmlformats.org/drawingml/2006/main" noGrp="1"/>
          </p:cNvSpPr>
          <p:nvPr/>
        </p:nvSpPr>
        <p:spPr>
          <a:xfrm xmlns:a="http://schemas.openxmlformats.org/drawingml/2006/main">
            <a:off x="3943350" y="3714750"/>
            <a:ext cx="157162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Verification</a:t>
            </a:r>
          </a:p>
        </p:txBody>
      </p:sp>
      <p:sp>
        <p:nvSpPr>
          <p:cNvPr id="20" name="">
            <a:extLst xmlns:a="http://schemas.openxmlformats.org/drawingml/2006/main">
              <a:ext uri="{FF2B5EF4-FFF2-40B4-BE49-F238E27FC236}">
                <a16:creationId xmlns:a16="http://schemas.microsoft.com/office/drawing/2014/main" id="{4AEFF01E-00FE-44DD-9432-7F6F9C35D4E3}"/>
              </a:ext>
            </a:extLst>
          </p:cNvPr>
          <p:cNvSpPr>
            <a:spLocks xmlns:a="http://schemas.openxmlformats.org/drawingml/2006/main" noGrp="1"/>
          </p:cNvSpPr>
          <p:nvPr/>
        </p:nvSpPr>
        <p:spPr>
          <a:xfrm xmlns:a="http://schemas.openxmlformats.org/drawingml/2006/main">
            <a:off x="1619250" y="3714750"/>
            <a:ext cx="1809750" cy="781050"/>
          </a:xfrm>
          <a:prstGeom xmlns:a="http://schemas.openxmlformats.org/drawingml/2006/main" prst="roundRect">
            <a:avLst>
              <a:gd name="adj" fmla="val 9756"/>
            </a:avLst>
          </a:prstGeom>
          <a:solidFill xmlns:a="http://schemas.openxmlformats.org/drawingml/2006/main">
            <a:srgbClr val="D9EFEC"/>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Corrective actions</a:t>
            </a:r>
          </a:p>
        </p:txBody>
      </p:sp>
      <p:cxnSp>
        <p:nvCxnSpPr>
          <p:cNvPr id="47" name=""/>
          <p:cNvCxnSpPr>
            <a:stCxn xmlns:a="http://schemas.openxmlformats.org/drawingml/2006/main" id="11" idx="2"/>
            <a:endCxn xmlns:a="http://schemas.openxmlformats.org/drawingml/2006/main" id="17" idx="3"/>
          </p:cNvCxnSpPr>
          <p:nvPr/>
        </p:nvCxnSpPr>
        <p:spPr>
          <a:xfrm xmlns:a="http://schemas.openxmlformats.org/drawingml/2006/main" flipH="1">
            <a:off x="9629775" y="2628900"/>
            <a:ext cx="1190625" cy="1476375"/>
          </a:xfrm>
          <a:prstGeom xmlns:a="http://schemas.openxmlformats.org/drawingml/2006/main" prst="bentConnector5">
            <a:avLst>
              <a:gd name="adj1" fmla="val 0"/>
              <a:gd name="adj2" fmla="val 15484"/>
              <a:gd name="adj3" fmla="val 80800"/>
            </a:avLst>
          </a:prstGeom>
          <a:ln xmlns:a="http://schemas.openxmlformats.org/drawingml/2006/main" w="19050">
            <a:solidFill>
              <a:srgbClr val="425466"/>
            </a:solidFill>
            <a:prstDash val="solid"/>
            <a:headEnd type="arrow" w="med" len="med"/>
          </a:ln>
        </p:spPr>
      </p:cxnSp>
      <p:cxnSp>
        <p:nvCxnSpPr>
          <p:cNvPr id="48" name=""/>
          <p:cNvCxnSpPr>
            <a:stCxn xmlns:a="http://schemas.openxmlformats.org/drawingml/2006/main" id="17" idx="1"/>
            <a:endCxn xmlns:a="http://schemas.openxmlformats.org/drawingml/2006/main" id="18" idx="3"/>
          </p:cNvCxnSpPr>
          <p:nvPr/>
        </p:nvCxnSpPr>
        <p:spPr>
          <a:xfrm xmlns:a="http://schemas.openxmlformats.org/drawingml/2006/main" flipH="1">
            <a:off x="7572375" y="4105275"/>
            <a:ext cx="485775" cy="0"/>
          </a:xfrm>
          <a:prstGeom xmlns:a="http://schemas.openxmlformats.org/drawingml/2006/main" prst="straightConnector1">
            <a:avLst/>
          </a:prstGeom>
          <a:ln xmlns:a="http://schemas.openxmlformats.org/drawingml/2006/main" w="19050">
            <a:solidFill>
              <a:srgbClr val="425466"/>
            </a:solidFill>
            <a:prstDash val="solid"/>
            <a:headEnd type="arrow" w="med" len="med"/>
          </a:ln>
        </p:spPr>
      </p:cxnSp>
      <p:cxnSp>
        <p:nvCxnSpPr>
          <p:cNvPr id="49" name=""/>
          <p:cNvCxnSpPr>
            <a:stCxn xmlns:a="http://schemas.openxmlformats.org/drawingml/2006/main" id="18" idx="1"/>
            <a:endCxn xmlns:a="http://schemas.openxmlformats.org/drawingml/2006/main" id="19" idx="3"/>
          </p:cNvCxnSpPr>
          <p:nvPr/>
        </p:nvCxnSpPr>
        <p:spPr>
          <a:xfrm xmlns:a="http://schemas.openxmlformats.org/drawingml/2006/main" flipH="1">
            <a:off x="5514975" y="4105275"/>
            <a:ext cx="485775" cy="0"/>
          </a:xfrm>
          <a:prstGeom xmlns:a="http://schemas.openxmlformats.org/drawingml/2006/main" prst="straightConnector1">
            <a:avLst/>
          </a:prstGeom>
          <a:ln xmlns:a="http://schemas.openxmlformats.org/drawingml/2006/main" w="19050">
            <a:solidFill>
              <a:srgbClr val="425466"/>
            </a:solidFill>
            <a:prstDash val="solid"/>
            <a:headEnd type="arrow" w="med" len="med"/>
          </a:ln>
        </p:spPr>
      </p:cxnSp>
      <p:cxnSp>
        <p:nvCxnSpPr>
          <p:cNvPr id="50" name=""/>
          <p:cNvCxnSpPr>
            <a:stCxn xmlns:a="http://schemas.openxmlformats.org/drawingml/2006/main" id="19" idx="1"/>
            <a:endCxn xmlns:a="http://schemas.openxmlformats.org/drawingml/2006/main" id="20" idx="3"/>
          </p:cNvCxnSpPr>
          <p:nvPr/>
        </p:nvCxnSpPr>
        <p:spPr>
          <a:xfrm xmlns:a="http://schemas.openxmlformats.org/drawingml/2006/main" flipH="1">
            <a:off x="3429000" y="4105275"/>
            <a:ext cx="514350" cy="0"/>
          </a:xfrm>
          <a:prstGeom xmlns:a="http://schemas.openxmlformats.org/drawingml/2006/main" prst="straightConnector1">
            <a:avLst/>
          </a:prstGeom>
          <a:ln xmlns:a="http://schemas.openxmlformats.org/drawingml/2006/main" w="19050">
            <a:solidFill>
              <a:srgbClr val="425466"/>
            </a:solidFill>
            <a:prstDash val="solid"/>
            <a:headEnd type="arrow" w="med" len="med"/>
          </a:ln>
        </p:spPr>
      </p:cxnSp>
      <p:sp>
        <p:nvSpPr>
          <p:cNvPr id="25" name="">
            <a:extLst xmlns:a="http://schemas.openxmlformats.org/drawingml/2006/main">
              <a:ext uri="{FF2B5EF4-FFF2-40B4-BE49-F238E27FC236}">
                <a16:creationId xmlns:a16="http://schemas.microsoft.com/office/drawing/2014/main" id="{6BD9B8D4-9BFE-4314-88CA-61A0B449AE1A}"/>
              </a:ext>
            </a:extLst>
          </p:cNvPr>
          <p:cNvSpPr>
            <a:spLocks xmlns:a="http://schemas.openxmlformats.org/drawingml/2006/main" noGrp="1"/>
          </p:cNvSpPr>
          <p:nvPr/>
        </p:nvSpPr>
        <p:spPr>
          <a:xfrm xmlns:a="http://schemas.openxmlformats.org/drawingml/2006/main">
            <a:off x="1581150" y="504825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0263C"/>
                </a:solidFill>
                <a:latin typeface="Helvetica Neue"/>
                <a:ea typeface="Helvetica Neue"/>
                <a:cs typeface="Helvetica Neue"/>
              </a:defRPr>
            </a:pPr>
            <a:r>
              <a:rPr sz="1800" b="1">
                <a:solidFill>
                  <a:srgbClr val="10263C"/>
                </a:solidFill>
                <a:latin typeface="Helvetica Neue"/>
                <a:ea typeface="Helvetica Neue"/>
                <a:cs typeface="Helvetica Neue"/>
              </a:rPr>
              <a:t>Evidence could create a new version inside the same model track</a:t>
            </a:r>
          </a:p>
        </p:txBody>
      </p:sp>
      <p:sp>
        <p:nvSpPr>
          <p:cNvPr id="26" name="">
            <a:extLst xmlns:a="http://schemas.openxmlformats.org/drawingml/2006/main">
              <a:ext uri="{FF2B5EF4-FFF2-40B4-BE49-F238E27FC236}">
                <a16:creationId xmlns:a16="http://schemas.microsoft.com/office/drawing/2014/main" id="{BA53B1A4-16D0-4620-9D37-6E56300A5E55}"/>
              </a:ext>
            </a:extLst>
          </p:cNvPr>
          <p:cNvSpPr>
            <a:spLocks xmlns:a="http://schemas.openxmlformats.org/drawingml/2006/main" noGrp="1"/>
          </p:cNvSpPr>
          <p:nvPr/>
        </p:nvSpPr>
        <p:spPr>
          <a:xfrm xmlns:a="http://schemas.openxmlformats.org/drawingml/2006/main">
            <a:off x="1676400" y="5543550"/>
            <a:ext cx="790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ctr">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The benchmark exposed failures in structured output, evidence reconciliation, causal direction, and premature actions.</a:t>
            </a:r>
          </a:p>
        </p:txBody>
      </p:sp>
    </p:spTree>
    <p:extLst>
      <p:ext uri="{BB962C8B-B14F-4D97-AF65-F5344CB8AC3E}">
        <p14:creationId xmlns:p14="http://schemas.microsoft.com/office/powerpoint/2010/main" val="470741513"/>
      </p:ext>
    </p:extLst>
  </p:cSld>
</p:sld>
</file>

<file path=ppt/slides/slide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79EDA17-4115-475C-B77D-7D32B649E3B3}"/>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The 100-point evaluation rubric</a:t>
            </a:r>
          </a:p>
        </p:txBody>
      </p:sp>
      <p:sp>
        <p:nvSpPr>
          <p:cNvPr id="2" name="">
            <a:extLst xmlns:a="http://schemas.openxmlformats.org/drawingml/2006/main">
              <a:ext uri="{FF2B5EF4-FFF2-40B4-BE49-F238E27FC236}">
                <a16:creationId xmlns:a16="http://schemas.microsoft.com/office/drawing/2014/main" id="{77B2E21A-B6E1-438F-95D0-58540E5546AA}"/>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scoring framework was defined before interpreting model performance.</a:t>
            </a:r>
          </a:p>
        </p:txBody>
      </p:sp>
      <p:sp>
        <p:nvSpPr>
          <p:cNvPr id="3" name="">
            <a:extLst xmlns:a="http://schemas.openxmlformats.org/drawingml/2006/main">
              <a:ext uri="{FF2B5EF4-FFF2-40B4-BE49-F238E27FC236}">
                <a16:creationId xmlns:a16="http://schemas.microsoft.com/office/drawing/2014/main" id="{09A26180-CCA4-4194-BE1C-B57C5C900A3A}"/>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CE251CF-5C16-4526-A1C5-09ADCCC06A43}"/>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R3 Ollama evaluation protocol</a:t>
            </a:r>
          </a:p>
        </p:txBody>
      </p:sp>
      <p:sp>
        <p:nvSpPr>
          <p:cNvPr id="5" name="">
            <a:extLst xmlns:a="http://schemas.openxmlformats.org/drawingml/2006/main">
              <a:ext uri="{FF2B5EF4-FFF2-40B4-BE49-F238E27FC236}">
                <a16:creationId xmlns:a16="http://schemas.microsoft.com/office/drawing/2014/main" id="{3A2C0E91-45DF-4D4E-91EE-697D191C7A55}"/>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61242DA0-E19E-4729-BB04-DE18E759798D}"/>
              </a:ext>
            </a:extLst>
          </p:cNvPr>
          <p:cNvSpPr>
            <a:spLocks xmlns:a="http://schemas.openxmlformats.org/drawingml/2006/main" noGrp="1"/>
          </p:cNvSpPr>
          <p:nvPr/>
        </p:nvSpPr>
        <p:spPr>
          <a:xfrm xmlns:a="http://schemas.openxmlformats.org/drawingml/2006/main">
            <a:off x="704850" y="163830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ctr">
              <a:defRPr sz="6150" b="1">
                <a:solidFill>
                  <a:srgbClr val="10263C"/>
                </a:solidFill>
                <a:latin typeface="Helvetica Neue"/>
                <a:ea typeface="Helvetica Neue"/>
                <a:cs typeface="Helvetica Neue"/>
              </a:defRPr>
            </a:pPr>
            <a:r>
              <a:rPr sz="6150" b="1">
                <a:solidFill>
                  <a:srgbClr val="10263C"/>
                </a:solidFill>
                <a:latin typeface="Helvetica Neue"/>
                <a:ea typeface="Helvetica Neue"/>
                <a:cs typeface="Helvetica Neue"/>
              </a:rPr>
              <a:t>100</a:t>
            </a:r>
          </a:p>
        </p:txBody>
      </p:sp>
      <p:sp>
        <p:nvSpPr>
          <p:cNvPr id="7" name="">
            <a:extLst xmlns:a="http://schemas.openxmlformats.org/drawingml/2006/main">
              <a:ext uri="{FF2B5EF4-FFF2-40B4-BE49-F238E27FC236}">
                <a16:creationId xmlns:a16="http://schemas.microsoft.com/office/drawing/2014/main" id="{4F0065C7-0829-4A14-BCE4-58D59F68781C}"/>
              </a:ext>
            </a:extLst>
          </p:cNvPr>
          <p:cNvSpPr>
            <a:spLocks xmlns:a="http://schemas.openxmlformats.org/drawingml/2006/main" noGrp="1"/>
          </p:cNvSpPr>
          <p:nvPr/>
        </p:nvSpPr>
        <p:spPr>
          <a:xfrm xmlns:a="http://schemas.openxmlformats.org/drawingml/2006/main">
            <a:off x="704850" y="26479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E5A32D"/>
                </a:solidFill>
                <a:latin typeface="Helvetica Neue"/>
                <a:ea typeface="Helvetica Neue"/>
                <a:cs typeface="Helvetica Neue"/>
              </a:defRPr>
            </a:pPr>
            <a:r>
              <a:rPr sz="1275" b="1">
                <a:solidFill>
                  <a:srgbClr val="E5A32D"/>
                </a:solidFill>
                <a:latin typeface="Helvetica Neue"/>
                <a:ea typeface="Helvetica Neue"/>
                <a:cs typeface="Helvetica Neue"/>
              </a:rPr>
              <a:t>TOTAL POINTS</a:t>
            </a:r>
          </a:p>
        </p:txBody>
      </p:sp>
      <p:sp>
        <p:nvSpPr>
          <p:cNvPr id="8" name="">
            <a:extLst xmlns:a="http://schemas.openxmlformats.org/drawingml/2006/main">
              <a:ext uri="{FF2B5EF4-FFF2-40B4-BE49-F238E27FC236}">
                <a16:creationId xmlns:a16="http://schemas.microsoft.com/office/drawing/2014/main" id="{53337715-8810-488B-934D-3701C97E2DF0}"/>
              </a:ext>
            </a:extLst>
          </p:cNvPr>
          <p:cNvSpPr>
            <a:spLocks xmlns:a="http://schemas.openxmlformats.org/drawingml/2006/main" noGrp="1"/>
          </p:cNvSpPr>
          <p:nvPr/>
        </p:nvSpPr>
        <p:spPr>
          <a:xfrm xmlns:a="http://schemas.openxmlformats.org/drawingml/2006/main">
            <a:off x="685800" y="33147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636"/>
          </a:bodyPr>
          <a:lstStyle xmlns:a="http://schemas.openxmlformats.org/drawingml/2006/main"/>
          <a:p xmlns:a="http://schemas.openxmlformats.org/drawingml/2006/main">
            <a:pPr algn="ctr">
              <a:defRPr sz="1650" b="0">
                <a:solidFill>
                  <a:srgbClr val="425466"/>
                </a:solidFill>
                <a:latin typeface="Helvetica Neue"/>
                <a:ea typeface="Helvetica Neue"/>
                <a:cs typeface="Helvetica Neue"/>
              </a:defRPr>
            </a:pPr>
            <a:r>
              <a:rPr sz="1650" b="0">
                <a:solidFill>
                  <a:srgbClr val="425466"/>
                </a:solidFill>
                <a:latin typeface="Helvetica Neue"/>
                <a:ea typeface="Helvetica Neue"/>
                <a:cs typeface="Helvetica Neue"/>
              </a:rPr>
              <a:t>Higher weight goes to evidence handling and causal reasoning because a fluent summary alone does not establish root cause.</a:t>
            </a:r>
          </a:p>
        </p:txBody>
      </p:sp>
      <p:graphicFrame>
        <p:nvGraphicFramePr>
          <p:cNvPr id="18" name="Chart"/>
          <p:cNvGraphicFramePr/>
          <p:nvPr/>
        </p:nvGraphicFramePr>
        <p:xfrm>
          <a:off xmlns:a="http://schemas.openxmlformats.org/drawingml/2006/main" x="3333750" y="1485900"/>
          <a:ext xmlns:a="http://schemas.openxmlformats.org/drawingml/2006/main" cx="8020050" cy="4362450"/>
        </p:xfrm>
        <a:graphic xmlns:a="http://schemas.openxmlformats.org/drawingml/2006/main">
          <a:graphicData uri="http://schemas.openxmlformats.org/drawingml/2006/chart">
            <c:chart xmlns:r="http://schemas.openxmlformats.org/officeDocument/2006/relationships" xmlns:c="http://schemas.openxmlformats.org/drawingml/2006/chart" r:id="R84b4e7bc0b334f30"/>
          </a:graphicData>
        </a:graphic>
      </p:graphicFrame>
    </p:spTree>
    <p:extLst>
      <p:ext uri="{BB962C8B-B14F-4D97-AF65-F5344CB8AC3E}">
        <p14:creationId xmlns:p14="http://schemas.microsoft.com/office/powerpoint/2010/main" val="408127756"/>
      </p:ext>
    </p:extLst>
  </p:cSld>
</p:sld>
</file>

<file path=ppt/slides/slide5.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6609D4-43ED-4184-B10F-315BD9E3878E}"/>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What earns each point allocation</a:t>
            </a:r>
          </a:p>
        </p:txBody>
      </p:sp>
      <p:sp>
        <p:nvSpPr>
          <p:cNvPr id="2" name="">
            <a:extLst xmlns:a="http://schemas.openxmlformats.org/drawingml/2006/main">
              <a:ext uri="{FF2B5EF4-FFF2-40B4-BE49-F238E27FC236}">
                <a16:creationId xmlns:a16="http://schemas.microsoft.com/office/drawing/2014/main" id="{497104BB-3273-4FC3-811A-244CB97620AE}"/>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Scores reflect investigative usefulness, evidence discipline, and causal validity.</a:t>
            </a:r>
          </a:p>
        </p:txBody>
      </p:sp>
      <p:sp>
        <p:nvSpPr>
          <p:cNvPr id="3" name="">
            <a:extLst xmlns:a="http://schemas.openxmlformats.org/drawingml/2006/main">
              <a:ext uri="{FF2B5EF4-FFF2-40B4-BE49-F238E27FC236}">
                <a16:creationId xmlns:a16="http://schemas.microsoft.com/office/drawing/2014/main" id="{6E9D0A4D-8C11-4698-B618-D4133E907BEA}"/>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A2891EB-7257-420D-BA8B-09774DE595CC}"/>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R3 Ollama evaluation protocol</a:t>
            </a:r>
          </a:p>
        </p:txBody>
      </p:sp>
      <p:sp>
        <p:nvSpPr>
          <p:cNvPr id="5" name="">
            <a:extLst xmlns:a="http://schemas.openxmlformats.org/drawingml/2006/main">
              <a:ext uri="{FF2B5EF4-FFF2-40B4-BE49-F238E27FC236}">
                <a16:creationId xmlns:a16="http://schemas.microsoft.com/office/drawing/2014/main" id="{5558F00F-794A-4B98-98F9-6055AACE3A9C}"/>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05</a:t>
            </a:r>
          </a:p>
        </p:txBody>
      </p:sp>
      <p:graphicFrame>
        <p:nvGraphicFramePr>
          <p:cNvPr id="12" name=""/>
          <p:cNvGraphicFramePr/>
          <p:nvPr/>
        </p:nvGraphicFramePr>
        <p:xfrm>
          <a:off xmlns:a="http://schemas.openxmlformats.org/drawingml/2006/main" x="628650" y="1485900"/>
          <a:ext xmlns:a="http://schemas.openxmlformats.org/drawingml/2006/main" cx="10934700" cy="4705350"/>
        </p:xfrm>
        <a:graphic xmlns:a="http://schemas.openxmlformats.org/drawingml/2006/main">
          <a:graphicData uri="http://schemas.openxmlformats.org/drawingml/2006/table">
            <a:tbl>
              <a:tblPr/>
              <a:tblGrid>
                <a:gridCol w="3171063"/>
                <a:gridCol w="918515"/>
                <a:gridCol w="6845122"/>
              </a:tblGrid>
              <a:tr h="522817">
                <a:tc>
                  <a:txBody>
                    <a:bodyPr/>
                    <a:lstStyle/>
                    <a:p>
                      <a:r>
                        <a:rPr sz="1275" b="1">
                          <a:solidFill>
                            <a:srgbClr val="FFFFFF"/>
                          </a:solidFill>
                          <a:latin typeface="Helvetica Neue"/>
                          <a:ea typeface="Helvetica Neue"/>
                          <a:cs typeface="Helvetica Neue"/>
                        </a:rPr>
                        <a:t>Dimension</a:t>
                      </a:r>
                    </a:p>
                  </a:txBody>
                  <a:tcPr marL="95250" marR="95250" marT="66675" marB="66675">
                    <a:solidFill>
                      <a:srgbClr val="10263C"/>
                    </a:solidFill>
                  </a:tcPr>
                </a:tc>
                <a:tc>
                  <a:txBody>
                    <a:bodyPr/>
                    <a:lstStyle/>
                    <a:p>
                      <a:r>
                        <a:rPr sz="1275" b="1">
                          <a:solidFill>
                            <a:srgbClr val="FFFFFF"/>
                          </a:solidFill>
                          <a:latin typeface="Helvetica Neue"/>
                          <a:ea typeface="Helvetica Neue"/>
                          <a:cs typeface="Helvetica Neue"/>
                        </a:rPr>
                        <a:t>Points</a:t>
                      </a:r>
                    </a:p>
                  </a:txBody>
                  <a:tcPr marL="95250" marR="95250" marT="66675" marB="66675">
                    <a:solidFill>
                      <a:srgbClr val="10263C"/>
                    </a:solidFill>
                  </a:tcPr>
                </a:tc>
                <a:tc>
                  <a:txBody>
                    <a:bodyPr/>
                    <a:lstStyle/>
                    <a:p>
                      <a:r>
                        <a:rPr sz="1275" b="1">
                          <a:solidFill>
                            <a:srgbClr val="FFFFFF"/>
                          </a:solidFill>
                          <a:latin typeface="Helvetica Neue"/>
                          <a:ea typeface="Helvetica Neue"/>
                          <a:cs typeface="Helvetica Neue"/>
                        </a:rPr>
                        <a:t>What earns credit</a:t>
                      </a:r>
                    </a:p>
                  </a:txBody>
                  <a:tcPr marL="95250" marR="95250" marT="66675" marB="66675">
                    <a:solidFill>
                      <a:srgbClr val="10263C"/>
                    </a:solidFill>
                  </a:tcPr>
                </a:tc>
              </a:tr>
              <a:tr h="522817">
                <a:tc>
                  <a:txBody>
                    <a:bodyPr/>
                    <a:lstStyle/>
                    <a:p>
                      <a:r>
                        <a:rPr sz="1125">
                          <a:solidFill>
                            <a:srgbClr val="17212B"/>
                          </a:solidFill>
                          <a:latin typeface="Helvetica Neue"/>
                          <a:ea typeface="Helvetica Neue"/>
                          <a:cs typeface="Helvetica Neue"/>
                        </a:rPr>
                        <a:t>Incident comprehension</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10</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Correct entities, sequence, context, and explicit unknowns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Tag selection</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10</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Relevant specialist routes without treating tags as causes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Investigative questions</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15</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High-yield questions that open distinct causal directions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Evidence targeting</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15</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Correct drawings, records, observations, and physical evidence</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Provenance and contradictions</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15</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Source separation, conflict detection, resistance to weak evidence</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Causal reasoning</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20</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Evidence-linked conditions, barriers, causes, and tested alternatives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Corrective actions</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10</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Actions tied to verified conditions with owners and checks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Calibration and trace</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5</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Visible limits, confidence, and useful decision records</a:t>
                      </a:r>
                    </a:p>
                  </a:txBody>
                  <a:tcPr marL="95250" marR="95250" marT="57150" marB="57150">
                    <a:solidFill>
                      <a:srgbClr val="FFFFFF"/>
                    </a:solidFill>
                  </a:tcPr>
                </a:tc>
              </a:tr>
            </a:tbl>
          </a:graphicData>
        </a:graphic>
      </p:graphicFrame>
    </p:spTree>
    <p:extLst>
      <p:ext uri="{BB962C8B-B14F-4D97-AF65-F5344CB8AC3E}">
        <p14:creationId xmlns:p14="http://schemas.microsoft.com/office/powerpoint/2010/main" val="573774412"/>
      </p:ext>
    </p:extLst>
  </p:cSld>
</p:sld>
</file>

<file path=ppt/slides/slide6.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4E6E37-32E6-4746-B87B-7725830F0C59}"/>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3 model performance</a:t>
            </a:r>
          </a:p>
        </p:txBody>
      </p:sp>
      <p:sp>
        <p:nvSpPr>
          <p:cNvPr id="2" name="">
            <a:extLst xmlns:a="http://schemas.openxmlformats.org/drawingml/2006/main">
              <a:ext uri="{FF2B5EF4-FFF2-40B4-BE49-F238E27FC236}">
                <a16:creationId xmlns:a16="http://schemas.microsoft.com/office/drawing/2014/main" id="{026EFDF8-4975-44A8-8A5C-BD89EB39587D}"/>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Qwen3.5 led the analytical benchmark. Two models produced no gradeable version within 30 minutes.</a:t>
            </a:r>
          </a:p>
        </p:txBody>
      </p:sp>
      <p:sp>
        <p:nvSpPr>
          <p:cNvPr id="3" name="">
            <a:extLst xmlns:a="http://schemas.openxmlformats.org/drawingml/2006/main">
              <a:ext uri="{FF2B5EF4-FFF2-40B4-BE49-F238E27FC236}">
                <a16:creationId xmlns:a16="http://schemas.microsoft.com/office/drawing/2014/main" id="{6271D82B-9BFB-47DA-B58C-4BC82514761E}"/>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C0D7060-0C07-47A6-B9EA-8380158114EB}"/>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benchmark_results.md, September 8, 2026</a:t>
            </a:r>
          </a:p>
        </p:txBody>
      </p:sp>
      <p:sp>
        <p:nvSpPr>
          <p:cNvPr id="5" name="">
            <a:extLst xmlns:a="http://schemas.openxmlformats.org/drawingml/2006/main">
              <a:ext uri="{FF2B5EF4-FFF2-40B4-BE49-F238E27FC236}">
                <a16:creationId xmlns:a16="http://schemas.microsoft.com/office/drawing/2014/main" id="{F6510765-FA0A-44B9-BB9F-E5FC2EE47BD0}"/>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06</a:t>
            </a:r>
          </a:p>
        </p:txBody>
      </p:sp>
      <p:graphicFrame>
        <p:nvGraphicFramePr>
          <p:cNvPr id="12" name="Chart"/>
          <p:cNvGraphicFramePr/>
          <p:nvPr/>
        </p:nvGraphicFramePr>
        <p:xfrm>
          <a:off xmlns:a="http://schemas.openxmlformats.org/drawingml/2006/main" x="781050" y="1428750"/>
          <a:ext xmlns:a="http://schemas.openxmlformats.org/drawingml/2006/main" cx="10572750" cy="4714875"/>
        </p:xfrm>
        <a:graphic xmlns:a="http://schemas.openxmlformats.org/drawingml/2006/main">
          <a:graphicData uri="http://schemas.openxmlformats.org/drawingml/2006/chart">
            <c:chart xmlns:r="http://schemas.openxmlformats.org/officeDocument/2006/relationships" xmlns:c="http://schemas.openxmlformats.org/drawingml/2006/chart" r:id="R511fdf8d230d4868"/>
          </a:graphicData>
        </a:graphic>
      </p:graphicFrame>
    </p:spTree>
    <p:extLst>
      <p:ext uri="{BB962C8B-B14F-4D97-AF65-F5344CB8AC3E}">
        <p14:creationId xmlns:p14="http://schemas.microsoft.com/office/powerpoint/2010/main" val="1012179979"/>
      </p:ext>
    </p:extLst>
  </p:cSld>
</p:sld>
</file>

<file path=ppt/slides/slide7.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DA7C036-2E55-4CEC-8709-B7D2A97D5025}"/>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Why the four highest Try 3 scores landed where they did</a:t>
            </a:r>
          </a:p>
        </p:txBody>
      </p:sp>
      <p:sp>
        <p:nvSpPr>
          <p:cNvPr id="2" name="">
            <a:extLst xmlns:a="http://schemas.openxmlformats.org/drawingml/2006/main">
              <a:ext uri="{FF2B5EF4-FFF2-40B4-BE49-F238E27FC236}">
                <a16:creationId xmlns:a16="http://schemas.microsoft.com/office/drawing/2014/main" id="{ACFEDB05-33F3-480F-BB42-EFE7C1832D9B}"/>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Strengths earned credit. Missing evidence discipline and causal structure capped every score.</a:t>
            </a:r>
          </a:p>
        </p:txBody>
      </p:sp>
      <p:sp>
        <p:nvSpPr>
          <p:cNvPr id="3" name="">
            <a:extLst xmlns:a="http://schemas.openxmlformats.org/drawingml/2006/main">
              <a:ext uri="{FF2B5EF4-FFF2-40B4-BE49-F238E27FC236}">
                <a16:creationId xmlns:a16="http://schemas.microsoft.com/office/drawing/2014/main" id="{D4F66BD2-F26B-4E37-96DC-AF8C00D579AB}"/>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B9E476C-95A6-4D1A-A5F1-28E9CA9B3F01}"/>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benchmark model-by-model findings</a:t>
            </a:r>
          </a:p>
        </p:txBody>
      </p:sp>
      <p:sp>
        <p:nvSpPr>
          <p:cNvPr id="5" name="">
            <a:extLst xmlns:a="http://schemas.openxmlformats.org/drawingml/2006/main">
              <a:ext uri="{FF2B5EF4-FFF2-40B4-BE49-F238E27FC236}">
                <a16:creationId xmlns:a16="http://schemas.microsoft.com/office/drawing/2014/main" id="{FD4D9932-2004-4C7E-B304-539C5A7F792F}"/>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F0AE5D6A-75A8-4B17-93E0-8E36AE82CB20}"/>
              </a:ext>
            </a:extLst>
          </p:cNvPr>
          <p:cNvSpPr>
            <a:spLocks xmlns:a="http://schemas.openxmlformats.org/drawingml/2006/main" noGrp="1"/>
          </p:cNvSpPr>
          <p:nvPr/>
        </p:nvSpPr>
        <p:spPr>
          <a:xfrm xmlns:a="http://schemas.openxmlformats.org/drawingml/2006/main">
            <a:off x="685800" y="14382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MODEL</a:t>
            </a:r>
          </a:p>
        </p:txBody>
      </p:sp>
      <p:sp>
        <p:nvSpPr>
          <p:cNvPr id="7" name="">
            <a:extLst xmlns:a="http://schemas.openxmlformats.org/drawingml/2006/main">
              <a:ext uri="{FF2B5EF4-FFF2-40B4-BE49-F238E27FC236}">
                <a16:creationId xmlns:a16="http://schemas.microsoft.com/office/drawing/2014/main" id="{D8D73162-CCED-4176-B309-8AC72157A784}"/>
              </a:ext>
            </a:extLst>
          </p:cNvPr>
          <p:cNvSpPr>
            <a:spLocks xmlns:a="http://schemas.openxmlformats.org/drawingml/2006/main" noGrp="1"/>
          </p:cNvSpPr>
          <p:nvPr/>
        </p:nvSpPr>
        <p:spPr>
          <a:xfrm xmlns:a="http://schemas.openxmlformats.org/drawingml/2006/main">
            <a:off x="2724150" y="143827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ctr">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SCORE</a:t>
            </a:r>
          </a:p>
        </p:txBody>
      </p:sp>
      <p:sp>
        <p:nvSpPr>
          <p:cNvPr id="8" name="">
            <a:extLst xmlns:a="http://schemas.openxmlformats.org/drawingml/2006/main">
              <a:ext uri="{FF2B5EF4-FFF2-40B4-BE49-F238E27FC236}">
                <a16:creationId xmlns:a16="http://schemas.microsoft.com/office/drawing/2014/main" id="{5167709A-EB7D-4D12-A7E0-B94626100C4B}"/>
              </a:ext>
            </a:extLst>
          </p:cNvPr>
          <p:cNvSpPr>
            <a:spLocks xmlns:a="http://schemas.openxmlformats.org/drawingml/2006/main" noGrp="1"/>
          </p:cNvSpPr>
          <p:nvPr/>
        </p:nvSpPr>
        <p:spPr>
          <a:xfrm xmlns:a="http://schemas.openxmlformats.org/drawingml/2006/main">
            <a:off x="3752850" y="14382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WHAT WORKED</a:t>
            </a:r>
          </a:p>
        </p:txBody>
      </p:sp>
      <p:sp>
        <p:nvSpPr>
          <p:cNvPr id="9" name="">
            <a:extLst xmlns:a="http://schemas.openxmlformats.org/drawingml/2006/main">
              <a:ext uri="{FF2B5EF4-FFF2-40B4-BE49-F238E27FC236}">
                <a16:creationId xmlns:a16="http://schemas.microsoft.com/office/drawing/2014/main" id="{FED63BCA-7B48-4C0A-AAE0-96329F953B49}"/>
              </a:ext>
            </a:extLst>
          </p:cNvPr>
          <p:cNvSpPr>
            <a:spLocks xmlns:a="http://schemas.openxmlformats.org/drawingml/2006/main" noGrp="1"/>
          </p:cNvSpPr>
          <p:nvPr/>
        </p:nvSpPr>
        <p:spPr>
          <a:xfrm xmlns:a="http://schemas.openxmlformats.org/drawingml/2006/main">
            <a:off x="7677150" y="14382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WHY THE SCORE STOPPED</a:t>
            </a:r>
          </a:p>
        </p:txBody>
      </p:sp>
      <p:sp>
        <p:nvSpPr>
          <p:cNvPr id="10" name="">
            <a:extLst xmlns:a="http://schemas.openxmlformats.org/drawingml/2006/main">
              <a:ext uri="{FF2B5EF4-FFF2-40B4-BE49-F238E27FC236}">
                <a16:creationId xmlns:a16="http://schemas.microsoft.com/office/drawing/2014/main" id="{2328C02F-7330-4050-8EB2-8BED849BD2DE}"/>
              </a:ext>
            </a:extLst>
          </p:cNvPr>
          <p:cNvSpPr>
            <a:spLocks xmlns:a="http://schemas.openxmlformats.org/drawingml/2006/main" noGrp="1"/>
          </p:cNvSpPr>
          <p:nvPr/>
        </p:nvSpPr>
        <p:spPr>
          <a:xfrm xmlns:a="http://schemas.openxmlformats.org/drawingml/2006/main">
            <a:off x="685800" y="17907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263C"/>
                </a:solidFill>
                <a:latin typeface="Helvetica Neue"/>
                <a:ea typeface="Helvetica Neue"/>
                <a:cs typeface="Helvetica Neue"/>
              </a:defRPr>
            </a:pPr>
            <a:r>
              <a:rPr sz="1725" b="1">
                <a:solidFill>
                  <a:srgbClr val="10263C"/>
                </a:solidFill>
                <a:latin typeface="Helvetica Neue"/>
                <a:ea typeface="Helvetica Neue"/>
                <a:cs typeface="Helvetica Neue"/>
              </a:rPr>
              <a:t>qwen3.5</a:t>
            </a:r>
          </a:p>
        </p:txBody>
      </p:sp>
      <p:sp>
        <p:nvSpPr>
          <p:cNvPr id="11" name="">
            <a:extLst xmlns:a="http://schemas.openxmlformats.org/drawingml/2006/main">
              <a:ext uri="{FF2B5EF4-FFF2-40B4-BE49-F238E27FC236}">
                <a16:creationId xmlns:a16="http://schemas.microsoft.com/office/drawing/2014/main" id="{46F30E35-CD7F-419F-83E0-B93F93E3AB58}"/>
              </a:ext>
            </a:extLst>
          </p:cNvPr>
          <p:cNvSpPr>
            <a:spLocks xmlns:a="http://schemas.openxmlformats.org/drawingml/2006/main" noGrp="1"/>
          </p:cNvSpPr>
          <p:nvPr/>
        </p:nvSpPr>
        <p:spPr>
          <a:xfrm xmlns:a="http://schemas.openxmlformats.org/drawingml/2006/main">
            <a:off x="2724150" y="17526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314"/>
          </a:bodyPr>
          <a:lstStyle xmlns:a="http://schemas.openxmlformats.org/drawingml/2006/main"/>
          <a:p xmlns:a="http://schemas.openxmlformats.org/drawingml/2006/main">
            <a:pPr algn="ctr">
              <a:defRPr sz="2550" b="1">
                <a:solidFill>
                  <a:srgbClr val="168B85"/>
                </a:solidFill>
                <a:latin typeface="Helvetica Neue"/>
                <a:ea typeface="Helvetica Neue"/>
                <a:cs typeface="Helvetica Neue"/>
              </a:defRPr>
            </a:pPr>
            <a:r>
              <a:rPr sz="2550" b="1">
                <a:solidFill>
                  <a:srgbClr val="168B85"/>
                </a:solidFill>
                <a:latin typeface="Helvetica Neue"/>
                <a:ea typeface="Helvetica Neue"/>
                <a:cs typeface="Helvetica Neue"/>
              </a:rPr>
              <a:t>64</a:t>
            </a:r>
          </a:p>
        </p:txBody>
      </p:sp>
      <p:sp>
        <p:nvSpPr>
          <p:cNvPr id="12" name="">
            <a:extLst xmlns:a="http://schemas.openxmlformats.org/drawingml/2006/main">
              <a:ext uri="{FF2B5EF4-FFF2-40B4-BE49-F238E27FC236}">
                <a16:creationId xmlns:a16="http://schemas.microsoft.com/office/drawing/2014/main" id="{42856125-16FA-485B-A904-F56E3A3796F1}"/>
              </a:ext>
            </a:extLst>
          </p:cNvPr>
          <p:cNvSpPr>
            <a:spLocks xmlns:a="http://schemas.openxmlformats.org/drawingml/2006/main" noGrp="1"/>
          </p:cNvSpPr>
          <p:nvPr/>
        </p:nvSpPr>
        <p:spPr>
          <a:xfrm xmlns:a="http://schemas.openxmlformats.org/drawingml/2006/main">
            <a:off x="3524250" y="1828800"/>
            <a:ext cx="28575" cy="781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4907447-B604-46C2-A776-FD4F1AC06CD4}"/>
              </a:ext>
            </a:extLst>
          </p:cNvPr>
          <p:cNvSpPr>
            <a:spLocks xmlns:a="http://schemas.openxmlformats.org/drawingml/2006/main" noGrp="1"/>
          </p:cNvSpPr>
          <p:nvPr/>
        </p:nvSpPr>
        <p:spPr>
          <a:xfrm xmlns:a="http://schemas.openxmlformats.org/drawingml/2006/main">
            <a:off x="3752850" y="179070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Best questions and evidence requests. It framed the changed outage configuration correctly.</a:t>
            </a:r>
          </a:p>
        </p:txBody>
      </p:sp>
      <p:sp>
        <p:nvSpPr>
          <p:cNvPr id="14" name="">
            <a:extLst xmlns:a="http://schemas.openxmlformats.org/drawingml/2006/main">
              <a:ext uri="{FF2B5EF4-FFF2-40B4-BE49-F238E27FC236}">
                <a16:creationId xmlns:a16="http://schemas.microsoft.com/office/drawing/2014/main" id="{F372D70A-1D4A-494B-A1C3-B6926E46742E}"/>
              </a:ext>
            </a:extLst>
          </p:cNvPr>
          <p:cNvSpPr>
            <a:spLocks xmlns:a="http://schemas.openxmlformats.org/drawingml/2006/main" noGrp="1"/>
          </p:cNvSpPr>
          <p:nvPr/>
        </p:nvSpPr>
        <p:spPr>
          <a:xfrm xmlns:a="http://schemas.openxmlformats.org/drawingml/2006/main">
            <a:off x="7677150" y="1790700"/>
            <a:ext cx="3790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Evidence processing failed. The board had one event node and no causal edges.</a:t>
            </a:r>
          </a:p>
        </p:txBody>
      </p:sp>
      <p:sp>
        <p:nvSpPr>
          <p:cNvPr id="15" name="">
            <a:extLst xmlns:a="http://schemas.openxmlformats.org/drawingml/2006/main">
              <a:ext uri="{FF2B5EF4-FFF2-40B4-BE49-F238E27FC236}">
                <a16:creationId xmlns:a16="http://schemas.microsoft.com/office/drawing/2014/main" id="{2400A5E7-9592-4516-9783-ABD86F3648F2}"/>
              </a:ext>
            </a:extLst>
          </p:cNvPr>
          <p:cNvSpPr>
            <a:spLocks xmlns:a="http://schemas.openxmlformats.org/drawingml/2006/main" noGrp="1"/>
          </p:cNvSpPr>
          <p:nvPr/>
        </p:nvSpPr>
        <p:spPr>
          <a:xfrm xmlns:a="http://schemas.openxmlformats.org/drawingml/2006/main">
            <a:off x="685800" y="2657475"/>
            <a:ext cx="10782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7AFCBC0-4EFE-4E9D-9EC2-28A1323B3B65}"/>
              </a:ext>
            </a:extLst>
          </p:cNvPr>
          <p:cNvSpPr>
            <a:spLocks xmlns:a="http://schemas.openxmlformats.org/drawingml/2006/main" noGrp="1"/>
          </p:cNvSpPr>
          <p:nvPr/>
        </p:nvSpPr>
        <p:spPr>
          <a:xfrm xmlns:a="http://schemas.openxmlformats.org/drawingml/2006/main">
            <a:off x="685800" y="28003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263C"/>
                </a:solidFill>
                <a:latin typeface="Helvetica Neue"/>
                <a:ea typeface="Helvetica Neue"/>
                <a:cs typeface="Helvetica Neue"/>
              </a:defRPr>
            </a:pPr>
            <a:r>
              <a:rPr sz="1725" b="1">
                <a:solidFill>
                  <a:srgbClr val="10263C"/>
                </a:solidFill>
                <a:latin typeface="Helvetica Neue"/>
                <a:ea typeface="Helvetica Neue"/>
                <a:cs typeface="Helvetica Neue"/>
              </a:rPr>
              <a:t>qwen2.5</a:t>
            </a:r>
          </a:p>
        </p:txBody>
      </p:sp>
      <p:sp>
        <p:nvSpPr>
          <p:cNvPr id="17" name="">
            <a:extLst xmlns:a="http://schemas.openxmlformats.org/drawingml/2006/main">
              <a:ext uri="{FF2B5EF4-FFF2-40B4-BE49-F238E27FC236}">
                <a16:creationId xmlns:a16="http://schemas.microsoft.com/office/drawing/2014/main" id="{07B537CB-DBF0-4F73-A22F-B1FE82C6F0B2}"/>
              </a:ext>
            </a:extLst>
          </p:cNvPr>
          <p:cNvSpPr>
            <a:spLocks xmlns:a="http://schemas.openxmlformats.org/drawingml/2006/main" noGrp="1"/>
          </p:cNvSpPr>
          <p:nvPr/>
        </p:nvSpPr>
        <p:spPr>
          <a:xfrm xmlns:a="http://schemas.openxmlformats.org/drawingml/2006/main">
            <a:off x="2724150" y="27622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314"/>
          </a:bodyPr>
          <a:lstStyle xmlns:a="http://schemas.openxmlformats.org/drawingml/2006/main"/>
          <a:p xmlns:a="http://schemas.openxmlformats.org/drawingml/2006/main">
            <a:pPr algn="ctr">
              <a:defRPr sz="2550" b="1">
                <a:solidFill>
                  <a:srgbClr val="3377B5"/>
                </a:solidFill>
                <a:latin typeface="Helvetica Neue"/>
                <a:ea typeface="Helvetica Neue"/>
                <a:cs typeface="Helvetica Neue"/>
              </a:defRPr>
            </a:pPr>
            <a:r>
              <a:rPr sz="2550" b="1">
                <a:solidFill>
                  <a:srgbClr val="3377B5"/>
                </a:solidFill>
                <a:latin typeface="Helvetica Neue"/>
                <a:ea typeface="Helvetica Neue"/>
                <a:cs typeface="Helvetica Neue"/>
              </a:rPr>
              <a:t>38</a:t>
            </a:r>
          </a:p>
        </p:txBody>
      </p:sp>
      <p:sp>
        <p:nvSpPr>
          <p:cNvPr id="18" name="">
            <a:extLst xmlns:a="http://schemas.openxmlformats.org/drawingml/2006/main">
              <a:ext uri="{FF2B5EF4-FFF2-40B4-BE49-F238E27FC236}">
                <a16:creationId xmlns:a16="http://schemas.microsoft.com/office/drawing/2014/main" id="{534AFBF5-01BC-412E-B738-6FEDB0836789}"/>
              </a:ext>
            </a:extLst>
          </p:cNvPr>
          <p:cNvSpPr>
            <a:spLocks xmlns:a="http://schemas.openxmlformats.org/drawingml/2006/main" noGrp="1"/>
          </p:cNvSpPr>
          <p:nvPr/>
        </p:nvSpPr>
        <p:spPr>
          <a:xfrm xmlns:a="http://schemas.openxmlformats.org/drawingml/2006/main">
            <a:off x="3524250" y="2838450"/>
            <a:ext cx="28575" cy="781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3DF768B-6309-4CFF-BC97-52B4D4DE250A}"/>
              </a:ext>
            </a:extLst>
          </p:cNvPr>
          <p:cNvSpPr>
            <a:spLocks xmlns:a="http://schemas.openxmlformats.org/drawingml/2006/main" noGrp="1"/>
          </p:cNvSpPr>
          <p:nvPr/>
        </p:nvSpPr>
        <p:spPr>
          <a:xfrm xmlns:a="http://schemas.openxmlformats.org/drawingml/2006/main">
            <a:off x="3752850" y="280035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Useful tags and questions about restraint, turnover, and isolation boundaries.</a:t>
            </a:r>
          </a:p>
        </p:txBody>
      </p:sp>
      <p:sp>
        <p:nvSpPr>
          <p:cNvPr id="20" name="">
            <a:extLst xmlns:a="http://schemas.openxmlformats.org/drawingml/2006/main">
              <a:ext uri="{FF2B5EF4-FFF2-40B4-BE49-F238E27FC236}">
                <a16:creationId xmlns:a16="http://schemas.microsoft.com/office/drawing/2014/main" id="{C5536FC2-138C-49F4-B91E-44162A9CE187}"/>
              </a:ext>
            </a:extLst>
          </p:cNvPr>
          <p:cNvSpPr>
            <a:spLocks xmlns:a="http://schemas.openxmlformats.org/drawingml/2006/main" noGrp="1"/>
          </p:cNvSpPr>
          <p:nvPr/>
        </p:nvSpPr>
        <p:spPr>
          <a:xfrm xmlns:a="http://schemas.openxmlformats.org/drawingml/2006/main">
            <a:off x="7677150" y="2800350"/>
            <a:ext cx="3790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Six stage errors, repeated questions, missed conflicts, and reverse causal arrows.</a:t>
            </a:r>
          </a:p>
        </p:txBody>
      </p:sp>
      <p:sp>
        <p:nvSpPr>
          <p:cNvPr id="21" name="">
            <a:extLst xmlns:a="http://schemas.openxmlformats.org/drawingml/2006/main">
              <a:ext uri="{FF2B5EF4-FFF2-40B4-BE49-F238E27FC236}">
                <a16:creationId xmlns:a16="http://schemas.microsoft.com/office/drawing/2014/main" id="{43A48464-3912-4204-BF29-9BC61092C8E9}"/>
              </a:ext>
            </a:extLst>
          </p:cNvPr>
          <p:cNvSpPr>
            <a:spLocks xmlns:a="http://schemas.openxmlformats.org/drawingml/2006/main" noGrp="1"/>
          </p:cNvSpPr>
          <p:nvPr/>
        </p:nvSpPr>
        <p:spPr>
          <a:xfrm xmlns:a="http://schemas.openxmlformats.org/drawingml/2006/main">
            <a:off x="685800" y="3667125"/>
            <a:ext cx="10782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248BB0F-DC84-4831-B5E3-F8638ED5C10F}"/>
              </a:ext>
            </a:extLst>
          </p:cNvPr>
          <p:cNvSpPr>
            <a:spLocks xmlns:a="http://schemas.openxmlformats.org/drawingml/2006/main" noGrp="1"/>
          </p:cNvSpPr>
          <p:nvPr/>
        </p:nvSpPr>
        <p:spPr>
          <a:xfrm xmlns:a="http://schemas.openxmlformats.org/drawingml/2006/main">
            <a:off x="685800" y="38100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263C"/>
                </a:solidFill>
                <a:latin typeface="Helvetica Neue"/>
                <a:ea typeface="Helvetica Neue"/>
                <a:cs typeface="Helvetica Neue"/>
              </a:defRPr>
            </a:pPr>
            <a:r>
              <a:rPr sz="1725" b="1">
                <a:solidFill>
                  <a:srgbClr val="10263C"/>
                </a:solidFill>
                <a:latin typeface="Helvetica Neue"/>
                <a:ea typeface="Helvetica Neue"/>
                <a:cs typeface="Helvetica Neue"/>
              </a:rPr>
              <a:t>gemma3</a:t>
            </a:r>
          </a:p>
        </p:txBody>
      </p:sp>
      <p:sp>
        <p:nvSpPr>
          <p:cNvPr id="23" name="">
            <a:extLst xmlns:a="http://schemas.openxmlformats.org/drawingml/2006/main">
              <a:ext uri="{FF2B5EF4-FFF2-40B4-BE49-F238E27FC236}">
                <a16:creationId xmlns:a16="http://schemas.microsoft.com/office/drawing/2014/main" id="{79D62C25-0025-4283-9DF3-6E4A52DFA5F5}"/>
              </a:ext>
            </a:extLst>
          </p:cNvPr>
          <p:cNvSpPr>
            <a:spLocks xmlns:a="http://schemas.openxmlformats.org/drawingml/2006/main" noGrp="1"/>
          </p:cNvSpPr>
          <p:nvPr/>
        </p:nvSpPr>
        <p:spPr>
          <a:xfrm xmlns:a="http://schemas.openxmlformats.org/drawingml/2006/main">
            <a:off x="2724150" y="37719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314"/>
          </a:bodyPr>
          <a:lstStyle xmlns:a="http://schemas.openxmlformats.org/drawingml/2006/main"/>
          <a:p xmlns:a="http://schemas.openxmlformats.org/drawingml/2006/main">
            <a:pPr algn="ctr">
              <a:defRPr sz="2550" b="1">
                <a:solidFill>
                  <a:srgbClr val="3377B5"/>
                </a:solidFill>
                <a:latin typeface="Helvetica Neue"/>
                <a:ea typeface="Helvetica Neue"/>
                <a:cs typeface="Helvetica Neue"/>
              </a:defRPr>
            </a:pPr>
            <a:r>
              <a:rPr sz="2550" b="1">
                <a:solidFill>
                  <a:srgbClr val="3377B5"/>
                </a:solidFill>
                <a:latin typeface="Helvetica Neue"/>
                <a:ea typeface="Helvetica Neue"/>
                <a:cs typeface="Helvetica Neue"/>
              </a:rPr>
              <a:t>31</a:t>
            </a:r>
          </a:p>
        </p:txBody>
      </p:sp>
      <p:sp>
        <p:nvSpPr>
          <p:cNvPr id="24" name="">
            <a:extLst xmlns:a="http://schemas.openxmlformats.org/drawingml/2006/main">
              <a:ext uri="{FF2B5EF4-FFF2-40B4-BE49-F238E27FC236}">
                <a16:creationId xmlns:a16="http://schemas.microsoft.com/office/drawing/2014/main" id="{1ACE5B13-AB5C-4F12-AD68-DEE9C99D18AC}"/>
              </a:ext>
            </a:extLst>
          </p:cNvPr>
          <p:cNvSpPr>
            <a:spLocks xmlns:a="http://schemas.openxmlformats.org/drawingml/2006/main" noGrp="1"/>
          </p:cNvSpPr>
          <p:nvPr/>
        </p:nvSpPr>
        <p:spPr>
          <a:xfrm xmlns:a="http://schemas.openxmlformats.org/drawingml/2006/main">
            <a:off x="3524250" y="3848100"/>
            <a:ext cx="28575" cy="781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1426E62-D9B2-4AD4-B5DD-C1C12D964324}"/>
              </a:ext>
            </a:extLst>
          </p:cNvPr>
          <p:cNvSpPr>
            <a:spLocks xmlns:a="http://schemas.openxmlformats.org/drawingml/2006/main" noGrp="1"/>
          </p:cNvSpPr>
          <p:nvPr/>
        </p:nvSpPr>
        <p:spPr>
          <a:xfrm xmlns:a="http://schemas.openxmlformats.org/drawingml/2006/main">
            <a:off x="3752850" y="381000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Sound focal-event summary and useful requests for drawings and isolation records.</a:t>
            </a:r>
          </a:p>
        </p:txBody>
      </p:sp>
      <p:sp>
        <p:nvSpPr>
          <p:cNvPr id="26" name="">
            <a:extLst xmlns:a="http://schemas.openxmlformats.org/drawingml/2006/main">
              <a:ext uri="{FF2B5EF4-FFF2-40B4-BE49-F238E27FC236}">
                <a16:creationId xmlns:a16="http://schemas.microsoft.com/office/drawing/2014/main" id="{F991ECEB-E4BF-42FB-9DE6-1D963E3B770E}"/>
              </a:ext>
            </a:extLst>
          </p:cNvPr>
          <p:cNvSpPr>
            <a:spLocks xmlns:a="http://schemas.openxmlformats.org/drawingml/2006/main" noGrp="1"/>
          </p:cNvSpPr>
          <p:nvPr/>
        </p:nvSpPr>
        <p:spPr>
          <a:xfrm xmlns:a="http://schemas.openxmlformats.org/drawingml/2006/main">
            <a:off x="7677150" y="3810000"/>
            <a:ext cx="3790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Wrong rail and electrical tags, unsupported assertions, and failed causal analysis.</a:t>
            </a:r>
          </a:p>
        </p:txBody>
      </p:sp>
      <p:sp>
        <p:nvSpPr>
          <p:cNvPr id="27" name="">
            <a:extLst xmlns:a="http://schemas.openxmlformats.org/drawingml/2006/main">
              <a:ext uri="{FF2B5EF4-FFF2-40B4-BE49-F238E27FC236}">
                <a16:creationId xmlns:a16="http://schemas.microsoft.com/office/drawing/2014/main" id="{3F6CC672-7B87-4853-9700-F1619D5404DF}"/>
              </a:ext>
            </a:extLst>
          </p:cNvPr>
          <p:cNvSpPr>
            <a:spLocks xmlns:a="http://schemas.openxmlformats.org/drawingml/2006/main" noGrp="1"/>
          </p:cNvSpPr>
          <p:nvPr/>
        </p:nvSpPr>
        <p:spPr>
          <a:xfrm xmlns:a="http://schemas.openxmlformats.org/drawingml/2006/main">
            <a:off x="685800" y="4676775"/>
            <a:ext cx="10782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9FE798D-BEC3-4816-B208-39244C0AA126}"/>
              </a:ext>
            </a:extLst>
          </p:cNvPr>
          <p:cNvSpPr>
            <a:spLocks xmlns:a="http://schemas.openxmlformats.org/drawingml/2006/main" noGrp="1"/>
          </p:cNvSpPr>
          <p:nvPr/>
        </p:nvSpPr>
        <p:spPr>
          <a:xfrm xmlns:a="http://schemas.openxmlformats.org/drawingml/2006/main">
            <a:off x="685800" y="48196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263C"/>
                </a:solidFill>
                <a:latin typeface="Helvetica Neue"/>
                <a:ea typeface="Helvetica Neue"/>
                <a:cs typeface="Helvetica Neue"/>
              </a:defRPr>
            </a:pPr>
            <a:r>
              <a:rPr sz="1725" b="1">
                <a:solidFill>
                  <a:srgbClr val="10263C"/>
                </a:solidFill>
                <a:latin typeface="Helvetica Neue"/>
                <a:ea typeface="Helvetica Neue"/>
                <a:cs typeface="Helvetica Neue"/>
              </a:rPr>
              <a:t>mistral</a:t>
            </a:r>
          </a:p>
        </p:txBody>
      </p:sp>
      <p:sp>
        <p:nvSpPr>
          <p:cNvPr id="29" name="">
            <a:extLst xmlns:a="http://schemas.openxmlformats.org/drawingml/2006/main">
              <a:ext uri="{FF2B5EF4-FFF2-40B4-BE49-F238E27FC236}">
                <a16:creationId xmlns:a16="http://schemas.microsoft.com/office/drawing/2014/main" id="{728154FF-E8B0-40F5-B5A6-54A567E2B94F}"/>
              </a:ext>
            </a:extLst>
          </p:cNvPr>
          <p:cNvSpPr>
            <a:spLocks xmlns:a="http://schemas.openxmlformats.org/drawingml/2006/main" noGrp="1"/>
          </p:cNvSpPr>
          <p:nvPr/>
        </p:nvSpPr>
        <p:spPr>
          <a:xfrm xmlns:a="http://schemas.openxmlformats.org/drawingml/2006/main">
            <a:off x="2724150" y="47815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314"/>
          </a:bodyPr>
          <a:lstStyle xmlns:a="http://schemas.openxmlformats.org/drawingml/2006/main"/>
          <a:p xmlns:a="http://schemas.openxmlformats.org/drawingml/2006/main">
            <a:pPr algn="ctr">
              <a:defRPr sz="2550" b="1">
                <a:solidFill>
                  <a:srgbClr val="3377B5"/>
                </a:solidFill>
                <a:latin typeface="Helvetica Neue"/>
                <a:ea typeface="Helvetica Neue"/>
                <a:cs typeface="Helvetica Neue"/>
              </a:defRPr>
            </a:pPr>
            <a:r>
              <a:rPr sz="2550" b="1">
                <a:solidFill>
                  <a:srgbClr val="3377B5"/>
                </a:solidFill>
                <a:latin typeface="Helvetica Neue"/>
                <a:ea typeface="Helvetica Neue"/>
                <a:cs typeface="Helvetica Neue"/>
              </a:rPr>
              <a:t>29</a:t>
            </a:r>
          </a:p>
        </p:txBody>
      </p:sp>
      <p:sp>
        <p:nvSpPr>
          <p:cNvPr id="30" name="">
            <a:extLst xmlns:a="http://schemas.openxmlformats.org/drawingml/2006/main">
              <a:ext uri="{FF2B5EF4-FFF2-40B4-BE49-F238E27FC236}">
                <a16:creationId xmlns:a16="http://schemas.microsoft.com/office/drawing/2014/main" id="{77B779EB-4A9B-4D8E-852C-AB74FDF4D862}"/>
              </a:ext>
            </a:extLst>
          </p:cNvPr>
          <p:cNvSpPr>
            <a:spLocks xmlns:a="http://schemas.openxmlformats.org/drawingml/2006/main" noGrp="1"/>
          </p:cNvSpPr>
          <p:nvPr/>
        </p:nvSpPr>
        <p:spPr>
          <a:xfrm xmlns:a="http://schemas.openxmlformats.org/drawingml/2006/main">
            <a:off x="3524250" y="4857750"/>
            <a:ext cx="28575" cy="781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2CE09C7-570C-4B46-ADC8-4B16A998D252}"/>
              </a:ext>
            </a:extLst>
          </p:cNvPr>
          <p:cNvSpPr>
            <a:spLocks xmlns:a="http://schemas.openxmlformats.org/drawingml/2006/main" noGrp="1"/>
          </p:cNvSpPr>
          <p:nvPr/>
        </p:nvSpPr>
        <p:spPr>
          <a:xfrm xmlns:a="http://schemas.openxmlformats.org/drawingml/2006/main">
            <a:off x="3752850" y="481965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Recognized gravity energy, planning, and communication context.</a:t>
            </a:r>
          </a:p>
        </p:txBody>
      </p:sp>
      <p:sp>
        <p:nvSpPr>
          <p:cNvPr id="32" name="">
            <a:extLst xmlns:a="http://schemas.openxmlformats.org/drawingml/2006/main">
              <a:ext uri="{FF2B5EF4-FFF2-40B4-BE49-F238E27FC236}">
                <a16:creationId xmlns:a16="http://schemas.microsoft.com/office/drawing/2014/main" id="{FD46F0DB-8846-4AEE-A648-1C37FDD5D083}"/>
              </a:ext>
            </a:extLst>
          </p:cNvPr>
          <p:cNvSpPr>
            <a:spLocks xmlns:a="http://schemas.openxmlformats.org/drawingml/2006/main" noGrp="1"/>
          </p:cNvSpPr>
          <p:nvPr/>
        </p:nvSpPr>
        <p:spPr>
          <a:xfrm xmlns:a="http://schemas.openxmlformats.org/drawingml/2006/main">
            <a:off x="7677150" y="4819650"/>
            <a:ext cx="3790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Weak evidence targeting and only a shallow causal board. No planted conflict was found.</a:t>
            </a:r>
          </a:p>
        </p:txBody>
      </p:sp>
      <p:sp>
        <p:nvSpPr>
          <p:cNvPr id="33" name="">
            <a:extLst xmlns:a="http://schemas.openxmlformats.org/drawingml/2006/main">
              <a:ext uri="{FF2B5EF4-FFF2-40B4-BE49-F238E27FC236}">
                <a16:creationId xmlns:a16="http://schemas.microsoft.com/office/drawing/2014/main" id="{667A1DCB-697C-4B2A-9587-A11D77E4776B}"/>
              </a:ext>
            </a:extLst>
          </p:cNvPr>
          <p:cNvSpPr>
            <a:spLocks xmlns:a="http://schemas.openxmlformats.org/drawingml/2006/main" noGrp="1"/>
          </p:cNvSpPr>
          <p:nvPr/>
        </p:nvSpPr>
        <p:spPr>
          <a:xfrm xmlns:a="http://schemas.openxmlformats.org/drawingml/2006/main">
            <a:off x="685800" y="5686425"/>
            <a:ext cx="10782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Tree>
    <p:extLst>
      <p:ext uri="{BB962C8B-B14F-4D97-AF65-F5344CB8AC3E}">
        <p14:creationId xmlns:p14="http://schemas.microsoft.com/office/powerpoint/2010/main" val="1701278709"/>
      </p:ext>
    </p:extLst>
  </p:cSld>
</p:sld>
</file>

<file path=ppt/slides/slide8.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376BF3D-6589-4390-BFA1-0170DD1E43AE}"/>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Why the remaining Try 3 models scored below 30</a:t>
            </a:r>
          </a:p>
        </p:txBody>
      </p:sp>
      <p:sp>
        <p:nvSpPr>
          <p:cNvPr id="2" name="">
            <a:extLst xmlns:a="http://schemas.openxmlformats.org/drawingml/2006/main">
              <a:ext uri="{FF2B5EF4-FFF2-40B4-BE49-F238E27FC236}">
                <a16:creationId xmlns:a16="http://schemas.microsoft.com/office/drawing/2014/main" id="{A128473C-5A22-4F35-A09F-0CA0BE34173B}"/>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Completion alone did not earn a strong score when the investigation remained shallow or unreliable.</a:t>
            </a:r>
          </a:p>
        </p:txBody>
      </p:sp>
      <p:sp>
        <p:nvSpPr>
          <p:cNvPr id="3" name="">
            <a:extLst xmlns:a="http://schemas.openxmlformats.org/drawingml/2006/main">
              <a:ext uri="{FF2B5EF4-FFF2-40B4-BE49-F238E27FC236}">
                <a16:creationId xmlns:a16="http://schemas.microsoft.com/office/drawing/2014/main" id="{845EC3CA-2549-4E4C-B6B8-7A1CA2E76034}"/>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743CDD7-10E3-41F2-93B0-4452819899B6}"/>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benchmark model-by-model findings</a:t>
            </a:r>
          </a:p>
        </p:txBody>
      </p:sp>
      <p:sp>
        <p:nvSpPr>
          <p:cNvPr id="5" name="">
            <a:extLst xmlns:a="http://schemas.openxmlformats.org/drawingml/2006/main">
              <a:ext uri="{FF2B5EF4-FFF2-40B4-BE49-F238E27FC236}">
                <a16:creationId xmlns:a16="http://schemas.microsoft.com/office/drawing/2014/main" id="{775E09D5-A474-43C6-8746-12B165E65D4F}"/>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08</a:t>
            </a:r>
          </a:p>
        </p:txBody>
      </p:sp>
      <p:sp>
        <p:nvSpPr>
          <p:cNvPr id="6" name="">
            <a:extLst xmlns:a="http://schemas.openxmlformats.org/drawingml/2006/main">
              <a:ext uri="{FF2B5EF4-FFF2-40B4-BE49-F238E27FC236}">
                <a16:creationId xmlns:a16="http://schemas.microsoft.com/office/drawing/2014/main" id="{A4A5F7A6-1A31-4D58-9FAA-5A5ED111DE19}"/>
              </a:ext>
            </a:extLst>
          </p:cNvPr>
          <p:cNvSpPr>
            <a:spLocks xmlns:a="http://schemas.openxmlformats.org/drawingml/2006/main" noGrp="1"/>
          </p:cNvSpPr>
          <p:nvPr/>
        </p:nvSpPr>
        <p:spPr>
          <a:xfrm xmlns:a="http://schemas.openxmlformats.org/drawingml/2006/main">
            <a:off x="685800" y="15049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MODEL / SCORE</a:t>
            </a:r>
          </a:p>
        </p:txBody>
      </p:sp>
      <p:sp>
        <p:nvSpPr>
          <p:cNvPr id="7" name="">
            <a:extLst xmlns:a="http://schemas.openxmlformats.org/drawingml/2006/main">
              <a:ext uri="{FF2B5EF4-FFF2-40B4-BE49-F238E27FC236}">
                <a16:creationId xmlns:a16="http://schemas.microsoft.com/office/drawing/2014/main" id="{CBE63815-F151-4245-931A-6C363FA7C16C}"/>
              </a:ext>
            </a:extLst>
          </p:cNvPr>
          <p:cNvSpPr>
            <a:spLocks xmlns:a="http://schemas.openxmlformats.org/drawingml/2006/main" noGrp="1"/>
          </p:cNvSpPr>
          <p:nvPr/>
        </p:nvSpPr>
        <p:spPr>
          <a:xfrm xmlns:a="http://schemas.openxmlformats.org/drawingml/2006/main">
            <a:off x="3257550" y="1504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CREDIT EARNED</a:t>
            </a:r>
          </a:p>
        </p:txBody>
      </p:sp>
      <p:sp>
        <p:nvSpPr>
          <p:cNvPr id="8" name="">
            <a:extLst xmlns:a="http://schemas.openxmlformats.org/drawingml/2006/main">
              <a:ext uri="{FF2B5EF4-FFF2-40B4-BE49-F238E27FC236}">
                <a16:creationId xmlns:a16="http://schemas.microsoft.com/office/drawing/2014/main" id="{CCE4237C-5173-4EB0-A94D-33DDE01CC73C}"/>
              </a:ext>
            </a:extLst>
          </p:cNvPr>
          <p:cNvSpPr>
            <a:spLocks xmlns:a="http://schemas.openxmlformats.org/drawingml/2006/main" noGrp="1"/>
          </p:cNvSpPr>
          <p:nvPr/>
        </p:nvSpPr>
        <p:spPr>
          <a:xfrm xmlns:a="http://schemas.openxmlformats.org/drawingml/2006/main">
            <a:off x="6762750" y="15049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PRIMARY LIMIT</a:t>
            </a:r>
          </a:p>
        </p:txBody>
      </p:sp>
      <p:sp>
        <p:nvSpPr>
          <p:cNvPr id="9" name="">
            <a:extLst xmlns:a="http://schemas.openxmlformats.org/drawingml/2006/main">
              <a:ext uri="{FF2B5EF4-FFF2-40B4-BE49-F238E27FC236}">
                <a16:creationId xmlns:a16="http://schemas.microsoft.com/office/drawing/2014/main" id="{4369D98A-2884-44BC-97E9-042E6EB277D6}"/>
              </a:ext>
            </a:extLst>
          </p:cNvPr>
          <p:cNvSpPr>
            <a:spLocks xmlns:a="http://schemas.openxmlformats.org/drawingml/2006/main" noGrp="1"/>
          </p:cNvSpPr>
          <p:nvPr/>
        </p:nvSpPr>
        <p:spPr>
          <a:xfrm xmlns:a="http://schemas.openxmlformats.org/drawingml/2006/main">
            <a:off x="685800" y="18478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llama3.1   27</a:t>
            </a:r>
          </a:p>
        </p:txBody>
      </p:sp>
      <p:sp>
        <p:nvSpPr>
          <p:cNvPr id="10" name="">
            <a:extLst xmlns:a="http://schemas.openxmlformats.org/drawingml/2006/main">
              <a:ext uri="{FF2B5EF4-FFF2-40B4-BE49-F238E27FC236}">
                <a16:creationId xmlns:a16="http://schemas.microsoft.com/office/drawing/2014/main" id="{5917AF7F-0CB6-4869-91C7-D15B00A37AB1}"/>
              </a:ext>
            </a:extLst>
          </p:cNvPr>
          <p:cNvSpPr>
            <a:spLocks xmlns:a="http://schemas.openxmlformats.org/drawingml/2006/main" noGrp="1"/>
          </p:cNvSpPr>
          <p:nvPr/>
        </p:nvSpPr>
        <p:spPr>
          <a:xfrm xmlns:a="http://schemas.openxmlformats.org/drawingml/2006/main">
            <a:off x="3257550" y="18478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Clean structured-output run</a:t>
            </a:r>
          </a:p>
        </p:txBody>
      </p:sp>
      <p:sp>
        <p:nvSpPr>
          <p:cNvPr id="11" name="">
            <a:extLst xmlns:a="http://schemas.openxmlformats.org/drawingml/2006/main">
              <a:ext uri="{FF2B5EF4-FFF2-40B4-BE49-F238E27FC236}">
                <a16:creationId xmlns:a16="http://schemas.microsoft.com/office/drawing/2014/main" id="{2BD05CBF-10C8-46E9-994A-58102CC2DAD2}"/>
              </a:ext>
            </a:extLst>
          </p:cNvPr>
          <p:cNvSpPr>
            <a:spLocks xmlns:a="http://schemas.openxmlformats.org/drawingml/2006/main" noGrp="1"/>
          </p:cNvSpPr>
          <p:nvPr/>
        </p:nvSpPr>
        <p:spPr>
          <a:xfrm xmlns:a="http://schemas.openxmlformats.org/drawingml/2006/main">
            <a:off x="6762750" y="18478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Only one tag and a shallow evidence-to-cause path</a:t>
            </a:r>
          </a:p>
        </p:txBody>
      </p:sp>
      <p:sp>
        <p:nvSpPr>
          <p:cNvPr id="12" name="">
            <a:extLst xmlns:a="http://schemas.openxmlformats.org/drawingml/2006/main">
              <a:ext uri="{FF2B5EF4-FFF2-40B4-BE49-F238E27FC236}">
                <a16:creationId xmlns:a16="http://schemas.microsoft.com/office/drawing/2014/main" id="{DB7C04C6-1541-4839-AE9F-A120FE440973}"/>
              </a:ext>
            </a:extLst>
          </p:cNvPr>
          <p:cNvSpPr>
            <a:spLocks xmlns:a="http://schemas.openxmlformats.org/drawingml/2006/main" noGrp="1"/>
          </p:cNvSpPr>
          <p:nvPr/>
        </p:nvSpPr>
        <p:spPr>
          <a:xfrm xmlns:a="http://schemas.openxmlformats.org/drawingml/2006/main">
            <a:off x="685800" y="24003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D35E13E-32D2-414E-8164-B44E65A68A6E}"/>
              </a:ext>
            </a:extLst>
          </p:cNvPr>
          <p:cNvSpPr>
            <a:spLocks xmlns:a="http://schemas.openxmlformats.org/drawingml/2006/main" noGrp="1"/>
          </p:cNvSpPr>
          <p:nvPr/>
        </p:nvSpPr>
        <p:spPr>
          <a:xfrm xmlns:a="http://schemas.openxmlformats.org/drawingml/2006/main">
            <a:off x="685800" y="25336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hermes3   18</a:t>
            </a:r>
          </a:p>
        </p:txBody>
      </p:sp>
      <p:sp>
        <p:nvSpPr>
          <p:cNvPr id="14" name="">
            <a:extLst xmlns:a="http://schemas.openxmlformats.org/drawingml/2006/main">
              <a:ext uri="{FF2B5EF4-FFF2-40B4-BE49-F238E27FC236}">
                <a16:creationId xmlns:a16="http://schemas.microsoft.com/office/drawing/2014/main" id="{A2378D56-9A74-448A-9939-77D8D1F30B5C}"/>
              </a:ext>
            </a:extLst>
          </p:cNvPr>
          <p:cNvSpPr>
            <a:spLocks xmlns:a="http://schemas.openxmlformats.org/drawingml/2006/main" noGrp="1"/>
          </p:cNvSpPr>
          <p:nvPr/>
        </p:nvSpPr>
        <p:spPr>
          <a:xfrm xmlns:a="http://schemas.openxmlformats.org/drawingml/2006/main">
            <a:off x="3257550" y="25336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Produced a small causal graph</a:t>
            </a:r>
          </a:p>
        </p:txBody>
      </p:sp>
      <p:sp>
        <p:nvSpPr>
          <p:cNvPr id="15" name="">
            <a:extLst xmlns:a="http://schemas.openxmlformats.org/drawingml/2006/main">
              <a:ext uri="{FF2B5EF4-FFF2-40B4-BE49-F238E27FC236}">
                <a16:creationId xmlns:a16="http://schemas.microsoft.com/office/drawing/2014/main" id="{BE72E14D-1F7F-42CE-B057-E7EF86CC971F}"/>
              </a:ext>
            </a:extLst>
          </p:cNvPr>
          <p:cNvSpPr>
            <a:spLocks xmlns:a="http://schemas.openxmlformats.org/drawingml/2006/main" noGrp="1"/>
          </p:cNvSpPr>
          <p:nvPr/>
        </p:nvSpPr>
        <p:spPr>
          <a:xfrm xmlns:a="http://schemas.openxmlformats.org/drawingml/2006/main">
            <a:off x="6762750" y="25336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Weak tag selection and little provenance discipline</a:t>
            </a:r>
          </a:p>
        </p:txBody>
      </p:sp>
      <p:sp>
        <p:nvSpPr>
          <p:cNvPr id="16" name="">
            <a:extLst xmlns:a="http://schemas.openxmlformats.org/drawingml/2006/main">
              <a:ext uri="{FF2B5EF4-FFF2-40B4-BE49-F238E27FC236}">
                <a16:creationId xmlns:a16="http://schemas.microsoft.com/office/drawing/2014/main" id="{050D4110-6EEF-4BE5-A752-1DF015DEC7BC}"/>
              </a:ext>
            </a:extLst>
          </p:cNvPr>
          <p:cNvSpPr>
            <a:spLocks xmlns:a="http://schemas.openxmlformats.org/drawingml/2006/main" noGrp="1"/>
          </p:cNvSpPr>
          <p:nvPr/>
        </p:nvSpPr>
        <p:spPr>
          <a:xfrm xmlns:a="http://schemas.openxmlformats.org/drawingml/2006/main">
            <a:off x="685800" y="30861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BCF4205-27F8-4ACE-A159-F721E3E94500}"/>
              </a:ext>
            </a:extLst>
          </p:cNvPr>
          <p:cNvSpPr>
            <a:spLocks xmlns:a="http://schemas.openxmlformats.org/drawingml/2006/main" noGrp="1"/>
          </p:cNvSpPr>
          <p:nvPr/>
        </p:nvSpPr>
        <p:spPr>
          <a:xfrm xmlns:a="http://schemas.openxmlformats.org/drawingml/2006/main">
            <a:off x="685800" y="32194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llama3.2   17</a:t>
            </a:r>
          </a:p>
        </p:txBody>
      </p:sp>
      <p:sp>
        <p:nvSpPr>
          <p:cNvPr id="18" name="">
            <a:extLst xmlns:a="http://schemas.openxmlformats.org/drawingml/2006/main">
              <a:ext uri="{FF2B5EF4-FFF2-40B4-BE49-F238E27FC236}">
                <a16:creationId xmlns:a16="http://schemas.microsoft.com/office/drawing/2014/main" id="{0DB36D4C-4EF3-4D6A-AB17-9D0927F344B7}"/>
              </a:ext>
            </a:extLst>
          </p:cNvPr>
          <p:cNvSpPr>
            <a:spLocks xmlns:a="http://schemas.openxmlformats.org/drawingml/2006/main" noGrp="1"/>
          </p:cNvSpPr>
          <p:nvPr/>
        </p:nvSpPr>
        <p:spPr>
          <a:xfrm xmlns:a="http://schemas.openxmlformats.org/drawingml/2006/main">
            <a:off x="3257550" y="32194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Completed two versions</a:t>
            </a:r>
          </a:p>
        </p:txBody>
      </p:sp>
      <p:sp>
        <p:nvSpPr>
          <p:cNvPr id="19" name="">
            <a:extLst xmlns:a="http://schemas.openxmlformats.org/drawingml/2006/main">
              <a:ext uri="{FF2B5EF4-FFF2-40B4-BE49-F238E27FC236}">
                <a16:creationId xmlns:a16="http://schemas.microsoft.com/office/drawing/2014/main" id="{DD12A154-6488-4DB3-915F-14F44FAF6791}"/>
              </a:ext>
            </a:extLst>
          </p:cNvPr>
          <p:cNvSpPr>
            <a:spLocks xmlns:a="http://schemas.openxmlformats.org/drawingml/2006/main" noGrp="1"/>
          </p:cNvSpPr>
          <p:nvPr/>
        </p:nvSpPr>
        <p:spPr>
          <a:xfrm xmlns:a="http://schemas.openxmlformats.org/drawingml/2006/main">
            <a:off x="6762750" y="32194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Low-value questions and weak causal development</a:t>
            </a:r>
          </a:p>
        </p:txBody>
      </p:sp>
      <p:sp>
        <p:nvSpPr>
          <p:cNvPr id="20" name="">
            <a:extLst xmlns:a="http://schemas.openxmlformats.org/drawingml/2006/main">
              <a:ext uri="{FF2B5EF4-FFF2-40B4-BE49-F238E27FC236}">
                <a16:creationId xmlns:a16="http://schemas.microsoft.com/office/drawing/2014/main" id="{A74172B8-3BDD-4B80-BCA9-A5C48345AB5E}"/>
              </a:ext>
            </a:extLst>
          </p:cNvPr>
          <p:cNvSpPr>
            <a:spLocks xmlns:a="http://schemas.openxmlformats.org/drawingml/2006/main" noGrp="1"/>
          </p:cNvSpPr>
          <p:nvPr/>
        </p:nvSpPr>
        <p:spPr>
          <a:xfrm xmlns:a="http://schemas.openxmlformats.org/drawingml/2006/main">
            <a:off x="685800" y="37719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B5CE324-7AFA-41EA-8BAB-39ADD978BB2C}"/>
              </a:ext>
            </a:extLst>
          </p:cNvPr>
          <p:cNvSpPr>
            <a:spLocks xmlns:a="http://schemas.openxmlformats.org/drawingml/2006/main" noGrp="1"/>
          </p:cNvSpPr>
          <p:nvPr/>
        </p:nvSpPr>
        <p:spPr>
          <a:xfrm xmlns:a="http://schemas.openxmlformats.org/drawingml/2006/main">
            <a:off x="685800" y="39052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phi4-mini   13</a:t>
            </a:r>
          </a:p>
        </p:txBody>
      </p:sp>
      <p:sp>
        <p:nvSpPr>
          <p:cNvPr id="22" name="">
            <a:extLst xmlns:a="http://schemas.openxmlformats.org/drawingml/2006/main">
              <a:ext uri="{FF2B5EF4-FFF2-40B4-BE49-F238E27FC236}">
                <a16:creationId xmlns:a16="http://schemas.microsoft.com/office/drawing/2014/main" id="{964F44E5-F7DE-4C94-9710-7E2CB3CEB9F3}"/>
              </a:ext>
            </a:extLst>
          </p:cNvPr>
          <p:cNvSpPr>
            <a:spLocks xmlns:a="http://schemas.openxmlformats.org/drawingml/2006/main" noGrp="1"/>
          </p:cNvSpPr>
          <p:nvPr/>
        </p:nvSpPr>
        <p:spPr>
          <a:xfrm xmlns:a="http://schemas.openxmlformats.org/drawingml/2006/main">
            <a:off x="3257550" y="39052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Generated substantial text</a:t>
            </a:r>
          </a:p>
        </p:txBody>
      </p:sp>
      <p:sp>
        <p:nvSpPr>
          <p:cNvPr id="23" name="">
            <a:extLst xmlns:a="http://schemas.openxmlformats.org/drawingml/2006/main">
              <a:ext uri="{FF2B5EF4-FFF2-40B4-BE49-F238E27FC236}">
                <a16:creationId xmlns:a16="http://schemas.microsoft.com/office/drawing/2014/main" id="{9B81FC8F-CB67-45D5-8F45-41D53BC77A33}"/>
              </a:ext>
            </a:extLst>
          </p:cNvPr>
          <p:cNvSpPr>
            <a:spLocks xmlns:a="http://schemas.openxmlformats.org/drawingml/2006/main" noGrp="1"/>
          </p:cNvSpPr>
          <p:nvPr/>
        </p:nvSpPr>
        <p:spPr>
          <a:xfrm xmlns:a="http://schemas.openxmlformats.org/drawingml/2006/main">
            <a:off x="6762750" y="39052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Nineteen stage errors and extensive fallback content</a:t>
            </a:r>
          </a:p>
        </p:txBody>
      </p:sp>
      <p:sp>
        <p:nvSpPr>
          <p:cNvPr id="24" name="">
            <a:extLst xmlns:a="http://schemas.openxmlformats.org/drawingml/2006/main">
              <a:ext uri="{FF2B5EF4-FFF2-40B4-BE49-F238E27FC236}">
                <a16:creationId xmlns:a16="http://schemas.microsoft.com/office/drawing/2014/main" id="{15B3B4CA-46DF-4AB2-992E-692E83A333AC}"/>
              </a:ext>
            </a:extLst>
          </p:cNvPr>
          <p:cNvSpPr>
            <a:spLocks xmlns:a="http://schemas.openxmlformats.org/drawingml/2006/main" noGrp="1"/>
          </p:cNvSpPr>
          <p:nvPr/>
        </p:nvSpPr>
        <p:spPr>
          <a:xfrm xmlns:a="http://schemas.openxmlformats.org/drawingml/2006/main">
            <a:off x="685800" y="44577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8D4CBDF-9F12-4CCF-A507-CA67C80CB605}"/>
              </a:ext>
            </a:extLst>
          </p:cNvPr>
          <p:cNvSpPr>
            <a:spLocks xmlns:a="http://schemas.openxmlformats.org/drawingml/2006/main" noGrp="1"/>
          </p:cNvSpPr>
          <p:nvPr/>
        </p:nvSpPr>
        <p:spPr>
          <a:xfrm xmlns:a="http://schemas.openxmlformats.org/drawingml/2006/main">
            <a:off x="685800" y="45910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C9564D"/>
                </a:solidFill>
                <a:latin typeface="Helvetica Neue"/>
                <a:ea typeface="Helvetica Neue"/>
                <a:cs typeface="Helvetica Neue"/>
              </a:defRPr>
            </a:pPr>
            <a:r>
              <a:rPr sz="1650" b="1">
                <a:solidFill>
                  <a:srgbClr val="C9564D"/>
                </a:solidFill>
                <a:latin typeface="Helvetica Neue"/>
                <a:ea typeface="Helvetica Neue"/>
                <a:cs typeface="Helvetica Neue"/>
              </a:rPr>
              <a:t>deepseek-r1   0</a:t>
            </a:r>
          </a:p>
        </p:txBody>
      </p:sp>
      <p:sp>
        <p:nvSpPr>
          <p:cNvPr id="26" name="">
            <a:extLst xmlns:a="http://schemas.openxmlformats.org/drawingml/2006/main">
              <a:ext uri="{FF2B5EF4-FFF2-40B4-BE49-F238E27FC236}">
                <a16:creationId xmlns:a16="http://schemas.microsoft.com/office/drawing/2014/main" id="{1AB3D24F-00A1-4275-99C0-C6C6DBDD1234}"/>
              </a:ext>
            </a:extLst>
          </p:cNvPr>
          <p:cNvSpPr>
            <a:spLocks xmlns:a="http://schemas.openxmlformats.org/drawingml/2006/main" noGrp="1"/>
          </p:cNvSpPr>
          <p:nvPr/>
        </p:nvSpPr>
        <p:spPr>
          <a:xfrm xmlns:a="http://schemas.openxmlformats.org/drawingml/2006/main">
            <a:off x="3257550" y="45910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No gradeable artifact</a:t>
            </a:r>
          </a:p>
        </p:txBody>
      </p:sp>
      <p:sp>
        <p:nvSpPr>
          <p:cNvPr id="27" name="">
            <a:extLst xmlns:a="http://schemas.openxmlformats.org/drawingml/2006/main">
              <a:ext uri="{FF2B5EF4-FFF2-40B4-BE49-F238E27FC236}">
                <a16:creationId xmlns:a16="http://schemas.microsoft.com/office/drawing/2014/main" id="{C71A6314-62B4-4E0E-8E16-E5CB34034E1B}"/>
              </a:ext>
            </a:extLst>
          </p:cNvPr>
          <p:cNvSpPr>
            <a:spLocks xmlns:a="http://schemas.openxmlformats.org/drawingml/2006/main" noGrp="1"/>
          </p:cNvSpPr>
          <p:nvPr/>
        </p:nvSpPr>
        <p:spPr>
          <a:xfrm xmlns:a="http://schemas.openxmlformats.org/drawingml/2006/main">
            <a:off x="6762750" y="45910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9131"/>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Exceeded the 30-minute limit before committing a version</a:t>
            </a:r>
          </a:p>
        </p:txBody>
      </p:sp>
      <p:sp>
        <p:nvSpPr>
          <p:cNvPr id="28" name="">
            <a:extLst xmlns:a="http://schemas.openxmlformats.org/drawingml/2006/main">
              <a:ext uri="{FF2B5EF4-FFF2-40B4-BE49-F238E27FC236}">
                <a16:creationId xmlns:a16="http://schemas.microsoft.com/office/drawing/2014/main" id="{6830577F-C181-45E3-B04B-23F0A0CFDB00}"/>
              </a:ext>
            </a:extLst>
          </p:cNvPr>
          <p:cNvSpPr>
            <a:spLocks xmlns:a="http://schemas.openxmlformats.org/drawingml/2006/main" noGrp="1"/>
          </p:cNvSpPr>
          <p:nvPr/>
        </p:nvSpPr>
        <p:spPr>
          <a:xfrm xmlns:a="http://schemas.openxmlformats.org/drawingml/2006/main">
            <a:off x="685800" y="51435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F8A7F97-F8D5-49D1-AA5B-F43F897452D0}"/>
              </a:ext>
            </a:extLst>
          </p:cNvPr>
          <p:cNvSpPr>
            <a:spLocks xmlns:a="http://schemas.openxmlformats.org/drawingml/2006/main" noGrp="1"/>
          </p:cNvSpPr>
          <p:nvPr/>
        </p:nvSpPr>
        <p:spPr>
          <a:xfrm xmlns:a="http://schemas.openxmlformats.org/drawingml/2006/main">
            <a:off x="685800" y="52768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C9564D"/>
                </a:solidFill>
                <a:latin typeface="Helvetica Neue"/>
                <a:ea typeface="Helvetica Neue"/>
                <a:cs typeface="Helvetica Neue"/>
              </a:defRPr>
            </a:pPr>
            <a:r>
              <a:rPr sz="1650" b="1">
                <a:solidFill>
                  <a:srgbClr val="C9564D"/>
                </a:solidFill>
                <a:latin typeface="Helvetica Neue"/>
                <a:ea typeface="Helvetica Neue"/>
                <a:cs typeface="Helvetica Neue"/>
              </a:rPr>
              <a:t>granite3.3   0</a:t>
            </a:r>
          </a:p>
        </p:txBody>
      </p:sp>
      <p:sp>
        <p:nvSpPr>
          <p:cNvPr id="30" name="">
            <a:extLst xmlns:a="http://schemas.openxmlformats.org/drawingml/2006/main">
              <a:ext uri="{FF2B5EF4-FFF2-40B4-BE49-F238E27FC236}">
                <a16:creationId xmlns:a16="http://schemas.microsoft.com/office/drawing/2014/main" id="{848E72BF-9E77-470D-B6E0-252AE1B3EE5B}"/>
              </a:ext>
            </a:extLst>
          </p:cNvPr>
          <p:cNvSpPr>
            <a:spLocks xmlns:a="http://schemas.openxmlformats.org/drawingml/2006/main" noGrp="1"/>
          </p:cNvSpPr>
          <p:nvPr/>
        </p:nvSpPr>
        <p:spPr>
          <a:xfrm xmlns:a="http://schemas.openxmlformats.org/drawingml/2006/main">
            <a:off x="3257550" y="52768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No gradeable artifact</a:t>
            </a:r>
          </a:p>
        </p:txBody>
      </p:sp>
      <p:sp>
        <p:nvSpPr>
          <p:cNvPr id="31" name="">
            <a:extLst xmlns:a="http://schemas.openxmlformats.org/drawingml/2006/main">
              <a:ext uri="{FF2B5EF4-FFF2-40B4-BE49-F238E27FC236}">
                <a16:creationId xmlns:a16="http://schemas.microsoft.com/office/drawing/2014/main" id="{146807E2-D3F5-4834-9D84-F9E6DF2841A4}"/>
              </a:ext>
            </a:extLst>
          </p:cNvPr>
          <p:cNvSpPr>
            <a:spLocks xmlns:a="http://schemas.openxmlformats.org/drawingml/2006/main" noGrp="1"/>
          </p:cNvSpPr>
          <p:nvPr/>
        </p:nvSpPr>
        <p:spPr>
          <a:xfrm xmlns:a="http://schemas.openxmlformats.org/drawingml/2006/main">
            <a:off x="6762750" y="52768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9131"/>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Exceeded the 30-minute limit before committing a version</a:t>
            </a:r>
          </a:p>
        </p:txBody>
      </p:sp>
      <p:sp>
        <p:nvSpPr>
          <p:cNvPr id="32" name="">
            <a:extLst xmlns:a="http://schemas.openxmlformats.org/drawingml/2006/main">
              <a:ext uri="{FF2B5EF4-FFF2-40B4-BE49-F238E27FC236}">
                <a16:creationId xmlns:a16="http://schemas.microsoft.com/office/drawing/2014/main" id="{7F7C3519-B726-43CC-BC71-44253CD75718}"/>
              </a:ext>
            </a:extLst>
          </p:cNvPr>
          <p:cNvSpPr>
            <a:spLocks xmlns:a="http://schemas.openxmlformats.org/drawingml/2006/main" noGrp="1"/>
          </p:cNvSpPr>
          <p:nvPr/>
        </p:nvSpPr>
        <p:spPr>
          <a:xfrm xmlns:a="http://schemas.openxmlformats.org/drawingml/2006/main">
            <a:off x="685800" y="58293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Tree>
    <p:extLst>
      <p:ext uri="{BB962C8B-B14F-4D97-AF65-F5344CB8AC3E}">
        <p14:creationId xmlns:p14="http://schemas.microsoft.com/office/powerpoint/2010/main" val="2108244808"/>
      </p:ext>
    </p:extLst>
  </p:cSld>
</p:sld>
</file>

<file path=ppt/slides/slide9.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D558904-5CD9-491A-BEA8-BB7460AAAB23}"/>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3 exposed system failures as well as model failures</a:t>
            </a:r>
          </a:p>
        </p:txBody>
      </p:sp>
      <p:sp>
        <p:nvSpPr>
          <p:cNvPr id="2" name="">
            <a:extLst xmlns:a="http://schemas.openxmlformats.org/drawingml/2006/main">
              <a:ext uri="{FF2B5EF4-FFF2-40B4-BE49-F238E27FC236}">
                <a16:creationId xmlns:a16="http://schemas.microsoft.com/office/drawing/2014/main" id="{9A816E7D-2CFC-47DF-BD2A-DACEBEAE2EB7}"/>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Several weaknesses appeared across models, which means prompt quality alone could not solve them.</a:t>
            </a:r>
          </a:p>
        </p:txBody>
      </p:sp>
      <p:sp>
        <p:nvSpPr>
          <p:cNvPr id="3" name="">
            <a:extLst xmlns:a="http://schemas.openxmlformats.org/drawingml/2006/main">
              <a:ext uri="{FF2B5EF4-FFF2-40B4-BE49-F238E27FC236}">
                <a16:creationId xmlns:a16="http://schemas.microsoft.com/office/drawing/2014/main" id="{3974FF40-E996-4F8B-900B-DAE831E52598}"/>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8D77550-5068-41EF-9378-034648958403}"/>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benchmark cross-model findings</a:t>
            </a:r>
          </a:p>
        </p:txBody>
      </p:sp>
      <p:sp>
        <p:nvSpPr>
          <p:cNvPr id="5" name="">
            <a:extLst xmlns:a="http://schemas.openxmlformats.org/drawingml/2006/main">
              <a:ext uri="{FF2B5EF4-FFF2-40B4-BE49-F238E27FC236}">
                <a16:creationId xmlns:a16="http://schemas.microsoft.com/office/drawing/2014/main" id="{D08625FD-C396-4157-A8B1-D9BFCD7F0F4E}"/>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83ADD8AF-0371-4CF5-9F71-FBB1D74D77DD}"/>
              </a:ext>
            </a:extLst>
          </p:cNvPr>
          <p:cNvSpPr>
            <a:spLocks xmlns:a="http://schemas.openxmlformats.org/drawingml/2006/main" noGrp="1"/>
          </p:cNvSpPr>
          <p:nvPr/>
        </p:nvSpPr>
        <p:spPr>
          <a:xfrm xmlns:a="http://schemas.openxmlformats.org/drawingml/2006/main">
            <a:off x="742950" y="16764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3377B5"/>
                </a:solidFill>
                <a:latin typeface="Helvetica Neue"/>
                <a:ea typeface="Helvetica Neue"/>
                <a:cs typeface="Helvetica Neue"/>
              </a:defRPr>
            </a:pPr>
            <a:r>
              <a:rPr sz="2100" b="1">
                <a:solidFill>
                  <a:srgbClr val="3377B5"/>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3B7AE99C-4371-46BA-B34A-C41B1627D7AC}"/>
              </a:ext>
            </a:extLst>
          </p:cNvPr>
          <p:cNvSpPr>
            <a:spLocks xmlns:a="http://schemas.openxmlformats.org/drawingml/2006/main" noGrp="1"/>
          </p:cNvSpPr>
          <p:nvPr/>
        </p:nvSpPr>
        <p:spPr>
          <a:xfrm xmlns:a="http://schemas.openxmlformats.org/drawingml/2006/main">
            <a:off x="1409700" y="16764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Structured output</a:t>
            </a:r>
          </a:p>
        </p:txBody>
      </p:sp>
      <p:sp>
        <p:nvSpPr>
          <p:cNvPr id="8" name="">
            <a:extLst xmlns:a="http://schemas.openxmlformats.org/drawingml/2006/main">
              <a:ext uri="{FF2B5EF4-FFF2-40B4-BE49-F238E27FC236}">
                <a16:creationId xmlns:a16="http://schemas.microsoft.com/office/drawing/2014/main" id="{34978F47-9F74-462D-8806-1A83C2411A6B}"/>
              </a:ext>
            </a:extLst>
          </p:cNvPr>
          <p:cNvSpPr>
            <a:spLocks xmlns:a="http://schemas.openxmlformats.org/drawingml/2006/main" noGrp="1"/>
          </p:cNvSpPr>
          <p:nvPr/>
        </p:nvSpPr>
        <p:spPr>
          <a:xfrm xmlns:a="http://schemas.openxmlformats.org/drawingml/2006/main">
            <a:off x="1409700" y="20955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Long JSON responses failed or truncated.</a:t>
            </a:r>
          </a:p>
        </p:txBody>
      </p:sp>
      <p:sp>
        <p:nvSpPr>
          <p:cNvPr id="9" name="">
            <a:extLst xmlns:a="http://schemas.openxmlformats.org/drawingml/2006/main">
              <a:ext uri="{FF2B5EF4-FFF2-40B4-BE49-F238E27FC236}">
                <a16:creationId xmlns:a16="http://schemas.microsoft.com/office/drawing/2014/main" id="{04E41DBA-C7C3-49D4-8734-A139F6420A54}"/>
              </a:ext>
            </a:extLst>
          </p:cNvPr>
          <p:cNvSpPr>
            <a:spLocks xmlns:a="http://schemas.openxmlformats.org/drawingml/2006/main" noGrp="1"/>
          </p:cNvSpPr>
          <p:nvPr/>
        </p:nvSpPr>
        <p:spPr>
          <a:xfrm xmlns:a="http://schemas.openxmlformats.org/drawingml/2006/main">
            <a:off x="1409700" y="28384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4CA3225-DD9D-425D-994E-73C83C549C60}"/>
              </a:ext>
            </a:extLst>
          </p:cNvPr>
          <p:cNvSpPr>
            <a:spLocks xmlns:a="http://schemas.openxmlformats.org/drawingml/2006/main" noGrp="1"/>
          </p:cNvSpPr>
          <p:nvPr/>
        </p:nvSpPr>
        <p:spPr>
          <a:xfrm xmlns:a="http://schemas.openxmlformats.org/drawingml/2006/main">
            <a:off x="742950" y="30861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3377B5"/>
                </a:solidFill>
                <a:latin typeface="Helvetica Neue"/>
                <a:ea typeface="Helvetica Neue"/>
                <a:cs typeface="Helvetica Neue"/>
              </a:defRPr>
            </a:pPr>
            <a:r>
              <a:rPr sz="2100" b="1">
                <a:solidFill>
                  <a:srgbClr val="3377B5"/>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97E98B94-58FC-4B17-ACB4-AD65CCF00F7C}"/>
              </a:ext>
            </a:extLst>
          </p:cNvPr>
          <p:cNvSpPr>
            <a:spLocks xmlns:a="http://schemas.openxmlformats.org/drawingml/2006/main" noGrp="1"/>
          </p:cNvSpPr>
          <p:nvPr/>
        </p:nvSpPr>
        <p:spPr>
          <a:xfrm xmlns:a="http://schemas.openxmlformats.org/drawingml/2006/main">
            <a:off x="1409700" y="30861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Evidence scope</a:t>
            </a:r>
          </a:p>
        </p:txBody>
      </p:sp>
      <p:sp>
        <p:nvSpPr>
          <p:cNvPr id="12" name="">
            <a:extLst xmlns:a="http://schemas.openxmlformats.org/drawingml/2006/main">
              <a:ext uri="{FF2B5EF4-FFF2-40B4-BE49-F238E27FC236}">
                <a16:creationId xmlns:a16="http://schemas.microsoft.com/office/drawing/2014/main" id="{AE1EC060-7757-4D00-AFF3-C58663BC052A}"/>
              </a:ext>
            </a:extLst>
          </p:cNvPr>
          <p:cNvSpPr>
            <a:spLocks xmlns:a="http://schemas.openxmlformats.org/drawingml/2006/main" noGrp="1"/>
          </p:cNvSpPr>
          <p:nvPr/>
        </p:nvSpPr>
        <p:spPr>
          <a:xfrm xmlns:a="http://schemas.openxmlformats.org/drawingml/2006/main">
            <a:off x="1409700" y="35052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Large packets behaved like one source instead of separate records.</a:t>
            </a:r>
          </a:p>
        </p:txBody>
      </p:sp>
      <p:sp>
        <p:nvSpPr>
          <p:cNvPr id="13" name="">
            <a:extLst xmlns:a="http://schemas.openxmlformats.org/drawingml/2006/main">
              <a:ext uri="{FF2B5EF4-FFF2-40B4-BE49-F238E27FC236}">
                <a16:creationId xmlns:a16="http://schemas.microsoft.com/office/drawing/2014/main" id="{75E7C233-3364-4F26-9B15-DA3982B3BF59}"/>
              </a:ext>
            </a:extLst>
          </p:cNvPr>
          <p:cNvSpPr>
            <a:spLocks xmlns:a="http://schemas.openxmlformats.org/drawingml/2006/main" noGrp="1"/>
          </p:cNvSpPr>
          <p:nvPr/>
        </p:nvSpPr>
        <p:spPr>
          <a:xfrm xmlns:a="http://schemas.openxmlformats.org/drawingml/2006/main">
            <a:off x="1409700" y="42481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2C14F82-B15A-4D0B-A664-715FD556C2C4}"/>
              </a:ext>
            </a:extLst>
          </p:cNvPr>
          <p:cNvSpPr>
            <a:spLocks xmlns:a="http://schemas.openxmlformats.org/drawingml/2006/main" noGrp="1"/>
          </p:cNvSpPr>
          <p:nvPr/>
        </p:nvSpPr>
        <p:spPr>
          <a:xfrm xmlns:a="http://schemas.openxmlformats.org/drawingml/2006/main">
            <a:off x="742950" y="44958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3377B5"/>
                </a:solidFill>
                <a:latin typeface="Helvetica Neue"/>
                <a:ea typeface="Helvetica Neue"/>
                <a:cs typeface="Helvetica Neue"/>
              </a:defRPr>
            </a:pPr>
            <a:r>
              <a:rPr sz="2100" b="1">
                <a:solidFill>
                  <a:srgbClr val="3377B5"/>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2600C82B-42F3-4493-96A1-F6F78A293CA4}"/>
              </a:ext>
            </a:extLst>
          </p:cNvPr>
          <p:cNvSpPr>
            <a:spLocks xmlns:a="http://schemas.openxmlformats.org/drawingml/2006/main" noGrp="1"/>
          </p:cNvSpPr>
          <p:nvPr/>
        </p:nvSpPr>
        <p:spPr>
          <a:xfrm xmlns:a="http://schemas.openxmlformats.org/drawingml/2006/main">
            <a:off x="1409700" y="44958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Question control</a:t>
            </a:r>
          </a:p>
        </p:txBody>
      </p:sp>
      <p:sp>
        <p:nvSpPr>
          <p:cNvPr id="16" name="">
            <a:extLst xmlns:a="http://schemas.openxmlformats.org/drawingml/2006/main">
              <a:ext uri="{FF2B5EF4-FFF2-40B4-BE49-F238E27FC236}">
                <a16:creationId xmlns:a16="http://schemas.microsoft.com/office/drawing/2014/main" id="{B3028F36-8CD0-4B6D-8D46-D1BCA648A834}"/>
              </a:ext>
            </a:extLst>
          </p:cNvPr>
          <p:cNvSpPr>
            <a:spLocks xmlns:a="http://schemas.openxmlformats.org/drawingml/2006/main" noGrp="1"/>
          </p:cNvSpPr>
          <p:nvPr/>
        </p:nvSpPr>
        <p:spPr>
          <a:xfrm xmlns:a="http://schemas.openxmlformats.org/drawingml/2006/main">
            <a:off x="1409700" y="49149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Overlap survived and low-value questions consumed runtime.</a:t>
            </a:r>
          </a:p>
        </p:txBody>
      </p:sp>
      <p:sp>
        <p:nvSpPr>
          <p:cNvPr id="17" name="">
            <a:extLst xmlns:a="http://schemas.openxmlformats.org/drawingml/2006/main">
              <a:ext uri="{FF2B5EF4-FFF2-40B4-BE49-F238E27FC236}">
                <a16:creationId xmlns:a16="http://schemas.microsoft.com/office/drawing/2014/main" id="{E5CE22FB-9AD2-40BF-8442-E8D97191B053}"/>
              </a:ext>
            </a:extLst>
          </p:cNvPr>
          <p:cNvSpPr>
            <a:spLocks xmlns:a="http://schemas.openxmlformats.org/drawingml/2006/main" noGrp="1"/>
          </p:cNvSpPr>
          <p:nvPr/>
        </p:nvSpPr>
        <p:spPr>
          <a:xfrm xmlns:a="http://schemas.openxmlformats.org/drawingml/2006/main">
            <a:off x="1409700" y="56578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7CB93FA-4B77-4AAB-93C1-782A1C0C1703}"/>
              </a:ext>
            </a:extLst>
          </p:cNvPr>
          <p:cNvSpPr>
            <a:spLocks xmlns:a="http://schemas.openxmlformats.org/drawingml/2006/main" noGrp="1"/>
          </p:cNvSpPr>
          <p:nvPr/>
        </p:nvSpPr>
        <p:spPr>
          <a:xfrm xmlns:a="http://schemas.openxmlformats.org/drawingml/2006/main">
            <a:off x="6229350" y="16764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C9564D"/>
                </a:solidFill>
                <a:latin typeface="Helvetica Neue"/>
                <a:ea typeface="Helvetica Neue"/>
                <a:cs typeface="Helvetica Neue"/>
              </a:defRPr>
            </a:pPr>
            <a:r>
              <a:rPr sz="2100" b="1">
                <a:solidFill>
                  <a:srgbClr val="C9564D"/>
                </a:solidFill>
                <a:latin typeface="Helvetica Neue"/>
                <a:ea typeface="Helvetica Neue"/>
                <a:cs typeface="Helvetica Neue"/>
              </a:rPr>
              <a:t>04</a:t>
            </a:r>
          </a:p>
        </p:txBody>
      </p:sp>
      <p:sp>
        <p:nvSpPr>
          <p:cNvPr id="19" name="">
            <a:extLst xmlns:a="http://schemas.openxmlformats.org/drawingml/2006/main">
              <a:ext uri="{FF2B5EF4-FFF2-40B4-BE49-F238E27FC236}">
                <a16:creationId xmlns:a16="http://schemas.microsoft.com/office/drawing/2014/main" id="{3FF062CD-267C-43DB-B7BC-F38075B615B7}"/>
              </a:ext>
            </a:extLst>
          </p:cNvPr>
          <p:cNvSpPr>
            <a:spLocks xmlns:a="http://schemas.openxmlformats.org/drawingml/2006/main" noGrp="1"/>
          </p:cNvSpPr>
          <p:nvPr/>
        </p:nvSpPr>
        <p:spPr>
          <a:xfrm xmlns:a="http://schemas.openxmlformats.org/drawingml/2006/main">
            <a:off x="6896100" y="16764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Causal direction</a:t>
            </a:r>
          </a:p>
        </p:txBody>
      </p:sp>
      <p:sp>
        <p:nvSpPr>
          <p:cNvPr id="20" name="">
            <a:extLst xmlns:a="http://schemas.openxmlformats.org/drawingml/2006/main">
              <a:ext uri="{FF2B5EF4-FFF2-40B4-BE49-F238E27FC236}">
                <a16:creationId xmlns:a16="http://schemas.microsoft.com/office/drawing/2014/main" id="{D9C6A7C5-BD67-4E2A-B31D-D41D86DC1F45}"/>
              </a:ext>
            </a:extLst>
          </p:cNvPr>
          <p:cNvSpPr>
            <a:spLocks xmlns:a="http://schemas.openxmlformats.org/drawingml/2006/main" noGrp="1"/>
          </p:cNvSpPr>
          <p:nvPr/>
        </p:nvSpPr>
        <p:spPr>
          <a:xfrm xmlns:a="http://schemas.openxmlformats.org/drawingml/2006/main">
            <a:off x="6896100" y="20955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Some boards pointed from the event back to pre-event conditions.</a:t>
            </a:r>
          </a:p>
        </p:txBody>
      </p:sp>
      <p:sp>
        <p:nvSpPr>
          <p:cNvPr id="21" name="">
            <a:extLst xmlns:a="http://schemas.openxmlformats.org/drawingml/2006/main">
              <a:ext uri="{FF2B5EF4-FFF2-40B4-BE49-F238E27FC236}">
                <a16:creationId xmlns:a16="http://schemas.microsoft.com/office/drawing/2014/main" id="{4C772687-2E92-419B-AC8C-F379A0772DAF}"/>
              </a:ext>
            </a:extLst>
          </p:cNvPr>
          <p:cNvSpPr>
            <a:spLocks xmlns:a="http://schemas.openxmlformats.org/drawingml/2006/main" noGrp="1"/>
          </p:cNvSpPr>
          <p:nvPr/>
        </p:nvSpPr>
        <p:spPr>
          <a:xfrm xmlns:a="http://schemas.openxmlformats.org/drawingml/2006/main">
            <a:off x="6896100" y="28384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06217BE-1849-44E5-B38D-48B10EF1CF31}"/>
              </a:ext>
            </a:extLst>
          </p:cNvPr>
          <p:cNvSpPr>
            <a:spLocks xmlns:a="http://schemas.openxmlformats.org/drawingml/2006/main" noGrp="1"/>
          </p:cNvSpPr>
          <p:nvPr/>
        </p:nvSpPr>
        <p:spPr>
          <a:xfrm xmlns:a="http://schemas.openxmlformats.org/drawingml/2006/main">
            <a:off x="6229350" y="30861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C9564D"/>
                </a:solidFill>
                <a:latin typeface="Helvetica Neue"/>
                <a:ea typeface="Helvetica Neue"/>
                <a:cs typeface="Helvetica Neue"/>
              </a:defRPr>
            </a:pPr>
            <a:r>
              <a:rPr sz="2100" b="1">
                <a:solidFill>
                  <a:srgbClr val="C9564D"/>
                </a:solidFill>
                <a:latin typeface="Helvetica Neue"/>
                <a:ea typeface="Helvetica Neue"/>
                <a:cs typeface="Helvetica Neue"/>
              </a:rPr>
              <a:t>05</a:t>
            </a:r>
          </a:p>
        </p:txBody>
      </p:sp>
      <p:sp>
        <p:nvSpPr>
          <p:cNvPr id="23" name="">
            <a:extLst xmlns:a="http://schemas.openxmlformats.org/drawingml/2006/main">
              <a:ext uri="{FF2B5EF4-FFF2-40B4-BE49-F238E27FC236}">
                <a16:creationId xmlns:a16="http://schemas.microsoft.com/office/drawing/2014/main" id="{B4F753B8-304C-40F8-BDE3-5DF9662F7D7C}"/>
              </a:ext>
            </a:extLst>
          </p:cNvPr>
          <p:cNvSpPr>
            <a:spLocks xmlns:a="http://schemas.openxmlformats.org/drawingml/2006/main" noGrp="1"/>
          </p:cNvSpPr>
          <p:nvPr/>
        </p:nvSpPr>
        <p:spPr>
          <a:xfrm xmlns:a="http://schemas.openxmlformats.org/drawingml/2006/main">
            <a:off x="6896100" y="30861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Contradictions</a:t>
            </a:r>
          </a:p>
        </p:txBody>
      </p:sp>
      <p:sp>
        <p:nvSpPr>
          <p:cNvPr id="24" name="">
            <a:extLst xmlns:a="http://schemas.openxmlformats.org/drawingml/2006/main">
              <a:ext uri="{FF2B5EF4-FFF2-40B4-BE49-F238E27FC236}">
                <a16:creationId xmlns:a16="http://schemas.microsoft.com/office/drawing/2014/main" id="{64716C06-CE48-4317-B272-562270480F6F}"/>
              </a:ext>
            </a:extLst>
          </p:cNvPr>
          <p:cNvSpPr>
            <a:spLocks xmlns:a="http://schemas.openxmlformats.org/drawingml/2006/main" noGrp="1"/>
          </p:cNvSpPr>
          <p:nvPr/>
        </p:nvSpPr>
        <p:spPr>
          <a:xfrm xmlns:a="http://schemas.openxmlformats.org/drawingml/2006/main">
            <a:off x="6896100" y="35052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Every scored Try 3 output missed the three planted challenge records.</a:t>
            </a:r>
          </a:p>
        </p:txBody>
      </p:sp>
      <p:sp>
        <p:nvSpPr>
          <p:cNvPr id="25" name="">
            <a:extLst xmlns:a="http://schemas.openxmlformats.org/drawingml/2006/main">
              <a:ext uri="{FF2B5EF4-FFF2-40B4-BE49-F238E27FC236}">
                <a16:creationId xmlns:a16="http://schemas.microsoft.com/office/drawing/2014/main" id="{C541A967-4000-4986-861F-FE0C2893F35A}"/>
              </a:ext>
            </a:extLst>
          </p:cNvPr>
          <p:cNvSpPr>
            <a:spLocks xmlns:a="http://schemas.openxmlformats.org/drawingml/2006/main" noGrp="1"/>
          </p:cNvSpPr>
          <p:nvPr/>
        </p:nvSpPr>
        <p:spPr>
          <a:xfrm xmlns:a="http://schemas.openxmlformats.org/drawingml/2006/main">
            <a:off x="6896100" y="42481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B831455-4B1F-4EC9-A2AC-449722A3BF57}"/>
              </a:ext>
            </a:extLst>
          </p:cNvPr>
          <p:cNvSpPr>
            <a:spLocks xmlns:a="http://schemas.openxmlformats.org/drawingml/2006/main" noGrp="1"/>
          </p:cNvSpPr>
          <p:nvPr/>
        </p:nvSpPr>
        <p:spPr>
          <a:xfrm xmlns:a="http://schemas.openxmlformats.org/drawingml/2006/main">
            <a:off x="6229350" y="44958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C9564D"/>
                </a:solidFill>
                <a:latin typeface="Helvetica Neue"/>
                <a:ea typeface="Helvetica Neue"/>
                <a:cs typeface="Helvetica Neue"/>
              </a:defRPr>
            </a:pPr>
            <a:r>
              <a:rPr sz="2100" b="1">
                <a:solidFill>
                  <a:srgbClr val="C9564D"/>
                </a:solidFill>
                <a:latin typeface="Helvetica Neue"/>
                <a:ea typeface="Helvetica Neue"/>
                <a:cs typeface="Helvetica Neue"/>
              </a:rPr>
              <a:t>06</a:t>
            </a:r>
          </a:p>
        </p:txBody>
      </p:sp>
      <p:sp>
        <p:nvSpPr>
          <p:cNvPr id="27" name="">
            <a:extLst xmlns:a="http://schemas.openxmlformats.org/drawingml/2006/main">
              <a:ext uri="{FF2B5EF4-FFF2-40B4-BE49-F238E27FC236}">
                <a16:creationId xmlns:a16="http://schemas.microsoft.com/office/drawing/2014/main" id="{7F5CDDE1-9E7D-4D92-AE4C-58EA057683CC}"/>
              </a:ext>
            </a:extLst>
          </p:cNvPr>
          <p:cNvSpPr>
            <a:spLocks xmlns:a="http://schemas.openxmlformats.org/drawingml/2006/main" noGrp="1"/>
          </p:cNvSpPr>
          <p:nvPr/>
        </p:nvSpPr>
        <p:spPr>
          <a:xfrm xmlns:a="http://schemas.openxmlformats.org/drawingml/2006/main">
            <a:off x="6896100" y="44958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Corrective actions</a:t>
            </a:r>
          </a:p>
        </p:txBody>
      </p:sp>
      <p:sp>
        <p:nvSpPr>
          <p:cNvPr id="28" name="">
            <a:extLst xmlns:a="http://schemas.openxmlformats.org/drawingml/2006/main">
              <a:ext uri="{FF2B5EF4-FFF2-40B4-BE49-F238E27FC236}">
                <a16:creationId xmlns:a16="http://schemas.microsoft.com/office/drawing/2014/main" id="{8EB24060-2D79-4AB1-9F32-92F5A4719DB6}"/>
              </a:ext>
            </a:extLst>
          </p:cNvPr>
          <p:cNvSpPr>
            <a:spLocks xmlns:a="http://schemas.openxmlformats.org/drawingml/2006/main" noGrp="1"/>
          </p:cNvSpPr>
          <p:nvPr/>
        </p:nvSpPr>
        <p:spPr>
          <a:xfrm xmlns:a="http://schemas.openxmlformats.org/drawingml/2006/main">
            <a:off x="6896100" y="49149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Some models proposed actions before verifying the causal mechanism.</a:t>
            </a:r>
          </a:p>
        </p:txBody>
      </p:sp>
      <p:sp>
        <p:nvSpPr>
          <p:cNvPr id="29" name="">
            <a:extLst xmlns:a="http://schemas.openxmlformats.org/drawingml/2006/main">
              <a:ext uri="{FF2B5EF4-FFF2-40B4-BE49-F238E27FC236}">
                <a16:creationId xmlns:a16="http://schemas.microsoft.com/office/drawing/2014/main" id="{434B9B36-3629-4E90-963A-2A2AA369CD9D}"/>
              </a:ext>
            </a:extLst>
          </p:cNvPr>
          <p:cNvSpPr>
            <a:spLocks xmlns:a="http://schemas.openxmlformats.org/drawingml/2006/main" noGrp="1"/>
          </p:cNvSpPr>
          <p:nvPr/>
        </p:nvSpPr>
        <p:spPr>
          <a:xfrm xmlns:a="http://schemas.openxmlformats.org/drawingml/2006/main">
            <a:off x="6896100" y="56578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Tree>
    <p:extLst>
      <p:ext uri="{BB962C8B-B14F-4D97-AF65-F5344CB8AC3E}">
        <p14:creationId xmlns:p14="http://schemas.microsoft.com/office/powerpoint/2010/main" val="2066087878"/>
      </p:ext>
    </p:extLst>
  </p:cSld>
</p:sld>
</file>

<file path=ppt/slides/slide10.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8EB7ABC-33B9-4D48-B4E7-FC660C398289}"/>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4 changed the harness around one model</a:t>
            </a:r>
          </a:p>
        </p:txBody>
      </p:sp>
      <p:sp>
        <p:nvSpPr>
          <p:cNvPr id="2" name="">
            <a:extLst xmlns:a="http://schemas.openxmlformats.org/drawingml/2006/main">
              <a:ext uri="{FF2B5EF4-FFF2-40B4-BE49-F238E27FC236}">
                <a16:creationId xmlns:a16="http://schemas.microsoft.com/office/drawing/2014/main" id="{5E87E569-6D32-4749-8022-F74038F06431}"/>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experiment kept qwen3.5 as the only reasoning model so system changes remained observable.</a:t>
            </a:r>
          </a:p>
        </p:txBody>
      </p:sp>
      <p:sp>
        <p:nvSpPr>
          <p:cNvPr id="3" name="">
            <a:extLst xmlns:a="http://schemas.openxmlformats.org/drawingml/2006/main">
              <a:ext uri="{FF2B5EF4-FFF2-40B4-BE49-F238E27FC236}">
                <a16:creationId xmlns:a16="http://schemas.microsoft.com/office/drawing/2014/main" id="{71CC9DBF-7C95-4B10-8C1C-75BF62ED6936}"/>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47044F3-C519-4D23-9F80-577630B1EE92}"/>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4 implementation and qwen evaluation</a:t>
            </a:r>
          </a:p>
        </p:txBody>
      </p:sp>
      <p:sp>
        <p:nvSpPr>
          <p:cNvPr id="5" name="">
            <a:extLst xmlns:a="http://schemas.openxmlformats.org/drawingml/2006/main">
              <a:ext uri="{FF2B5EF4-FFF2-40B4-BE49-F238E27FC236}">
                <a16:creationId xmlns:a16="http://schemas.microsoft.com/office/drawing/2014/main" id="{E77BF0AC-2AD0-4543-B62C-7D537A77C78D}"/>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DB0BB5C7-937D-40C9-8A4D-75280B91EC32}"/>
              </a:ext>
            </a:extLst>
          </p:cNvPr>
          <p:cNvSpPr>
            <a:spLocks xmlns:a="http://schemas.openxmlformats.org/drawingml/2006/main" noGrp="1"/>
          </p:cNvSpPr>
          <p:nvPr/>
        </p:nvSpPr>
        <p:spPr>
          <a:xfrm xmlns:a="http://schemas.openxmlformats.org/drawingml/2006/main">
            <a:off x="742950" y="14668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3377B5"/>
                </a:solidFill>
                <a:latin typeface="Helvetica Neue"/>
                <a:ea typeface="Helvetica Neue"/>
                <a:cs typeface="Helvetica Neue"/>
              </a:defRPr>
            </a:pPr>
            <a:r>
              <a:rPr sz="1350" b="1">
                <a:solidFill>
                  <a:srgbClr val="3377B5"/>
                </a:solidFill>
                <a:latin typeface="Helvetica Neue"/>
                <a:ea typeface="Helvetica Neue"/>
                <a:cs typeface="Helvetica Neue"/>
              </a:rPr>
              <a:t>TRY 3</a:t>
            </a:r>
          </a:p>
        </p:txBody>
      </p:sp>
      <p:sp>
        <p:nvSpPr>
          <p:cNvPr id="7" name="">
            <a:extLst xmlns:a="http://schemas.openxmlformats.org/drawingml/2006/main">
              <a:ext uri="{FF2B5EF4-FFF2-40B4-BE49-F238E27FC236}">
                <a16:creationId xmlns:a16="http://schemas.microsoft.com/office/drawing/2014/main" id="{5B423E52-4B2E-4126-8484-06202AB6CE5D}"/>
              </a:ext>
            </a:extLst>
          </p:cNvPr>
          <p:cNvSpPr>
            <a:spLocks xmlns:a="http://schemas.openxmlformats.org/drawingml/2006/main" noGrp="1"/>
          </p:cNvSpPr>
          <p:nvPr/>
        </p:nvSpPr>
        <p:spPr>
          <a:xfrm xmlns:a="http://schemas.openxmlformats.org/drawingml/2006/main">
            <a:off x="6667500" y="14668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168B85"/>
                </a:solidFill>
                <a:latin typeface="Helvetica Neue"/>
                <a:ea typeface="Helvetica Neue"/>
                <a:cs typeface="Helvetica Neue"/>
              </a:defRPr>
            </a:pPr>
            <a:r>
              <a:rPr sz="1350" b="1">
                <a:solidFill>
                  <a:srgbClr val="168B85"/>
                </a:solidFill>
                <a:latin typeface="Helvetica Neue"/>
                <a:ea typeface="Helvetica Neue"/>
                <a:cs typeface="Helvetica Neue"/>
              </a:rPr>
              <a:t>TRY 4</a:t>
            </a:r>
          </a:p>
        </p:txBody>
      </p:sp>
      <p:sp>
        <p:nvSpPr>
          <p:cNvPr id="8" name="">
            <a:extLst xmlns:a="http://schemas.openxmlformats.org/drawingml/2006/main">
              <a:ext uri="{FF2B5EF4-FFF2-40B4-BE49-F238E27FC236}">
                <a16:creationId xmlns:a16="http://schemas.microsoft.com/office/drawing/2014/main" id="{16B68C4A-C87E-4117-BE6C-4613F1DEDC7C}"/>
              </a:ext>
            </a:extLst>
          </p:cNvPr>
          <p:cNvSpPr>
            <a:spLocks xmlns:a="http://schemas.openxmlformats.org/drawingml/2006/main" noGrp="1"/>
          </p:cNvSpPr>
          <p:nvPr/>
        </p:nvSpPr>
        <p:spPr>
          <a:xfrm xmlns:a="http://schemas.openxmlformats.org/drawingml/2006/main">
            <a:off x="742950" y="1885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Documents supplied as broad packets</a:t>
            </a:r>
          </a:p>
        </p:txBody>
      </p:sp>
      <p:sp>
        <p:nvSpPr>
          <p:cNvPr id="9" name="">
            <a:extLst xmlns:a="http://schemas.openxmlformats.org/drawingml/2006/main">
              <a:ext uri="{FF2B5EF4-FFF2-40B4-BE49-F238E27FC236}">
                <a16:creationId xmlns:a16="http://schemas.microsoft.com/office/drawing/2014/main" id="{AAF39E1D-3ABC-4E68-8CF9-2EE68F3516AE}"/>
              </a:ext>
            </a:extLst>
          </p:cNvPr>
          <p:cNvSpPr>
            <a:spLocks xmlns:a="http://schemas.openxmlformats.org/drawingml/2006/main" noGrp="1"/>
          </p:cNvSpPr>
          <p:nvPr/>
        </p:nvSpPr>
        <p:spPr>
          <a:xfrm xmlns:a="http://schemas.openxmlformats.org/drawingml/2006/main">
            <a:off x="5429250" y="19621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FD9D6E5-4B4C-414E-8DDF-8746E38BD4A7}"/>
              </a:ext>
            </a:extLst>
          </p:cNvPr>
          <p:cNvSpPr>
            <a:spLocks xmlns:a="http://schemas.openxmlformats.org/drawingml/2006/main" noGrp="1"/>
          </p:cNvSpPr>
          <p:nvPr/>
        </p:nvSpPr>
        <p:spPr>
          <a:xfrm xmlns:a="http://schemas.openxmlformats.org/drawingml/2006/main">
            <a:off x="6667500" y="18859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524"/>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Evidence split into individually identified segments</a:t>
            </a:r>
          </a:p>
        </p:txBody>
      </p:sp>
      <p:sp>
        <p:nvSpPr>
          <p:cNvPr id="11" name="">
            <a:extLst xmlns:a="http://schemas.openxmlformats.org/drawingml/2006/main">
              <a:ext uri="{FF2B5EF4-FFF2-40B4-BE49-F238E27FC236}">
                <a16:creationId xmlns:a16="http://schemas.microsoft.com/office/drawing/2014/main" id="{C6C69A96-0849-4ED4-A73C-EB270FBE8AB4}"/>
              </a:ext>
            </a:extLst>
          </p:cNvPr>
          <p:cNvSpPr>
            <a:spLocks xmlns:a="http://schemas.openxmlformats.org/drawingml/2006/main" noGrp="1"/>
          </p:cNvSpPr>
          <p:nvPr/>
        </p:nvSpPr>
        <p:spPr>
          <a:xfrm xmlns:a="http://schemas.openxmlformats.org/drawingml/2006/main">
            <a:off x="742950" y="24384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BBFDDF-8BE7-4B83-9C33-8967B3BF6105}"/>
              </a:ext>
            </a:extLst>
          </p:cNvPr>
          <p:cNvSpPr>
            <a:spLocks xmlns:a="http://schemas.openxmlformats.org/drawingml/2006/main" noGrp="1"/>
          </p:cNvSpPr>
          <p:nvPr/>
        </p:nvSpPr>
        <p:spPr>
          <a:xfrm xmlns:a="http://schemas.openxmlformats.org/drawingml/2006/main">
            <a:off x="742950" y="25717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Prompt asked for source discipline</a:t>
            </a:r>
          </a:p>
        </p:txBody>
      </p:sp>
      <p:sp>
        <p:nvSpPr>
          <p:cNvPr id="13" name="">
            <a:extLst xmlns:a="http://schemas.openxmlformats.org/drawingml/2006/main">
              <a:ext uri="{FF2B5EF4-FFF2-40B4-BE49-F238E27FC236}">
                <a16:creationId xmlns:a16="http://schemas.microsoft.com/office/drawing/2014/main" id="{4EA18A1F-9B54-488E-82C4-939F6F413BFC}"/>
              </a:ext>
            </a:extLst>
          </p:cNvPr>
          <p:cNvSpPr>
            <a:spLocks xmlns:a="http://schemas.openxmlformats.org/drawingml/2006/main" noGrp="1"/>
          </p:cNvSpPr>
          <p:nvPr/>
        </p:nvSpPr>
        <p:spPr>
          <a:xfrm xmlns:a="http://schemas.openxmlformats.org/drawingml/2006/main">
            <a:off x="5429250" y="26479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DD6A341-8C74-46ED-93E4-3B64471F11D3}"/>
              </a:ext>
            </a:extLst>
          </p:cNvPr>
          <p:cNvSpPr>
            <a:spLocks xmlns:a="http://schemas.openxmlformats.org/drawingml/2006/main" noGrp="1"/>
          </p:cNvSpPr>
          <p:nvPr/>
        </p:nvSpPr>
        <p:spPr>
          <a:xfrm xmlns:a="http://schemas.openxmlformats.org/drawingml/2006/main">
            <a:off x="6667500" y="25717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Dedicated source adjudication before specialists</a:t>
            </a:r>
          </a:p>
        </p:txBody>
      </p:sp>
      <p:sp>
        <p:nvSpPr>
          <p:cNvPr id="15" name="">
            <a:extLst xmlns:a="http://schemas.openxmlformats.org/drawingml/2006/main">
              <a:ext uri="{FF2B5EF4-FFF2-40B4-BE49-F238E27FC236}">
                <a16:creationId xmlns:a16="http://schemas.microsoft.com/office/drawing/2014/main" id="{3133077D-1900-49DD-A834-87381971089C}"/>
              </a:ext>
            </a:extLst>
          </p:cNvPr>
          <p:cNvSpPr>
            <a:spLocks xmlns:a="http://schemas.openxmlformats.org/drawingml/2006/main" noGrp="1"/>
          </p:cNvSpPr>
          <p:nvPr/>
        </p:nvSpPr>
        <p:spPr>
          <a:xfrm xmlns:a="http://schemas.openxmlformats.org/drawingml/2006/main">
            <a:off x="742950" y="31242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D94C341-2409-4290-AF77-627F37341DD8}"/>
              </a:ext>
            </a:extLst>
          </p:cNvPr>
          <p:cNvSpPr>
            <a:spLocks xmlns:a="http://schemas.openxmlformats.org/drawingml/2006/main" noGrp="1"/>
          </p:cNvSpPr>
          <p:nvPr/>
        </p:nvSpPr>
        <p:spPr>
          <a:xfrm xmlns:a="http://schemas.openxmlformats.org/drawingml/2006/main">
            <a:off x="742950" y="32575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Broker mainly removed duplicates</a:t>
            </a:r>
          </a:p>
        </p:txBody>
      </p:sp>
      <p:sp>
        <p:nvSpPr>
          <p:cNvPr id="17" name="">
            <a:extLst xmlns:a="http://schemas.openxmlformats.org/drawingml/2006/main">
              <a:ext uri="{FF2B5EF4-FFF2-40B4-BE49-F238E27FC236}">
                <a16:creationId xmlns:a16="http://schemas.microsoft.com/office/drawing/2014/main" id="{CD4A5FD1-351B-48AC-A1CF-0E807678A5CF}"/>
              </a:ext>
            </a:extLst>
          </p:cNvPr>
          <p:cNvSpPr>
            <a:spLocks xmlns:a="http://schemas.openxmlformats.org/drawingml/2006/main" noGrp="1"/>
          </p:cNvSpPr>
          <p:nvPr/>
        </p:nvSpPr>
        <p:spPr>
          <a:xfrm xmlns:a="http://schemas.openxmlformats.org/drawingml/2006/main">
            <a:off x="5429250" y="33337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889BD89-BD30-4307-8917-D21400B49A40}"/>
              </a:ext>
            </a:extLst>
          </p:cNvPr>
          <p:cNvSpPr>
            <a:spLocks xmlns:a="http://schemas.openxmlformats.org/drawingml/2006/main" noGrp="1"/>
          </p:cNvSpPr>
          <p:nvPr/>
        </p:nvSpPr>
        <p:spPr>
          <a:xfrm xmlns:a="http://schemas.openxmlformats.org/drawingml/2006/main">
            <a:off x="6667500" y="32575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834"/>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Questions need a causal branch and decision unlocked</a:t>
            </a:r>
          </a:p>
        </p:txBody>
      </p:sp>
      <p:sp>
        <p:nvSpPr>
          <p:cNvPr id="19" name="">
            <a:extLst xmlns:a="http://schemas.openxmlformats.org/drawingml/2006/main">
              <a:ext uri="{FF2B5EF4-FFF2-40B4-BE49-F238E27FC236}">
                <a16:creationId xmlns:a16="http://schemas.microsoft.com/office/drawing/2014/main" id="{6DF1C7BB-BE61-46D3-B09E-1668A6C7525D}"/>
              </a:ext>
            </a:extLst>
          </p:cNvPr>
          <p:cNvSpPr>
            <a:spLocks xmlns:a="http://schemas.openxmlformats.org/drawingml/2006/main" noGrp="1"/>
          </p:cNvSpPr>
          <p:nvPr/>
        </p:nvSpPr>
        <p:spPr>
          <a:xfrm xmlns:a="http://schemas.openxmlformats.org/drawingml/2006/main">
            <a:off x="742950" y="38100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31BADF7-35A8-499B-A7EC-240CA27D7B5C}"/>
              </a:ext>
            </a:extLst>
          </p:cNvPr>
          <p:cNvSpPr>
            <a:spLocks xmlns:a="http://schemas.openxmlformats.org/drawingml/2006/main" noGrp="1"/>
          </p:cNvSpPr>
          <p:nvPr/>
        </p:nvSpPr>
        <p:spPr>
          <a:xfrm xmlns:a="http://schemas.openxmlformats.org/drawingml/2006/main">
            <a:off x="742950" y="39433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Causal links could remain weak</a:t>
            </a:r>
          </a:p>
        </p:txBody>
      </p:sp>
      <p:sp>
        <p:nvSpPr>
          <p:cNvPr id="21" name="">
            <a:extLst xmlns:a="http://schemas.openxmlformats.org/drawingml/2006/main">
              <a:ext uri="{FF2B5EF4-FFF2-40B4-BE49-F238E27FC236}">
                <a16:creationId xmlns:a16="http://schemas.microsoft.com/office/drawing/2014/main" id="{E9DDA3F2-E3A2-45FB-A29A-F53CCB3C8C7C}"/>
              </a:ext>
            </a:extLst>
          </p:cNvPr>
          <p:cNvSpPr>
            <a:spLocks xmlns:a="http://schemas.openxmlformats.org/drawingml/2006/main" noGrp="1"/>
          </p:cNvSpPr>
          <p:nvPr/>
        </p:nvSpPr>
        <p:spPr>
          <a:xfrm xmlns:a="http://schemas.openxmlformats.org/drawingml/2006/main">
            <a:off x="5429250" y="40195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A95C800-62A9-4790-882F-5D76293BDF05}"/>
              </a:ext>
            </a:extLst>
          </p:cNvPr>
          <p:cNvSpPr>
            <a:spLocks xmlns:a="http://schemas.openxmlformats.org/drawingml/2006/main" noGrp="1"/>
          </p:cNvSpPr>
          <p:nvPr/>
        </p:nvSpPr>
        <p:spPr>
          <a:xfrm xmlns:a="http://schemas.openxmlformats.org/drawingml/2006/main">
            <a:off x="6667500" y="39433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211"/>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Every link needs support, a counterfactual, an alternative, and a gap</a:t>
            </a:r>
          </a:p>
        </p:txBody>
      </p:sp>
      <p:sp>
        <p:nvSpPr>
          <p:cNvPr id="23" name="">
            <a:extLst xmlns:a="http://schemas.openxmlformats.org/drawingml/2006/main">
              <a:ext uri="{FF2B5EF4-FFF2-40B4-BE49-F238E27FC236}">
                <a16:creationId xmlns:a16="http://schemas.microsoft.com/office/drawing/2014/main" id="{8B4E1D27-25B4-4E2F-9808-F1C6CE1902BC}"/>
              </a:ext>
            </a:extLst>
          </p:cNvPr>
          <p:cNvSpPr>
            <a:spLocks xmlns:a="http://schemas.openxmlformats.org/drawingml/2006/main" noGrp="1"/>
          </p:cNvSpPr>
          <p:nvPr/>
        </p:nvSpPr>
        <p:spPr>
          <a:xfrm xmlns:a="http://schemas.openxmlformats.org/drawingml/2006/main">
            <a:off x="742950" y="44958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ECC43A4-BE69-4CCC-896A-C897D1DA8CD6}"/>
              </a:ext>
            </a:extLst>
          </p:cNvPr>
          <p:cNvSpPr>
            <a:spLocks xmlns:a="http://schemas.openxmlformats.org/drawingml/2006/main" noGrp="1"/>
          </p:cNvSpPr>
          <p:nvPr/>
        </p:nvSpPr>
        <p:spPr>
          <a:xfrm xmlns:a="http://schemas.openxmlformats.org/drawingml/2006/main">
            <a:off x="742950" y="46291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Actions could appear early</a:t>
            </a:r>
          </a:p>
        </p:txBody>
      </p:sp>
      <p:sp>
        <p:nvSpPr>
          <p:cNvPr id="25" name="">
            <a:extLst xmlns:a="http://schemas.openxmlformats.org/drawingml/2006/main">
              <a:ext uri="{FF2B5EF4-FFF2-40B4-BE49-F238E27FC236}">
                <a16:creationId xmlns:a16="http://schemas.microsoft.com/office/drawing/2014/main" id="{A74AEC84-60EF-46E7-929C-7DDA36AC1B33}"/>
              </a:ext>
            </a:extLst>
          </p:cNvPr>
          <p:cNvSpPr>
            <a:spLocks xmlns:a="http://schemas.openxmlformats.org/drawingml/2006/main" noGrp="1"/>
          </p:cNvSpPr>
          <p:nvPr/>
        </p:nvSpPr>
        <p:spPr>
          <a:xfrm xmlns:a="http://schemas.openxmlformats.org/drawingml/2006/main">
            <a:off x="5429250" y="47053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5B66BA0-0C92-4929-A256-DEFDAE0FE8E5}"/>
              </a:ext>
            </a:extLst>
          </p:cNvPr>
          <p:cNvSpPr>
            <a:spLocks xmlns:a="http://schemas.openxmlformats.org/drawingml/2006/main" noGrp="1"/>
          </p:cNvSpPr>
          <p:nvPr/>
        </p:nvSpPr>
        <p:spPr>
          <a:xfrm xmlns:a="http://schemas.openxmlformats.org/drawingml/2006/main">
            <a:off x="6667500" y="46291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Actions require a verified causal target</a:t>
            </a:r>
          </a:p>
        </p:txBody>
      </p:sp>
      <p:sp>
        <p:nvSpPr>
          <p:cNvPr id="27" name="">
            <a:extLst xmlns:a="http://schemas.openxmlformats.org/drawingml/2006/main">
              <a:ext uri="{FF2B5EF4-FFF2-40B4-BE49-F238E27FC236}">
                <a16:creationId xmlns:a16="http://schemas.microsoft.com/office/drawing/2014/main" id="{67F42ECB-5F54-4ABF-A810-229FF4AF5B58}"/>
              </a:ext>
            </a:extLst>
          </p:cNvPr>
          <p:cNvSpPr>
            <a:spLocks xmlns:a="http://schemas.openxmlformats.org/drawingml/2006/main" noGrp="1"/>
          </p:cNvSpPr>
          <p:nvPr/>
        </p:nvSpPr>
        <p:spPr>
          <a:xfrm xmlns:a="http://schemas.openxmlformats.org/drawingml/2006/main">
            <a:off x="742950" y="51816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8E04952-F0E8-4C88-9CE2-6DA4B2619EAA}"/>
              </a:ext>
            </a:extLst>
          </p:cNvPr>
          <p:cNvSpPr>
            <a:spLocks xmlns:a="http://schemas.openxmlformats.org/drawingml/2006/main" noGrp="1"/>
          </p:cNvSpPr>
          <p:nvPr/>
        </p:nvSpPr>
        <p:spPr>
          <a:xfrm xmlns:a="http://schemas.openxmlformats.org/drawingml/2006/main">
            <a:off x="742950" y="5314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Final output carried most audit detail</a:t>
            </a:r>
          </a:p>
        </p:txBody>
      </p:sp>
      <p:sp>
        <p:nvSpPr>
          <p:cNvPr id="29" name="">
            <a:extLst xmlns:a="http://schemas.openxmlformats.org/drawingml/2006/main">
              <a:ext uri="{FF2B5EF4-FFF2-40B4-BE49-F238E27FC236}">
                <a16:creationId xmlns:a16="http://schemas.microsoft.com/office/drawing/2014/main" id="{3C28FB4A-8785-4ED0-BAC8-12205E7D784F}"/>
              </a:ext>
            </a:extLst>
          </p:cNvPr>
          <p:cNvSpPr>
            <a:spLocks xmlns:a="http://schemas.openxmlformats.org/drawingml/2006/main" noGrp="1"/>
          </p:cNvSpPr>
          <p:nvPr/>
        </p:nvSpPr>
        <p:spPr>
          <a:xfrm xmlns:a="http://schemas.openxmlformats.org/drawingml/2006/main">
            <a:off x="5429250" y="53911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B805EF9-236D-4CAF-B5DE-8EDEC28C7CF7}"/>
              </a:ext>
            </a:extLst>
          </p:cNvPr>
          <p:cNvSpPr>
            <a:spLocks xmlns:a="http://schemas.openxmlformats.org/drawingml/2006/main" noGrp="1"/>
          </p:cNvSpPr>
          <p:nvPr/>
        </p:nvSpPr>
        <p:spPr>
          <a:xfrm xmlns:a="http://schemas.openxmlformats.org/drawingml/2006/main">
            <a:off x="6667500" y="53149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Every stage persists a visible checkpoint</a:t>
            </a:r>
          </a:p>
        </p:txBody>
      </p:sp>
      <p:sp>
        <p:nvSpPr>
          <p:cNvPr id="31" name="">
            <a:extLst xmlns:a="http://schemas.openxmlformats.org/drawingml/2006/main">
              <a:ext uri="{FF2B5EF4-FFF2-40B4-BE49-F238E27FC236}">
                <a16:creationId xmlns:a16="http://schemas.microsoft.com/office/drawing/2014/main" id="{D4FA7504-5805-427F-8145-E3858740D0C1}"/>
              </a:ext>
            </a:extLst>
          </p:cNvPr>
          <p:cNvSpPr>
            <a:spLocks xmlns:a="http://schemas.openxmlformats.org/drawingml/2006/main" noGrp="1"/>
          </p:cNvSpPr>
          <p:nvPr/>
        </p:nvSpPr>
        <p:spPr>
          <a:xfrm xmlns:a="http://schemas.openxmlformats.org/drawingml/2006/main">
            <a:off x="742950" y="58674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Tree>
    <p:extLst>
      <p:ext uri="{BB962C8B-B14F-4D97-AF65-F5344CB8AC3E}">
        <p14:creationId xmlns:p14="http://schemas.microsoft.com/office/powerpoint/2010/main" val="1190162048"/>
      </p:ext>
    </p:extLst>
  </p:cSld>
</p:sld>
</file>

<file path=ppt/slides/slide11.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FF09B98-DAAF-4537-B87E-6E1A8C4ACF33}"/>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4 qwen3.5 run</a:t>
            </a:r>
          </a:p>
        </p:txBody>
      </p:sp>
      <p:sp>
        <p:nvSpPr>
          <p:cNvPr id="2" name="">
            <a:extLst xmlns:a="http://schemas.openxmlformats.org/drawingml/2006/main">
              <a:ext uri="{FF2B5EF4-FFF2-40B4-BE49-F238E27FC236}">
                <a16:creationId xmlns:a16="http://schemas.microsoft.com/office/drawing/2014/main" id="{1C630D80-AF5B-4B3E-A29D-E9859A88522E}"/>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scored run completed every reasoning stage and blocked corrective actions at the final gate.</a:t>
            </a:r>
          </a:p>
        </p:txBody>
      </p:sp>
      <p:sp>
        <p:nvSpPr>
          <p:cNvPr id="3" name="">
            <a:extLst xmlns:a="http://schemas.openxmlformats.org/drawingml/2006/main">
              <a:ext uri="{FF2B5EF4-FFF2-40B4-BE49-F238E27FC236}">
                <a16:creationId xmlns:a16="http://schemas.microsoft.com/office/drawing/2014/main" id="{C192FE45-40E4-4353-BC05-C5227917D4A5}"/>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CC3D955-FF22-4FD1-A7C7-48878CD9D4AF}"/>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4 stage checkpoints for incident e1325fa4-6198-4d26-a5eb-ae8d4a930ef8</a:t>
            </a:r>
          </a:p>
        </p:txBody>
      </p:sp>
      <p:sp>
        <p:nvSpPr>
          <p:cNvPr id="5" name="">
            <a:extLst xmlns:a="http://schemas.openxmlformats.org/drawingml/2006/main">
              <a:ext uri="{FF2B5EF4-FFF2-40B4-BE49-F238E27FC236}">
                <a16:creationId xmlns:a16="http://schemas.microsoft.com/office/drawing/2014/main" id="{BEDFA542-C2CA-44B6-8D5F-802EE4F573EB}"/>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03D40C32-FC7E-4999-8AD8-EEC73FE22719}"/>
              </a:ext>
            </a:extLst>
          </p:cNvPr>
          <p:cNvSpPr>
            <a:spLocks xmlns:a="http://schemas.openxmlformats.org/drawingml/2006/main" noGrp="1"/>
          </p:cNvSpPr>
          <p:nvPr/>
        </p:nvSpPr>
        <p:spPr>
          <a:xfrm xmlns:a="http://schemas.openxmlformats.org/drawingml/2006/main">
            <a:off x="6667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Understand</a:t>
            </a:r>
          </a:p>
        </p:txBody>
      </p:sp>
      <p:sp>
        <p:nvSpPr>
          <p:cNvPr id="7" name="">
            <a:extLst xmlns:a="http://schemas.openxmlformats.org/drawingml/2006/main">
              <a:ext uri="{FF2B5EF4-FFF2-40B4-BE49-F238E27FC236}">
                <a16:creationId xmlns:a16="http://schemas.microsoft.com/office/drawing/2014/main" id="{670F72C1-0EB2-4338-8CE3-A48DCC387769}"/>
              </a:ext>
            </a:extLst>
          </p:cNvPr>
          <p:cNvSpPr>
            <a:spLocks xmlns:a="http://schemas.openxmlformats.org/drawingml/2006/main" noGrp="1"/>
          </p:cNvSpPr>
          <p:nvPr/>
        </p:nvSpPr>
        <p:spPr>
          <a:xfrm xmlns:a="http://schemas.openxmlformats.org/drawingml/2006/main">
            <a:off x="23812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Structure</a:t>
            </a:r>
          </a:p>
        </p:txBody>
      </p:sp>
      <p:sp>
        <p:nvSpPr>
          <p:cNvPr id="8" name="">
            <a:extLst xmlns:a="http://schemas.openxmlformats.org/drawingml/2006/main">
              <a:ext uri="{FF2B5EF4-FFF2-40B4-BE49-F238E27FC236}">
                <a16:creationId xmlns:a16="http://schemas.microsoft.com/office/drawing/2014/main" id="{E9BC6834-44F4-4B82-A8E2-0C2366816347}"/>
              </a:ext>
            </a:extLst>
          </p:cNvPr>
          <p:cNvSpPr>
            <a:spLocks xmlns:a="http://schemas.openxmlformats.org/drawingml/2006/main" noGrp="1"/>
          </p:cNvSpPr>
          <p:nvPr/>
        </p:nvSpPr>
        <p:spPr>
          <a:xfrm xmlns:a="http://schemas.openxmlformats.org/drawingml/2006/main">
            <a:off x="40957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Tag</a:t>
            </a:r>
          </a:p>
        </p:txBody>
      </p:sp>
      <p:sp>
        <p:nvSpPr>
          <p:cNvPr id="9" name="">
            <a:extLst xmlns:a="http://schemas.openxmlformats.org/drawingml/2006/main">
              <a:ext uri="{FF2B5EF4-FFF2-40B4-BE49-F238E27FC236}">
                <a16:creationId xmlns:a16="http://schemas.microsoft.com/office/drawing/2014/main" id="{3AA0F44C-6CB4-41D7-974A-383339D5CE37}"/>
              </a:ext>
            </a:extLst>
          </p:cNvPr>
          <p:cNvSpPr>
            <a:spLocks xmlns:a="http://schemas.openxmlformats.org/drawingml/2006/main" noGrp="1"/>
          </p:cNvSpPr>
          <p:nvPr/>
        </p:nvSpPr>
        <p:spPr>
          <a:xfrm xmlns:a="http://schemas.openxmlformats.org/drawingml/2006/main">
            <a:off x="5810250" y="1752600"/>
            <a:ext cx="1352550" cy="685800"/>
          </a:xfrm>
          <a:prstGeom xmlns:a="http://schemas.openxmlformats.org/drawingml/2006/main" prst="roundRect">
            <a:avLst>
              <a:gd name="adj" fmla="val 11111"/>
            </a:avLst>
          </a:prstGeom>
          <a:solidFill xmlns:a="http://schemas.openxmlformats.org/drawingml/2006/main">
            <a:srgbClr val="F7E5BE"/>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Adjudicate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sources</a:t>
            </a:r>
          </a:p>
        </p:txBody>
      </p:sp>
      <p:sp>
        <p:nvSpPr>
          <p:cNvPr id="10" name="">
            <a:extLst xmlns:a="http://schemas.openxmlformats.org/drawingml/2006/main">
              <a:ext uri="{FF2B5EF4-FFF2-40B4-BE49-F238E27FC236}">
                <a16:creationId xmlns:a16="http://schemas.microsoft.com/office/drawing/2014/main" id="{982D2462-2CDE-42D0-AF84-2C56F6133307}"/>
              </a:ext>
            </a:extLst>
          </p:cNvPr>
          <p:cNvSpPr>
            <a:spLocks xmlns:a="http://schemas.openxmlformats.org/drawingml/2006/main" noGrp="1"/>
          </p:cNvSpPr>
          <p:nvPr/>
        </p:nvSpPr>
        <p:spPr>
          <a:xfrm xmlns:a="http://schemas.openxmlformats.org/drawingml/2006/main">
            <a:off x="75247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Five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specialists</a:t>
            </a:r>
          </a:p>
        </p:txBody>
      </p:sp>
      <p:sp>
        <p:nvSpPr>
          <p:cNvPr id="11" name="">
            <a:extLst xmlns:a="http://schemas.openxmlformats.org/drawingml/2006/main">
              <a:ext uri="{FF2B5EF4-FFF2-40B4-BE49-F238E27FC236}">
                <a16:creationId xmlns:a16="http://schemas.microsoft.com/office/drawing/2014/main" id="{B8A49331-8FBB-4B61-B907-0B84847CC235}"/>
              </a:ext>
            </a:extLst>
          </p:cNvPr>
          <p:cNvSpPr>
            <a:spLocks xmlns:a="http://schemas.openxmlformats.org/drawingml/2006/main" noGrp="1"/>
          </p:cNvSpPr>
          <p:nvPr/>
        </p:nvSpPr>
        <p:spPr>
          <a:xfrm xmlns:a="http://schemas.openxmlformats.org/drawingml/2006/main">
            <a:off x="92392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Broker</a:t>
            </a:r>
          </a:p>
        </p:txBody>
      </p:sp>
      <p:cxnSp>
        <p:nvCxnSpPr>
          <p:cNvPr id="46" name=""/>
          <p:cNvCxnSpPr>
            <a:stCxn xmlns:a="http://schemas.openxmlformats.org/drawingml/2006/main" id="6" idx="3"/>
            <a:endCxn xmlns:a="http://schemas.openxmlformats.org/drawingml/2006/main" id="7" idx="1"/>
          </p:cNvCxnSpPr>
          <p:nvPr/>
        </p:nvCxnSpPr>
        <p:spPr>
          <a:xfrm xmlns:a="http://schemas.openxmlformats.org/drawingml/2006/main">
            <a:off x="2019300" y="2095500"/>
            <a:ext cx="361950" cy="0"/>
          </a:xfrm>
          <a:prstGeom xmlns:a="http://schemas.openxmlformats.org/drawingml/2006/main" prst="straightConnector1">
            <a:avLst/>
          </a:prstGeom>
          <a:ln xmlns:a="http://schemas.openxmlformats.org/drawingml/2006/main" w="19050">
            <a:solidFill>
              <a:srgbClr val="168B85"/>
            </a:solidFill>
            <a:prstDash val="solid"/>
            <a:headEnd type="arrow" w="med" len="med"/>
          </a:ln>
        </p:spPr>
      </p:cxnSp>
      <p:cxnSp>
        <p:nvCxnSpPr>
          <p:cNvPr id="47" name=""/>
          <p:cNvCxnSpPr>
            <a:stCxn xmlns:a="http://schemas.openxmlformats.org/drawingml/2006/main" id="7" idx="3"/>
            <a:endCxn xmlns:a="http://schemas.openxmlformats.org/drawingml/2006/main" id="8" idx="1"/>
          </p:cNvCxnSpPr>
          <p:nvPr/>
        </p:nvCxnSpPr>
        <p:spPr>
          <a:xfrm xmlns:a="http://schemas.openxmlformats.org/drawingml/2006/main">
            <a:off x="3733800" y="2095500"/>
            <a:ext cx="361950" cy="0"/>
          </a:xfrm>
          <a:prstGeom xmlns:a="http://schemas.openxmlformats.org/drawingml/2006/main" prst="straightConnector1">
            <a:avLst/>
          </a:prstGeom>
          <a:ln xmlns:a="http://schemas.openxmlformats.org/drawingml/2006/main" w="19050">
            <a:solidFill>
              <a:srgbClr val="168B85"/>
            </a:solidFill>
            <a:prstDash val="solid"/>
            <a:headEnd type="arrow" w="med" len="med"/>
          </a:ln>
        </p:spPr>
      </p:cxnSp>
      <p:cxnSp>
        <p:nvCxnSpPr>
          <p:cNvPr id="48" name=""/>
          <p:cNvCxnSpPr>
            <a:stCxn xmlns:a="http://schemas.openxmlformats.org/drawingml/2006/main" id="8" idx="3"/>
            <a:endCxn xmlns:a="http://schemas.openxmlformats.org/drawingml/2006/main" id="9" idx="1"/>
          </p:cNvCxnSpPr>
          <p:nvPr/>
        </p:nvCxnSpPr>
        <p:spPr>
          <a:xfrm xmlns:a="http://schemas.openxmlformats.org/drawingml/2006/main">
            <a:off x="5448300" y="2095500"/>
            <a:ext cx="361950" cy="0"/>
          </a:xfrm>
          <a:prstGeom xmlns:a="http://schemas.openxmlformats.org/drawingml/2006/main" prst="straightConnector1">
            <a:avLst/>
          </a:prstGeom>
          <a:ln xmlns:a="http://schemas.openxmlformats.org/drawingml/2006/main" w="19050">
            <a:solidFill>
              <a:srgbClr val="168B85"/>
            </a:solidFill>
            <a:prstDash val="solid"/>
            <a:headEnd type="arrow" w="med" len="med"/>
          </a:ln>
        </p:spPr>
      </p:cxnSp>
      <p:cxnSp>
        <p:nvCxnSpPr>
          <p:cNvPr id="49" name=""/>
          <p:cNvCxnSpPr>
            <a:stCxn xmlns:a="http://schemas.openxmlformats.org/drawingml/2006/main" id="9" idx="3"/>
            <a:endCxn xmlns:a="http://schemas.openxmlformats.org/drawingml/2006/main" id="10" idx="1"/>
          </p:cNvCxnSpPr>
          <p:nvPr/>
        </p:nvCxnSpPr>
        <p:spPr>
          <a:xfrm xmlns:a="http://schemas.openxmlformats.org/drawingml/2006/main">
            <a:off x="7162800" y="2095500"/>
            <a:ext cx="361950" cy="0"/>
          </a:xfrm>
          <a:prstGeom xmlns:a="http://schemas.openxmlformats.org/drawingml/2006/main" prst="straightConnector1">
            <a:avLst/>
          </a:prstGeom>
          <a:ln xmlns:a="http://schemas.openxmlformats.org/drawingml/2006/main" w="19050">
            <a:solidFill>
              <a:srgbClr val="168B85"/>
            </a:solidFill>
            <a:prstDash val="solid"/>
            <a:headEnd type="arrow" w="med" len="med"/>
          </a:ln>
        </p:spPr>
      </p:cxnSp>
      <p:cxnSp>
        <p:nvCxnSpPr>
          <p:cNvPr id="50" name=""/>
          <p:cNvCxnSpPr>
            <a:stCxn xmlns:a="http://schemas.openxmlformats.org/drawingml/2006/main" id="10" idx="3"/>
            <a:endCxn xmlns:a="http://schemas.openxmlformats.org/drawingml/2006/main" id="11" idx="1"/>
          </p:cNvCxnSpPr>
          <p:nvPr/>
        </p:nvCxnSpPr>
        <p:spPr>
          <a:xfrm xmlns:a="http://schemas.openxmlformats.org/drawingml/2006/main">
            <a:off x="8877300" y="2095500"/>
            <a:ext cx="361950" cy="0"/>
          </a:xfrm>
          <a:prstGeom xmlns:a="http://schemas.openxmlformats.org/drawingml/2006/main" prst="straightConnector1">
            <a:avLst/>
          </a:prstGeom>
          <a:ln xmlns:a="http://schemas.openxmlformats.org/drawingml/2006/main" w="19050">
            <a:solidFill>
              <a:srgbClr val="168B85"/>
            </a:solidFill>
            <a:prstDash val="solid"/>
            <a:headEnd type="arrow" w="med" len="med"/>
          </a:ln>
        </p:spPr>
      </p:cxnSp>
      <p:sp>
        <p:nvSpPr>
          <p:cNvPr id="17" name="">
            <a:extLst xmlns:a="http://schemas.openxmlformats.org/drawingml/2006/main">
              <a:ext uri="{FF2B5EF4-FFF2-40B4-BE49-F238E27FC236}">
                <a16:creationId xmlns:a16="http://schemas.microsoft.com/office/drawing/2014/main" id="{A5163F81-5E5A-4EFE-86E2-6AEECC141A45}"/>
              </a:ext>
            </a:extLst>
          </p:cNvPr>
          <p:cNvSpPr>
            <a:spLocks xmlns:a="http://schemas.openxmlformats.org/drawingml/2006/main" noGrp="1"/>
          </p:cNvSpPr>
          <p:nvPr/>
        </p:nvSpPr>
        <p:spPr>
          <a:xfrm xmlns:a="http://schemas.openxmlformats.org/drawingml/2006/main">
            <a:off x="9239250" y="3714750"/>
            <a:ext cx="1352550" cy="685800"/>
          </a:xfrm>
          <a:prstGeom xmlns:a="http://schemas.openxmlformats.org/drawingml/2006/main" prst="roundRect">
            <a:avLst>
              <a:gd name="adj" fmla="val 11111"/>
            </a:avLst>
          </a:prstGeom>
          <a:solidFill xmlns:a="http://schemas.openxmlformats.org/drawingml/2006/main">
            <a:srgbClr val="F7E5BE"/>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11 answer</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fetches</a:t>
            </a:r>
          </a:p>
        </p:txBody>
      </p:sp>
      <p:sp>
        <p:nvSpPr>
          <p:cNvPr id="18" name="">
            <a:extLst xmlns:a="http://schemas.openxmlformats.org/drawingml/2006/main">
              <a:ext uri="{FF2B5EF4-FFF2-40B4-BE49-F238E27FC236}">
                <a16:creationId xmlns:a16="http://schemas.microsoft.com/office/drawing/2014/main" id="{A13EBC29-3A20-474D-B420-74BC120667E4}"/>
              </a:ext>
            </a:extLst>
          </p:cNvPr>
          <p:cNvSpPr>
            <a:spLocks xmlns:a="http://schemas.openxmlformats.org/drawingml/2006/main" noGrp="1"/>
          </p:cNvSpPr>
          <p:nvPr/>
        </p:nvSpPr>
        <p:spPr>
          <a:xfrm xmlns:a="http://schemas.openxmlformats.org/drawingml/2006/main">
            <a:off x="7524750" y="3714750"/>
            <a:ext cx="13525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54 evidence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claims</a:t>
            </a:r>
          </a:p>
        </p:txBody>
      </p:sp>
      <p:sp>
        <p:nvSpPr>
          <p:cNvPr id="19" name="">
            <a:extLst xmlns:a="http://schemas.openxmlformats.org/drawingml/2006/main">
              <a:ext uri="{FF2B5EF4-FFF2-40B4-BE49-F238E27FC236}">
                <a16:creationId xmlns:a16="http://schemas.microsoft.com/office/drawing/2014/main" id="{2C6E16F4-CB60-4BA5-9194-7AB223F6A284}"/>
              </a:ext>
            </a:extLst>
          </p:cNvPr>
          <p:cNvSpPr>
            <a:spLocks xmlns:a="http://schemas.openxmlformats.org/drawingml/2006/main" noGrp="1"/>
          </p:cNvSpPr>
          <p:nvPr/>
        </p:nvSpPr>
        <p:spPr>
          <a:xfrm xmlns:a="http://schemas.openxmlformats.org/drawingml/2006/main">
            <a:off x="5810250" y="3714750"/>
            <a:ext cx="13525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13 causal</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nodes</a:t>
            </a:r>
          </a:p>
        </p:txBody>
      </p:sp>
      <p:sp>
        <p:nvSpPr>
          <p:cNvPr id="20" name="">
            <a:extLst xmlns:a="http://schemas.openxmlformats.org/drawingml/2006/main">
              <a:ext uri="{FF2B5EF4-FFF2-40B4-BE49-F238E27FC236}">
                <a16:creationId xmlns:a16="http://schemas.microsoft.com/office/drawing/2014/main" id="{FF67306E-1CCA-4283-A60B-1254FB17BE52}"/>
              </a:ext>
            </a:extLst>
          </p:cNvPr>
          <p:cNvSpPr>
            <a:spLocks xmlns:a="http://schemas.openxmlformats.org/drawingml/2006/main" noGrp="1"/>
          </p:cNvSpPr>
          <p:nvPr/>
        </p:nvSpPr>
        <p:spPr>
          <a:xfrm xmlns:a="http://schemas.openxmlformats.org/drawingml/2006/main">
            <a:off x="4095750" y="3714750"/>
            <a:ext cx="13525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7 causal</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links</a:t>
            </a:r>
          </a:p>
        </p:txBody>
      </p:sp>
      <p:sp>
        <p:nvSpPr>
          <p:cNvPr id="21" name="">
            <a:extLst xmlns:a="http://schemas.openxmlformats.org/drawingml/2006/main">
              <a:ext uri="{FF2B5EF4-FFF2-40B4-BE49-F238E27FC236}">
                <a16:creationId xmlns:a16="http://schemas.microsoft.com/office/drawing/2014/main" id="{AB95E77D-AB25-49D6-960B-AB0F6159B3B1}"/>
              </a:ext>
            </a:extLst>
          </p:cNvPr>
          <p:cNvSpPr>
            <a:spLocks xmlns:a="http://schemas.openxmlformats.org/drawingml/2006/main" noGrp="1"/>
          </p:cNvSpPr>
          <p:nvPr/>
        </p:nvSpPr>
        <p:spPr>
          <a:xfrm xmlns:a="http://schemas.openxmlformats.org/drawingml/2006/main">
            <a:off x="2381250" y="3714750"/>
            <a:ext cx="13525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Verify</a:t>
            </a:r>
          </a:p>
        </p:txBody>
      </p:sp>
      <p:sp>
        <p:nvSpPr>
          <p:cNvPr id="22" name="">
            <a:extLst xmlns:a="http://schemas.openxmlformats.org/drawingml/2006/main">
              <a:ext uri="{FF2B5EF4-FFF2-40B4-BE49-F238E27FC236}">
                <a16:creationId xmlns:a16="http://schemas.microsoft.com/office/drawing/2014/main" id="{343E9255-AF12-416C-9DA5-18C3A94331D0}"/>
              </a:ext>
            </a:extLst>
          </p:cNvPr>
          <p:cNvSpPr>
            <a:spLocks xmlns:a="http://schemas.openxmlformats.org/drawingml/2006/main" noGrp="1"/>
          </p:cNvSpPr>
          <p:nvPr/>
        </p:nvSpPr>
        <p:spPr>
          <a:xfrm xmlns:a="http://schemas.openxmlformats.org/drawingml/2006/main">
            <a:off x="666750" y="3714750"/>
            <a:ext cx="1352550" cy="685800"/>
          </a:xfrm>
          <a:prstGeom xmlns:a="http://schemas.openxmlformats.org/drawingml/2006/main" prst="roundRect">
            <a:avLst>
              <a:gd name="adj" fmla="val 11111"/>
            </a:avLst>
          </a:prstGeom>
          <a:solidFill xmlns:a="http://schemas.openxmlformats.org/drawingml/2006/main">
            <a:srgbClr val="F3DAD7"/>
          </a:solidFill>
          <a:ln xmlns:a="http://schemas.openxmlformats.org/drawingml/2006/main" w="9525">
            <a:solidFill>
              <a:srgbClr val="C9564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Actions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blocked</a:t>
            </a:r>
          </a:p>
        </p:txBody>
      </p:sp>
      <p:cxnSp>
        <p:nvCxnSpPr>
          <p:cNvPr id="57" name=""/>
          <p:cNvCxnSpPr>
            <a:stCxn xmlns:a="http://schemas.openxmlformats.org/drawingml/2006/main" id="11" idx="2"/>
            <a:endCxn xmlns:a="http://schemas.openxmlformats.org/drawingml/2006/main" id="17" idx="0"/>
          </p:cNvCxnSpPr>
          <p:nvPr/>
        </p:nvCxnSpPr>
        <p:spPr>
          <a:xfrm xmlns:a="http://schemas.openxmlformats.org/drawingml/2006/main">
            <a:off x="9915525" y="2438400"/>
            <a:ext cx="0" cy="1276350"/>
          </a:xfrm>
          <a:prstGeom xmlns:a="http://schemas.openxmlformats.org/drawingml/2006/main" prst="straightConnector1">
            <a:avLst/>
          </a:prstGeom>
          <a:ln xmlns:a="http://schemas.openxmlformats.org/drawingml/2006/main" w="19050">
            <a:solidFill>
              <a:srgbClr val="168B85"/>
            </a:solidFill>
            <a:prstDash val="solid"/>
            <a:headEnd type="arrow" w="med" len="med"/>
          </a:ln>
        </p:spPr>
      </p:cxnSp>
      <p:cxnSp>
        <p:nvCxnSpPr>
          <p:cNvPr id="58" name=""/>
          <p:cNvCxnSpPr>
            <a:stCxn xmlns:a="http://schemas.openxmlformats.org/drawingml/2006/main" id="17" idx="1"/>
            <a:endCxn xmlns:a="http://schemas.openxmlformats.org/drawingml/2006/main" id="18" idx="3"/>
          </p:cNvCxnSpPr>
          <p:nvPr/>
        </p:nvCxnSpPr>
        <p:spPr>
          <a:xfrm xmlns:a="http://schemas.openxmlformats.org/drawingml/2006/main" flipH="1">
            <a:off x="8877300" y="4057650"/>
            <a:ext cx="361950" cy="0"/>
          </a:xfrm>
          <a:prstGeom xmlns:a="http://schemas.openxmlformats.org/drawingml/2006/main" prst="straightConnector1">
            <a:avLst/>
          </a:prstGeom>
          <a:ln xmlns:a="http://schemas.openxmlformats.org/drawingml/2006/main" w="19050">
            <a:solidFill>
              <a:srgbClr val="425466"/>
            </a:solidFill>
            <a:prstDash val="solid"/>
            <a:headEnd type="arrow" w="med" len="med"/>
          </a:ln>
        </p:spPr>
      </p:cxnSp>
      <p:cxnSp>
        <p:nvCxnSpPr>
          <p:cNvPr id="59" name=""/>
          <p:cNvCxnSpPr>
            <a:stCxn xmlns:a="http://schemas.openxmlformats.org/drawingml/2006/main" id="18" idx="1"/>
            <a:endCxn xmlns:a="http://schemas.openxmlformats.org/drawingml/2006/main" id="19" idx="3"/>
          </p:cNvCxnSpPr>
          <p:nvPr/>
        </p:nvCxnSpPr>
        <p:spPr>
          <a:xfrm xmlns:a="http://schemas.openxmlformats.org/drawingml/2006/main" flipH="1">
            <a:off x="7162800" y="4057650"/>
            <a:ext cx="361950" cy="0"/>
          </a:xfrm>
          <a:prstGeom xmlns:a="http://schemas.openxmlformats.org/drawingml/2006/main" prst="straightConnector1">
            <a:avLst/>
          </a:prstGeom>
          <a:ln xmlns:a="http://schemas.openxmlformats.org/drawingml/2006/main" w="19050">
            <a:solidFill>
              <a:srgbClr val="425466"/>
            </a:solidFill>
            <a:prstDash val="solid"/>
            <a:headEnd type="arrow" w="med" len="med"/>
          </a:ln>
        </p:spPr>
      </p:cxnSp>
      <p:cxnSp>
        <p:nvCxnSpPr>
          <p:cNvPr id="60" name=""/>
          <p:cNvCxnSpPr>
            <a:stCxn xmlns:a="http://schemas.openxmlformats.org/drawingml/2006/main" id="19" idx="1"/>
            <a:endCxn xmlns:a="http://schemas.openxmlformats.org/drawingml/2006/main" id="20" idx="3"/>
          </p:cNvCxnSpPr>
          <p:nvPr/>
        </p:nvCxnSpPr>
        <p:spPr>
          <a:xfrm xmlns:a="http://schemas.openxmlformats.org/drawingml/2006/main" flipH="1">
            <a:off x="5448300" y="4057650"/>
            <a:ext cx="361950" cy="0"/>
          </a:xfrm>
          <a:prstGeom xmlns:a="http://schemas.openxmlformats.org/drawingml/2006/main" prst="straightConnector1">
            <a:avLst/>
          </a:prstGeom>
          <a:ln xmlns:a="http://schemas.openxmlformats.org/drawingml/2006/main" w="19050">
            <a:solidFill>
              <a:srgbClr val="425466"/>
            </a:solidFill>
            <a:prstDash val="solid"/>
            <a:headEnd type="arrow" w="med" len="med"/>
          </a:ln>
        </p:spPr>
      </p:cxnSp>
      <p:cxnSp>
        <p:nvCxnSpPr>
          <p:cNvPr id="61" name=""/>
          <p:cNvCxnSpPr>
            <a:stCxn xmlns:a="http://schemas.openxmlformats.org/drawingml/2006/main" id="20" idx="1"/>
            <a:endCxn xmlns:a="http://schemas.openxmlformats.org/drawingml/2006/main" id="21" idx="3"/>
          </p:cNvCxnSpPr>
          <p:nvPr/>
        </p:nvCxnSpPr>
        <p:spPr>
          <a:xfrm xmlns:a="http://schemas.openxmlformats.org/drawingml/2006/main" flipH="1">
            <a:off x="3733800" y="4057650"/>
            <a:ext cx="361950" cy="0"/>
          </a:xfrm>
          <a:prstGeom xmlns:a="http://schemas.openxmlformats.org/drawingml/2006/main" prst="straightConnector1">
            <a:avLst/>
          </a:prstGeom>
          <a:ln xmlns:a="http://schemas.openxmlformats.org/drawingml/2006/main" w="19050">
            <a:solidFill>
              <a:srgbClr val="425466"/>
            </a:solidFill>
            <a:prstDash val="solid"/>
            <a:headEnd type="arrow" w="med" len="med"/>
          </a:ln>
        </p:spPr>
      </p:cxnSp>
      <p:cxnSp>
        <p:nvCxnSpPr>
          <p:cNvPr id="62" name=""/>
          <p:cNvCxnSpPr>
            <a:stCxn xmlns:a="http://schemas.openxmlformats.org/drawingml/2006/main" id="21" idx="1"/>
            <a:endCxn xmlns:a="http://schemas.openxmlformats.org/drawingml/2006/main" id="22" idx="3"/>
          </p:cNvCxnSpPr>
          <p:nvPr/>
        </p:nvCxnSpPr>
        <p:spPr>
          <a:xfrm xmlns:a="http://schemas.openxmlformats.org/drawingml/2006/main" flipH="1">
            <a:off x="2019300" y="4057650"/>
            <a:ext cx="361950" cy="0"/>
          </a:xfrm>
          <a:prstGeom xmlns:a="http://schemas.openxmlformats.org/drawingml/2006/main" prst="straightConnector1">
            <a:avLst/>
          </a:prstGeom>
          <a:ln xmlns:a="http://schemas.openxmlformats.org/drawingml/2006/main" w="19050">
            <a:solidFill>
              <a:srgbClr val="C9564D"/>
            </a:solidFill>
            <a:prstDash val="solid"/>
            <a:headEnd type="arrow" w="med" len="med"/>
          </a:ln>
        </p:spPr>
      </p:cxnSp>
      <p:sp>
        <p:nvSpPr>
          <p:cNvPr id="29" name="">
            <a:extLst xmlns:a="http://schemas.openxmlformats.org/drawingml/2006/main">
              <a:ext uri="{FF2B5EF4-FFF2-40B4-BE49-F238E27FC236}">
                <a16:creationId xmlns:a16="http://schemas.microsoft.com/office/drawing/2014/main" id="{4A2852DF-CA9D-48FF-8C02-38768752157C}"/>
              </a:ext>
            </a:extLst>
          </p:cNvPr>
          <p:cNvSpPr>
            <a:spLocks xmlns:a="http://schemas.openxmlformats.org/drawingml/2006/main" noGrp="1"/>
          </p:cNvSpPr>
          <p:nvPr/>
        </p:nvSpPr>
        <p:spPr>
          <a:xfrm xmlns:a="http://schemas.openxmlformats.org/drawingml/2006/main">
            <a:off x="1676400" y="5095875"/>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159"/>
          </a:bodyPr>
          <a:lstStyle xmlns:a="http://schemas.openxmlformats.org/drawingml/2006/main"/>
          <a:p xmlns:a="http://schemas.openxmlformats.org/drawingml/2006/main">
            <a:pPr algn="ctr">
              <a:defRPr sz="3150" b="1">
                <a:solidFill>
                  <a:srgbClr val="168B85"/>
                </a:solidFill>
                <a:latin typeface="Helvetica Neue"/>
                <a:ea typeface="Helvetica Neue"/>
                <a:cs typeface="Helvetica Neue"/>
              </a:defRPr>
            </a:pPr>
            <a:r>
              <a:rPr sz="3150" b="1">
                <a:solidFill>
                  <a:srgbClr val="168B85"/>
                </a:solidFill>
                <a:latin typeface="Helvetica Neue"/>
                <a:ea typeface="Helvetica Neue"/>
                <a:cs typeface="Helvetica Neue"/>
              </a:rPr>
              <a:t>15</a:t>
            </a:r>
          </a:p>
        </p:txBody>
      </p:sp>
      <p:sp>
        <p:nvSpPr>
          <p:cNvPr id="30" name="">
            <a:extLst xmlns:a="http://schemas.openxmlformats.org/drawingml/2006/main">
              <a:ext uri="{FF2B5EF4-FFF2-40B4-BE49-F238E27FC236}">
                <a16:creationId xmlns:a16="http://schemas.microsoft.com/office/drawing/2014/main" id="{5C4529B1-380D-4993-A3D7-F210853277B8}"/>
              </a:ext>
            </a:extLst>
          </p:cNvPr>
          <p:cNvSpPr>
            <a:spLocks xmlns:a="http://schemas.openxmlformats.org/drawingml/2006/main" noGrp="1"/>
          </p:cNvSpPr>
          <p:nvPr/>
        </p:nvSpPr>
        <p:spPr>
          <a:xfrm xmlns:a="http://schemas.openxmlformats.org/drawingml/2006/main">
            <a:off x="2524125" y="52006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successful checkpoints</a:t>
            </a:r>
          </a:p>
        </p:txBody>
      </p:sp>
      <p:sp>
        <p:nvSpPr>
          <p:cNvPr id="31" name="">
            <a:extLst xmlns:a="http://schemas.openxmlformats.org/drawingml/2006/main">
              <a:ext uri="{FF2B5EF4-FFF2-40B4-BE49-F238E27FC236}">
                <a16:creationId xmlns:a16="http://schemas.microsoft.com/office/drawing/2014/main" id="{9BDAA1A5-3D61-40B3-91C2-134F5E334C10}"/>
              </a:ext>
            </a:extLst>
          </p:cNvPr>
          <p:cNvSpPr>
            <a:spLocks xmlns:a="http://schemas.openxmlformats.org/drawingml/2006/main" noGrp="1"/>
          </p:cNvSpPr>
          <p:nvPr/>
        </p:nvSpPr>
        <p:spPr>
          <a:xfrm xmlns:a="http://schemas.openxmlformats.org/drawingml/2006/main">
            <a:off x="5391150" y="5095875"/>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159"/>
          </a:bodyPr>
          <a:lstStyle xmlns:a="http://schemas.openxmlformats.org/drawingml/2006/main"/>
          <a:p xmlns:a="http://schemas.openxmlformats.org/drawingml/2006/main">
            <a:pPr algn="ctr">
              <a:defRPr sz="3150" b="1">
                <a:solidFill>
                  <a:srgbClr val="168B85"/>
                </a:solidFill>
                <a:latin typeface="Helvetica Neue"/>
                <a:ea typeface="Helvetica Neue"/>
                <a:cs typeface="Helvetica Neue"/>
              </a:defRPr>
            </a:pPr>
            <a:r>
              <a:rPr sz="3150" b="1">
                <a:solidFill>
                  <a:srgbClr val="168B85"/>
                </a:solidFill>
                <a:latin typeface="Helvetica Neue"/>
                <a:ea typeface="Helvetica Neue"/>
                <a:cs typeface="Helvetica Neue"/>
              </a:rPr>
              <a:t>0</a:t>
            </a:r>
          </a:p>
        </p:txBody>
      </p:sp>
      <p:sp>
        <p:nvSpPr>
          <p:cNvPr id="32" name="">
            <a:extLst xmlns:a="http://schemas.openxmlformats.org/drawingml/2006/main">
              <a:ext uri="{FF2B5EF4-FFF2-40B4-BE49-F238E27FC236}">
                <a16:creationId xmlns:a16="http://schemas.microsoft.com/office/drawing/2014/main" id="{60E4B880-CEFD-4173-9A69-F2D6BAACF3CF}"/>
              </a:ext>
            </a:extLst>
          </p:cNvPr>
          <p:cNvSpPr>
            <a:spLocks xmlns:a="http://schemas.openxmlformats.org/drawingml/2006/main" noGrp="1"/>
          </p:cNvSpPr>
          <p:nvPr/>
        </p:nvSpPr>
        <p:spPr>
          <a:xfrm xmlns:a="http://schemas.openxmlformats.org/drawingml/2006/main">
            <a:off x="6248400" y="52006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failed stages</a:t>
            </a:r>
          </a:p>
        </p:txBody>
      </p:sp>
      <p:sp>
        <p:nvSpPr>
          <p:cNvPr id="33" name="">
            <a:extLst xmlns:a="http://schemas.openxmlformats.org/drawingml/2006/main">
              <a:ext uri="{FF2B5EF4-FFF2-40B4-BE49-F238E27FC236}">
                <a16:creationId xmlns:a16="http://schemas.microsoft.com/office/drawing/2014/main" id="{3E69384C-E99B-43CF-8227-256440B0ED89}"/>
              </a:ext>
            </a:extLst>
          </p:cNvPr>
          <p:cNvSpPr>
            <a:spLocks xmlns:a="http://schemas.openxmlformats.org/drawingml/2006/main" noGrp="1"/>
          </p:cNvSpPr>
          <p:nvPr/>
        </p:nvSpPr>
        <p:spPr>
          <a:xfrm xmlns:a="http://schemas.openxmlformats.org/drawingml/2006/main">
            <a:off x="8648700" y="5095875"/>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3518"/>
          </a:bodyPr>
          <a:lstStyle xmlns:a="http://schemas.openxmlformats.org/drawingml/2006/main"/>
          <a:p xmlns:a="http://schemas.openxmlformats.org/drawingml/2006/main">
            <a:pPr algn="ctr">
              <a:defRPr sz="2700" b="1">
                <a:solidFill>
                  <a:srgbClr val="10263C"/>
                </a:solidFill>
                <a:latin typeface="Helvetica Neue"/>
                <a:ea typeface="Helvetica Neue"/>
                <a:cs typeface="Helvetica Neue"/>
              </a:defRPr>
            </a:pPr>
            <a:r>
              <a:rPr sz="2700" b="1">
                <a:solidFill>
                  <a:srgbClr val="10263C"/>
                </a:solidFill>
                <a:latin typeface="Helvetica Neue"/>
                <a:ea typeface="Helvetica Neue"/>
                <a:cs typeface="Helvetica Neue"/>
              </a:rPr>
              <a:t>23 min</a:t>
            </a:r>
          </a:p>
        </p:txBody>
      </p:sp>
      <p:sp>
        <p:nvSpPr>
          <p:cNvPr id="34" name="">
            <a:extLst xmlns:a="http://schemas.openxmlformats.org/drawingml/2006/main">
              <a:ext uri="{FF2B5EF4-FFF2-40B4-BE49-F238E27FC236}">
                <a16:creationId xmlns:a16="http://schemas.microsoft.com/office/drawing/2014/main" id="{97CE6019-CA4D-48CC-A7C0-B283876C48C9}"/>
              </a:ext>
            </a:extLst>
          </p:cNvPr>
          <p:cNvSpPr>
            <a:spLocks xmlns:a="http://schemas.openxmlformats.org/drawingml/2006/main" noGrp="1"/>
          </p:cNvSpPr>
          <p:nvPr/>
        </p:nvSpPr>
        <p:spPr>
          <a:xfrm xmlns:a="http://schemas.openxmlformats.org/drawingml/2006/main">
            <a:off x="9944100" y="52006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runtime</a:t>
            </a:r>
          </a:p>
        </p:txBody>
      </p:sp>
    </p:spTree>
    <p:extLst>
      <p:ext uri="{BB962C8B-B14F-4D97-AF65-F5344CB8AC3E}">
        <p14:creationId xmlns:p14="http://schemas.microsoft.com/office/powerpoint/2010/main" val="708943662"/>
      </p:ext>
    </p:extLst>
  </p:cSld>
</p:sld>
</file>

<file path=ppt/slides/slide12.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A182C33-21DC-4DD0-8524-AB5EFB18DA62}"/>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Qwen3.5 improved most in causal reasoning</a:t>
            </a:r>
          </a:p>
        </p:txBody>
      </p:sp>
      <p:sp>
        <p:nvSpPr>
          <p:cNvPr id="2" name="">
            <a:extLst xmlns:a="http://schemas.openxmlformats.org/drawingml/2006/main">
              <a:ext uri="{FF2B5EF4-FFF2-40B4-BE49-F238E27FC236}">
                <a16:creationId xmlns:a16="http://schemas.microsoft.com/office/drawing/2014/main" id="{97BB0501-B6E2-4D34-81BB-6C97348AEEC2}"/>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Try 4 gained evidence and causal discipline but lost action points because the verifier blocked premature actions.</a:t>
            </a:r>
          </a:p>
        </p:txBody>
      </p:sp>
      <p:sp>
        <p:nvSpPr>
          <p:cNvPr id="3" name="">
            <a:extLst xmlns:a="http://schemas.openxmlformats.org/drawingml/2006/main">
              <a:ext uri="{FF2B5EF4-FFF2-40B4-BE49-F238E27FC236}">
                <a16:creationId xmlns:a16="http://schemas.microsoft.com/office/drawing/2014/main" id="{00A5406B-033B-4A11-996C-FD1664C61F6A}"/>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10912F4-E0DF-4E1D-8FC0-038982FD8652}"/>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Sources: Try 3 qwen score 64; Try 4 qwen score 68</a:t>
            </a:r>
          </a:p>
        </p:txBody>
      </p:sp>
      <p:sp>
        <p:nvSpPr>
          <p:cNvPr id="5" name="">
            <a:extLst xmlns:a="http://schemas.openxmlformats.org/drawingml/2006/main">
              <a:ext uri="{FF2B5EF4-FFF2-40B4-BE49-F238E27FC236}">
                <a16:creationId xmlns:a16="http://schemas.microsoft.com/office/drawing/2014/main" id="{C35D5FEC-F8F3-4AA9-B59E-CA10A1F018BA}"/>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12</a:t>
            </a:r>
          </a:p>
        </p:txBody>
      </p:sp>
      <p:graphicFrame>
        <p:nvGraphicFramePr>
          <p:cNvPr id="18" name="Chart"/>
          <p:cNvGraphicFramePr/>
          <p:nvPr/>
        </p:nvGraphicFramePr>
        <p:xfrm>
          <a:off xmlns:a="http://schemas.openxmlformats.org/drawingml/2006/main" x="666750" y="1466850"/>
          <a:ext xmlns:a="http://schemas.openxmlformats.org/drawingml/2006/main" cx="8620125" cy="4610100"/>
        </p:xfrm>
        <a:graphic xmlns:a="http://schemas.openxmlformats.org/drawingml/2006/main">
          <a:graphicData uri="http://schemas.openxmlformats.org/drawingml/2006/chart">
            <c:chart xmlns:r="http://schemas.openxmlformats.org/officeDocument/2006/relationships" xmlns:c="http://schemas.openxmlformats.org/drawingml/2006/chart" r:id="R078cf96d0a104553"/>
          </a:graphicData>
        </a:graphic>
      </p:graphicFrame>
      <p:sp>
        <p:nvSpPr>
          <p:cNvPr id="7" name="">
            <a:extLst xmlns:a="http://schemas.openxmlformats.org/drawingml/2006/main">
              <a:ext uri="{FF2B5EF4-FFF2-40B4-BE49-F238E27FC236}">
                <a16:creationId xmlns:a16="http://schemas.microsoft.com/office/drawing/2014/main" id="{DE3F8D78-EBC8-4A76-A230-454EC587B8C0}"/>
              </a:ext>
            </a:extLst>
          </p:cNvPr>
          <p:cNvSpPr>
            <a:spLocks xmlns:a="http://schemas.openxmlformats.org/drawingml/2006/main" noGrp="1"/>
          </p:cNvSpPr>
          <p:nvPr/>
        </p:nvSpPr>
        <p:spPr>
          <a:xfrm xmlns:a="http://schemas.openxmlformats.org/drawingml/2006/main">
            <a:off x="9620250" y="2038350"/>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881"/>
          </a:bodyPr>
          <a:lstStyle xmlns:a="http://schemas.openxmlformats.org/drawingml/2006/main"/>
          <a:p xmlns:a="http://schemas.openxmlformats.org/drawingml/2006/main">
            <a:pPr algn="ctr">
              <a:defRPr sz="4200" b="1">
                <a:solidFill>
                  <a:srgbClr val="3377B5"/>
                </a:solidFill>
                <a:latin typeface="Helvetica Neue"/>
                <a:ea typeface="Helvetica Neue"/>
                <a:cs typeface="Helvetica Neue"/>
              </a:defRPr>
            </a:pPr>
            <a:r>
              <a:rPr sz="4200" b="1">
                <a:solidFill>
                  <a:srgbClr val="3377B5"/>
                </a:solidFill>
                <a:latin typeface="Helvetica Neue"/>
                <a:ea typeface="Helvetica Neue"/>
                <a:cs typeface="Helvetica Neue"/>
              </a:rPr>
              <a:t>64</a:t>
            </a:r>
          </a:p>
        </p:txBody>
      </p:sp>
      <p:sp>
        <p:nvSpPr>
          <p:cNvPr id="8" name="">
            <a:extLst xmlns:a="http://schemas.openxmlformats.org/drawingml/2006/main">
              <a:ext uri="{FF2B5EF4-FFF2-40B4-BE49-F238E27FC236}">
                <a16:creationId xmlns:a16="http://schemas.microsoft.com/office/drawing/2014/main" id="{BA633D71-2469-4715-80D3-3B9E8BEC136E}"/>
              </a:ext>
            </a:extLst>
          </p:cNvPr>
          <p:cNvSpPr>
            <a:spLocks xmlns:a="http://schemas.openxmlformats.org/drawingml/2006/main" noGrp="1"/>
          </p:cNvSpPr>
          <p:nvPr/>
        </p:nvSpPr>
        <p:spPr>
          <a:xfrm xmlns:a="http://schemas.openxmlformats.org/drawingml/2006/main">
            <a:off x="9620250" y="26860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lgn="ctr">
              <a:defRPr sz="1200" b="1">
                <a:solidFill>
                  <a:srgbClr val="6B7B8C"/>
                </a:solidFill>
                <a:latin typeface="Helvetica Neue"/>
                <a:ea typeface="Helvetica Neue"/>
                <a:cs typeface="Helvetica Neue"/>
              </a:defRPr>
            </a:pPr>
            <a:r>
              <a:rPr sz="1200" b="1">
                <a:solidFill>
                  <a:srgbClr val="6B7B8C"/>
                </a:solidFill>
                <a:latin typeface="Helvetica Neue"/>
                <a:ea typeface="Helvetica Neue"/>
                <a:cs typeface="Helvetica Neue"/>
              </a:rPr>
              <a:t>TRY 3</a:t>
            </a:r>
          </a:p>
        </p:txBody>
      </p:sp>
      <p:sp>
        <p:nvSpPr>
          <p:cNvPr id="9" name="">
            <a:extLst xmlns:a="http://schemas.openxmlformats.org/drawingml/2006/main">
              <a:ext uri="{FF2B5EF4-FFF2-40B4-BE49-F238E27FC236}">
                <a16:creationId xmlns:a16="http://schemas.microsoft.com/office/drawing/2014/main" id="{BA1E8803-1F4A-48C4-AD83-B18D1C0BEBFB}"/>
              </a:ext>
            </a:extLst>
          </p:cNvPr>
          <p:cNvSpPr>
            <a:spLocks xmlns:a="http://schemas.openxmlformats.org/drawingml/2006/main" noGrp="1"/>
          </p:cNvSpPr>
          <p:nvPr/>
        </p:nvSpPr>
        <p:spPr>
          <a:xfrm xmlns:a="http://schemas.openxmlformats.org/drawingml/2006/main">
            <a:off x="9791700" y="3162300"/>
            <a:ext cx="1085850" cy="19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01305EE-B048-4C28-8CE0-7A6C99F4C266}"/>
              </a:ext>
            </a:extLst>
          </p:cNvPr>
          <p:cNvSpPr>
            <a:spLocks xmlns:a="http://schemas.openxmlformats.org/drawingml/2006/main" noGrp="1"/>
          </p:cNvSpPr>
          <p:nvPr/>
        </p:nvSpPr>
        <p:spPr>
          <a:xfrm xmlns:a="http://schemas.openxmlformats.org/drawingml/2006/main">
            <a:off x="9620250" y="3505200"/>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881"/>
          </a:bodyPr>
          <a:lstStyle xmlns:a="http://schemas.openxmlformats.org/drawingml/2006/main"/>
          <a:p xmlns:a="http://schemas.openxmlformats.org/drawingml/2006/main">
            <a:pPr algn="ctr">
              <a:defRPr sz="4200" b="1">
                <a:solidFill>
                  <a:srgbClr val="168B85"/>
                </a:solidFill>
                <a:latin typeface="Helvetica Neue"/>
                <a:ea typeface="Helvetica Neue"/>
                <a:cs typeface="Helvetica Neue"/>
              </a:defRPr>
            </a:pPr>
            <a:r>
              <a:rPr sz="4200" b="1">
                <a:solidFill>
                  <a:srgbClr val="168B85"/>
                </a:solidFill>
                <a:latin typeface="Helvetica Neue"/>
                <a:ea typeface="Helvetica Neue"/>
                <a:cs typeface="Helvetica Neue"/>
              </a:rPr>
              <a:t>68</a:t>
            </a:r>
          </a:p>
        </p:txBody>
      </p:sp>
      <p:sp>
        <p:nvSpPr>
          <p:cNvPr id="11" name="">
            <a:extLst xmlns:a="http://schemas.openxmlformats.org/drawingml/2006/main">
              <a:ext uri="{FF2B5EF4-FFF2-40B4-BE49-F238E27FC236}">
                <a16:creationId xmlns:a16="http://schemas.microsoft.com/office/drawing/2014/main" id="{124D389D-FC76-4FE2-B96C-FE172A4DB67C}"/>
              </a:ext>
            </a:extLst>
          </p:cNvPr>
          <p:cNvSpPr>
            <a:spLocks xmlns:a="http://schemas.openxmlformats.org/drawingml/2006/main" noGrp="1"/>
          </p:cNvSpPr>
          <p:nvPr/>
        </p:nvSpPr>
        <p:spPr>
          <a:xfrm xmlns:a="http://schemas.openxmlformats.org/drawingml/2006/main">
            <a:off x="9620250" y="41529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lgn="ctr">
              <a:defRPr sz="1200" b="1">
                <a:solidFill>
                  <a:srgbClr val="6B7B8C"/>
                </a:solidFill>
                <a:latin typeface="Helvetica Neue"/>
                <a:ea typeface="Helvetica Neue"/>
                <a:cs typeface="Helvetica Neue"/>
              </a:defRPr>
            </a:pPr>
            <a:r>
              <a:rPr sz="1200" b="1">
                <a:solidFill>
                  <a:srgbClr val="6B7B8C"/>
                </a:solidFill>
                <a:latin typeface="Helvetica Neue"/>
                <a:ea typeface="Helvetica Neue"/>
                <a:cs typeface="Helvetica Neue"/>
              </a:rPr>
              <a:t>TRY 4</a:t>
            </a:r>
          </a:p>
        </p:txBody>
      </p:sp>
      <p:sp>
        <p:nvSpPr>
          <p:cNvPr id="12" name="">
            <a:extLst xmlns:a="http://schemas.openxmlformats.org/drawingml/2006/main">
              <a:ext uri="{FF2B5EF4-FFF2-40B4-BE49-F238E27FC236}">
                <a16:creationId xmlns:a16="http://schemas.microsoft.com/office/drawing/2014/main" id="{8A258475-AAEA-4DC4-A0CB-E7BDEA2C787E}"/>
              </a:ext>
            </a:extLst>
          </p:cNvPr>
          <p:cNvSpPr>
            <a:spLocks xmlns:a="http://schemas.openxmlformats.org/drawingml/2006/main" noGrp="1"/>
          </p:cNvSpPr>
          <p:nvPr/>
        </p:nvSpPr>
        <p:spPr>
          <a:xfrm xmlns:a="http://schemas.openxmlformats.org/drawingml/2006/main">
            <a:off x="9477375" y="4838700"/>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947"/>
          </a:bodyPr>
          <a:lstStyle xmlns:a="http://schemas.openxmlformats.org/drawingml/2006/main"/>
          <a:p xmlns:a="http://schemas.openxmlformats.org/drawingml/2006/main">
            <a:pPr algn="ctr">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Safer restraint lowered the action score while improving the investigation's integrity.</a:t>
            </a:r>
          </a:p>
        </p:txBody>
      </p:sp>
    </p:spTree>
    <p:extLst>
      <p:ext uri="{BB962C8B-B14F-4D97-AF65-F5344CB8AC3E}">
        <p14:creationId xmlns:p14="http://schemas.microsoft.com/office/powerpoint/2010/main" val="908659380"/>
      </p:ext>
    </p:extLst>
  </p:cSld>
</p:sld>
</file>

<file path=ppt/slides/slide13.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F9C46C5-7A4D-4490-B5CE-941379B906A3}"/>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4 produced a developing causal board</a:t>
            </a:r>
          </a:p>
        </p:txBody>
      </p:sp>
      <p:sp>
        <p:nvSpPr>
          <p:cNvPr id="2" name="">
            <a:extLst xmlns:a="http://schemas.openxmlformats.org/drawingml/2006/main">
              <a:ext uri="{FF2B5EF4-FFF2-40B4-BE49-F238E27FC236}">
                <a16:creationId xmlns:a16="http://schemas.microsoft.com/office/drawing/2014/main" id="{B78D3C80-AF5D-4A90-8D37-F3598B4552FF}"/>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model proposed forward hypotheses. Verification kept the board at initial maturity.</a:t>
            </a:r>
          </a:p>
        </p:txBody>
      </p:sp>
      <p:sp>
        <p:nvSpPr>
          <p:cNvPr id="3" name="">
            <a:extLst xmlns:a="http://schemas.openxmlformats.org/drawingml/2006/main">
              <a:ext uri="{FF2B5EF4-FFF2-40B4-BE49-F238E27FC236}">
                <a16:creationId xmlns:a16="http://schemas.microsoft.com/office/drawing/2014/main" id="{89B8C602-C3D0-41D8-9CAD-A3C9123E4A4E}"/>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6E7856A-8E0C-4F24-9015-5B9CF3014C15}"/>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4 qwen causal board and verification findings</a:t>
            </a:r>
          </a:p>
        </p:txBody>
      </p:sp>
      <p:sp>
        <p:nvSpPr>
          <p:cNvPr id="5" name="">
            <a:extLst xmlns:a="http://schemas.openxmlformats.org/drawingml/2006/main">
              <a:ext uri="{FF2B5EF4-FFF2-40B4-BE49-F238E27FC236}">
                <a16:creationId xmlns:a16="http://schemas.microsoft.com/office/drawing/2014/main" id="{DD0769DC-6416-4B68-81DF-15589ADDFF75}"/>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13</a:t>
            </a:r>
          </a:p>
        </p:txBody>
      </p:sp>
      <p:sp>
        <p:nvSpPr>
          <p:cNvPr id="6" name="">
            <a:extLst xmlns:a="http://schemas.openxmlformats.org/drawingml/2006/main">
              <a:ext uri="{FF2B5EF4-FFF2-40B4-BE49-F238E27FC236}">
                <a16:creationId xmlns:a16="http://schemas.microsoft.com/office/drawing/2014/main" id="{8B8A3677-C77D-4367-B6BA-6270AD8A807E}"/>
              </a:ext>
            </a:extLst>
          </p:cNvPr>
          <p:cNvSpPr>
            <a:spLocks xmlns:a="http://schemas.openxmlformats.org/drawingml/2006/main" noGrp="1"/>
          </p:cNvSpPr>
          <p:nvPr/>
        </p:nvSpPr>
        <p:spPr>
          <a:xfrm xmlns:a="http://schemas.openxmlformats.org/drawingml/2006/main">
            <a:off x="590550" y="1809750"/>
            <a:ext cx="1924050" cy="723900"/>
          </a:xfrm>
          <a:prstGeom xmlns:a="http://schemas.openxmlformats.org/drawingml/2006/main" prst="roundRect">
            <a:avLst>
              <a:gd name="adj" fmla="val 10526"/>
            </a:avLst>
          </a:prstGeom>
          <a:solidFill xmlns:a="http://schemas.openxmlformats.org/drawingml/2006/main">
            <a:srgbClr val="DCE9F4"/>
          </a:solidFill>
          <a:ln xmlns:a="http://schemas.openxmlformats.org/drawingml/2006/main" w="9525">
            <a:solidFill>
              <a:srgbClr val="3377B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Balance left raised</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with rolls removed</a:t>
            </a:r>
          </a:p>
        </p:txBody>
      </p:sp>
      <p:sp>
        <p:nvSpPr>
          <p:cNvPr id="7" name="">
            <a:extLst xmlns:a="http://schemas.openxmlformats.org/drawingml/2006/main">
              <a:ext uri="{FF2B5EF4-FFF2-40B4-BE49-F238E27FC236}">
                <a16:creationId xmlns:a16="http://schemas.microsoft.com/office/drawing/2014/main" id="{3B614040-6C8D-4E2A-B2B4-F25B16C046AE}"/>
              </a:ext>
            </a:extLst>
          </p:cNvPr>
          <p:cNvSpPr>
            <a:spLocks xmlns:a="http://schemas.openxmlformats.org/drawingml/2006/main" noGrp="1"/>
          </p:cNvSpPr>
          <p:nvPr/>
        </p:nvSpPr>
        <p:spPr>
          <a:xfrm xmlns:a="http://schemas.openxmlformats.org/drawingml/2006/main">
            <a:off x="590550" y="2990850"/>
            <a:ext cx="1924050" cy="723900"/>
          </a:xfrm>
          <a:prstGeom xmlns:a="http://schemas.openxmlformats.org/drawingml/2006/main" prst="roundRect">
            <a:avLst>
              <a:gd name="adj" fmla="val 10526"/>
            </a:avLst>
          </a:prstGeom>
          <a:solidFill xmlns:a="http://schemas.openxmlformats.org/drawingml/2006/main">
            <a:srgbClr val="DCE9F4"/>
          </a:solidFill>
          <a:ln xmlns:a="http://schemas.openxmlformats.org/drawingml/2006/main" w="9525">
            <a:solidFill>
              <a:srgbClr val="3377B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 hydraulics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isolated and bled</a:t>
            </a:r>
          </a:p>
        </p:txBody>
      </p:sp>
      <p:sp>
        <p:nvSpPr>
          <p:cNvPr id="8" name="">
            <a:extLst xmlns:a="http://schemas.openxmlformats.org/drawingml/2006/main">
              <a:ext uri="{FF2B5EF4-FFF2-40B4-BE49-F238E27FC236}">
                <a16:creationId xmlns:a16="http://schemas.microsoft.com/office/drawing/2014/main" id="{0FD53E47-0026-4B00-9FE9-902496A027C3}"/>
              </a:ext>
            </a:extLst>
          </p:cNvPr>
          <p:cNvSpPr>
            <a:spLocks xmlns:a="http://schemas.openxmlformats.org/drawingml/2006/main" noGrp="1"/>
          </p:cNvSpPr>
          <p:nvPr/>
        </p:nvSpPr>
        <p:spPr>
          <a:xfrm xmlns:a="http://schemas.openxmlformats.org/drawingml/2006/main">
            <a:off x="590550" y="4171950"/>
            <a:ext cx="1924050" cy="819150"/>
          </a:xfrm>
          <a:prstGeom xmlns:a="http://schemas.openxmlformats.org/drawingml/2006/main" prst="roundRect">
            <a:avLst>
              <a:gd name="adj" fmla="val 9302"/>
            </a:avLst>
          </a:prstGeom>
          <a:solidFill xmlns:a="http://schemas.openxmlformats.org/drawingml/2006/main">
            <a:srgbClr val="F7E5BE"/>
          </a:solidFill>
          <a:ln xmlns:a="http://schemas.openxmlformats.org/drawingml/2006/main" w="9525">
            <a:solidFill>
              <a:srgbClr val="E5A32D"/>
            </a:solidFill>
            <a:prstDash val="solid"/>
          </a:ln>
        </p:spPr>
        <p:txBody>
          <a:bodyPr xmlns:a="http://schemas.openxmlformats.org/drawingml/2006/main">
            <a:normAutofit fontScale="83002"/>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Gravity-control field blank</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No independent signature</a:t>
            </a:r>
          </a:p>
        </p:txBody>
      </p:sp>
      <p:sp>
        <p:nvSpPr>
          <p:cNvPr id="9" name="">
            <a:extLst xmlns:a="http://schemas.openxmlformats.org/drawingml/2006/main">
              <a:ext uri="{FF2B5EF4-FFF2-40B4-BE49-F238E27FC236}">
                <a16:creationId xmlns:a16="http://schemas.microsoft.com/office/drawing/2014/main" id="{0BEA8F97-1139-463A-A992-4F86FCFF09E4}"/>
              </a:ext>
            </a:extLst>
          </p:cNvPr>
          <p:cNvSpPr>
            <a:spLocks xmlns:a="http://schemas.openxmlformats.org/drawingml/2006/main" noGrp="1"/>
          </p:cNvSpPr>
          <p:nvPr/>
        </p:nvSpPr>
        <p:spPr>
          <a:xfrm xmlns:a="http://schemas.openxmlformats.org/drawingml/2006/main">
            <a:off x="3714750" y="2667000"/>
            <a:ext cx="2324100" cy="895350"/>
          </a:xfrm>
          <a:prstGeom xmlns:a="http://schemas.openxmlformats.org/drawingml/2006/main" prst="roundRect">
            <a:avLst>
              <a:gd name="adj" fmla="val 8511"/>
            </a:avLst>
          </a:prstGeom>
          <a:solidFill xmlns:a="http://schemas.openxmlformats.org/drawingml/2006/main">
            <a:srgbClr val="F7E5BE"/>
          </a:solidFill>
          <a:ln xmlns:a="http://schemas.openxmlformats.org/drawingml/2006/main" w="9525">
            <a:solidFill>
              <a:srgbClr val="E5A32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Suspected loss of positive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mechanical restraint</a:t>
            </a:r>
          </a:p>
        </p:txBody>
      </p:sp>
      <p:sp>
        <p:nvSpPr>
          <p:cNvPr id="10" name="">
            <a:extLst xmlns:a="http://schemas.openxmlformats.org/drawingml/2006/main">
              <a:ext uri="{FF2B5EF4-FFF2-40B4-BE49-F238E27FC236}">
                <a16:creationId xmlns:a16="http://schemas.microsoft.com/office/drawing/2014/main" id="{5829DC35-0E72-41EB-9EC5-2B065BC3BF31}"/>
              </a:ext>
            </a:extLst>
          </p:cNvPr>
          <p:cNvSpPr>
            <a:spLocks xmlns:a="http://schemas.openxmlformats.org/drawingml/2006/main" noGrp="1"/>
          </p:cNvSpPr>
          <p:nvPr/>
        </p:nvSpPr>
        <p:spPr>
          <a:xfrm xmlns:a="http://schemas.openxmlformats.org/drawingml/2006/main">
            <a:off x="7219950" y="2667000"/>
            <a:ext cx="2133600" cy="895350"/>
          </a:xfrm>
          <a:prstGeom xmlns:a="http://schemas.openxmlformats.org/drawingml/2006/main" prst="roundRect">
            <a:avLst>
              <a:gd name="adj" fmla="val 8511"/>
            </a:avLst>
          </a:prstGeom>
          <a:solidFill xmlns:a="http://schemas.openxmlformats.org/drawingml/2006/main">
            <a:srgbClr val="F3DAD7"/>
          </a:solidFill>
          <a:ln xmlns:a="http://schemas.openxmlformats.org/drawingml/2006/main" w="9525">
            <a:solidFill>
              <a:srgbClr val="C9564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Carrier beam falls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into R3 mill pit</a:t>
            </a:r>
          </a:p>
        </p:txBody>
      </p:sp>
      <p:cxnSp>
        <p:nvCxnSpPr>
          <p:cNvPr id="30" name=""/>
          <p:cNvCxnSpPr>
            <a:stCxn xmlns:a="http://schemas.openxmlformats.org/drawingml/2006/main" id="6" idx="3"/>
            <a:endCxn xmlns:a="http://schemas.openxmlformats.org/drawingml/2006/main" id="9" idx="1"/>
          </p:cNvCxnSpPr>
          <p:nvPr/>
        </p:nvCxnSpPr>
        <p:spPr>
          <a:xfrm xmlns:a="http://schemas.openxmlformats.org/drawingml/2006/main">
            <a:off x="2514600" y="2171700"/>
            <a:ext cx="1200150" cy="942975"/>
          </a:xfrm>
          <a:prstGeom xmlns:a="http://schemas.openxmlformats.org/drawingml/2006/main" prst="bentConnector3">
            <a:avLst>
              <a:gd name="adj1" fmla="val 50000"/>
            </a:avLst>
          </a:prstGeom>
          <a:ln xmlns:a="http://schemas.openxmlformats.org/drawingml/2006/main" w="19050">
            <a:solidFill>
              <a:srgbClr val="425466"/>
            </a:solidFill>
            <a:prstDash val="dash"/>
            <a:headEnd type="arrow" w="med" len="med"/>
          </a:ln>
        </p:spPr>
      </p:cxnSp>
      <p:cxnSp>
        <p:nvCxnSpPr>
          <p:cNvPr id="31" name=""/>
          <p:cNvCxnSpPr>
            <a:stCxn xmlns:a="http://schemas.openxmlformats.org/drawingml/2006/main" id="7" idx="3"/>
            <a:endCxn xmlns:a="http://schemas.openxmlformats.org/drawingml/2006/main" id="9" idx="1"/>
          </p:cNvCxnSpPr>
          <p:nvPr/>
        </p:nvCxnSpPr>
        <p:spPr>
          <a:xfrm xmlns:a="http://schemas.openxmlformats.org/drawingml/2006/main" flipV="1">
            <a:off x="2514600" y="3114675"/>
            <a:ext cx="1200150" cy="238125"/>
          </a:xfrm>
          <a:prstGeom xmlns:a="http://schemas.openxmlformats.org/drawingml/2006/main" prst="bentConnector3">
            <a:avLst>
              <a:gd name="adj1" fmla="val 50000"/>
            </a:avLst>
          </a:prstGeom>
          <a:ln xmlns:a="http://schemas.openxmlformats.org/drawingml/2006/main" w="19050">
            <a:solidFill>
              <a:srgbClr val="425466"/>
            </a:solidFill>
            <a:prstDash val="dash"/>
            <a:headEnd type="arrow" w="med" len="med"/>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flipV="1">
            <a:off x="2514600" y="3114675"/>
            <a:ext cx="1200150" cy="1466850"/>
          </a:xfrm>
          <a:prstGeom xmlns:a="http://schemas.openxmlformats.org/drawingml/2006/main" prst="bentConnector3">
            <a:avLst>
              <a:gd name="adj1" fmla="val 50000"/>
            </a:avLst>
          </a:prstGeom>
          <a:ln xmlns:a="http://schemas.openxmlformats.org/drawingml/2006/main" w="19050">
            <a:solidFill>
              <a:srgbClr val="425466"/>
            </a:solidFill>
            <a:prstDash val="dash"/>
            <a:headEnd type="arrow" w="med" len="med"/>
          </a:ln>
        </p:spPr>
      </p:cxnSp>
      <p:cxnSp>
        <p:nvCxnSpPr>
          <p:cNvPr id="33" name=""/>
          <p:cNvCxnSpPr>
            <a:stCxn xmlns:a="http://schemas.openxmlformats.org/drawingml/2006/main" id="9" idx="3"/>
            <a:endCxn xmlns:a="http://schemas.openxmlformats.org/drawingml/2006/main" id="10" idx="1"/>
          </p:cNvCxnSpPr>
          <p:nvPr/>
        </p:nvCxnSpPr>
        <p:spPr>
          <a:xfrm xmlns:a="http://schemas.openxmlformats.org/drawingml/2006/main">
            <a:off x="6038850" y="3114675"/>
            <a:ext cx="1181100" cy="0"/>
          </a:xfrm>
          <a:prstGeom xmlns:a="http://schemas.openxmlformats.org/drawingml/2006/main" prst="straightConnector1">
            <a:avLst/>
          </a:prstGeom>
          <a:ln xmlns:a="http://schemas.openxmlformats.org/drawingml/2006/main" w="19050">
            <a:solidFill>
              <a:srgbClr val="C9564D"/>
            </a:solidFill>
            <a:prstDash val="dash"/>
            <a:headEnd type="arrow" w="med" len="med"/>
          </a:ln>
        </p:spPr>
      </p:cxnSp>
      <p:sp>
        <p:nvSpPr>
          <p:cNvPr id="15" name="">
            <a:extLst xmlns:a="http://schemas.openxmlformats.org/drawingml/2006/main">
              <a:ext uri="{FF2B5EF4-FFF2-40B4-BE49-F238E27FC236}">
                <a16:creationId xmlns:a16="http://schemas.microsoft.com/office/drawing/2014/main" id="{4FB6504A-C0BC-41A4-9CC3-428E769CF3F6}"/>
              </a:ext>
            </a:extLst>
          </p:cNvPr>
          <p:cNvSpPr>
            <a:spLocks xmlns:a="http://schemas.openxmlformats.org/drawingml/2006/main" noGrp="1"/>
          </p:cNvSpPr>
          <p:nvPr/>
        </p:nvSpPr>
        <p:spPr>
          <a:xfrm xmlns:a="http://schemas.openxmlformats.org/drawingml/2006/main">
            <a:off x="9620250" y="1714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2107"/>
          </a:bodyPr>
          <a:lstStyle xmlns:a="http://schemas.openxmlformats.org/drawingml/2006/main"/>
          <a:p xmlns:a="http://schemas.openxmlformats.org/drawingml/2006/main">
            <a:pPr algn="l">
              <a:defRPr sz="1575" b="1">
                <a:solidFill>
                  <a:srgbClr val="C9564D"/>
                </a:solidFill>
                <a:latin typeface="Helvetica Neue"/>
                <a:ea typeface="Helvetica Neue"/>
                <a:cs typeface="Helvetica Neue"/>
              </a:defRPr>
            </a:pPr>
            <a:r>
              <a:rPr sz="1575" b="1">
                <a:solidFill>
                  <a:srgbClr val="C9564D"/>
                </a:solidFill>
                <a:latin typeface="Helvetica Neue"/>
                <a:ea typeface="Helvetica Neue"/>
                <a:cs typeface="Helvetica Neue"/>
              </a:rPr>
              <a:t>Six blocking findings</a:t>
            </a:r>
          </a:p>
        </p:txBody>
      </p:sp>
      <p:sp>
        <p:nvSpPr>
          <p:cNvPr id="16" name="">
            <a:extLst xmlns:a="http://schemas.openxmlformats.org/drawingml/2006/main">
              <a:ext uri="{FF2B5EF4-FFF2-40B4-BE49-F238E27FC236}">
                <a16:creationId xmlns:a16="http://schemas.microsoft.com/office/drawing/2014/main" id="{88F83DE6-64B2-4CC9-AEED-9772AEA0D598}"/>
              </a:ext>
            </a:extLst>
          </p:cNvPr>
          <p:cNvSpPr>
            <a:spLocks xmlns:a="http://schemas.openxmlformats.org/drawingml/2006/main" noGrp="1"/>
          </p:cNvSpPr>
          <p:nvPr/>
        </p:nvSpPr>
        <p:spPr>
          <a:xfrm xmlns:a="http://schemas.openxmlformats.org/drawingml/2006/main">
            <a:off x="9620250" y="2171700"/>
            <a:ext cx="1885950" cy="2876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08"/>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Keeper function</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Required restraint design</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Temporary supports</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Pre-event configuration</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Anonymous note provenance</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R3 versus other stands</a:t>
            </a:r>
          </a:p>
        </p:txBody>
      </p:sp>
      <p:sp>
        <p:nvSpPr>
          <p:cNvPr id="17" name="">
            <a:extLst xmlns:a="http://schemas.openxmlformats.org/drawingml/2006/main">
              <a:ext uri="{FF2B5EF4-FFF2-40B4-BE49-F238E27FC236}">
                <a16:creationId xmlns:a16="http://schemas.microsoft.com/office/drawing/2014/main" id="{F3A105C2-44F0-4A12-926D-40D4E968617A}"/>
              </a:ext>
            </a:extLst>
          </p:cNvPr>
          <p:cNvSpPr>
            <a:spLocks xmlns:a="http://schemas.openxmlformats.org/drawingml/2006/main" noGrp="1"/>
          </p:cNvSpPr>
          <p:nvPr/>
        </p:nvSpPr>
        <p:spPr>
          <a:xfrm xmlns:a="http://schemas.openxmlformats.org/drawingml/2006/main">
            <a:off x="3714750" y="4000500"/>
            <a:ext cx="5638800" cy="19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2DD4DC3-9633-4ABE-9EDF-B61BC5247024}"/>
              </a:ext>
            </a:extLst>
          </p:cNvPr>
          <p:cNvSpPr>
            <a:spLocks xmlns:a="http://schemas.openxmlformats.org/drawingml/2006/main" noGrp="1"/>
          </p:cNvSpPr>
          <p:nvPr/>
        </p:nvSpPr>
        <p:spPr>
          <a:xfrm xmlns:a="http://schemas.openxmlformats.org/drawingml/2006/main">
            <a:off x="3714750" y="4248150"/>
            <a:ext cx="5638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Every displayed connection remains a hypothesis until the missing design and execution evidence discriminates it from alternatives.</a:t>
            </a:r>
          </a:p>
        </p:txBody>
      </p:sp>
      <p:sp>
        <p:nvSpPr>
          <p:cNvPr id="19" name="">
            <a:extLst xmlns:a="http://schemas.openxmlformats.org/drawingml/2006/main">
              <a:ext uri="{FF2B5EF4-FFF2-40B4-BE49-F238E27FC236}">
                <a16:creationId xmlns:a16="http://schemas.microsoft.com/office/drawing/2014/main" id="{9E0B5CC0-A1B6-411A-9470-02AF4BAA8011}"/>
              </a:ext>
            </a:extLst>
          </p:cNvPr>
          <p:cNvSpPr>
            <a:spLocks xmlns:a="http://schemas.openxmlformats.org/drawingml/2006/main" noGrp="1"/>
          </p:cNvSpPr>
          <p:nvPr/>
        </p:nvSpPr>
        <p:spPr>
          <a:xfrm xmlns:a="http://schemas.openxmlformats.org/drawingml/2006/main">
            <a:off x="4171950" y="5505450"/>
            <a:ext cx="4714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436"/>
          </a:bodyPr>
          <a:lstStyle xmlns:a="http://schemas.openxmlformats.org/drawingml/2006/main"/>
          <a:p xmlns:a="http://schemas.openxmlformats.org/drawingml/2006/main">
            <a:pPr algn="ctr">
              <a:defRPr sz="1950" b="1">
                <a:solidFill>
                  <a:srgbClr val="C9564D"/>
                </a:solidFill>
                <a:latin typeface="Helvetica Neue"/>
                <a:ea typeface="Helvetica Neue"/>
                <a:cs typeface="Helvetica Neue"/>
              </a:defRPr>
            </a:pPr>
            <a:r>
              <a:rPr sz="1950" b="1">
                <a:solidFill>
                  <a:srgbClr val="C9564D"/>
                </a:solidFill>
                <a:latin typeface="Helvetica Neue"/>
                <a:ea typeface="Helvetica Neue"/>
                <a:cs typeface="Helvetica Neue"/>
              </a:rPr>
              <a:t>Corrective actions stayed blocked</a:t>
            </a:r>
          </a:p>
        </p:txBody>
      </p:sp>
    </p:spTree>
    <p:extLst>
      <p:ext uri="{BB962C8B-B14F-4D97-AF65-F5344CB8AC3E}">
        <p14:creationId xmlns:p14="http://schemas.microsoft.com/office/powerpoint/2010/main" val="1894166488"/>
      </p:ext>
    </p:extLst>
  </p:cSld>
</p:sld>
</file>

<file path=ppt/slides/slide1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7AC6537-6275-4DDB-B998-316934843B43}"/>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The current test cannot establish a final root cause</a:t>
            </a:r>
          </a:p>
        </p:txBody>
      </p:sp>
      <p:sp>
        <p:nvSpPr>
          <p:cNvPr id="2" name="">
            <a:extLst xmlns:a="http://schemas.openxmlformats.org/drawingml/2006/main">
              <a:ext uri="{FF2B5EF4-FFF2-40B4-BE49-F238E27FC236}">
                <a16:creationId xmlns:a16="http://schemas.microsoft.com/office/drawing/2014/main" id="{29F563FB-43B0-422B-9424-A2C27D96D8F8}"/>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method can find good questions and hypotheses, but the evidence package cannot prove the physical mechanism.</a:t>
            </a:r>
          </a:p>
        </p:txBody>
      </p:sp>
      <p:sp>
        <p:nvSpPr>
          <p:cNvPr id="3" name="">
            <a:extLst xmlns:a="http://schemas.openxmlformats.org/drawingml/2006/main">
              <a:ext uri="{FF2B5EF4-FFF2-40B4-BE49-F238E27FC236}">
                <a16:creationId xmlns:a16="http://schemas.microsoft.com/office/drawing/2014/main" id="{C9F2F756-D77D-45C7-ADEE-5F3CBA7332F0}"/>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21F7740-5466-4F5C-93F9-0487A79C2802}"/>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Sources: Try 4 qwen verification findings and post-run evaluation</a:t>
            </a:r>
          </a:p>
        </p:txBody>
      </p:sp>
      <p:sp>
        <p:nvSpPr>
          <p:cNvPr id="5" name="">
            <a:extLst xmlns:a="http://schemas.openxmlformats.org/drawingml/2006/main">
              <a:ext uri="{FF2B5EF4-FFF2-40B4-BE49-F238E27FC236}">
                <a16:creationId xmlns:a16="http://schemas.microsoft.com/office/drawing/2014/main" id="{5CF12745-A7A2-449A-BFEA-32CE344AC71A}"/>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14</a:t>
            </a:r>
          </a:p>
        </p:txBody>
      </p:sp>
      <p:sp>
        <p:nvSpPr>
          <p:cNvPr id="6" name="">
            <a:extLst xmlns:a="http://schemas.openxmlformats.org/drawingml/2006/main">
              <a:ext uri="{FF2B5EF4-FFF2-40B4-BE49-F238E27FC236}">
                <a16:creationId xmlns:a16="http://schemas.microsoft.com/office/drawing/2014/main" id="{1449D11A-F8F1-4EC6-BD20-CEC6A23A8EC5}"/>
              </a:ext>
            </a:extLst>
          </p:cNvPr>
          <p:cNvSpPr>
            <a:spLocks xmlns:a="http://schemas.openxmlformats.org/drawingml/2006/main" noGrp="1"/>
          </p:cNvSpPr>
          <p:nvPr/>
        </p:nvSpPr>
        <p:spPr>
          <a:xfrm xmlns:a="http://schemas.openxmlformats.org/drawingml/2006/main">
            <a:off x="723900" y="1638300"/>
            <a:ext cx="76200" cy="209550"/>
          </a:xfrm>
          <a:prstGeom xmlns:a="http://schemas.openxmlformats.org/drawingml/2006/main" prst="rect">
            <a:avLst/>
          </a:prstGeom>
          <a:solidFill xmlns:a="http://schemas.openxmlformats.org/drawingml/2006/main">
            <a:srgbClr val="168B8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572CC09-46DB-41E8-B27A-3486AF729AB9}"/>
              </a:ext>
            </a:extLst>
          </p:cNvPr>
          <p:cNvSpPr>
            <a:spLocks xmlns:a="http://schemas.openxmlformats.org/drawingml/2006/main" noGrp="1"/>
          </p:cNvSpPr>
          <p:nvPr/>
        </p:nvSpPr>
        <p:spPr>
          <a:xfrm xmlns:a="http://schemas.openxmlformats.org/drawingml/2006/main">
            <a:off x="895350" y="1600200"/>
            <a:ext cx="430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425466"/>
                </a:solidFill>
                <a:latin typeface="Helvetica Neue"/>
                <a:ea typeface="Helvetica Neue"/>
                <a:cs typeface="Helvetica Neue"/>
              </a:defRPr>
            </a:pPr>
            <a:r>
              <a:rPr sz="1125" b="1">
                <a:solidFill>
                  <a:srgbClr val="425466"/>
                </a:solidFill>
                <a:latin typeface="Helvetica Neue"/>
                <a:ea typeface="Helvetica Neue"/>
                <a:cs typeface="Helvetica Neue"/>
              </a:rPr>
              <a:t>WHAT THE PACKAGE ESTABLISHES</a:t>
            </a:r>
          </a:p>
        </p:txBody>
      </p:sp>
      <p:sp>
        <p:nvSpPr>
          <p:cNvPr id="8" name="">
            <a:extLst xmlns:a="http://schemas.openxmlformats.org/drawingml/2006/main">
              <a:ext uri="{FF2B5EF4-FFF2-40B4-BE49-F238E27FC236}">
                <a16:creationId xmlns:a16="http://schemas.microsoft.com/office/drawing/2014/main" id="{87A8FEBD-950B-449C-ADBD-897ADD4968D7}"/>
              </a:ext>
            </a:extLst>
          </p:cNvPr>
          <p:cNvSpPr>
            <a:spLocks xmlns:a="http://schemas.openxmlformats.org/drawingml/2006/main" noGrp="1"/>
          </p:cNvSpPr>
          <p:nvPr/>
        </p:nvSpPr>
        <p:spPr>
          <a:xfrm xmlns:a="http://schemas.openxmlformats.org/drawingml/2006/main">
            <a:off x="781050" y="2076450"/>
            <a:ext cx="43815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beam fell with the keeper present.</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rolls had been removed.</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balance remained raised.</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B hydraulics had been isolated and bled.</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gravity-control record had gaps.</a:t>
            </a:r>
          </a:p>
        </p:txBody>
      </p:sp>
      <p:sp>
        <p:nvSpPr>
          <p:cNvPr id="9" name="">
            <a:extLst xmlns:a="http://schemas.openxmlformats.org/drawingml/2006/main">
              <a:ext uri="{FF2B5EF4-FFF2-40B4-BE49-F238E27FC236}">
                <a16:creationId xmlns:a16="http://schemas.microsoft.com/office/drawing/2014/main" id="{0DED0ADE-1750-4634-9EB5-7DC8EDD6CBE2}"/>
              </a:ext>
            </a:extLst>
          </p:cNvPr>
          <p:cNvSpPr>
            <a:spLocks xmlns:a="http://schemas.openxmlformats.org/drawingml/2006/main" noGrp="1"/>
          </p:cNvSpPr>
          <p:nvPr/>
        </p:nvSpPr>
        <p:spPr>
          <a:xfrm xmlns:a="http://schemas.openxmlformats.org/drawingml/2006/main">
            <a:off x="5619750" y="1581150"/>
            <a:ext cx="19050" cy="426720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3D0D3CC-66EC-4947-ADC1-C7A33FE26E02}"/>
              </a:ext>
            </a:extLst>
          </p:cNvPr>
          <p:cNvSpPr>
            <a:spLocks xmlns:a="http://schemas.openxmlformats.org/drawingml/2006/main" noGrp="1"/>
          </p:cNvSpPr>
          <p:nvPr/>
        </p:nvSpPr>
        <p:spPr>
          <a:xfrm xmlns:a="http://schemas.openxmlformats.org/drawingml/2006/main">
            <a:off x="6229350" y="1638300"/>
            <a:ext cx="76200" cy="209550"/>
          </a:xfrm>
          <a:prstGeom xmlns:a="http://schemas.openxmlformats.org/drawingml/2006/main" prst="rect">
            <a:avLst/>
          </a:prstGeom>
          <a:solidFill xmlns:a="http://schemas.openxmlformats.org/drawingml/2006/main">
            <a:srgbClr val="C9564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27D3CE9-A19E-47D5-B1D2-083E38DBF7B3}"/>
              </a:ext>
            </a:extLst>
          </p:cNvPr>
          <p:cNvSpPr>
            <a:spLocks xmlns:a="http://schemas.openxmlformats.org/drawingml/2006/main" noGrp="1"/>
          </p:cNvSpPr>
          <p:nvPr/>
        </p:nvSpPr>
        <p:spPr>
          <a:xfrm xmlns:a="http://schemas.openxmlformats.org/drawingml/2006/main">
            <a:off x="6400800" y="16002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425466"/>
                </a:solidFill>
                <a:latin typeface="Helvetica Neue"/>
                <a:ea typeface="Helvetica Neue"/>
                <a:cs typeface="Helvetica Neue"/>
              </a:defRPr>
            </a:pPr>
            <a:r>
              <a:rPr sz="1125" b="1">
                <a:solidFill>
                  <a:srgbClr val="425466"/>
                </a:solidFill>
                <a:latin typeface="Helvetica Neue"/>
                <a:ea typeface="Helvetica Neue"/>
                <a:cs typeface="Helvetica Neue"/>
              </a:rPr>
              <a:t>WHAT THE PACKAGE DOES NOT PROVE</a:t>
            </a:r>
          </a:p>
        </p:txBody>
      </p:sp>
      <p:sp>
        <p:nvSpPr>
          <p:cNvPr id="12" name="">
            <a:extLst xmlns:a="http://schemas.openxmlformats.org/drawingml/2006/main">
              <a:ext uri="{FF2B5EF4-FFF2-40B4-BE49-F238E27FC236}">
                <a16:creationId xmlns:a16="http://schemas.microsoft.com/office/drawing/2014/main" id="{46666D87-2C06-4A97-BDDD-C695EDEE79BF}"/>
              </a:ext>
            </a:extLst>
          </p:cNvPr>
          <p:cNvSpPr>
            <a:spLocks xmlns:a="http://schemas.openxmlformats.org/drawingml/2006/main" noGrp="1"/>
          </p:cNvSpPr>
          <p:nvPr/>
        </p:nvSpPr>
        <p:spPr>
          <a:xfrm xmlns:a="http://schemas.openxmlformats.org/drawingml/2006/main">
            <a:off x="6286500" y="2076450"/>
            <a:ext cx="47625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keeper's load-bearing function.</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required support or stopper arrangement.</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Whether supports were installed, removed, or failed.</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exact release mechanism.</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Which procedural gap caused the physical failure.</a:t>
            </a:r>
          </a:p>
        </p:txBody>
      </p:sp>
      <p:sp>
        <p:nvSpPr>
          <p:cNvPr id="13" name="">
            <a:extLst xmlns:a="http://schemas.openxmlformats.org/drawingml/2006/main">
              <a:ext uri="{FF2B5EF4-FFF2-40B4-BE49-F238E27FC236}">
                <a16:creationId xmlns:a16="http://schemas.microsoft.com/office/drawing/2014/main" id="{5371F330-5F2E-492C-989D-C7ECE750E7C4}"/>
              </a:ext>
            </a:extLst>
          </p:cNvPr>
          <p:cNvSpPr>
            <a:spLocks xmlns:a="http://schemas.openxmlformats.org/drawingml/2006/main" noGrp="1"/>
          </p:cNvSpPr>
          <p:nvPr/>
        </p:nvSpPr>
        <p:spPr>
          <a:xfrm xmlns:a="http://schemas.openxmlformats.org/drawingml/2006/main">
            <a:off x="2171700" y="5524500"/>
            <a:ext cx="784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948"/>
          </a:bodyPr>
          <a:lstStyle xmlns:a="http://schemas.openxmlformats.org/drawingml/2006/main"/>
          <a:p xmlns:a="http://schemas.openxmlformats.org/drawingml/2006/main">
            <a:pPr algn="ctr">
              <a:defRPr sz="2250" b="1">
                <a:solidFill>
                  <a:srgbClr val="10263C"/>
                </a:solidFill>
                <a:latin typeface="Helvetica Neue"/>
                <a:ea typeface="Helvetica Neue"/>
                <a:cs typeface="Helvetica Neue"/>
              </a:defRPr>
            </a:pPr>
            <a:r>
              <a:rPr sz="2250" b="1">
                <a:solidFill>
                  <a:srgbClr val="10263C"/>
                </a:solidFill>
                <a:latin typeface="Helvetica Neue"/>
                <a:ea typeface="Helvetica Neue"/>
                <a:cs typeface="Helvetica Neue"/>
              </a:rPr>
              <a:t>The test mixes model limitations with missing ground truth</a:t>
            </a:r>
          </a:p>
        </p:txBody>
      </p:sp>
    </p:spTree>
    <p:extLst>
      <p:ext uri="{BB962C8B-B14F-4D97-AF65-F5344CB8AC3E}">
        <p14:creationId xmlns:p14="http://schemas.microsoft.com/office/powerpoint/2010/main" val="1400327978"/>
      </p:ext>
    </p:extLst>
  </p:cSld>
</p:sld>
</file>

<file path=ppt/slides/slide15.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D95BF9B-56F6-4443-88A5-0B68F33D0C97}"/>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A partner RCA can create a valid ground-truth test</a:t>
            </a:r>
          </a:p>
        </p:txBody>
      </p:sp>
      <p:sp>
        <p:nvSpPr>
          <p:cNvPr id="2" name="">
            <a:extLst xmlns:a="http://schemas.openxmlformats.org/drawingml/2006/main">
              <a:ext uri="{FF2B5EF4-FFF2-40B4-BE49-F238E27FC236}">
                <a16:creationId xmlns:a16="http://schemas.microsoft.com/office/drawing/2014/main" id="{6CA54103-1F9E-49DC-84B9-4E7DC8D4D070}"/>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completed RCA provides the answer key. Its underlying evidence provides the fair model input.</a:t>
            </a:r>
          </a:p>
        </p:txBody>
      </p:sp>
      <p:sp>
        <p:nvSpPr>
          <p:cNvPr id="3" name="">
            <a:extLst xmlns:a="http://schemas.openxmlformats.org/drawingml/2006/main">
              <a:ext uri="{FF2B5EF4-FFF2-40B4-BE49-F238E27FC236}">
                <a16:creationId xmlns:a16="http://schemas.microsoft.com/office/drawing/2014/main" id="{95D6C90E-4F2F-4871-B834-9C1B14F7E948}"/>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81F9000-BBA7-4D66-918E-1A5A9250A10A}"/>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Recommended validation design based on the current benchmark limitation</a:t>
            </a:r>
          </a:p>
        </p:txBody>
      </p:sp>
      <p:sp>
        <p:nvSpPr>
          <p:cNvPr id="5" name="">
            <a:extLst xmlns:a="http://schemas.openxmlformats.org/drawingml/2006/main">
              <a:ext uri="{FF2B5EF4-FFF2-40B4-BE49-F238E27FC236}">
                <a16:creationId xmlns:a16="http://schemas.microsoft.com/office/drawing/2014/main" id="{C11F5D38-5370-4CA8-9783-DD6E93B2C91E}"/>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15</a:t>
            </a:r>
          </a:p>
        </p:txBody>
      </p:sp>
      <p:sp>
        <p:nvSpPr>
          <p:cNvPr id="6" name="">
            <a:extLst xmlns:a="http://schemas.openxmlformats.org/drawingml/2006/main">
              <a:ext uri="{FF2B5EF4-FFF2-40B4-BE49-F238E27FC236}">
                <a16:creationId xmlns:a16="http://schemas.microsoft.com/office/drawing/2014/main" id="{E4003CB4-041C-4F5F-B5B7-9B3100DD350C}"/>
              </a:ext>
            </a:extLst>
          </p:cNvPr>
          <p:cNvSpPr>
            <a:spLocks xmlns:a="http://schemas.openxmlformats.org/drawingml/2006/main" noGrp="1"/>
          </p:cNvSpPr>
          <p:nvPr/>
        </p:nvSpPr>
        <p:spPr>
          <a:xfrm xmlns:a="http://schemas.openxmlformats.org/drawingml/2006/main">
            <a:off x="666750" y="1924050"/>
            <a:ext cx="2095500" cy="781050"/>
          </a:xfrm>
          <a:prstGeom xmlns:a="http://schemas.openxmlformats.org/drawingml/2006/main" prst="roundRect">
            <a:avLst>
              <a:gd name="adj" fmla="val 9756"/>
            </a:avLst>
          </a:prstGeom>
          <a:solidFill xmlns:a="http://schemas.openxmlformats.org/drawingml/2006/main">
            <a:srgbClr val="F7E5BE"/>
          </a:solidFill>
          <a:ln xmlns:a="http://schemas.openxmlformats.org/drawingml/2006/main" w="9525">
            <a:solidFill>
              <a:srgbClr val="E5A32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Partner's completed RCA</a:t>
            </a:r>
          </a:p>
        </p:txBody>
      </p:sp>
      <p:sp>
        <p:nvSpPr>
          <p:cNvPr id="7" name="">
            <a:extLst xmlns:a="http://schemas.openxmlformats.org/drawingml/2006/main">
              <a:ext uri="{FF2B5EF4-FFF2-40B4-BE49-F238E27FC236}">
                <a16:creationId xmlns:a16="http://schemas.microsoft.com/office/drawing/2014/main" id="{6F74BD7C-254F-4466-9968-A77C30C9C7C1}"/>
              </a:ext>
            </a:extLst>
          </p:cNvPr>
          <p:cNvSpPr>
            <a:spLocks xmlns:a="http://schemas.openxmlformats.org/drawingml/2006/main" noGrp="1"/>
          </p:cNvSpPr>
          <p:nvPr/>
        </p:nvSpPr>
        <p:spPr>
          <a:xfrm xmlns:a="http://schemas.openxmlformats.org/drawingml/2006/main">
            <a:off x="3524250" y="1924050"/>
            <a:ext cx="2381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93153"/>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Identify accepted sequence,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mechanism, barriers, and causes</a:t>
            </a:r>
          </a:p>
        </p:txBody>
      </p:sp>
      <p:sp>
        <p:nvSpPr>
          <p:cNvPr id="8" name="">
            <a:extLst xmlns:a="http://schemas.openxmlformats.org/drawingml/2006/main">
              <a:ext uri="{FF2B5EF4-FFF2-40B4-BE49-F238E27FC236}">
                <a16:creationId xmlns:a16="http://schemas.microsoft.com/office/drawing/2014/main" id="{13569EDD-345F-4F00-9CDE-B142C2E3A693}"/>
              </a:ext>
            </a:extLst>
          </p:cNvPr>
          <p:cNvSpPr>
            <a:spLocks xmlns:a="http://schemas.openxmlformats.org/drawingml/2006/main" noGrp="1"/>
          </p:cNvSpPr>
          <p:nvPr/>
        </p:nvSpPr>
        <p:spPr>
          <a:xfrm xmlns:a="http://schemas.openxmlformats.org/drawingml/2006/main">
            <a:off x="6667500" y="1924050"/>
            <a:ext cx="2381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9918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Assemble only the records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used to reach those findings</a:t>
            </a:r>
          </a:p>
        </p:txBody>
      </p:sp>
      <p:sp>
        <p:nvSpPr>
          <p:cNvPr id="9" name="">
            <a:extLst xmlns:a="http://schemas.openxmlformats.org/drawingml/2006/main">
              <a:ext uri="{FF2B5EF4-FFF2-40B4-BE49-F238E27FC236}">
                <a16:creationId xmlns:a16="http://schemas.microsoft.com/office/drawing/2014/main" id="{B37F83A4-7B1B-49DC-AA86-6910D0B3DFC9}"/>
              </a:ext>
            </a:extLst>
          </p:cNvPr>
          <p:cNvSpPr>
            <a:spLocks xmlns:a="http://schemas.openxmlformats.org/drawingml/2006/main" noGrp="1"/>
          </p:cNvSpPr>
          <p:nvPr/>
        </p:nvSpPr>
        <p:spPr>
          <a:xfrm xmlns:a="http://schemas.openxmlformats.org/drawingml/2006/main">
            <a:off x="9810750" y="1924050"/>
            <a:ext cx="1714500" cy="781050"/>
          </a:xfrm>
          <a:prstGeom xmlns:a="http://schemas.openxmlformats.org/drawingml/2006/main" prst="roundRect">
            <a:avLst>
              <a:gd name="adj" fmla="val 9756"/>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Run blind model tests</a:t>
            </a:r>
          </a:p>
        </p:txBody>
      </p: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2762250" y="2314575"/>
            <a:ext cx="762000" cy="0"/>
          </a:xfrm>
          <a:prstGeom xmlns:a="http://schemas.openxmlformats.org/drawingml/2006/main" prst="straightConnector1">
            <a:avLst/>
          </a:prstGeom>
          <a:ln xmlns:a="http://schemas.openxmlformats.org/drawingml/2006/main" w="19050">
            <a:solidFill>
              <a:srgbClr val="425466"/>
            </a:solidFill>
            <a:prstDash val="solid"/>
            <a:headEnd type="arrow" w="med" len="med"/>
          </a:ln>
        </p:spPr>
      </p:cxn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5905500" y="2314575"/>
            <a:ext cx="762000" cy="0"/>
          </a:xfrm>
          <a:prstGeom xmlns:a="http://schemas.openxmlformats.org/drawingml/2006/main" prst="straightConnector1">
            <a:avLst/>
          </a:prstGeom>
          <a:ln xmlns:a="http://schemas.openxmlformats.org/drawingml/2006/main" w="19050">
            <a:solidFill>
              <a:srgbClr val="425466"/>
            </a:solidFill>
            <a:prstDash val="solid"/>
            <a:headEnd type="arrow" w="med" len="med"/>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a:off x="9048750" y="2314575"/>
            <a:ext cx="762000" cy="0"/>
          </a:xfrm>
          <a:prstGeom xmlns:a="http://schemas.openxmlformats.org/drawingml/2006/main" prst="straightConnector1">
            <a:avLst/>
          </a:prstGeom>
          <a:ln xmlns:a="http://schemas.openxmlformats.org/drawingml/2006/main" w="19050">
            <a:solidFill>
              <a:srgbClr val="425466"/>
            </a:solidFill>
            <a:prstDash val="solid"/>
            <a:headEnd type="arrow" w="med" len="med"/>
          </a:ln>
        </p:spPr>
      </p:cxnSp>
      <p:sp>
        <p:nvSpPr>
          <p:cNvPr id="13" name="">
            <a:extLst xmlns:a="http://schemas.openxmlformats.org/drawingml/2006/main">
              <a:ext uri="{FF2B5EF4-FFF2-40B4-BE49-F238E27FC236}">
                <a16:creationId xmlns:a16="http://schemas.microsoft.com/office/drawing/2014/main" id="{36157059-F1AC-40A0-BFF6-D5C423324BB7}"/>
              </a:ext>
            </a:extLst>
          </p:cNvPr>
          <p:cNvSpPr>
            <a:spLocks xmlns:a="http://schemas.openxmlformats.org/drawingml/2006/main" noGrp="1"/>
          </p:cNvSpPr>
          <p:nvPr/>
        </p:nvSpPr>
        <p:spPr>
          <a:xfrm xmlns:a="http://schemas.openxmlformats.org/drawingml/2006/main">
            <a:off x="1524000" y="3619500"/>
            <a:ext cx="9144000" cy="19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3846D00-C2CF-4031-B41E-38243EA47FAF}"/>
              </a:ext>
            </a:extLst>
          </p:cNvPr>
          <p:cNvSpPr>
            <a:spLocks xmlns:a="http://schemas.openxmlformats.org/drawingml/2006/main" noGrp="1"/>
          </p:cNvSpPr>
          <p:nvPr/>
        </p:nvSpPr>
        <p:spPr>
          <a:xfrm xmlns:a="http://schemas.openxmlformats.org/drawingml/2006/main">
            <a:off x="1619250" y="39624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722"/>
          </a:bodyPr>
          <a:lstStyle xmlns:a="http://schemas.openxmlformats.org/drawingml/2006/main"/>
          <a:p xmlns:a="http://schemas.openxmlformats.org/drawingml/2006/main">
            <a:pPr algn="l">
              <a:defRPr sz="1800" b="1">
                <a:solidFill>
                  <a:srgbClr val="168B85"/>
                </a:solidFill>
                <a:latin typeface="Helvetica Neue"/>
                <a:ea typeface="Helvetica Neue"/>
                <a:cs typeface="Helvetica Neue"/>
              </a:defRPr>
            </a:pPr>
            <a:r>
              <a:rPr sz="1800" b="1">
                <a:solidFill>
                  <a:srgbClr val="168B85"/>
                </a:solidFill>
                <a:latin typeface="Helvetica Neue"/>
                <a:ea typeface="Helvetica Neue"/>
                <a:cs typeface="Helvetica Neue"/>
              </a:rPr>
              <a:t>Fair test</a:t>
            </a:r>
          </a:p>
        </p:txBody>
      </p:sp>
      <p:sp>
        <p:nvSpPr>
          <p:cNvPr id="15" name="">
            <a:extLst xmlns:a="http://schemas.openxmlformats.org/drawingml/2006/main">
              <a:ext uri="{FF2B5EF4-FFF2-40B4-BE49-F238E27FC236}">
                <a16:creationId xmlns:a16="http://schemas.microsoft.com/office/drawing/2014/main" id="{AD525FD1-B390-4E66-BDE1-D0E97C16B663}"/>
              </a:ext>
            </a:extLst>
          </p:cNvPr>
          <p:cNvSpPr>
            <a:spLocks xmlns:a="http://schemas.openxmlformats.org/drawingml/2006/main" noGrp="1"/>
          </p:cNvSpPr>
          <p:nvPr/>
        </p:nvSpPr>
        <p:spPr>
          <a:xfrm xmlns:a="http://schemas.openxmlformats.org/drawingml/2006/main">
            <a:off x="1619250" y="4400550"/>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588"/>
          </a:bodyPr>
          <a:lstStyle xmlns:a="http://schemas.openxmlformats.org/drawingml/2006/main"/>
          <a:p xmlns:a="http://schemas.openxmlformats.org/drawingml/2006/main">
            <a:pPr algn="l">
              <a:defRPr sz="1575" b="0">
                <a:solidFill>
                  <a:srgbClr val="425466"/>
                </a:solidFill>
                <a:latin typeface="Helvetica Neue"/>
                <a:ea typeface="Helvetica Neue"/>
                <a:cs typeface="Helvetica Neue"/>
              </a:defRPr>
            </a:pPr>
            <a:r>
              <a:rPr sz="1575" b="0">
                <a:solidFill>
                  <a:srgbClr val="425466"/>
                </a:solidFill>
                <a:latin typeface="Helvetica Neue"/>
                <a:ea typeface="Helvetica Neue"/>
                <a:cs typeface="Helvetica Neue"/>
              </a:rPr>
              <a:t>Models receive the underlying documents without the completed RCA.</a:t>
            </a:r>
          </a:p>
        </p:txBody>
      </p:sp>
      <p:sp>
        <p:nvSpPr>
          <p:cNvPr id="16" name="">
            <a:extLst xmlns:a="http://schemas.openxmlformats.org/drawingml/2006/main">
              <a:ext uri="{FF2B5EF4-FFF2-40B4-BE49-F238E27FC236}">
                <a16:creationId xmlns:a16="http://schemas.microsoft.com/office/drawing/2014/main" id="{C5110414-1277-4BED-AD96-EB94443056E7}"/>
              </a:ext>
            </a:extLst>
          </p:cNvPr>
          <p:cNvSpPr>
            <a:spLocks xmlns:a="http://schemas.openxmlformats.org/drawingml/2006/main" noGrp="1"/>
          </p:cNvSpPr>
          <p:nvPr/>
        </p:nvSpPr>
        <p:spPr>
          <a:xfrm xmlns:a="http://schemas.openxmlformats.org/drawingml/2006/main">
            <a:off x="5524500" y="39624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722"/>
          </a:bodyPr>
          <a:lstStyle xmlns:a="http://schemas.openxmlformats.org/drawingml/2006/main"/>
          <a:p xmlns:a="http://schemas.openxmlformats.org/drawingml/2006/main">
            <a:pPr algn="l">
              <a:defRPr sz="1800" b="1">
                <a:solidFill>
                  <a:srgbClr val="E5A32D"/>
                </a:solidFill>
                <a:latin typeface="Helvetica Neue"/>
                <a:ea typeface="Helvetica Neue"/>
                <a:cs typeface="Helvetica Neue"/>
              </a:defRPr>
            </a:pPr>
            <a:r>
              <a:rPr sz="1800" b="1">
                <a:solidFill>
                  <a:srgbClr val="E5A32D"/>
                </a:solidFill>
                <a:latin typeface="Helvetica Neue"/>
                <a:ea typeface="Helvetica Neue"/>
                <a:cs typeface="Helvetica Neue"/>
              </a:rPr>
              <a:t>Ground truth</a:t>
            </a:r>
          </a:p>
        </p:txBody>
      </p:sp>
      <p:sp>
        <p:nvSpPr>
          <p:cNvPr id="17" name="">
            <a:extLst xmlns:a="http://schemas.openxmlformats.org/drawingml/2006/main">
              <a:ext uri="{FF2B5EF4-FFF2-40B4-BE49-F238E27FC236}">
                <a16:creationId xmlns:a16="http://schemas.microsoft.com/office/drawing/2014/main" id="{87AE1942-2F3B-4D66-9B5E-A1C70126315B}"/>
              </a:ext>
            </a:extLst>
          </p:cNvPr>
          <p:cNvSpPr>
            <a:spLocks xmlns:a="http://schemas.openxmlformats.org/drawingml/2006/main" noGrp="1"/>
          </p:cNvSpPr>
          <p:nvPr/>
        </p:nvSpPr>
        <p:spPr>
          <a:xfrm xmlns:a="http://schemas.openxmlformats.org/drawingml/2006/main">
            <a:off x="5524500" y="4400550"/>
            <a:ext cx="352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p xmlns:a="http://schemas.openxmlformats.org/drawingml/2006/main">
            <a:pPr algn="l">
              <a:defRPr sz="1575" b="0">
                <a:solidFill>
                  <a:srgbClr val="425466"/>
                </a:solidFill>
                <a:latin typeface="Helvetica Neue"/>
                <a:ea typeface="Helvetica Neue"/>
                <a:cs typeface="Helvetica Neue"/>
              </a:defRPr>
            </a:pPr>
            <a:r>
              <a:rPr sz="1575" b="0">
                <a:solidFill>
                  <a:srgbClr val="425466"/>
                </a:solidFill>
                <a:latin typeface="Helvetica Neue"/>
                <a:ea typeface="Helvetica Neue"/>
                <a:cs typeface="Helvetica Neue"/>
              </a:rPr>
              <a:t>Reviewers compare each model's causal chain with the partner's accepted findings.</a:t>
            </a:r>
          </a:p>
        </p:txBody>
      </p:sp>
      <p:sp>
        <p:nvSpPr>
          <p:cNvPr id="18" name="">
            <a:extLst xmlns:a="http://schemas.openxmlformats.org/drawingml/2006/main">
              <a:ext uri="{FF2B5EF4-FFF2-40B4-BE49-F238E27FC236}">
                <a16:creationId xmlns:a16="http://schemas.microsoft.com/office/drawing/2014/main" id="{92711132-D59C-4333-AA12-EAE9F9E1A0B1}"/>
              </a:ext>
            </a:extLst>
          </p:cNvPr>
          <p:cNvSpPr>
            <a:spLocks xmlns:a="http://schemas.openxmlformats.org/drawingml/2006/main" noGrp="1"/>
          </p:cNvSpPr>
          <p:nvPr/>
        </p:nvSpPr>
        <p:spPr>
          <a:xfrm xmlns:a="http://schemas.openxmlformats.org/drawingml/2006/main">
            <a:off x="9239250" y="39624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722"/>
          </a:bodyPr>
          <a:lstStyle xmlns:a="http://schemas.openxmlformats.org/drawingml/2006/main"/>
          <a:p xmlns:a="http://schemas.openxmlformats.org/drawingml/2006/main">
            <a:pPr algn="l">
              <a:defRPr sz="1800" b="1">
                <a:solidFill>
                  <a:srgbClr val="3377B5"/>
                </a:solidFill>
                <a:latin typeface="Helvetica Neue"/>
                <a:ea typeface="Helvetica Neue"/>
                <a:cs typeface="Helvetica Neue"/>
              </a:defRPr>
            </a:pPr>
            <a:r>
              <a:rPr sz="1800" b="1">
                <a:solidFill>
                  <a:srgbClr val="3377B5"/>
                </a:solidFill>
                <a:latin typeface="Helvetica Neue"/>
                <a:ea typeface="Helvetica Neue"/>
                <a:cs typeface="Helvetica Neue"/>
              </a:rPr>
              <a:t>What improves</a:t>
            </a:r>
          </a:p>
        </p:txBody>
      </p:sp>
      <p:sp>
        <p:nvSpPr>
          <p:cNvPr id="19" name="">
            <a:extLst xmlns:a="http://schemas.openxmlformats.org/drawingml/2006/main">
              <a:ext uri="{FF2B5EF4-FFF2-40B4-BE49-F238E27FC236}">
                <a16:creationId xmlns:a16="http://schemas.microsoft.com/office/drawing/2014/main" id="{AA83F2EF-82A0-43F6-B551-93FF35BF51DE}"/>
              </a:ext>
            </a:extLst>
          </p:cNvPr>
          <p:cNvSpPr>
            <a:spLocks xmlns:a="http://schemas.openxmlformats.org/drawingml/2006/main" noGrp="1"/>
          </p:cNvSpPr>
          <p:nvPr/>
        </p:nvSpPr>
        <p:spPr>
          <a:xfrm xmlns:a="http://schemas.openxmlformats.org/drawingml/2006/main">
            <a:off x="9239250" y="44005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3488"/>
          </a:bodyPr>
          <a:lstStyle xmlns:a="http://schemas.openxmlformats.org/drawingml/2006/main"/>
          <a:p xmlns:a="http://schemas.openxmlformats.org/drawingml/2006/main">
            <a:pPr algn="l">
              <a:defRPr sz="1575" b="0">
                <a:solidFill>
                  <a:srgbClr val="425466"/>
                </a:solidFill>
                <a:latin typeface="Helvetica Neue"/>
                <a:ea typeface="Helvetica Neue"/>
                <a:cs typeface="Helvetica Neue"/>
              </a:defRPr>
            </a:pPr>
            <a:r>
              <a:rPr sz="1575" b="0">
                <a:solidFill>
                  <a:srgbClr val="425466"/>
                </a:solidFill>
                <a:latin typeface="Helvetica Neue"/>
                <a:ea typeface="Helvetica Neue"/>
                <a:cs typeface="Helvetica Neue"/>
              </a:rPr>
              <a:t>The test can separate missing data from failures in the method or model.</a:t>
            </a:r>
          </a:p>
        </p:txBody>
      </p:sp>
      <p:sp>
        <p:nvSpPr>
          <p:cNvPr id="20" name="">
            <a:extLst xmlns:a="http://schemas.openxmlformats.org/drawingml/2006/main">
              <a:ext uri="{FF2B5EF4-FFF2-40B4-BE49-F238E27FC236}">
                <a16:creationId xmlns:a16="http://schemas.microsoft.com/office/drawing/2014/main" id="{D3467FF3-4DD4-4029-9A08-D35F9FBC9BD7}"/>
              </a:ext>
            </a:extLst>
          </p:cNvPr>
          <p:cNvSpPr>
            <a:spLocks xmlns:a="http://schemas.openxmlformats.org/drawingml/2006/main" noGrp="1"/>
          </p:cNvSpPr>
          <p:nvPr/>
        </p:nvSpPr>
        <p:spPr>
          <a:xfrm xmlns:a="http://schemas.openxmlformats.org/drawingml/2006/main">
            <a:off x="1943100" y="5638800"/>
            <a:ext cx="830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834"/>
          </a:bodyPr>
          <a:lstStyle xmlns:a="http://schemas.openxmlformats.org/drawingml/2006/main"/>
          <a:p xmlns:a="http://schemas.openxmlformats.org/drawingml/2006/main">
            <a:pPr algn="ctr">
              <a:defRPr sz="2100" b="1">
                <a:solidFill>
                  <a:srgbClr val="10263C"/>
                </a:solidFill>
                <a:latin typeface="Helvetica Neue"/>
                <a:ea typeface="Helvetica Neue"/>
                <a:cs typeface="Helvetica Neue"/>
              </a:defRPr>
            </a:pPr>
            <a:r>
              <a:rPr sz="2100" b="1">
                <a:solidFill>
                  <a:srgbClr val="10263C"/>
                </a:solidFill>
                <a:latin typeface="Helvetica Neue"/>
                <a:ea typeface="Helvetica Neue"/>
                <a:cs typeface="Helvetica Neue"/>
              </a:rPr>
              <a:t>Best next input: the partner RCA plus every source record it relied on</a:t>
            </a:r>
          </a:p>
        </p:txBody>
      </p:sp>
    </p:spTree>
    <p:extLst>
      <p:ext uri="{BB962C8B-B14F-4D97-AF65-F5344CB8AC3E}">
        <p14:creationId xmlns:p14="http://schemas.microsoft.com/office/powerpoint/2010/main" val="7407652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2026-09-08T13:36:07.9860000Z</dcterms:created>
  <dcterms:modified xsi:type="dcterms:W3CDTF">2026-09-08T13:36:07.9860000Z</dcterms:modified>
</coreProperties>
</file>