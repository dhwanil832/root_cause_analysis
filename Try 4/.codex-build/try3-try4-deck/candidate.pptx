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3c34b37c564bda" /><Relationship Type="http://schemas.openxmlformats.org/officeDocument/2006/relationships/extended-properties" Target="/docProps/app.xml" Id="R0ecac449a98a4ae5" /><Relationship Type="http://schemas.openxmlformats.org/officeDocument/2006/relationships/officeDocument" Target="/ppt/presentation.xml" Id="Rfe522705a1a34e6f" /></Relationships>
</file>

<file path=ppt/presentation.xml><?xml version="1.0" encoding="utf-8"?>
<p:presentation xmlns:p="http://schemas.openxmlformats.org/presentationml/2006/main">
  <p:sldMasterIdLst>
    <p:sldMasterId xmlns:r="http://schemas.openxmlformats.org/officeDocument/2006/relationships" id="2147483648" r:id="R76fa9e82a4564a0c"/>
  </p:sldMasterIdLst>
  <p:notesMasterIdLst>
    <p:notesMasterId xmlns:r="http://schemas.openxmlformats.org/officeDocument/2006/relationships" r:id="Rc14458d78a814d9b"/>
  </p:notesMasterIdLst>
  <p:sldIdLst>
    <p:sldId xmlns:r="http://schemas.openxmlformats.org/officeDocument/2006/relationships" id="256" r:id="Re6b572bde8184a49"/>
    <p:sldId xmlns:r="http://schemas.openxmlformats.org/officeDocument/2006/relationships" id="257" r:id="R7c34b86ef0b4442f"/>
    <p:sldId xmlns:r="http://schemas.openxmlformats.org/officeDocument/2006/relationships" id="258" r:id="R1b50090dafb441fb"/>
    <p:sldId xmlns:r="http://schemas.openxmlformats.org/officeDocument/2006/relationships" id="259" r:id="Rfaa7e7ab2e7c4f4d"/>
    <p:sldId xmlns:r="http://schemas.openxmlformats.org/officeDocument/2006/relationships" id="260" r:id="R4c3ec6d7a02642b6"/>
    <p:sldId xmlns:r="http://schemas.openxmlformats.org/officeDocument/2006/relationships" id="261" r:id="R2f3d29bf5cbd48d2"/>
    <p:sldId xmlns:r="http://schemas.openxmlformats.org/officeDocument/2006/relationships" id="262" r:id="R66bb374c43954f53"/>
    <p:sldId xmlns:r="http://schemas.openxmlformats.org/officeDocument/2006/relationships" id="263" r:id="R70a350565fdf40e7"/>
    <p:sldId xmlns:r="http://schemas.openxmlformats.org/officeDocument/2006/relationships" id="264" r:id="Rcdae34d3d18749eb"/>
    <p:sldId xmlns:r="http://schemas.openxmlformats.org/officeDocument/2006/relationships" id="265" r:id="R283cca387a774fee"/>
    <p:sldId xmlns:r="http://schemas.openxmlformats.org/officeDocument/2006/relationships" id="266" r:id="R4b6c5964f0634d49"/>
    <p:sldId xmlns:r="http://schemas.openxmlformats.org/officeDocument/2006/relationships" id="267" r:id="Rd2026de5774e45a9"/>
    <p:sldId xmlns:r="http://schemas.openxmlformats.org/officeDocument/2006/relationships" id="268" r:id="R8f1a5de297d045c3"/>
    <p:sldId xmlns:r="http://schemas.openxmlformats.org/officeDocument/2006/relationships" id="269" r:id="R9037f0a493584588"/>
    <p:sldId xmlns:r="http://schemas.openxmlformats.org/officeDocument/2006/relationships" id="270" r:id="R7c624f90fd9e4256"/>
    <p:sldId xmlns:r="http://schemas.openxmlformats.org/officeDocument/2006/relationships" id="271" r:id="Rf3e0dd70a0594a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359f82a48a4db5" /><Relationship Type="http://schemas.openxmlformats.org/officeDocument/2006/relationships/slideMaster" Target="/ppt/slideMasters/slideMaster1.xml" Id="R76fa9e82a4564a0c" /><Relationship Type="http://schemas.openxmlformats.org/officeDocument/2006/relationships/notesMaster" Target="/ppt/notesMasters/notesMaster1.xml" Id="Rc14458d78a814d9b" /><Relationship Type="http://schemas.openxmlformats.org/officeDocument/2006/relationships/presProps" Target="/ppt/presProps.xml" Id="R23853b2ad3454885" /><Relationship Type="http://schemas.openxmlformats.org/officeDocument/2006/relationships/tableStyles" Target="/ppt/tableStyles.xml" Id="R54731b9cf6a5445b" /><Relationship Type="http://schemas.openxmlformats.org/officeDocument/2006/relationships/slide" Target="/ppt/slides/slide1.xml" Id="Re6b572bde8184a49" /><Relationship Type="http://schemas.openxmlformats.org/officeDocument/2006/relationships/slide" Target="/ppt/slides/slide2.xml" Id="R7c34b86ef0b4442f" /><Relationship Type="http://schemas.openxmlformats.org/officeDocument/2006/relationships/slide" Target="/ppt/slides/slide3.xml" Id="R1b50090dafb441fb" /><Relationship Type="http://schemas.openxmlformats.org/officeDocument/2006/relationships/slide" Target="/ppt/slides/slide4.xml" Id="Rfaa7e7ab2e7c4f4d" /><Relationship Type="http://schemas.openxmlformats.org/officeDocument/2006/relationships/slide" Target="/ppt/slides/slide5.xml" Id="R4c3ec6d7a02642b6" /><Relationship Type="http://schemas.openxmlformats.org/officeDocument/2006/relationships/slide" Target="/ppt/slides/slide6.xml" Id="R2f3d29bf5cbd48d2" /><Relationship Type="http://schemas.openxmlformats.org/officeDocument/2006/relationships/slide" Target="/ppt/slides/slide7.xml" Id="R66bb374c43954f53" /><Relationship Type="http://schemas.openxmlformats.org/officeDocument/2006/relationships/slide" Target="/ppt/slides/slide8.xml" Id="R70a350565fdf40e7" /><Relationship Type="http://schemas.openxmlformats.org/officeDocument/2006/relationships/slide" Target="/ppt/slides/slide9.xml" Id="Rcdae34d3d18749eb" /><Relationship Type="http://schemas.openxmlformats.org/officeDocument/2006/relationships/slide" Target="/ppt/slides/slide10.xml" Id="R283cca387a774fee" /><Relationship Type="http://schemas.openxmlformats.org/officeDocument/2006/relationships/slide" Target="/ppt/slides/slide11.xml" Id="R4b6c5964f0634d49" /><Relationship Type="http://schemas.openxmlformats.org/officeDocument/2006/relationships/slide" Target="/ppt/slides/slide12.xml" Id="Rd2026de5774e45a9" /><Relationship Type="http://schemas.openxmlformats.org/officeDocument/2006/relationships/slide" Target="/ppt/slides/slide13.xml" Id="R8f1a5de297d045c3" /><Relationship Type="http://schemas.openxmlformats.org/officeDocument/2006/relationships/slide" Target="/ppt/slides/slide14.xml" Id="R9037f0a493584588" /><Relationship Type="http://schemas.openxmlformats.org/officeDocument/2006/relationships/slide" Target="/ppt/slides/slide15.xml" Id="R7c624f90fd9e4256" /><Relationship Type="http://schemas.openxmlformats.org/officeDocument/2006/relationships/slide" Target="/ppt/slides/slide16.xml" Id="Rf3e0dd70a0594a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a72cec7b3847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88c6c234834b2d" /><Relationship Type="http://schemas.openxmlformats.org/officeDocument/2006/relationships/notesMaster" Target="/ppt/notesMasters/notesMaster1.xml" Id="R2d8cdfd0ae4a44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c8525dbb114ac1" /><Relationship Type="http://schemas.openxmlformats.org/officeDocument/2006/relationships/notesMaster" Target="/ppt/notesMasters/notesMaster1.xml" Id="R619416206b424e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264915bf8242dc" /><Relationship Type="http://schemas.openxmlformats.org/officeDocument/2006/relationships/notesMaster" Target="/ppt/notesMasters/notesMaster1.xml" Id="R8640df97cd244f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061f522a584b88" /><Relationship Type="http://schemas.openxmlformats.org/officeDocument/2006/relationships/notesMaster" Target="/ppt/notesMasters/notesMaster1.xml" Id="Rb95ad9c324514a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98bd8280e64932" /><Relationship Type="http://schemas.openxmlformats.org/officeDocument/2006/relationships/notesMaster" Target="/ppt/notesMasters/notesMaster1.xml" Id="R32895f53ecb742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e3c861092b41e1" /><Relationship Type="http://schemas.openxmlformats.org/officeDocument/2006/relationships/notesMaster" Target="/ppt/notesMasters/notesMaster1.xml" Id="Rfcfd662f441642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c1031f6d82432d" /><Relationship Type="http://schemas.openxmlformats.org/officeDocument/2006/relationships/notesMaster" Target="/ppt/notesMasters/notesMaster1.xml" Id="R8e15bbaafb8a45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498e64a6e74078" /><Relationship Type="http://schemas.openxmlformats.org/officeDocument/2006/relationships/notesMaster" Target="/ppt/notesMasters/notesMaster1.xml" Id="R66ff43f4ea4741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c4a53eebc44d36" /><Relationship Type="http://schemas.openxmlformats.org/officeDocument/2006/relationships/notesMaster" Target="/ppt/notesMasters/notesMaster1.xml" Id="R19da0003abf546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738c5d73c44629" /><Relationship Type="http://schemas.openxmlformats.org/officeDocument/2006/relationships/notesMaster" Target="/ppt/notesMasters/notesMaster1.xml" Id="Rcbbbb41757ba43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af1c8a14eb40fc" /><Relationship Type="http://schemas.openxmlformats.org/officeDocument/2006/relationships/notesMaster" Target="/ppt/notesMasters/notesMaster1.xml" Id="Ra142f354291642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f8234fb0e84156" /><Relationship Type="http://schemas.openxmlformats.org/officeDocument/2006/relationships/notesMaster" Target="/ppt/notesMasters/notesMaster1.xml" Id="Rc5a148e891a943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25072f1f924a96" /><Relationship Type="http://schemas.openxmlformats.org/officeDocument/2006/relationships/notesMaster" Target="/ppt/notesMasters/notesMaster1.xml" Id="Rd06cedaa829847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aa12d5bba04642" /><Relationship Type="http://schemas.openxmlformats.org/officeDocument/2006/relationships/notesMaster" Target="/ppt/notesMasters/notesMaster1.xml" Id="R086e7f257b1c45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426a8273bee4e05" /><Relationship Type="http://schemas.openxmlformats.org/officeDocument/2006/relationships/notesMaster" Target="/ppt/notesMasters/notesMaster1.xml" Id="R38b7ca70613743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df18909520a4567" /><Relationship Type="http://schemas.openxmlformats.org/officeDocument/2006/relationships/notesMaster" Target="/ppt/notesMasters/notesMaster1.xml" Id="Rfbe15381fc6443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Try 3 benchmark results and Try 4 qwen3.5 evaluation produced in the RCA Fieldwork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score leader: qwen3.5 at 64/100. Try 4 is model-independent. Qwen3.5 was the first and only model evaluated in Try 4 at the time of this deck, scoring 68/100 using the same rubric.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architecture summary. The flow is simplified for presentation and preserves the model-track separation described in the evaluation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Rubric weights: comprehension 10, tags 10, questions 15, evidence targeting 15, provenance and contradictions 15, causal reasoning 20, corrective actions 10, calibration and trace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rubric wording from evaluation_protocol.md, shortened only for slide fit without changing the scoring meaning.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scores: qwen3.5 64, qwen2.5 38, gemma3 31, mistral 29, llama3.1 27, hermes3 18, llama3.2 17, phi4-mini-reasoning 13, deepseek-r1 0, granite3.3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Explanations summarize the detailed findings in Try 3 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lower-ranked model findings. Zero scores reflect the absence of a committed artifact, not a claim that the models have no general capability.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Cross-model findings from Try 3: no scored output detected the seeded conflicts, several stages failed structured validation, and multiple boards contained weak or reversed causal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4 changes implemented in the duplicated application. The harness is model-independent and can run supported Ollama or API models. No model combination or model fallback was used in the first scored qwen3.5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4 is not a qwen-specific application. Any supported Ollama or API model can enter the same evidence, reasoning, and control layers. Qwen3.5 was the first model evaluated after the Try 4 improvements.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scored Try 4 run had 15 completed checkpoints, no failed reasoning stages, and one blocked corrective-action stage. Runtime was approximately 23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Dimension scores. Try 3 qwen: 9, 8, 13, 13, 4, 6, 7, 4. Try 4 qwen: 9, 9, 13, 14, 6, 12, 0, 5. Totals are 64 and 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Simplified rendering of the Try 4 qwen causal board. The actual board contains 13 nodes and 7 links. None were verified. Six blocking findings remained.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synthetic package contains useful records but lacks authoritative design and execution evidence required to verify the beam-release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next validation step. Do not give the completed RCA to the model during the blind test. Use it as the scoring reference and supply the underlying evidence records as model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f2c7be971648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785e29fb924a27" /><Relationship Type="http://schemas.openxmlformats.org/officeDocument/2006/relationships/slideLayout" Target="/ppt/slideLayouts/slideLayout1.xml" Id="Rdbd7d4bfa52d4f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d7d4bfa52d4f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02559410cc4336" /><Relationship Type="http://schemas.openxmlformats.org/officeDocument/2006/relationships/notesSlide" Target="/ppt/notesSlides/notesSlide1.xml" Id="Rf95087c1d0304d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9314bd068aa408d" /><Relationship Type="http://schemas.openxmlformats.org/officeDocument/2006/relationships/notesSlide" Target="/ppt/notesSlides/notesSlide2.xml" Id="R8425d8ecadb74b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692eb227a8434e" /><Relationship Type="http://schemas.openxmlformats.org/officeDocument/2006/relationships/notesSlide" Target="/ppt/notesSlides/notesSlide3.xml" Id="Rd07c4b33c5dc47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5e980a215b481a" /><Relationship Type="http://schemas.openxmlformats.org/officeDocument/2006/relationships/chart" Target="/ppt/slides/charts/chart1.xml" Id="R9840430062c04a96" /><Relationship Type="http://schemas.openxmlformats.org/officeDocument/2006/relationships/notesSlide" Target="/ppt/notesSlides/notesSlide4.xml" Id="R0df645482bd046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1b37b3aee44d5e" /><Relationship Type="http://schemas.openxmlformats.org/officeDocument/2006/relationships/notesSlide" Target="/ppt/notesSlides/notesSlide5.xml" Id="Rbf19794be4354d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b5f4de29f547ec" /><Relationship Type="http://schemas.openxmlformats.org/officeDocument/2006/relationships/chart" Target="/ppt/slides/charts/chart2.xml" Id="R184df1fbaff64261" /><Relationship Type="http://schemas.openxmlformats.org/officeDocument/2006/relationships/notesSlide" Target="/ppt/notesSlides/notesSlide6.xml" Id="R9ffc33b4e3f946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0041d90757477e" /><Relationship Type="http://schemas.openxmlformats.org/officeDocument/2006/relationships/notesSlide" Target="/ppt/notesSlides/notesSlide7.xml" Id="Ra053007f4d3e4f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3335142dff4d60" /><Relationship Type="http://schemas.openxmlformats.org/officeDocument/2006/relationships/notesSlide" Target="/ppt/notesSlides/notesSlide8.xml" Id="R864d8a0713634b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d03857373944bdf" /><Relationship Type="http://schemas.openxmlformats.org/officeDocument/2006/relationships/notesSlide" Target="/ppt/notesSlides/notesSlide9.xml" Id="R0b46e00a3b1f42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177dda8ab7e47be" /><Relationship Type="http://schemas.openxmlformats.org/officeDocument/2006/relationships/notesSlide" Target="/ppt/notesSlides/notesSlide10.xml" Id="R2607773df7c643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7ce2575467c45a5" /><Relationship Type="http://schemas.openxmlformats.org/officeDocument/2006/relationships/notesSlide" Target="/ppt/notesSlides/notesSlide11.xml" Id="R9f8184ab90364d5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bb01754f76644da" /><Relationship Type="http://schemas.openxmlformats.org/officeDocument/2006/relationships/notesSlide" Target="/ppt/notesSlides/notesSlide12.xml" Id="R465caa2d834741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38787eb6e7949de" /><Relationship Type="http://schemas.openxmlformats.org/officeDocument/2006/relationships/chart" Target="/ppt/slides/charts/chart3.xml" Id="Rdd114f74914f48a2" /><Relationship Type="http://schemas.openxmlformats.org/officeDocument/2006/relationships/notesSlide" Target="/ppt/notesSlides/notesSlide13.xml" Id="R61a10ab3842e43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0e17234d8814c23" /><Relationship Type="http://schemas.openxmlformats.org/officeDocument/2006/relationships/notesSlide" Target="/ppt/notesSlides/notesSlide14.xml" Id="Rcbae661575f147c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e034eab31ed4c27" /><Relationship Type="http://schemas.openxmlformats.org/officeDocument/2006/relationships/notesSlide" Target="/ppt/notesSlides/notesSlide15.xml" Id="R64ac561ff5694e5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883d788ad6b4642" /><Relationship Type="http://schemas.openxmlformats.org/officeDocument/2006/relationships/notesSlide" Target="/ppt/notesSlides/notesSlide16.xml" Id="R5713f20f19c643b3" /></Relationships>
</file>

<file path=ppt/slides/charts/chart1.xml><?xml version="1.0" encoding="utf-8"?>
<c:chartSpace xmlns:c="http://schemas.openxmlformats.org/drawingml/2006/chart">
  <c:lang val="en-US"/>
  <c:chart>
    <c:plotArea>
      <c:barChart>
        <c:barDir val="bar"/>
        <c:grouping val="clustered"/>
        <c:varyColors val="0"/>
        <c:ser>
          <c:idx val="0"/>
          <c:order val="0"/>
          <c:tx>
            <c:v>Available points</c:v>
          </c:tx>
          <c:spPr>
            <a:solidFill xmlns:a="http://schemas.openxmlformats.org/drawingml/2006/main">
              <a:srgbClr val="3377B5"/>
            </a:solidFill>
          </c:spPr>
          <c:cat>
            <c:strLit>
              <c:ptCount val="8"/>
              <c:pt idx="0">
                <c:v>Causal reasoning</c:v>
              </c:pt>
              <c:pt idx="1">
                <c:v>Questions</c:v>
              </c:pt>
              <c:pt idx="2">
                <c:v>Evidence targeting</c:v>
              </c:pt>
              <c:pt idx="3">
                <c:v>Provenance</c:v>
              </c:pt>
              <c:pt idx="4">
                <c:v>Comprehension</c:v>
              </c:pt>
              <c:pt idx="5">
                <c:v>Tags</c:v>
              </c:pt>
              <c:pt idx="6">
                <c:v>Corrective actions</c:v>
              </c:pt>
              <c:pt idx="7">
                <c:v>Calibration</c:v>
              </c:pt>
            </c:strLit>
          </c:cat>
          <c:val>
            <c:numLit>
              <c:formatCode>General</c:formatCode>
              <c:ptCount val="8"/>
              <c:pt idx="0">
                <c:v>20</c:v>
              </c:pt>
              <c:pt idx="1">
                <c:v>15</c:v>
              </c:pt>
              <c:pt idx="2">
                <c:v>15</c:v>
              </c:pt>
              <c:pt idx="3">
                <c:v>15</c:v>
              </c:pt>
              <c:pt idx="4">
                <c:v>10</c:v>
              </c:pt>
              <c:pt idx="5">
                <c:v>10</c:v>
              </c:pt>
              <c:pt idx="6">
                <c:v>10</c:v>
              </c:pt>
              <c:pt idx="7">
                <c:v>5</c:v>
              </c:pt>
            </c:numLit>
          </c:val>
        </c:ser>
        <c:dLbls>
          <c:txPr>
            <a:bodyPr xmlns:a="http://schemas.openxmlformats.org/drawingml/2006/main" anchorCtr="1"/>
            <a:lstStyle xmlns:a="http://schemas.openxmlformats.org/drawingml/2006/main"/>
            <a:p xmlns:a="http://schemas.openxmlformats.org/drawingml/2006/main">
              <a:pPr>
                <a:defRPr sz="1050" b="1">
                  <a:solidFill>
                    <a:srgbClr val="1026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CCD3D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B7B8C"/>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CD3D9"/>
            </a:solidFill>
            <a:prstDash val="solid"/>
          </a:ln>
        </c:spPr>
        <c:txPr>
          <a:bodyPr xmlns:a="http://schemas.openxmlformats.org/drawingml/2006/main" anchorCtr="1"/>
          <a:lstStyle xmlns:a="http://schemas.openxmlformats.org/drawingml/2006/main"/>
          <a:p xmlns:a="http://schemas.openxmlformats.org/drawingml/2006/main">
            <a:pPr>
              <a:defRPr sz="1125">
                <a:solidFill>
                  <a:srgbClr val="17212B"/>
                </a:solidFill>
                <a:latin typeface="Helvetica Neue"/>
                <a:ea typeface="Helvetica Neue"/>
                <a:cs typeface="Helvetica Neue"/>
              </a:defRPr>
            </a:pPr>
          </a:p>
        </c:txPr>
        <c:crossAx val="48650112"/>
        <c:crossBetween val="between"/>
      </c:valAx>
      <c:spPr>
        <a:solidFill xmlns:a="http://schemas.openxmlformats.org/drawingml/2006/main">
          <a:srgbClr val="F6F3ED"/>
        </a:solidFill>
      </c:spPr>
    </c:plotArea>
    <c:plotVisOnly val="1"/>
  </c:chart>
  <c:spPr>
    <a:solidFill xmlns:a="http://schemas.openxmlformats.org/drawingml/2006/main">
      <a:srgbClr val="F6F3ED"/>
    </a:solidFill>
  </c:spPr>
</c:chartSpace>
</file>

<file path=ppt/slides/charts/chart2.xml><?xml version="1.0" encoding="utf-8"?>
<c:chartSpace xmlns:c="http://schemas.openxmlformats.org/drawingml/2006/chart">
  <c:lang val="en-US"/>
  <c:chart>
    <c:plotArea>
      <c:barChart>
        <c:barDir val="bar"/>
        <c:grouping val="clustered"/>
        <c:varyColors val="0"/>
        <c:ser>
          <c:idx val="0"/>
          <c:order val="0"/>
          <c:tx>
            <c:v>Score out of 100</c:v>
          </c:tx>
          <c:spPr>
            <a:solidFill xmlns:a="http://schemas.openxmlformats.org/drawingml/2006/main">
              <a:srgbClr val="3377B5"/>
            </a:solidFill>
          </c:spPr>
          <c:dPt>
            <c:idx val="0"/>
            <c:invertIfNegative val="0"/>
            <c:spPr>
              <a:solidFill xmlns:a="http://schemas.openxmlformats.org/drawingml/2006/main">
                <a:srgbClr val="168B85"/>
              </a:solidFill>
            </c:spPr>
          </c:dPt>
          <c:dPt>
            <c:idx val="8"/>
            <c:invertIfNegative val="0"/>
            <c:spPr>
              <a:solidFill xmlns:a="http://schemas.openxmlformats.org/drawingml/2006/main">
                <a:srgbClr val="C9564D"/>
              </a:solidFill>
            </c:spPr>
          </c:dPt>
          <c:dPt>
            <c:idx val="9"/>
            <c:invertIfNegative val="0"/>
            <c:spPr>
              <a:solidFill xmlns:a="http://schemas.openxmlformats.org/drawingml/2006/main">
                <a:srgbClr val="C9564D"/>
              </a:solidFill>
            </c:spPr>
          </c:dPt>
          <c:cat>
            <c:strLit>
              <c:ptCount val="10"/>
              <c:pt idx="0">
                <c:v>qwen3.5</c:v>
              </c:pt>
              <c:pt idx="1">
                <c:v>qwen2.5</c:v>
              </c:pt>
              <c:pt idx="2">
                <c:v>gemma3</c:v>
              </c:pt>
              <c:pt idx="3">
                <c:v>mistral</c:v>
              </c:pt>
              <c:pt idx="4">
                <c:v>llama3.1</c:v>
              </c:pt>
              <c:pt idx="5">
                <c:v>hermes3</c:v>
              </c:pt>
              <c:pt idx="6">
                <c:v>llama3.2</c:v>
              </c:pt>
              <c:pt idx="7">
                <c:v>phi4-mini</c:v>
              </c:pt>
              <c:pt idx="8">
                <c:v>deepseek-r1</c:v>
              </c:pt>
              <c:pt idx="9">
                <c:v>granite3.3</c:v>
              </c:pt>
            </c:strLit>
          </c:cat>
          <c:val>
            <c:numLit>
              <c:formatCode>General</c:formatCode>
              <c:ptCount val="10"/>
              <c:pt idx="0">
                <c:v>64</c:v>
              </c:pt>
              <c:pt idx="1">
                <c:v>38</c:v>
              </c:pt>
              <c:pt idx="2">
                <c:v>31</c:v>
              </c:pt>
              <c:pt idx="3">
                <c:v>29</c:v>
              </c:pt>
              <c:pt idx="4">
                <c:v>27</c:v>
              </c:pt>
              <c:pt idx="5">
                <c:v>18</c:v>
              </c:pt>
              <c:pt idx="6">
                <c:v>17</c:v>
              </c:pt>
              <c:pt idx="7">
                <c:v>13</c:v>
              </c:pt>
              <c:pt idx="8">
                <c:v>0</c:v>
              </c:pt>
              <c:pt idx="9">
                <c:v>0</c:v>
              </c:pt>
            </c:numLit>
          </c:val>
        </c:ser>
        <c:dLbls>
          <c:txPr>
            <a:bodyPr xmlns:a="http://schemas.openxmlformats.org/drawingml/2006/main" anchorCtr="1"/>
            <a:lstStyle xmlns:a="http://schemas.openxmlformats.org/drawingml/2006/main"/>
            <a:p xmlns:a="http://schemas.openxmlformats.org/drawingml/2006/main">
              <a:pPr>
                <a:defRPr sz="1050" b="1">
                  <a:solidFill>
                    <a:srgbClr val="1026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majorGridlines>
          <c:spPr>
            <a:ln xmlns:a="http://schemas.openxmlformats.org/drawingml/2006/main" w="9525">
              <a:solidFill>
                <a:srgbClr val="CCD3D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B7B8C"/>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CD3D9"/>
            </a:solidFill>
            <a:prstDash val="solid"/>
          </a:ln>
        </c:spPr>
        <c:txPr>
          <a:bodyPr xmlns:a="http://schemas.openxmlformats.org/drawingml/2006/main" anchorCtr="1"/>
          <a:lstStyle xmlns:a="http://schemas.openxmlformats.org/drawingml/2006/main"/>
          <a:p xmlns:a="http://schemas.openxmlformats.org/drawingml/2006/main">
            <a:pPr>
              <a:defRPr sz="1125">
                <a:solidFill>
                  <a:srgbClr val="17212B"/>
                </a:solidFill>
                <a:latin typeface="Helvetica Neue"/>
                <a:ea typeface="Helvetica Neue"/>
                <a:cs typeface="Helvetica Neue"/>
              </a:defRPr>
            </a:pPr>
          </a:p>
        </c:txPr>
        <c:crossAx val="48650112"/>
        <c:crossBetween val="between"/>
      </c:valAx>
      <c:spPr>
        <a:solidFill xmlns:a="http://schemas.openxmlformats.org/drawingml/2006/main">
          <a:srgbClr val="F6F3ED"/>
        </a:solidFill>
      </c:spPr>
    </c:plotArea>
    <c:plotVisOnly val="1"/>
  </c:chart>
  <c:spPr>
    <a:solidFill xmlns:a="http://schemas.openxmlformats.org/drawingml/2006/main">
      <a:srgbClr val="F6F3ED"/>
    </a:solidFill>
  </c:spPr>
</c:chartSpace>
</file>

<file path=ppt/slides/charts/chart3.xml><?xml version="1.0" encoding="utf-8"?>
<c:chartSpace xmlns:c="http://schemas.openxmlformats.org/drawingml/2006/chart">
  <c:lang val="en-US"/>
  <c:chart>
    <c:plotArea>
      <c:barChart>
        <c:barDir val="bar"/>
        <c:grouping val="clustered"/>
        <c:varyColors val="0"/>
        <c:ser>
          <c:idx val="0"/>
          <c:order val="0"/>
          <c:tx>
            <c:v>Try 3</c:v>
          </c:tx>
          <c:spPr>
            <a:solidFill xmlns:a="http://schemas.openxmlformats.org/drawingml/2006/main">
              <a:srgbClr val="3377B5"/>
            </a:solidFill>
          </c:spPr>
          <c:cat>
            <c:strLit>
              <c:ptCount val="8"/>
              <c:pt idx="0">
                <c:v>Comprehension</c:v>
              </c:pt>
              <c:pt idx="1">
                <c:v>Tags</c:v>
              </c:pt>
              <c:pt idx="2">
                <c:v>Questions</c:v>
              </c:pt>
              <c:pt idx="3">
                <c:v>Evidence targeting</c:v>
              </c:pt>
              <c:pt idx="4">
                <c:v>Provenance</c:v>
              </c:pt>
              <c:pt idx="5">
                <c:v>Causal reasoning</c:v>
              </c:pt>
              <c:pt idx="6">
                <c:v>Corrective actions</c:v>
              </c:pt>
              <c:pt idx="7">
                <c:v>Calibration</c:v>
              </c:pt>
            </c:strLit>
          </c:cat>
          <c:val>
            <c:numLit>
              <c:formatCode>General</c:formatCode>
              <c:ptCount val="8"/>
              <c:pt idx="0">
                <c:v>9</c:v>
              </c:pt>
              <c:pt idx="1">
                <c:v>8</c:v>
              </c:pt>
              <c:pt idx="2">
                <c:v>13</c:v>
              </c:pt>
              <c:pt idx="3">
                <c:v>13</c:v>
              </c:pt>
              <c:pt idx="4">
                <c:v>4</c:v>
              </c:pt>
              <c:pt idx="5">
                <c:v>6</c:v>
              </c:pt>
              <c:pt idx="6">
                <c:v>7</c:v>
              </c:pt>
              <c:pt idx="7">
                <c:v>4</c:v>
              </c:pt>
            </c:numLit>
          </c:val>
        </c:ser>
        <c:ser>
          <c:idx val="1"/>
          <c:order val="1"/>
          <c:tx>
            <c:v>Try 4</c:v>
          </c:tx>
          <c:spPr>
            <a:solidFill xmlns:a="http://schemas.openxmlformats.org/drawingml/2006/main">
              <a:srgbClr val="168B85"/>
            </a:solidFill>
          </c:spPr>
          <c:cat>
            <c:strLit>
              <c:ptCount val="8"/>
              <c:pt idx="0">
                <c:v>Comprehension</c:v>
              </c:pt>
              <c:pt idx="1">
                <c:v>Tags</c:v>
              </c:pt>
              <c:pt idx="2">
                <c:v>Questions</c:v>
              </c:pt>
              <c:pt idx="3">
                <c:v>Evidence targeting</c:v>
              </c:pt>
              <c:pt idx="4">
                <c:v>Provenance</c:v>
              </c:pt>
              <c:pt idx="5">
                <c:v>Causal reasoning</c:v>
              </c:pt>
              <c:pt idx="6">
                <c:v>Corrective actions</c:v>
              </c:pt>
              <c:pt idx="7">
                <c:v>Calibration</c:v>
              </c:pt>
            </c:strLit>
          </c:cat>
          <c:val>
            <c:numLit>
              <c:formatCode>General</c:formatCode>
              <c:ptCount val="8"/>
              <c:pt idx="0">
                <c:v>9</c:v>
              </c:pt>
              <c:pt idx="1">
                <c:v>9</c:v>
              </c:pt>
              <c:pt idx="2">
                <c:v>13</c:v>
              </c:pt>
              <c:pt idx="3">
                <c:v>14</c:v>
              </c:pt>
              <c:pt idx="4">
                <c:v>6</c:v>
              </c:pt>
              <c:pt idx="5">
                <c:v>12</c:v>
              </c:pt>
              <c:pt idx="6">
                <c:v>0</c:v>
              </c:pt>
              <c:pt idx="7">
                <c:v>5</c:v>
              </c:pt>
            </c:numLit>
          </c:val>
        </c:ser>
        <c:dLbls>
          <c:txPr>
            <a:bodyPr xmlns:a="http://schemas.openxmlformats.org/drawingml/2006/main" anchorCtr="1"/>
            <a:lstStyle xmlns:a="http://schemas.openxmlformats.org/drawingml/2006/main"/>
            <a:p xmlns:a="http://schemas.openxmlformats.org/drawingml/2006/main">
              <a:pPr>
                <a:defRPr sz="900" b="1">
                  <a:solidFill>
                    <a:srgbClr val="1026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9525">
              <a:solidFill>
                <a:srgbClr val="CCD3D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B7B8C"/>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CD3D9"/>
            </a:solidFill>
            <a:prstDash val="solid"/>
          </a:ln>
        </c:spPr>
        <c:txPr>
          <a:bodyPr xmlns:a="http://schemas.openxmlformats.org/drawingml/2006/main" anchorCtr="1"/>
          <a:lstStyle xmlns:a="http://schemas.openxmlformats.org/drawingml/2006/main"/>
          <a:p xmlns:a="http://schemas.openxmlformats.org/drawingml/2006/main">
            <a:pPr>
              <a:defRPr sz="1050">
                <a:solidFill>
                  <a:srgbClr val="17212B"/>
                </a:solidFill>
                <a:latin typeface="Helvetica Neue"/>
                <a:ea typeface="Helvetica Neue"/>
                <a:cs typeface="Helvetica Neue"/>
              </a:defRPr>
            </a:pPr>
          </a:p>
        </c:txPr>
        <c:crossAx val="48650112"/>
        <c:crossBetween val="between"/>
      </c:valAx>
      <c:spPr>
        <a:solidFill xmlns:a="http://schemas.openxmlformats.org/drawingml/2006/main">
          <a:srgbClr val="F6F3ED"/>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7212B"/>
              </a:solidFill>
              <a:latin typeface="Helvetica Neue"/>
              <a:ea typeface="Helvetica Neue"/>
              <a:cs typeface="Helvetica Neue"/>
            </a:defRPr>
          </a:pPr>
        </a:p>
      </c:txPr>
    </c:legend>
    <c:plotVisOnly val="1"/>
  </c:chart>
  <c:spPr>
    <a:solidFill xmlns:a="http://schemas.openxmlformats.org/drawingml/2006/main">
      <a:srgbClr val="F6F3ED"/>
    </a:solidFill>
  </c:spPr>
</c:chartSpace>
</file>

<file path=ppt/slides/slide1.xml><?xml version="1.0" encoding="utf-8"?>
<p:sld xmlns:p="http://schemas.openxmlformats.org/presentationml/2006/main">
  <p:cSld>
    <p:bg>
      <p:bgPr>
        <a:solidFill xmlns:a="http://schemas.openxmlformats.org/drawingml/2006/main">
          <a:srgbClr val="10263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584EBE-4BEF-4C2A-A5A5-E13B73C0BE2D}"/>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C085C3A-5414-4D2E-91D3-91782B2935C2}"/>
              </a:ext>
            </a:extLst>
          </p:cNvPr>
          <p:cNvSpPr>
            <a:spLocks xmlns:a="http://schemas.openxmlformats.org/drawingml/2006/main" noGrp="1"/>
          </p:cNvSpPr>
          <p:nvPr/>
        </p:nvSpPr>
        <p:spPr>
          <a:xfrm xmlns:a="http://schemas.openxmlformats.org/drawingml/2006/main">
            <a:off x="781050" y="1238250"/>
            <a:ext cx="885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782"/>
          </a:bodyPr>
          <a:lstStyle xmlns:a="http://schemas.openxmlformats.org/drawingml/2006/main"/>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RCA Fieldwork</a:t>
            </a:r>
          </a:p>
        </p:txBody>
      </p:sp>
      <p:sp>
        <p:nvSpPr>
          <p:cNvPr id="3" name="">
            <a:extLst xmlns:a="http://schemas.openxmlformats.org/drawingml/2006/main">
              <a:ext uri="{FF2B5EF4-FFF2-40B4-BE49-F238E27FC236}">
                <a16:creationId xmlns:a16="http://schemas.microsoft.com/office/drawing/2014/main" id="{E1EE6AF5-721F-4C56-910B-8B4C9E4B1670}"/>
              </a:ext>
            </a:extLst>
          </p:cNvPr>
          <p:cNvSpPr>
            <a:spLocks xmlns:a="http://schemas.openxmlformats.org/drawingml/2006/main" noGrp="1"/>
          </p:cNvSpPr>
          <p:nvPr/>
        </p:nvSpPr>
        <p:spPr>
          <a:xfrm xmlns:a="http://schemas.openxmlformats.org/drawingml/2006/main">
            <a:off x="819150" y="2095500"/>
            <a:ext cx="9620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325" b="0">
                <a:solidFill>
                  <a:srgbClr val="D8E3EB"/>
                </a:solidFill>
                <a:latin typeface="Helvetica Neue"/>
                <a:ea typeface="Helvetica Neue"/>
                <a:cs typeface="Helvetica Neue"/>
              </a:defRPr>
            </a:pPr>
            <a:r>
              <a:rPr sz="2325" b="0">
                <a:solidFill>
                  <a:srgbClr val="D8E3EB"/>
                </a:solidFill>
                <a:latin typeface="Helvetica Neue"/>
                <a:ea typeface="Helvetica Neue"/>
                <a:cs typeface="Helvetica Neue"/>
              </a:rPr>
              <a:t>What Try 3 tested, what Try 4 changed, and why the investigation remains open</a:t>
            </a:r>
          </a:p>
        </p:txBody>
      </p:sp>
      <p:sp>
        <p:nvSpPr>
          <p:cNvPr id="4" name="">
            <a:extLst xmlns:a="http://schemas.openxmlformats.org/drawingml/2006/main">
              <a:ext uri="{FF2B5EF4-FFF2-40B4-BE49-F238E27FC236}">
                <a16:creationId xmlns:a16="http://schemas.microsoft.com/office/drawing/2014/main" id="{D0A34A4F-676B-4E48-9BC5-4ABC11A5E8B8}"/>
              </a:ext>
            </a:extLst>
          </p:cNvPr>
          <p:cNvSpPr>
            <a:spLocks xmlns:a="http://schemas.openxmlformats.org/drawingml/2006/main" noGrp="1"/>
          </p:cNvSpPr>
          <p:nvPr/>
        </p:nvSpPr>
        <p:spPr>
          <a:xfrm xmlns:a="http://schemas.openxmlformats.org/drawingml/2006/main">
            <a:off x="819150" y="3467100"/>
            <a:ext cx="228600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5FD9E44-2557-4418-A2B4-98FB8F2F5734}"/>
              </a:ext>
            </a:extLst>
          </p:cNvPr>
          <p:cNvSpPr>
            <a:spLocks xmlns:a="http://schemas.openxmlformats.org/drawingml/2006/main" noGrp="1"/>
          </p:cNvSpPr>
          <p:nvPr/>
        </p:nvSpPr>
        <p:spPr>
          <a:xfrm xmlns:a="http://schemas.openxmlformats.org/drawingml/2006/main">
            <a:off x="819150" y="3743325"/>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E5A32D"/>
                </a:solidFill>
                <a:latin typeface="Helvetica Neue"/>
                <a:ea typeface="Helvetica Neue"/>
                <a:cs typeface="Helvetica Neue"/>
              </a:defRPr>
            </a:pPr>
            <a:r>
              <a:rPr sz="1275" b="1">
                <a:solidFill>
                  <a:srgbClr val="E5A32D"/>
                </a:solidFill>
                <a:latin typeface="Helvetica Neue"/>
                <a:ea typeface="Helvetica Neue"/>
                <a:cs typeface="Helvetica Neue"/>
              </a:rPr>
              <a:t>R3 EXIT CARRIER BEAM CASE</a:t>
            </a:r>
          </a:p>
        </p:txBody>
      </p:sp>
      <p:sp>
        <p:nvSpPr>
          <p:cNvPr id="6" name="">
            <a:extLst xmlns:a="http://schemas.openxmlformats.org/drawingml/2006/main">
              <a:ext uri="{FF2B5EF4-FFF2-40B4-BE49-F238E27FC236}">
                <a16:creationId xmlns:a16="http://schemas.microsoft.com/office/drawing/2014/main" id="{71CBCBC6-2DC7-47CE-A0EF-A6A0C810C6AD}"/>
              </a:ext>
            </a:extLst>
          </p:cNvPr>
          <p:cNvSpPr>
            <a:spLocks xmlns:a="http://schemas.openxmlformats.org/drawingml/2006/main" noGrp="1"/>
          </p:cNvSpPr>
          <p:nvPr/>
        </p:nvSpPr>
        <p:spPr>
          <a:xfrm xmlns:a="http://schemas.openxmlformats.org/drawingml/2006/main">
            <a:off x="819150" y="4143375"/>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Model behavior benchmark and causal-analysis review</a:t>
            </a:r>
          </a:p>
        </p:txBody>
      </p:sp>
      <p:sp>
        <p:nvSpPr>
          <p:cNvPr id="7" name="">
            <a:extLst xmlns:a="http://schemas.openxmlformats.org/drawingml/2006/main">
              <a:ext uri="{FF2B5EF4-FFF2-40B4-BE49-F238E27FC236}">
                <a16:creationId xmlns:a16="http://schemas.microsoft.com/office/drawing/2014/main" id="{40936CA0-87BB-4C92-86B1-6CC85C9CF9EF}"/>
              </a:ext>
            </a:extLst>
          </p:cNvPr>
          <p:cNvSpPr>
            <a:spLocks xmlns:a="http://schemas.openxmlformats.org/drawingml/2006/main" noGrp="1"/>
          </p:cNvSpPr>
          <p:nvPr/>
        </p:nvSpPr>
        <p:spPr>
          <a:xfrm xmlns:a="http://schemas.openxmlformats.org/drawingml/2006/main">
            <a:off x="819150" y="60388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1111"/>
          </a:bodyPr>
          <a:lstStyle xmlns:a="http://schemas.openxmlformats.org/drawingml/2006/main"/>
          <a:p xmlns:a="http://schemas.openxmlformats.org/drawingml/2006/main">
            <a:pPr algn="l">
              <a:defRPr sz="1125" b="0">
                <a:solidFill>
                  <a:srgbClr val="9FB2C1"/>
                </a:solidFill>
                <a:latin typeface="Helvetica Neue"/>
                <a:ea typeface="Helvetica Neue"/>
                <a:cs typeface="Helvetica Neue"/>
              </a:defRPr>
            </a:pPr>
            <a:r>
              <a:rPr sz="1125" b="0">
                <a:solidFill>
                  <a:srgbClr val="9FB2C1"/>
                </a:solidFill>
                <a:latin typeface="Helvetica Neue"/>
                <a:ea typeface="Helvetica Neue"/>
                <a:cs typeface="Helvetica Neue"/>
              </a:rPr>
              <a:t>September 2026</a:t>
            </a:r>
          </a:p>
        </p:txBody>
      </p:sp>
    </p:spTree>
    <p:extLst>
      <p:ext uri="{BB962C8B-B14F-4D97-AF65-F5344CB8AC3E}">
        <p14:creationId xmlns:p14="http://schemas.microsoft.com/office/powerpoint/2010/main" val="1429979189"/>
      </p:ext>
    </p:extLst>
  </p:cSld>
</p:sld>
</file>

<file path=ppt/slides/slide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8A54299-0DD0-4C8E-A235-020FBDC9C0CD}"/>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Two experiments with different purposes</a:t>
            </a:r>
          </a:p>
        </p:txBody>
      </p:sp>
      <p:sp>
        <p:nvSpPr>
          <p:cNvPr id="2" name="">
            <a:extLst xmlns:a="http://schemas.openxmlformats.org/drawingml/2006/main">
              <a:ext uri="{FF2B5EF4-FFF2-40B4-BE49-F238E27FC236}">
                <a16:creationId xmlns:a16="http://schemas.microsoft.com/office/drawing/2014/main" id="{7860DE44-740B-4B45-95EC-5BC36B8D24DA}"/>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Try 3 compared models. Try 4 introduced a stronger, model-independent investigation harness.</a:t>
            </a:r>
          </a:p>
        </p:txBody>
      </p:sp>
      <p:sp>
        <p:nvSpPr>
          <p:cNvPr id="3" name="">
            <a:extLst xmlns:a="http://schemas.openxmlformats.org/drawingml/2006/main">
              <a:ext uri="{FF2B5EF4-FFF2-40B4-BE49-F238E27FC236}">
                <a16:creationId xmlns:a16="http://schemas.microsoft.com/office/drawing/2014/main" id="{9F3E8B63-6DCC-416C-A4BA-BC7D918420AE}"/>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F632FA3-6240-437B-9171-31037C19B97D}"/>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Sources: Try 3 benchmark results; Try 4 evaluation report</a:t>
            </a:r>
          </a:p>
        </p:txBody>
      </p:sp>
      <p:sp>
        <p:nvSpPr>
          <p:cNvPr id="5" name="">
            <a:extLst xmlns:a="http://schemas.openxmlformats.org/drawingml/2006/main">
              <a:ext uri="{FF2B5EF4-FFF2-40B4-BE49-F238E27FC236}">
                <a16:creationId xmlns:a16="http://schemas.microsoft.com/office/drawing/2014/main" id="{5BE229C5-A9B2-40FF-B1CB-089BD0266039}"/>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B442AA3A-D3EA-488F-9B1C-2A760294A9F3}"/>
              </a:ext>
            </a:extLst>
          </p:cNvPr>
          <p:cNvSpPr>
            <a:spLocks xmlns:a="http://schemas.openxmlformats.org/drawingml/2006/main" noGrp="1"/>
          </p:cNvSpPr>
          <p:nvPr/>
        </p:nvSpPr>
        <p:spPr>
          <a:xfrm xmlns:a="http://schemas.openxmlformats.org/drawingml/2006/main">
            <a:off x="723900" y="1619250"/>
            <a:ext cx="76200" cy="209550"/>
          </a:xfrm>
          <a:prstGeom xmlns:a="http://schemas.openxmlformats.org/drawingml/2006/main" prst="rect">
            <a:avLst/>
          </a:prstGeom>
          <a:solidFill xmlns:a="http://schemas.openxmlformats.org/drawingml/2006/main">
            <a:srgbClr val="3377B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B090B5E-9419-4461-8BBA-ECD9D23D27D9}"/>
              </a:ext>
            </a:extLst>
          </p:cNvPr>
          <p:cNvSpPr>
            <a:spLocks xmlns:a="http://schemas.openxmlformats.org/drawingml/2006/main" noGrp="1"/>
          </p:cNvSpPr>
          <p:nvPr/>
        </p:nvSpPr>
        <p:spPr>
          <a:xfrm xmlns:a="http://schemas.openxmlformats.org/drawingml/2006/main">
            <a:off x="895350" y="15811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TRY 3</a:t>
            </a:r>
          </a:p>
        </p:txBody>
      </p:sp>
      <p:sp>
        <p:nvSpPr>
          <p:cNvPr id="8" name="">
            <a:extLst xmlns:a="http://schemas.openxmlformats.org/drawingml/2006/main">
              <a:ext uri="{FF2B5EF4-FFF2-40B4-BE49-F238E27FC236}">
                <a16:creationId xmlns:a16="http://schemas.microsoft.com/office/drawing/2014/main" id="{6E061EAF-59B0-4AC3-ADD9-68EA4B07B86E}"/>
              </a:ext>
            </a:extLst>
          </p:cNvPr>
          <p:cNvSpPr>
            <a:spLocks xmlns:a="http://schemas.openxmlformats.org/drawingml/2006/main" noGrp="1"/>
          </p:cNvSpPr>
          <p:nvPr/>
        </p:nvSpPr>
        <p:spPr>
          <a:xfrm xmlns:a="http://schemas.openxmlformats.org/drawingml/2006/main">
            <a:off x="723900" y="1952625"/>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0263C"/>
                </a:solidFill>
                <a:latin typeface="Helvetica Neue"/>
                <a:ea typeface="Helvetica Neue"/>
                <a:cs typeface="Helvetica Neue"/>
              </a:defRPr>
            </a:pPr>
            <a:r>
              <a:rPr sz="2550" b="1">
                <a:solidFill>
                  <a:srgbClr val="10263C"/>
                </a:solidFill>
                <a:latin typeface="Helvetica Neue"/>
                <a:ea typeface="Helvetica Neue"/>
                <a:cs typeface="Helvetica Neue"/>
              </a:rPr>
              <a:t>Model benchmark</a:t>
            </a:r>
          </a:p>
        </p:txBody>
      </p:sp>
      <p:sp>
        <p:nvSpPr>
          <p:cNvPr id="9" name="">
            <a:extLst xmlns:a="http://schemas.openxmlformats.org/drawingml/2006/main">
              <a:ext uri="{FF2B5EF4-FFF2-40B4-BE49-F238E27FC236}">
                <a16:creationId xmlns:a16="http://schemas.microsoft.com/office/drawing/2014/main" id="{0F7C1118-E4FB-4905-88F9-865C95C7069E}"/>
              </a:ext>
            </a:extLst>
          </p:cNvPr>
          <p:cNvSpPr>
            <a:spLocks xmlns:a="http://schemas.openxmlformats.org/drawingml/2006/main" noGrp="1"/>
          </p:cNvSpPr>
          <p:nvPr/>
        </p:nvSpPr>
        <p:spPr>
          <a:xfrm xmlns:a="http://schemas.openxmlformats.org/drawingml/2006/main">
            <a:off x="723900" y="2552700"/>
            <a:ext cx="4095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425466"/>
                </a:solidFill>
                <a:latin typeface="Helvetica Neue"/>
                <a:ea typeface="Helvetica Neue"/>
                <a:cs typeface="Helvetica Neue"/>
              </a:defRPr>
            </a:pPr>
            <a:r>
              <a:rPr sz="1650" b="0">
                <a:solidFill>
                  <a:srgbClr val="425466"/>
                </a:solidFill>
                <a:latin typeface="Helvetica Neue"/>
                <a:ea typeface="Helvetica Neue"/>
                <a:cs typeface="Helvetica Neue"/>
              </a:rPr>
              <a:t>Ten installed Ollama models received independent R3 incidents and the same evidence framework.</a:t>
            </a:r>
          </a:p>
        </p:txBody>
      </p:sp>
      <p:sp>
        <p:nvSpPr>
          <p:cNvPr id="10" name="">
            <a:extLst xmlns:a="http://schemas.openxmlformats.org/drawingml/2006/main">
              <a:ext uri="{FF2B5EF4-FFF2-40B4-BE49-F238E27FC236}">
                <a16:creationId xmlns:a16="http://schemas.microsoft.com/office/drawing/2014/main" id="{7E89FEAF-22AF-4C2B-B966-3D957441F078}"/>
              </a:ext>
            </a:extLst>
          </p:cNvPr>
          <p:cNvSpPr>
            <a:spLocks xmlns:a="http://schemas.openxmlformats.org/drawingml/2006/main" noGrp="1"/>
          </p:cNvSpPr>
          <p:nvPr/>
        </p:nvSpPr>
        <p:spPr>
          <a:xfrm xmlns:a="http://schemas.openxmlformats.org/drawingml/2006/main">
            <a:off x="723900" y="36671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l">
              <a:defRPr sz="1200" b="1">
                <a:solidFill>
                  <a:srgbClr val="3377B5"/>
                </a:solidFill>
                <a:latin typeface="Helvetica Neue"/>
                <a:ea typeface="Helvetica Neue"/>
                <a:cs typeface="Helvetica Neue"/>
              </a:defRPr>
            </a:pPr>
            <a:r>
              <a:rPr sz="1200" b="1">
                <a:solidFill>
                  <a:srgbClr val="3377B5"/>
                </a:solidFill>
                <a:latin typeface="Helvetica Neue"/>
                <a:ea typeface="Helvetica Neue"/>
                <a:cs typeface="Helvetica Neue"/>
              </a:rPr>
              <a:t>Question tested</a:t>
            </a:r>
          </a:p>
        </p:txBody>
      </p:sp>
      <p:sp>
        <p:nvSpPr>
          <p:cNvPr id="11" name="">
            <a:extLst xmlns:a="http://schemas.openxmlformats.org/drawingml/2006/main">
              <a:ext uri="{FF2B5EF4-FFF2-40B4-BE49-F238E27FC236}">
                <a16:creationId xmlns:a16="http://schemas.microsoft.com/office/drawing/2014/main" id="{99DCCAC1-322F-4A48-8AFF-608D13FA6E44}"/>
              </a:ext>
            </a:extLst>
          </p:cNvPr>
          <p:cNvSpPr>
            <a:spLocks xmlns:a="http://schemas.openxmlformats.org/drawingml/2006/main" noGrp="1"/>
          </p:cNvSpPr>
          <p:nvPr/>
        </p:nvSpPr>
        <p:spPr>
          <a:xfrm xmlns:a="http://schemas.openxmlformats.org/drawingml/2006/main">
            <a:off x="723900" y="3981450"/>
            <a:ext cx="4095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950" b="1">
                <a:solidFill>
                  <a:srgbClr val="17212B"/>
                </a:solidFill>
                <a:latin typeface="Helvetica Neue"/>
                <a:ea typeface="Helvetica Neue"/>
                <a:cs typeface="Helvetica Neue"/>
              </a:defRPr>
            </a:pPr>
            <a:r>
              <a:rPr sz="1950" b="1">
                <a:solidFill>
                  <a:srgbClr val="17212B"/>
                </a:solidFill>
                <a:latin typeface="Helvetica Neue"/>
                <a:ea typeface="Helvetica Neue"/>
                <a:cs typeface="Helvetica Neue"/>
              </a:rPr>
              <a:t>Which local model behaves best inside the existing pipeline?</a:t>
            </a:r>
          </a:p>
        </p:txBody>
      </p:sp>
      <p:sp>
        <p:nvSpPr>
          <p:cNvPr id="12" name="">
            <a:extLst xmlns:a="http://schemas.openxmlformats.org/drawingml/2006/main">
              <a:ext uri="{FF2B5EF4-FFF2-40B4-BE49-F238E27FC236}">
                <a16:creationId xmlns:a16="http://schemas.microsoft.com/office/drawing/2014/main" id="{E5B600F4-4950-40F1-93EF-DC08C8E74137}"/>
              </a:ext>
            </a:extLst>
          </p:cNvPr>
          <p:cNvSpPr>
            <a:spLocks xmlns:a="http://schemas.openxmlformats.org/drawingml/2006/main" noGrp="1"/>
          </p:cNvSpPr>
          <p:nvPr/>
        </p:nvSpPr>
        <p:spPr>
          <a:xfrm xmlns:a="http://schemas.openxmlformats.org/drawingml/2006/main">
            <a:off x="5619750" y="1543050"/>
            <a:ext cx="19050" cy="4210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997F5F3-DA6A-4667-9BA5-5C7D205CD2FD}"/>
              </a:ext>
            </a:extLst>
          </p:cNvPr>
          <p:cNvSpPr>
            <a:spLocks xmlns:a="http://schemas.openxmlformats.org/drawingml/2006/main" noGrp="1"/>
          </p:cNvSpPr>
          <p:nvPr/>
        </p:nvSpPr>
        <p:spPr>
          <a:xfrm xmlns:a="http://schemas.openxmlformats.org/drawingml/2006/main">
            <a:off x="6267450" y="1619250"/>
            <a:ext cx="76200" cy="209550"/>
          </a:xfrm>
          <a:prstGeom xmlns:a="http://schemas.openxmlformats.org/drawingml/2006/main" prst="rect">
            <a:avLst/>
          </a:prstGeom>
          <a:solidFill xmlns:a="http://schemas.openxmlformats.org/drawingml/2006/main">
            <a:srgbClr val="168B8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6484921-CC9B-402E-937D-C76830916538}"/>
              </a:ext>
            </a:extLst>
          </p:cNvPr>
          <p:cNvSpPr>
            <a:spLocks xmlns:a="http://schemas.openxmlformats.org/drawingml/2006/main" noGrp="1"/>
          </p:cNvSpPr>
          <p:nvPr/>
        </p:nvSpPr>
        <p:spPr>
          <a:xfrm xmlns:a="http://schemas.openxmlformats.org/drawingml/2006/main">
            <a:off x="6438900" y="15811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TRY 4</a:t>
            </a:r>
          </a:p>
        </p:txBody>
      </p:sp>
      <p:sp>
        <p:nvSpPr>
          <p:cNvPr id="15" name="">
            <a:extLst xmlns:a="http://schemas.openxmlformats.org/drawingml/2006/main">
              <a:ext uri="{FF2B5EF4-FFF2-40B4-BE49-F238E27FC236}">
                <a16:creationId xmlns:a16="http://schemas.microsoft.com/office/drawing/2014/main" id="{FD566BEF-BCBF-4904-9B2A-2E996E7BC587}"/>
              </a:ext>
            </a:extLst>
          </p:cNvPr>
          <p:cNvSpPr>
            <a:spLocks xmlns:a="http://schemas.openxmlformats.org/drawingml/2006/main" noGrp="1"/>
          </p:cNvSpPr>
          <p:nvPr/>
        </p:nvSpPr>
        <p:spPr>
          <a:xfrm xmlns:a="http://schemas.openxmlformats.org/drawingml/2006/main">
            <a:off x="6267450" y="1952625"/>
            <a:ext cx="457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0263C"/>
                </a:solidFill>
                <a:latin typeface="Helvetica Neue"/>
                <a:ea typeface="Helvetica Neue"/>
                <a:cs typeface="Helvetica Neue"/>
              </a:defRPr>
            </a:pPr>
            <a:r>
              <a:rPr sz="2550" b="1">
                <a:solidFill>
                  <a:srgbClr val="10263C"/>
                </a:solidFill>
                <a:latin typeface="Helvetica Neue"/>
                <a:ea typeface="Helvetica Neue"/>
                <a:cs typeface="Helvetica Neue"/>
              </a:rPr>
              <a:t>Model-independent harness</a:t>
            </a:r>
          </a:p>
        </p:txBody>
      </p:sp>
      <p:sp>
        <p:nvSpPr>
          <p:cNvPr id="16" name="">
            <a:extLst xmlns:a="http://schemas.openxmlformats.org/drawingml/2006/main">
              <a:ext uri="{FF2B5EF4-FFF2-40B4-BE49-F238E27FC236}">
                <a16:creationId xmlns:a16="http://schemas.microsoft.com/office/drawing/2014/main" id="{B0B6539B-2DF0-46EB-B3D8-14D8E9E19EC5}"/>
              </a:ext>
            </a:extLst>
          </p:cNvPr>
          <p:cNvSpPr>
            <a:spLocks xmlns:a="http://schemas.openxmlformats.org/drawingml/2006/main" noGrp="1"/>
          </p:cNvSpPr>
          <p:nvPr/>
        </p:nvSpPr>
        <p:spPr>
          <a:xfrm xmlns:a="http://schemas.openxmlformats.org/drawingml/2006/main">
            <a:off x="6267450" y="2552700"/>
            <a:ext cx="44386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425466"/>
                </a:solidFill>
                <a:latin typeface="Helvetica Neue"/>
                <a:ea typeface="Helvetica Neue"/>
                <a:cs typeface="Helvetica Neue"/>
              </a:defRPr>
            </a:pPr>
            <a:r>
              <a:rPr sz="1650" b="0">
                <a:solidFill>
                  <a:srgbClr val="425466"/>
                </a:solidFill>
                <a:latin typeface="Helvetica Neue"/>
                <a:ea typeface="Helvetica Neue"/>
                <a:cs typeface="Helvetica Neue"/>
              </a:rPr>
              <a:t>The architecture can run any supported model. Qwen3.5 supplied the first completed validation run.</a:t>
            </a:r>
          </a:p>
        </p:txBody>
      </p:sp>
      <p:sp>
        <p:nvSpPr>
          <p:cNvPr id="17" name="">
            <a:extLst xmlns:a="http://schemas.openxmlformats.org/drawingml/2006/main">
              <a:ext uri="{FF2B5EF4-FFF2-40B4-BE49-F238E27FC236}">
                <a16:creationId xmlns:a16="http://schemas.microsoft.com/office/drawing/2014/main" id="{A91F6E4C-4B7B-43A9-A95D-1F2AF5F1B824}"/>
              </a:ext>
            </a:extLst>
          </p:cNvPr>
          <p:cNvSpPr>
            <a:spLocks xmlns:a="http://schemas.openxmlformats.org/drawingml/2006/main" noGrp="1"/>
          </p:cNvSpPr>
          <p:nvPr/>
        </p:nvSpPr>
        <p:spPr>
          <a:xfrm xmlns:a="http://schemas.openxmlformats.org/drawingml/2006/main">
            <a:off x="6267450" y="36671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l">
              <a:defRPr sz="1200" b="1">
                <a:solidFill>
                  <a:srgbClr val="168B85"/>
                </a:solidFill>
                <a:latin typeface="Helvetica Neue"/>
                <a:ea typeface="Helvetica Neue"/>
                <a:cs typeface="Helvetica Neue"/>
              </a:defRPr>
            </a:pPr>
            <a:r>
              <a:rPr sz="1200" b="1">
                <a:solidFill>
                  <a:srgbClr val="168B85"/>
                </a:solidFill>
                <a:latin typeface="Helvetica Neue"/>
                <a:ea typeface="Helvetica Neue"/>
                <a:cs typeface="Helvetica Neue"/>
              </a:rPr>
              <a:t>Question tested</a:t>
            </a:r>
          </a:p>
        </p:txBody>
      </p:sp>
      <p:sp>
        <p:nvSpPr>
          <p:cNvPr id="18" name="">
            <a:extLst xmlns:a="http://schemas.openxmlformats.org/drawingml/2006/main">
              <a:ext uri="{FF2B5EF4-FFF2-40B4-BE49-F238E27FC236}">
                <a16:creationId xmlns:a16="http://schemas.microsoft.com/office/drawing/2014/main" id="{4835AF08-7BC6-4B68-B268-E3C0D6164878}"/>
              </a:ext>
            </a:extLst>
          </p:cNvPr>
          <p:cNvSpPr>
            <a:spLocks xmlns:a="http://schemas.openxmlformats.org/drawingml/2006/main" noGrp="1"/>
          </p:cNvSpPr>
          <p:nvPr/>
        </p:nvSpPr>
        <p:spPr>
          <a:xfrm xmlns:a="http://schemas.openxmlformats.org/drawingml/2006/main">
            <a:off x="6267450" y="3981450"/>
            <a:ext cx="4381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111"/>
          </a:bodyPr>
          <a:lstStyle xmlns:a="http://schemas.openxmlformats.org/drawingml/2006/main"/>
          <a:p xmlns:a="http://schemas.openxmlformats.org/drawingml/2006/main">
            <a:pPr algn="l">
              <a:defRPr sz="1875" b="1">
                <a:solidFill>
                  <a:srgbClr val="17212B"/>
                </a:solidFill>
                <a:latin typeface="Helvetica Neue"/>
                <a:ea typeface="Helvetica Neue"/>
                <a:cs typeface="Helvetica Neue"/>
              </a:defRPr>
            </a:pPr>
            <a:r>
              <a:rPr sz="1875" b="1">
                <a:solidFill>
                  <a:srgbClr val="17212B"/>
                </a:solidFill>
                <a:latin typeface="Helvetica Neue"/>
                <a:ea typeface="Helvetica Neue"/>
                <a:cs typeface="Helvetica Neue"/>
              </a:rPr>
              <a:t>Does the stronger harness produce a more defensible investigation? Initial test: qwen3.5</a:t>
            </a:r>
          </a:p>
        </p:txBody>
      </p:sp>
      <p:sp>
        <p:nvSpPr>
          <p:cNvPr id="19" name="">
            <a:extLst xmlns:a="http://schemas.openxmlformats.org/drawingml/2006/main">
              <a:ext uri="{FF2B5EF4-FFF2-40B4-BE49-F238E27FC236}">
                <a16:creationId xmlns:a16="http://schemas.microsoft.com/office/drawing/2014/main" id="{1B5AF3C0-C890-4581-B09F-B0A95AC6A4A7}"/>
              </a:ext>
            </a:extLst>
          </p:cNvPr>
          <p:cNvSpPr>
            <a:spLocks xmlns:a="http://schemas.openxmlformats.org/drawingml/2006/main" noGrp="1"/>
          </p:cNvSpPr>
          <p:nvPr/>
        </p:nvSpPr>
        <p:spPr>
          <a:xfrm xmlns:a="http://schemas.openxmlformats.org/drawingml/2006/main">
            <a:off x="2057400" y="506730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435"/>
          </a:bodyPr>
          <a:lstStyle xmlns:a="http://schemas.openxmlformats.org/drawingml/2006/main"/>
          <a:p xmlns:a="http://schemas.openxmlformats.org/drawingml/2006/main">
            <a:pPr algn="ctr">
              <a:defRPr sz="3450" b="1">
                <a:solidFill>
                  <a:srgbClr val="3377B5"/>
                </a:solidFill>
                <a:latin typeface="Helvetica Neue"/>
                <a:ea typeface="Helvetica Neue"/>
                <a:cs typeface="Helvetica Neue"/>
              </a:defRPr>
            </a:pPr>
            <a:r>
              <a:rPr sz="3450" b="1">
                <a:solidFill>
                  <a:srgbClr val="3377B5"/>
                </a:solidFill>
                <a:latin typeface="Helvetica Neue"/>
                <a:ea typeface="Helvetica Neue"/>
                <a:cs typeface="Helvetica Neue"/>
              </a:rPr>
              <a:t>64</a:t>
            </a:r>
          </a:p>
        </p:txBody>
      </p:sp>
      <p:sp>
        <p:nvSpPr>
          <p:cNvPr id="20" name="">
            <a:extLst xmlns:a="http://schemas.openxmlformats.org/drawingml/2006/main">
              <a:ext uri="{FF2B5EF4-FFF2-40B4-BE49-F238E27FC236}">
                <a16:creationId xmlns:a16="http://schemas.microsoft.com/office/drawing/2014/main" id="{485610CB-701E-42AD-B0E5-3F7A790121F3}"/>
              </a:ext>
            </a:extLst>
          </p:cNvPr>
          <p:cNvSpPr>
            <a:spLocks xmlns:a="http://schemas.openxmlformats.org/drawingml/2006/main" noGrp="1"/>
          </p:cNvSpPr>
          <p:nvPr/>
        </p:nvSpPr>
        <p:spPr>
          <a:xfrm xmlns:a="http://schemas.openxmlformats.org/drawingml/2006/main">
            <a:off x="2971800" y="52006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6B7B8C"/>
                </a:solidFill>
                <a:latin typeface="Helvetica Neue"/>
                <a:ea typeface="Helvetica Neue"/>
                <a:cs typeface="Helvetica Neue"/>
              </a:defRPr>
            </a:pPr>
            <a:r>
              <a:rPr sz="1350" b="0">
                <a:solidFill>
                  <a:srgbClr val="6B7B8C"/>
                </a:solidFill>
                <a:latin typeface="Helvetica Neue"/>
                <a:ea typeface="Helvetica Neue"/>
                <a:cs typeface="Helvetica Neue"/>
              </a:rPr>
              <a:t>best Try 3 score</a:t>
            </a:r>
          </a:p>
        </p:txBody>
      </p:sp>
      <p:sp>
        <p:nvSpPr>
          <p:cNvPr id="21" name="">
            <a:extLst xmlns:a="http://schemas.openxmlformats.org/drawingml/2006/main">
              <a:ext uri="{FF2B5EF4-FFF2-40B4-BE49-F238E27FC236}">
                <a16:creationId xmlns:a16="http://schemas.microsoft.com/office/drawing/2014/main" id="{83B01F95-6DF1-4BC7-B88A-7D9C03F072F5}"/>
              </a:ext>
            </a:extLst>
          </p:cNvPr>
          <p:cNvSpPr>
            <a:spLocks xmlns:a="http://schemas.openxmlformats.org/drawingml/2006/main" noGrp="1"/>
          </p:cNvSpPr>
          <p:nvPr/>
        </p:nvSpPr>
        <p:spPr>
          <a:xfrm xmlns:a="http://schemas.openxmlformats.org/drawingml/2006/main">
            <a:off x="7658100" y="506730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435"/>
          </a:bodyPr>
          <a:lstStyle xmlns:a="http://schemas.openxmlformats.org/drawingml/2006/main"/>
          <a:p xmlns:a="http://schemas.openxmlformats.org/drawingml/2006/main">
            <a:pPr algn="ctr">
              <a:defRPr sz="3450" b="1">
                <a:solidFill>
                  <a:srgbClr val="168B85"/>
                </a:solidFill>
                <a:latin typeface="Helvetica Neue"/>
                <a:ea typeface="Helvetica Neue"/>
                <a:cs typeface="Helvetica Neue"/>
              </a:defRPr>
            </a:pPr>
            <a:r>
              <a:rPr sz="3450" b="1">
                <a:solidFill>
                  <a:srgbClr val="168B85"/>
                </a:solidFill>
                <a:latin typeface="Helvetica Neue"/>
                <a:ea typeface="Helvetica Neue"/>
                <a:cs typeface="Helvetica Neue"/>
              </a:rPr>
              <a:t>68</a:t>
            </a:r>
          </a:p>
        </p:txBody>
      </p:sp>
      <p:sp>
        <p:nvSpPr>
          <p:cNvPr id="22" name="">
            <a:extLst xmlns:a="http://schemas.openxmlformats.org/drawingml/2006/main">
              <a:ext uri="{FF2B5EF4-FFF2-40B4-BE49-F238E27FC236}">
                <a16:creationId xmlns:a16="http://schemas.microsoft.com/office/drawing/2014/main" id="{0A052776-F260-4A57-AFE9-8C68BF7CC32B}"/>
              </a:ext>
            </a:extLst>
          </p:cNvPr>
          <p:cNvSpPr>
            <a:spLocks xmlns:a="http://schemas.openxmlformats.org/drawingml/2006/main" noGrp="1"/>
          </p:cNvSpPr>
          <p:nvPr/>
        </p:nvSpPr>
        <p:spPr>
          <a:xfrm xmlns:a="http://schemas.openxmlformats.org/drawingml/2006/main">
            <a:off x="8572500" y="52006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6B7B8C"/>
                </a:solidFill>
                <a:latin typeface="Helvetica Neue"/>
                <a:ea typeface="Helvetica Neue"/>
                <a:cs typeface="Helvetica Neue"/>
              </a:defRPr>
            </a:pPr>
            <a:r>
              <a:rPr sz="1350" b="0">
                <a:solidFill>
                  <a:srgbClr val="6B7B8C"/>
                </a:solidFill>
                <a:latin typeface="Helvetica Neue"/>
                <a:ea typeface="Helvetica Neue"/>
                <a:cs typeface="Helvetica Neue"/>
              </a:rPr>
              <a:t>first Try 4 run: qwen3.5</a:t>
            </a:r>
          </a:p>
        </p:txBody>
      </p:sp>
    </p:spTree>
    <p:extLst>
      <p:ext uri="{BB962C8B-B14F-4D97-AF65-F5344CB8AC3E}">
        <p14:creationId xmlns:p14="http://schemas.microsoft.com/office/powerpoint/2010/main" val="1821953694"/>
      </p:ext>
    </p:extLst>
  </p:cSld>
</p:sld>
</file>

<file path=ppt/slides/slide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20842E6-F657-4539-8E82-6A39D04C0BE4}"/>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3 investigation flow</a:t>
            </a:r>
          </a:p>
        </p:txBody>
      </p:sp>
      <p:sp>
        <p:nvSpPr>
          <p:cNvPr id="2" name="">
            <a:extLst xmlns:a="http://schemas.openxmlformats.org/drawingml/2006/main">
              <a:ext uri="{FF2B5EF4-FFF2-40B4-BE49-F238E27FC236}">
                <a16:creationId xmlns:a16="http://schemas.microsoft.com/office/drawing/2014/main" id="{059CC84A-F7AD-4667-92BE-46B31DC7A49E}"/>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Each model owned a separate incident track and generated its own versioned investigation.</a:t>
            </a:r>
          </a:p>
        </p:txBody>
      </p:sp>
      <p:sp>
        <p:nvSpPr>
          <p:cNvPr id="3" name="">
            <a:extLst xmlns:a="http://schemas.openxmlformats.org/drawingml/2006/main">
              <a:ext uri="{FF2B5EF4-FFF2-40B4-BE49-F238E27FC236}">
                <a16:creationId xmlns:a16="http://schemas.microsoft.com/office/drawing/2014/main" id="{BD5BBD39-2FE5-41B7-A85C-67331B56360D}"/>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F6D16C5-97A6-4FFB-BF29-45C04C3C103C}"/>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application design and evaluation protocol</a:t>
            </a:r>
          </a:p>
        </p:txBody>
      </p:sp>
      <p:sp>
        <p:nvSpPr>
          <p:cNvPr id="5" name="">
            <a:extLst xmlns:a="http://schemas.openxmlformats.org/drawingml/2006/main">
              <a:ext uri="{FF2B5EF4-FFF2-40B4-BE49-F238E27FC236}">
                <a16:creationId xmlns:a16="http://schemas.microsoft.com/office/drawing/2014/main" id="{DA29240A-0098-447B-8C65-E70426C6CAA9}"/>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DC9EE07B-4F80-45EC-91CF-399D254EE598}"/>
              </a:ext>
            </a:extLst>
          </p:cNvPr>
          <p:cNvSpPr>
            <a:spLocks xmlns:a="http://schemas.openxmlformats.org/drawingml/2006/main" noGrp="1"/>
          </p:cNvSpPr>
          <p:nvPr/>
        </p:nvSpPr>
        <p:spPr>
          <a:xfrm xmlns:a="http://schemas.openxmlformats.org/drawingml/2006/main">
            <a:off x="609600" y="1809750"/>
            <a:ext cx="1762125" cy="819150"/>
          </a:xfrm>
          <a:prstGeom xmlns:a="http://schemas.openxmlformats.org/drawingml/2006/main" prst="roundRect">
            <a:avLst>
              <a:gd name="adj" fmla="val 9302"/>
            </a:avLst>
          </a:prstGeom>
          <a:solidFill xmlns:a="http://schemas.openxmlformats.org/drawingml/2006/main">
            <a:srgbClr val="DCE9F4"/>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Incident description</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 starter records</a:t>
            </a:r>
          </a:p>
        </p:txBody>
      </p:sp>
      <p:sp>
        <p:nvSpPr>
          <p:cNvPr id="7" name="">
            <a:extLst xmlns:a="http://schemas.openxmlformats.org/drawingml/2006/main">
              <a:ext uri="{FF2B5EF4-FFF2-40B4-BE49-F238E27FC236}">
                <a16:creationId xmlns:a16="http://schemas.microsoft.com/office/drawing/2014/main" id="{821A1C1C-F196-452C-A89E-AEB2D402946F}"/>
              </a:ext>
            </a:extLst>
          </p:cNvPr>
          <p:cNvSpPr>
            <a:spLocks xmlns:a="http://schemas.openxmlformats.org/drawingml/2006/main" noGrp="1"/>
          </p:cNvSpPr>
          <p:nvPr/>
        </p:nvSpPr>
        <p:spPr>
          <a:xfrm xmlns:a="http://schemas.openxmlformats.org/drawingml/2006/main">
            <a:off x="2724150" y="1809750"/>
            <a:ext cx="15621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Baseline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understanding</a:t>
            </a:r>
          </a:p>
        </p:txBody>
      </p:sp>
      <p:sp>
        <p:nvSpPr>
          <p:cNvPr id="8" name="">
            <a:extLst xmlns:a="http://schemas.openxmlformats.org/drawingml/2006/main">
              <a:ext uri="{FF2B5EF4-FFF2-40B4-BE49-F238E27FC236}">
                <a16:creationId xmlns:a16="http://schemas.microsoft.com/office/drawing/2014/main" id="{4C09A67C-D024-48CF-9354-BE283EA0B43B}"/>
              </a:ext>
            </a:extLst>
          </p:cNvPr>
          <p:cNvSpPr>
            <a:spLocks xmlns:a="http://schemas.openxmlformats.org/drawingml/2006/main" noGrp="1"/>
          </p:cNvSpPr>
          <p:nvPr/>
        </p:nvSpPr>
        <p:spPr>
          <a:xfrm xmlns:a="http://schemas.openxmlformats.org/drawingml/2006/main">
            <a:off x="4638675" y="1809750"/>
            <a:ext cx="14287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Tag selection</a:t>
            </a:r>
          </a:p>
        </p:txBody>
      </p:sp>
      <p:sp>
        <p:nvSpPr>
          <p:cNvPr id="9" name="">
            <a:extLst xmlns:a="http://schemas.openxmlformats.org/drawingml/2006/main">
              <a:ext uri="{FF2B5EF4-FFF2-40B4-BE49-F238E27FC236}">
                <a16:creationId xmlns:a16="http://schemas.microsoft.com/office/drawing/2014/main" id="{878959BE-B0F7-4304-85FD-FB0036929D49}"/>
              </a:ext>
            </a:extLst>
          </p:cNvPr>
          <p:cNvSpPr>
            <a:spLocks xmlns:a="http://schemas.openxmlformats.org/drawingml/2006/main" noGrp="1"/>
          </p:cNvSpPr>
          <p:nvPr/>
        </p:nvSpPr>
        <p:spPr>
          <a:xfrm xmlns:a="http://schemas.openxmlformats.org/drawingml/2006/main">
            <a:off x="6419850" y="1809750"/>
            <a:ext cx="15240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Selected</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specialists</a:t>
            </a:r>
          </a:p>
        </p:txBody>
      </p:sp>
      <p:sp>
        <p:nvSpPr>
          <p:cNvPr id="10" name="">
            <a:extLst xmlns:a="http://schemas.openxmlformats.org/drawingml/2006/main">
              <a:ext uri="{FF2B5EF4-FFF2-40B4-BE49-F238E27FC236}">
                <a16:creationId xmlns:a16="http://schemas.microsoft.com/office/drawing/2014/main" id="{3CD0C319-263E-4CCF-8D06-A3F8551D29BC}"/>
              </a:ext>
            </a:extLst>
          </p:cNvPr>
          <p:cNvSpPr>
            <a:spLocks xmlns:a="http://schemas.openxmlformats.org/drawingml/2006/main" noGrp="1"/>
          </p:cNvSpPr>
          <p:nvPr/>
        </p:nvSpPr>
        <p:spPr>
          <a:xfrm xmlns:a="http://schemas.openxmlformats.org/drawingml/2006/main">
            <a:off x="8296275" y="1809750"/>
            <a:ext cx="14287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Question</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broker</a:t>
            </a:r>
          </a:p>
        </p:txBody>
      </p:sp>
      <p:sp>
        <p:nvSpPr>
          <p:cNvPr id="11" name="">
            <a:extLst xmlns:a="http://schemas.openxmlformats.org/drawingml/2006/main">
              <a:ext uri="{FF2B5EF4-FFF2-40B4-BE49-F238E27FC236}">
                <a16:creationId xmlns:a16="http://schemas.microsoft.com/office/drawing/2014/main" id="{5D8EA332-6F94-42EB-804F-628665C80B64}"/>
              </a:ext>
            </a:extLst>
          </p:cNvPr>
          <p:cNvSpPr>
            <a:spLocks xmlns:a="http://schemas.openxmlformats.org/drawingml/2006/main" noGrp="1"/>
          </p:cNvSpPr>
          <p:nvPr/>
        </p:nvSpPr>
        <p:spPr>
          <a:xfrm xmlns:a="http://schemas.openxmlformats.org/drawingml/2006/main">
            <a:off x="10077450" y="1809750"/>
            <a:ext cx="1485900" cy="819150"/>
          </a:xfrm>
          <a:prstGeom xmlns:a="http://schemas.openxmlformats.org/drawingml/2006/main" prst="roundRect">
            <a:avLst>
              <a:gd name="adj" fmla="val 9302"/>
            </a:avLst>
          </a:prstGeom>
          <a:solidFill xmlns:a="http://schemas.openxmlformats.org/drawingml/2006/main">
            <a:srgbClr val="F7E5BE"/>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Answer</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fetchers</a:t>
            </a:r>
          </a:p>
        </p:txBody>
      </p: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a:off x="2371725"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39" name=""/>
          <p:cNvCxnSpPr>
            <a:stCxn xmlns:a="http://schemas.openxmlformats.org/drawingml/2006/main" id="7" idx="3"/>
            <a:endCxn xmlns:a="http://schemas.openxmlformats.org/drawingml/2006/main" id="8" idx="1"/>
          </p:cNvCxnSpPr>
          <p:nvPr/>
        </p:nvCxnSpPr>
        <p:spPr>
          <a:xfrm xmlns:a="http://schemas.openxmlformats.org/drawingml/2006/main">
            <a:off x="4286250"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40" name=""/>
          <p:cNvCxnSpPr>
            <a:stCxn xmlns:a="http://schemas.openxmlformats.org/drawingml/2006/main" id="8" idx="3"/>
            <a:endCxn xmlns:a="http://schemas.openxmlformats.org/drawingml/2006/main" id="9" idx="1"/>
          </p:cNvCxnSpPr>
          <p:nvPr/>
        </p:nvCxnSpPr>
        <p:spPr>
          <a:xfrm xmlns:a="http://schemas.openxmlformats.org/drawingml/2006/main">
            <a:off x="6067425"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41" name=""/>
          <p:cNvCxnSpPr>
            <a:stCxn xmlns:a="http://schemas.openxmlformats.org/drawingml/2006/main" id="9" idx="3"/>
            <a:endCxn xmlns:a="http://schemas.openxmlformats.org/drawingml/2006/main" id="10" idx="1"/>
          </p:cNvCxnSpPr>
          <p:nvPr/>
        </p:nvCxnSpPr>
        <p:spPr>
          <a:xfrm xmlns:a="http://schemas.openxmlformats.org/drawingml/2006/main">
            <a:off x="7943850"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42" name=""/>
          <p:cNvCxnSpPr>
            <a:stCxn xmlns:a="http://schemas.openxmlformats.org/drawingml/2006/main" id="10" idx="3"/>
            <a:endCxn xmlns:a="http://schemas.openxmlformats.org/drawingml/2006/main" id="11" idx="1"/>
          </p:cNvCxnSpPr>
          <p:nvPr/>
        </p:nvCxnSpPr>
        <p:spPr>
          <a:xfrm xmlns:a="http://schemas.openxmlformats.org/drawingml/2006/main">
            <a:off x="9725025"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sp>
        <p:nvSpPr>
          <p:cNvPr id="17" name="">
            <a:extLst xmlns:a="http://schemas.openxmlformats.org/drawingml/2006/main">
              <a:ext uri="{FF2B5EF4-FFF2-40B4-BE49-F238E27FC236}">
                <a16:creationId xmlns:a16="http://schemas.microsoft.com/office/drawing/2014/main" id="{283529E8-1C7B-4516-9C5A-F50F6964B630}"/>
              </a:ext>
            </a:extLst>
          </p:cNvPr>
          <p:cNvSpPr>
            <a:spLocks xmlns:a="http://schemas.openxmlformats.org/drawingml/2006/main" noGrp="1"/>
          </p:cNvSpPr>
          <p:nvPr/>
        </p:nvSpPr>
        <p:spPr>
          <a:xfrm xmlns:a="http://schemas.openxmlformats.org/drawingml/2006/main">
            <a:off x="8058150" y="3714750"/>
            <a:ext cx="157162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Evidence claims</a:t>
            </a:r>
          </a:p>
        </p:txBody>
      </p:sp>
      <p:sp>
        <p:nvSpPr>
          <p:cNvPr id="18" name="">
            <a:extLst xmlns:a="http://schemas.openxmlformats.org/drawingml/2006/main">
              <a:ext uri="{FF2B5EF4-FFF2-40B4-BE49-F238E27FC236}">
                <a16:creationId xmlns:a16="http://schemas.microsoft.com/office/drawing/2014/main" id="{717DF770-482A-417A-96B1-8B5EA9AB627F}"/>
              </a:ext>
            </a:extLst>
          </p:cNvPr>
          <p:cNvSpPr>
            <a:spLocks xmlns:a="http://schemas.openxmlformats.org/drawingml/2006/main" noGrp="1"/>
          </p:cNvSpPr>
          <p:nvPr/>
        </p:nvSpPr>
        <p:spPr>
          <a:xfrm xmlns:a="http://schemas.openxmlformats.org/drawingml/2006/main">
            <a:off x="6000750" y="3714750"/>
            <a:ext cx="157162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Causal board</a:t>
            </a:r>
          </a:p>
        </p:txBody>
      </p:sp>
      <p:sp>
        <p:nvSpPr>
          <p:cNvPr id="19" name="">
            <a:extLst xmlns:a="http://schemas.openxmlformats.org/drawingml/2006/main">
              <a:ext uri="{FF2B5EF4-FFF2-40B4-BE49-F238E27FC236}">
                <a16:creationId xmlns:a16="http://schemas.microsoft.com/office/drawing/2014/main" id="{1B189174-E5F5-41AA-8241-A2C865FB2379}"/>
              </a:ext>
            </a:extLst>
          </p:cNvPr>
          <p:cNvSpPr>
            <a:spLocks xmlns:a="http://schemas.openxmlformats.org/drawingml/2006/main" noGrp="1"/>
          </p:cNvSpPr>
          <p:nvPr/>
        </p:nvSpPr>
        <p:spPr>
          <a:xfrm xmlns:a="http://schemas.openxmlformats.org/drawingml/2006/main">
            <a:off x="3943350" y="3714750"/>
            <a:ext cx="157162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Verification</a:t>
            </a:r>
          </a:p>
        </p:txBody>
      </p:sp>
      <p:sp>
        <p:nvSpPr>
          <p:cNvPr id="20" name="">
            <a:extLst xmlns:a="http://schemas.openxmlformats.org/drawingml/2006/main">
              <a:ext uri="{FF2B5EF4-FFF2-40B4-BE49-F238E27FC236}">
                <a16:creationId xmlns:a16="http://schemas.microsoft.com/office/drawing/2014/main" id="{CD6326D4-FCED-4273-8302-1329FE7F998D}"/>
              </a:ext>
            </a:extLst>
          </p:cNvPr>
          <p:cNvSpPr>
            <a:spLocks xmlns:a="http://schemas.openxmlformats.org/drawingml/2006/main" noGrp="1"/>
          </p:cNvSpPr>
          <p:nvPr/>
        </p:nvSpPr>
        <p:spPr>
          <a:xfrm xmlns:a="http://schemas.openxmlformats.org/drawingml/2006/main">
            <a:off x="1619250" y="3714750"/>
            <a:ext cx="1809750" cy="781050"/>
          </a:xfrm>
          <a:prstGeom xmlns:a="http://schemas.openxmlformats.org/drawingml/2006/main" prst="roundRect">
            <a:avLst>
              <a:gd name="adj" fmla="val 9756"/>
            </a:avLst>
          </a:prstGeom>
          <a:solidFill xmlns:a="http://schemas.openxmlformats.org/drawingml/2006/main">
            <a:srgbClr val="D9EFEC"/>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Corrective actions</a:t>
            </a:r>
          </a:p>
        </p:txBody>
      </p:sp>
      <p:cxnSp>
        <p:nvCxnSpPr>
          <p:cNvPr id="47" name=""/>
          <p:cNvCxnSpPr>
            <a:stCxn xmlns:a="http://schemas.openxmlformats.org/drawingml/2006/main" id="11" idx="2"/>
            <a:endCxn xmlns:a="http://schemas.openxmlformats.org/drawingml/2006/main" id="17" idx="3"/>
          </p:cNvCxnSpPr>
          <p:nvPr/>
        </p:nvCxnSpPr>
        <p:spPr>
          <a:xfrm xmlns:a="http://schemas.openxmlformats.org/drawingml/2006/main" flipH="1">
            <a:off x="9629775" y="2628900"/>
            <a:ext cx="1190625" cy="1476375"/>
          </a:xfrm>
          <a:prstGeom xmlns:a="http://schemas.openxmlformats.org/drawingml/2006/main" prst="bentConnector5">
            <a:avLst>
              <a:gd name="adj1" fmla="val 0"/>
              <a:gd name="adj2" fmla="val 15484"/>
              <a:gd name="adj3" fmla="val 80800"/>
            </a:avLst>
          </a:prstGeom>
          <a:ln xmlns:a="http://schemas.openxmlformats.org/drawingml/2006/main" w="19050">
            <a:solidFill>
              <a:srgbClr val="425466"/>
            </a:solidFill>
            <a:prstDash val="solid"/>
            <a:tailEnd type="arrow" w="med" len="med"/>
          </a:ln>
        </p:spPr>
      </p:cxnSp>
      <p:cxnSp>
        <p:nvCxnSpPr>
          <p:cNvPr id="48" name=""/>
          <p:cNvCxnSpPr>
            <a:stCxn xmlns:a="http://schemas.openxmlformats.org/drawingml/2006/main" id="17" idx="1"/>
            <a:endCxn xmlns:a="http://schemas.openxmlformats.org/drawingml/2006/main" id="18" idx="3"/>
          </p:cNvCxnSpPr>
          <p:nvPr/>
        </p:nvCxnSpPr>
        <p:spPr>
          <a:xfrm xmlns:a="http://schemas.openxmlformats.org/drawingml/2006/main" flipH="1">
            <a:off x="7572375" y="4105275"/>
            <a:ext cx="48577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49" name=""/>
          <p:cNvCxnSpPr>
            <a:stCxn xmlns:a="http://schemas.openxmlformats.org/drawingml/2006/main" id="18" idx="1"/>
            <a:endCxn xmlns:a="http://schemas.openxmlformats.org/drawingml/2006/main" id="19" idx="3"/>
          </p:cNvCxnSpPr>
          <p:nvPr/>
        </p:nvCxnSpPr>
        <p:spPr>
          <a:xfrm xmlns:a="http://schemas.openxmlformats.org/drawingml/2006/main" flipH="1">
            <a:off x="5514975" y="4105275"/>
            <a:ext cx="48577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50" name=""/>
          <p:cNvCxnSpPr>
            <a:stCxn xmlns:a="http://schemas.openxmlformats.org/drawingml/2006/main" id="19" idx="1"/>
            <a:endCxn xmlns:a="http://schemas.openxmlformats.org/drawingml/2006/main" id="20" idx="3"/>
          </p:cNvCxnSpPr>
          <p:nvPr/>
        </p:nvCxnSpPr>
        <p:spPr>
          <a:xfrm xmlns:a="http://schemas.openxmlformats.org/drawingml/2006/main" flipH="1">
            <a:off x="3429000" y="4105275"/>
            <a:ext cx="5143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sp>
        <p:nvSpPr>
          <p:cNvPr id="25" name="">
            <a:extLst xmlns:a="http://schemas.openxmlformats.org/drawingml/2006/main">
              <a:ext uri="{FF2B5EF4-FFF2-40B4-BE49-F238E27FC236}">
                <a16:creationId xmlns:a16="http://schemas.microsoft.com/office/drawing/2014/main" id="{3D67DAE7-1B62-400E-B5B8-5C9E4B47F07C}"/>
              </a:ext>
            </a:extLst>
          </p:cNvPr>
          <p:cNvSpPr>
            <a:spLocks xmlns:a="http://schemas.openxmlformats.org/drawingml/2006/main" noGrp="1"/>
          </p:cNvSpPr>
          <p:nvPr/>
        </p:nvSpPr>
        <p:spPr>
          <a:xfrm xmlns:a="http://schemas.openxmlformats.org/drawingml/2006/main">
            <a:off x="1581150" y="50482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0263C"/>
                </a:solidFill>
                <a:latin typeface="Helvetica Neue"/>
                <a:ea typeface="Helvetica Neue"/>
                <a:cs typeface="Helvetica Neue"/>
              </a:defRPr>
            </a:pPr>
            <a:r>
              <a:rPr sz="1800" b="1">
                <a:solidFill>
                  <a:srgbClr val="10263C"/>
                </a:solidFill>
                <a:latin typeface="Helvetica Neue"/>
                <a:ea typeface="Helvetica Neue"/>
                <a:cs typeface="Helvetica Neue"/>
              </a:rPr>
              <a:t>Evidence could create a new version inside the same model track</a:t>
            </a:r>
          </a:p>
        </p:txBody>
      </p:sp>
      <p:sp>
        <p:nvSpPr>
          <p:cNvPr id="26" name="">
            <a:extLst xmlns:a="http://schemas.openxmlformats.org/drawingml/2006/main">
              <a:ext uri="{FF2B5EF4-FFF2-40B4-BE49-F238E27FC236}">
                <a16:creationId xmlns:a16="http://schemas.microsoft.com/office/drawing/2014/main" id="{FFA8A874-A8CB-4612-8714-3C1DF58D3F41}"/>
              </a:ext>
            </a:extLst>
          </p:cNvPr>
          <p:cNvSpPr>
            <a:spLocks xmlns:a="http://schemas.openxmlformats.org/drawingml/2006/main" noGrp="1"/>
          </p:cNvSpPr>
          <p:nvPr/>
        </p:nvSpPr>
        <p:spPr>
          <a:xfrm xmlns:a="http://schemas.openxmlformats.org/drawingml/2006/main">
            <a:off x="1676400" y="5543550"/>
            <a:ext cx="790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ctr">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The benchmark exposed failures in structured output, evidence reconciliation, causal direction, and premature actions.</a:t>
            </a:r>
          </a:p>
        </p:txBody>
      </p:sp>
    </p:spTree>
    <p:extLst>
      <p:ext uri="{BB962C8B-B14F-4D97-AF65-F5344CB8AC3E}">
        <p14:creationId xmlns:p14="http://schemas.microsoft.com/office/powerpoint/2010/main" val="683165985"/>
      </p:ext>
    </p:extLst>
  </p:cSld>
</p:sld>
</file>

<file path=ppt/slides/slide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806911-9B36-4D5D-99AA-B756BC95C989}"/>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The 100-point evaluation rubric</a:t>
            </a:r>
          </a:p>
        </p:txBody>
      </p:sp>
      <p:sp>
        <p:nvSpPr>
          <p:cNvPr id="2" name="">
            <a:extLst xmlns:a="http://schemas.openxmlformats.org/drawingml/2006/main">
              <a:ext uri="{FF2B5EF4-FFF2-40B4-BE49-F238E27FC236}">
                <a16:creationId xmlns:a16="http://schemas.microsoft.com/office/drawing/2014/main" id="{7550DC69-EA20-4FDE-9545-A8D927F07D50}"/>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scoring framework was defined before interpreting model performance.</a:t>
            </a:r>
          </a:p>
        </p:txBody>
      </p:sp>
      <p:sp>
        <p:nvSpPr>
          <p:cNvPr id="3" name="">
            <a:extLst xmlns:a="http://schemas.openxmlformats.org/drawingml/2006/main">
              <a:ext uri="{FF2B5EF4-FFF2-40B4-BE49-F238E27FC236}">
                <a16:creationId xmlns:a16="http://schemas.microsoft.com/office/drawing/2014/main" id="{258F5718-49DB-4599-96E2-3C52E00C3196}"/>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AC67CA3-0614-41A4-BDB8-818BA930A2F3}"/>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R3 Ollama evaluation protocol</a:t>
            </a:r>
          </a:p>
        </p:txBody>
      </p:sp>
      <p:sp>
        <p:nvSpPr>
          <p:cNvPr id="5" name="">
            <a:extLst xmlns:a="http://schemas.openxmlformats.org/drawingml/2006/main">
              <a:ext uri="{FF2B5EF4-FFF2-40B4-BE49-F238E27FC236}">
                <a16:creationId xmlns:a16="http://schemas.microsoft.com/office/drawing/2014/main" id="{E55C6536-54CF-4684-815E-40D49E1C305E}"/>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119F67D2-8B94-4BC1-AB1C-438E75774A57}"/>
              </a:ext>
            </a:extLst>
          </p:cNvPr>
          <p:cNvSpPr>
            <a:spLocks xmlns:a="http://schemas.openxmlformats.org/drawingml/2006/main" noGrp="1"/>
          </p:cNvSpPr>
          <p:nvPr/>
        </p:nvSpPr>
        <p:spPr>
          <a:xfrm xmlns:a="http://schemas.openxmlformats.org/drawingml/2006/main">
            <a:off x="704850" y="163830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6150" b="1">
                <a:solidFill>
                  <a:srgbClr val="10263C"/>
                </a:solidFill>
                <a:latin typeface="Helvetica Neue"/>
                <a:ea typeface="Helvetica Neue"/>
                <a:cs typeface="Helvetica Neue"/>
              </a:defRPr>
            </a:pPr>
            <a:r>
              <a:rPr sz="6150" b="1">
                <a:solidFill>
                  <a:srgbClr val="10263C"/>
                </a:solidFill>
                <a:latin typeface="Helvetica Neue"/>
                <a:ea typeface="Helvetica Neue"/>
                <a:cs typeface="Helvetica Neue"/>
              </a:rPr>
              <a:t>100</a:t>
            </a:r>
          </a:p>
        </p:txBody>
      </p:sp>
      <p:sp>
        <p:nvSpPr>
          <p:cNvPr id="7" name="">
            <a:extLst xmlns:a="http://schemas.openxmlformats.org/drawingml/2006/main">
              <a:ext uri="{FF2B5EF4-FFF2-40B4-BE49-F238E27FC236}">
                <a16:creationId xmlns:a16="http://schemas.microsoft.com/office/drawing/2014/main" id="{F255DD07-DCC7-4F3C-B44F-804AECA3E33A}"/>
              </a:ext>
            </a:extLst>
          </p:cNvPr>
          <p:cNvSpPr>
            <a:spLocks xmlns:a="http://schemas.openxmlformats.org/drawingml/2006/main" noGrp="1"/>
          </p:cNvSpPr>
          <p:nvPr/>
        </p:nvSpPr>
        <p:spPr>
          <a:xfrm xmlns:a="http://schemas.openxmlformats.org/drawingml/2006/main">
            <a:off x="704850" y="26479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E5A32D"/>
                </a:solidFill>
                <a:latin typeface="Helvetica Neue"/>
                <a:ea typeface="Helvetica Neue"/>
                <a:cs typeface="Helvetica Neue"/>
              </a:defRPr>
            </a:pPr>
            <a:r>
              <a:rPr sz="1275" b="1">
                <a:solidFill>
                  <a:srgbClr val="E5A32D"/>
                </a:solidFill>
                <a:latin typeface="Helvetica Neue"/>
                <a:ea typeface="Helvetica Neue"/>
                <a:cs typeface="Helvetica Neue"/>
              </a:rPr>
              <a:t>TOTAL POINTS</a:t>
            </a:r>
          </a:p>
        </p:txBody>
      </p:sp>
      <p:sp>
        <p:nvSpPr>
          <p:cNvPr id="8" name="">
            <a:extLst xmlns:a="http://schemas.openxmlformats.org/drawingml/2006/main">
              <a:ext uri="{FF2B5EF4-FFF2-40B4-BE49-F238E27FC236}">
                <a16:creationId xmlns:a16="http://schemas.microsoft.com/office/drawing/2014/main" id="{2EECA843-CEF5-4B72-BC86-75D9112D2BEF}"/>
              </a:ext>
            </a:extLst>
          </p:cNvPr>
          <p:cNvSpPr>
            <a:spLocks xmlns:a="http://schemas.openxmlformats.org/drawingml/2006/main" noGrp="1"/>
          </p:cNvSpPr>
          <p:nvPr/>
        </p:nvSpPr>
        <p:spPr>
          <a:xfrm xmlns:a="http://schemas.openxmlformats.org/drawingml/2006/main">
            <a:off x="685800" y="33147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636"/>
          </a:bodyPr>
          <a:lstStyle xmlns:a="http://schemas.openxmlformats.org/drawingml/2006/main"/>
          <a:p xmlns:a="http://schemas.openxmlformats.org/drawingml/2006/main">
            <a:pPr algn="ctr">
              <a:defRPr sz="1650" b="0">
                <a:solidFill>
                  <a:srgbClr val="425466"/>
                </a:solidFill>
                <a:latin typeface="Helvetica Neue"/>
                <a:ea typeface="Helvetica Neue"/>
                <a:cs typeface="Helvetica Neue"/>
              </a:defRPr>
            </a:pPr>
            <a:r>
              <a:rPr sz="1650" b="0">
                <a:solidFill>
                  <a:srgbClr val="425466"/>
                </a:solidFill>
                <a:latin typeface="Helvetica Neue"/>
                <a:ea typeface="Helvetica Neue"/>
                <a:cs typeface="Helvetica Neue"/>
              </a:rPr>
              <a:t>Higher weight goes to evidence handling and causal reasoning because a fluent summary alone does not establish root cause.</a:t>
            </a:r>
          </a:p>
        </p:txBody>
      </p:sp>
      <p:graphicFrame>
        <p:nvGraphicFramePr>
          <p:cNvPr id="18" name="Chart"/>
          <p:cNvGraphicFramePr/>
          <p:nvPr/>
        </p:nvGraphicFramePr>
        <p:xfrm>
          <a:off xmlns:a="http://schemas.openxmlformats.org/drawingml/2006/main" x="3333750" y="1485900"/>
          <a:ext xmlns:a="http://schemas.openxmlformats.org/drawingml/2006/main" cx="8020050" cy="4362450"/>
        </p:xfrm>
        <a:graphic xmlns:a="http://schemas.openxmlformats.org/drawingml/2006/main">
          <a:graphicData uri="http://schemas.openxmlformats.org/drawingml/2006/chart">
            <c:chart xmlns:r="http://schemas.openxmlformats.org/officeDocument/2006/relationships" xmlns:c="http://schemas.openxmlformats.org/drawingml/2006/chart" r:id="R9840430062c04a96"/>
          </a:graphicData>
        </a:graphic>
      </p:graphicFrame>
    </p:spTree>
    <p:extLst>
      <p:ext uri="{BB962C8B-B14F-4D97-AF65-F5344CB8AC3E}">
        <p14:creationId xmlns:p14="http://schemas.microsoft.com/office/powerpoint/2010/main" val="1055563253"/>
      </p:ext>
    </p:extLst>
  </p:cSld>
</p:sld>
</file>

<file path=ppt/slides/slide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3B66A5-82CE-40B4-B9EA-CE2AB2C09294}"/>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What earns each point allocation</a:t>
            </a:r>
          </a:p>
        </p:txBody>
      </p:sp>
      <p:sp>
        <p:nvSpPr>
          <p:cNvPr id="2" name="">
            <a:extLst xmlns:a="http://schemas.openxmlformats.org/drawingml/2006/main">
              <a:ext uri="{FF2B5EF4-FFF2-40B4-BE49-F238E27FC236}">
                <a16:creationId xmlns:a16="http://schemas.microsoft.com/office/drawing/2014/main" id="{7EEC28E9-D2F0-49E1-AF15-9E1A8E07A648}"/>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Scores reflect investigative usefulness, evidence discipline, and causal validity.</a:t>
            </a:r>
          </a:p>
        </p:txBody>
      </p:sp>
      <p:sp>
        <p:nvSpPr>
          <p:cNvPr id="3" name="">
            <a:extLst xmlns:a="http://schemas.openxmlformats.org/drawingml/2006/main">
              <a:ext uri="{FF2B5EF4-FFF2-40B4-BE49-F238E27FC236}">
                <a16:creationId xmlns:a16="http://schemas.microsoft.com/office/drawing/2014/main" id="{BA85095C-A9BF-4356-B145-8A02E891602B}"/>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086D064-F426-4909-AE36-300B8FBC7DD5}"/>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R3 Ollama evaluation protocol</a:t>
            </a:r>
          </a:p>
        </p:txBody>
      </p:sp>
      <p:sp>
        <p:nvSpPr>
          <p:cNvPr id="5" name="">
            <a:extLst xmlns:a="http://schemas.openxmlformats.org/drawingml/2006/main">
              <a:ext uri="{FF2B5EF4-FFF2-40B4-BE49-F238E27FC236}">
                <a16:creationId xmlns:a16="http://schemas.microsoft.com/office/drawing/2014/main" id="{D516DD8A-87C5-4D3B-A585-ABE1817D4647}"/>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05</a:t>
            </a:r>
          </a:p>
        </p:txBody>
      </p:sp>
      <p:graphicFrame>
        <p:nvGraphicFramePr>
          <p:cNvPr id="12" name=""/>
          <p:cNvGraphicFramePr/>
          <p:nvPr/>
        </p:nvGraphicFramePr>
        <p:xfrm>
          <a:off xmlns:a="http://schemas.openxmlformats.org/drawingml/2006/main" x="628650" y="1485900"/>
          <a:ext xmlns:a="http://schemas.openxmlformats.org/drawingml/2006/main" cx="10934700" cy="4705350"/>
        </p:xfrm>
        <a:graphic xmlns:a="http://schemas.openxmlformats.org/drawingml/2006/main">
          <a:graphicData uri="http://schemas.openxmlformats.org/drawingml/2006/table">
            <a:tbl>
              <a:tblPr/>
              <a:tblGrid>
                <a:gridCol w="3171063"/>
                <a:gridCol w="918515"/>
                <a:gridCol w="6845122"/>
              </a:tblGrid>
              <a:tr h="522817">
                <a:tc>
                  <a:txBody>
                    <a:bodyPr/>
                    <a:lstStyle/>
                    <a:p>
                      <a:r>
                        <a:rPr sz="1275" b="1">
                          <a:solidFill>
                            <a:srgbClr val="FFFFFF"/>
                          </a:solidFill>
                          <a:latin typeface="Helvetica Neue"/>
                          <a:ea typeface="Helvetica Neue"/>
                          <a:cs typeface="Helvetica Neue"/>
                        </a:rPr>
                        <a:t>Dimension</a:t>
                      </a:r>
                    </a:p>
                  </a:txBody>
                  <a:tcPr marL="95250" marR="95250" marT="66675" marB="66675">
                    <a:solidFill>
                      <a:srgbClr val="10263C"/>
                    </a:solidFill>
                  </a:tcPr>
                </a:tc>
                <a:tc>
                  <a:txBody>
                    <a:bodyPr/>
                    <a:lstStyle/>
                    <a:p>
                      <a:r>
                        <a:rPr sz="1275" b="1">
                          <a:solidFill>
                            <a:srgbClr val="FFFFFF"/>
                          </a:solidFill>
                          <a:latin typeface="Helvetica Neue"/>
                          <a:ea typeface="Helvetica Neue"/>
                          <a:cs typeface="Helvetica Neue"/>
                        </a:rPr>
                        <a:t>Points</a:t>
                      </a:r>
                    </a:p>
                  </a:txBody>
                  <a:tcPr marL="95250" marR="95250" marT="66675" marB="66675">
                    <a:solidFill>
                      <a:srgbClr val="10263C"/>
                    </a:solidFill>
                  </a:tcPr>
                </a:tc>
                <a:tc>
                  <a:txBody>
                    <a:bodyPr/>
                    <a:lstStyle/>
                    <a:p>
                      <a:r>
                        <a:rPr sz="1275" b="1">
                          <a:solidFill>
                            <a:srgbClr val="FFFFFF"/>
                          </a:solidFill>
                          <a:latin typeface="Helvetica Neue"/>
                          <a:ea typeface="Helvetica Neue"/>
                          <a:cs typeface="Helvetica Neue"/>
                        </a:rPr>
                        <a:t>What earns credit</a:t>
                      </a:r>
                    </a:p>
                  </a:txBody>
                  <a:tcPr marL="95250" marR="95250" marT="66675" marB="66675">
                    <a:solidFill>
                      <a:srgbClr val="10263C"/>
                    </a:solidFill>
                  </a:tcPr>
                </a:tc>
              </a:tr>
              <a:tr h="522817">
                <a:tc>
                  <a:txBody>
                    <a:bodyPr/>
                    <a:lstStyle/>
                    <a:p>
                      <a:r>
                        <a:rPr sz="1125">
                          <a:solidFill>
                            <a:srgbClr val="17212B"/>
                          </a:solidFill>
                          <a:latin typeface="Helvetica Neue"/>
                          <a:ea typeface="Helvetica Neue"/>
                          <a:cs typeface="Helvetica Neue"/>
                        </a:rPr>
                        <a:t>Incident comprehension</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Correct entities, sequence, context, and explicit unknowns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Tag selection</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Relevant specialist routes without treating tags as causes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Investigative questions</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High-yield questions that open distinct causal directions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Evidence targeting</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Correct drawings, records, observations, and physical evidence</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Provenance and contradictions</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Source separation, conflict detection, resistance to weak evidence</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Causal reasoning</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20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Evidence-linked conditions, barriers, causes, and tested alternatives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Corrective actions</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Actions tied to verified conditions with owners and checks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Calibration and trace</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Visible limits, confidence, and useful decision records</a:t>
                      </a:r>
                    </a:p>
                  </a:txBody>
                  <a:tcPr marL="95250" marR="95250" marT="57150" marB="57150">
                    <a:solidFill>
                      <a:srgbClr val="FFFFFF"/>
                    </a:solidFill>
                  </a:tcPr>
                </a:tc>
              </a:tr>
            </a:tbl>
          </a:graphicData>
        </a:graphic>
      </p:graphicFrame>
    </p:spTree>
    <p:extLst>
      <p:ext uri="{BB962C8B-B14F-4D97-AF65-F5344CB8AC3E}">
        <p14:creationId xmlns:p14="http://schemas.microsoft.com/office/powerpoint/2010/main" val="385471233"/>
      </p:ext>
    </p:extLst>
  </p:cSld>
</p:sld>
</file>

<file path=ppt/slides/slide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64E404-626B-4FF6-8544-2C2631E477CD}"/>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3 model performance</a:t>
            </a:r>
          </a:p>
        </p:txBody>
      </p:sp>
      <p:sp>
        <p:nvSpPr>
          <p:cNvPr id="2" name="">
            <a:extLst xmlns:a="http://schemas.openxmlformats.org/drawingml/2006/main">
              <a:ext uri="{FF2B5EF4-FFF2-40B4-BE49-F238E27FC236}">
                <a16:creationId xmlns:a16="http://schemas.microsoft.com/office/drawing/2014/main" id="{D4E38795-C7A9-4FB1-B40C-D8D8E24BBBEF}"/>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Qwen3.5 led the analytical benchmark. Two models produced no gradeable version within 30 minutes.</a:t>
            </a:r>
          </a:p>
        </p:txBody>
      </p:sp>
      <p:sp>
        <p:nvSpPr>
          <p:cNvPr id="3" name="">
            <a:extLst xmlns:a="http://schemas.openxmlformats.org/drawingml/2006/main">
              <a:ext uri="{FF2B5EF4-FFF2-40B4-BE49-F238E27FC236}">
                <a16:creationId xmlns:a16="http://schemas.microsoft.com/office/drawing/2014/main" id="{C2A2BF8A-E1F0-4AEE-A60C-8311A817A8B3}"/>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2BBBE5A-BAD7-49FC-9C2A-240E413359B2}"/>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benchmark_results.md, September 8, 2026</a:t>
            </a:r>
          </a:p>
        </p:txBody>
      </p:sp>
      <p:sp>
        <p:nvSpPr>
          <p:cNvPr id="5" name="">
            <a:extLst xmlns:a="http://schemas.openxmlformats.org/drawingml/2006/main">
              <a:ext uri="{FF2B5EF4-FFF2-40B4-BE49-F238E27FC236}">
                <a16:creationId xmlns:a16="http://schemas.microsoft.com/office/drawing/2014/main" id="{B1AFBF3F-0DDE-4747-919A-C421C52C6D91}"/>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06</a:t>
            </a:r>
          </a:p>
        </p:txBody>
      </p:sp>
      <p:graphicFrame>
        <p:nvGraphicFramePr>
          <p:cNvPr id="12" name="Chart"/>
          <p:cNvGraphicFramePr/>
          <p:nvPr/>
        </p:nvGraphicFramePr>
        <p:xfrm>
          <a:off xmlns:a="http://schemas.openxmlformats.org/drawingml/2006/main" x="781050" y="1428750"/>
          <a:ext xmlns:a="http://schemas.openxmlformats.org/drawingml/2006/main" cx="10572750" cy="4714875"/>
        </p:xfrm>
        <a:graphic xmlns:a="http://schemas.openxmlformats.org/drawingml/2006/main">
          <a:graphicData uri="http://schemas.openxmlformats.org/drawingml/2006/chart">
            <c:chart xmlns:r="http://schemas.openxmlformats.org/officeDocument/2006/relationships" xmlns:c="http://schemas.openxmlformats.org/drawingml/2006/chart" r:id="R184df1fbaff64261"/>
          </a:graphicData>
        </a:graphic>
      </p:graphicFrame>
    </p:spTree>
    <p:extLst>
      <p:ext uri="{BB962C8B-B14F-4D97-AF65-F5344CB8AC3E}">
        <p14:creationId xmlns:p14="http://schemas.microsoft.com/office/powerpoint/2010/main" val="794257934"/>
      </p:ext>
    </p:extLst>
  </p:cSld>
</p:sld>
</file>

<file path=ppt/slides/slide7.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19F550D-CE64-401C-B3B0-780EAF6F916E}"/>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Why the four highest Try 3 scores landed where they did</a:t>
            </a:r>
          </a:p>
        </p:txBody>
      </p:sp>
      <p:sp>
        <p:nvSpPr>
          <p:cNvPr id="2" name="">
            <a:extLst xmlns:a="http://schemas.openxmlformats.org/drawingml/2006/main">
              <a:ext uri="{FF2B5EF4-FFF2-40B4-BE49-F238E27FC236}">
                <a16:creationId xmlns:a16="http://schemas.microsoft.com/office/drawing/2014/main" id="{974B5C80-4385-4567-A4AA-362369001768}"/>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Strengths earned credit. Missing evidence discipline and causal structure capped every score.</a:t>
            </a:r>
          </a:p>
        </p:txBody>
      </p:sp>
      <p:sp>
        <p:nvSpPr>
          <p:cNvPr id="3" name="">
            <a:extLst xmlns:a="http://schemas.openxmlformats.org/drawingml/2006/main">
              <a:ext uri="{FF2B5EF4-FFF2-40B4-BE49-F238E27FC236}">
                <a16:creationId xmlns:a16="http://schemas.microsoft.com/office/drawing/2014/main" id="{A15106B2-5736-428B-8E82-EE52DE875D9F}"/>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DD32B07-6450-4E0F-BFD0-A0C09158A87A}"/>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 model-by-model findings</a:t>
            </a:r>
          </a:p>
        </p:txBody>
      </p:sp>
      <p:sp>
        <p:nvSpPr>
          <p:cNvPr id="5" name="">
            <a:extLst xmlns:a="http://schemas.openxmlformats.org/drawingml/2006/main">
              <a:ext uri="{FF2B5EF4-FFF2-40B4-BE49-F238E27FC236}">
                <a16:creationId xmlns:a16="http://schemas.microsoft.com/office/drawing/2014/main" id="{F2D4BEF4-84DC-4FC3-A80F-565063F60042}"/>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CB6A3676-355A-467B-BACF-34067F56BD94}"/>
              </a:ext>
            </a:extLst>
          </p:cNvPr>
          <p:cNvSpPr>
            <a:spLocks xmlns:a="http://schemas.openxmlformats.org/drawingml/2006/main" noGrp="1"/>
          </p:cNvSpPr>
          <p:nvPr/>
        </p:nvSpPr>
        <p:spPr>
          <a:xfrm xmlns:a="http://schemas.openxmlformats.org/drawingml/2006/main">
            <a:off x="685800" y="14382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MODEL</a:t>
            </a:r>
          </a:p>
        </p:txBody>
      </p:sp>
      <p:sp>
        <p:nvSpPr>
          <p:cNvPr id="7" name="">
            <a:extLst xmlns:a="http://schemas.openxmlformats.org/drawingml/2006/main">
              <a:ext uri="{FF2B5EF4-FFF2-40B4-BE49-F238E27FC236}">
                <a16:creationId xmlns:a16="http://schemas.microsoft.com/office/drawing/2014/main" id="{9B9FE207-AD94-4F6B-BE10-BC442AC2097E}"/>
              </a:ext>
            </a:extLst>
          </p:cNvPr>
          <p:cNvSpPr>
            <a:spLocks xmlns:a="http://schemas.openxmlformats.org/drawingml/2006/main" noGrp="1"/>
          </p:cNvSpPr>
          <p:nvPr/>
        </p:nvSpPr>
        <p:spPr>
          <a:xfrm xmlns:a="http://schemas.openxmlformats.org/drawingml/2006/main">
            <a:off x="2724150" y="143827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ctr">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SCORE</a:t>
            </a:r>
          </a:p>
        </p:txBody>
      </p:sp>
      <p:sp>
        <p:nvSpPr>
          <p:cNvPr id="8" name="">
            <a:extLst xmlns:a="http://schemas.openxmlformats.org/drawingml/2006/main">
              <a:ext uri="{FF2B5EF4-FFF2-40B4-BE49-F238E27FC236}">
                <a16:creationId xmlns:a16="http://schemas.microsoft.com/office/drawing/2014/main" id="{7AFE6C77-A56E-45B3-A500-437D8584EEFD}"/>
              </a:ext>
            </a:extLst>
          </p:cNvPr>
          <p:cNvSpPr>
            <a:spLocks xmlns:a="http://schemas.openxmlformats.org/drawingml/2006/main" noGrp="1"/>
          </p:cNvSpPr>
          <p:nvPr/>
        </p:nvSpPr>
        <p:spPr>
          <a:xfrm xmlns:a="http://schemas.openxmlformats.org/drawingml/2006/main">
            <a:off x="3752850" y="14382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WHAT WORKED</a:t>
            </a:r>
          </a:p>
        </p:txBody>
      </p:sp>
      <p:sp>
        <p:nvSpPr>
          <p:cNvPr id="9" name="">
            <a:extLst xmlns:a="http://schemas.openxmlformats.org/drawingml/2006/main">
              <a:ext uri="{FF2B5EF4-FFF2-40B4-BE49-F238E27FC236}">
                <a16:creationId xmlns:a16="http://schemas.microsoft.com/office/drawing/2014/main" id="{50F4BFB8-F322-464D-89C6-95C80FAA977A}"/>
              </a:ext>
            </a:extLst>
          </p:cNvPr>
          <p:cNvSpPr>
            <a:spLocks xmlns:a="http://schemas.openxmlformats.org/drawingml/2006/main" noGrp="1"/>
          </p:cNvSpPr>
          <p:nvPr/>
        </p:nvSpPr>
        <p:spPr>
          <a:xfrm xmlns:a="http://schemas.openxmlformats.org/drawingml/2006/main">
            <a:off x="7677150" y="14382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WHY THE SCORE STOPPED</a:t>
            </a:r>
          </a:p>
        </p:txBody>
      </p:sp>
      <p:sp>
        <p:nvSpPr>
          <p:cNvPr id="10" name="">
            <a:extLst xmlns:a="http://schemas.openxmlformats.org/drawingml/2006/main">
              <a:ext uri="{FF2B5EF4-FFF2-40B4-BE49-F238E27FC236}">
                <a16:creationId xmlns:a16="http://schemas.microsoft.com/office/drawing/2014/main" id="{3B7F9CC7-FB61-4096-9353-ECA34D39ECCB}"/>
              </a:ext>
            </a:extLst>
          </p:cNvPr>
          <p:cNvSpPr>
            <a:spLocks xmlns:a="http://schemas.openxmlformats.org/drawingml/2006/main" noGrp="1"/>
          </p:cNvSpPr>
          <p:nvPr/>
        </p:nvSpPr>
        <p:spPr>
          <a:xfrm xmlns:a="http://schemas.openxmlformats.org/drawingml/2006/main">
            <a:off x="685800" y="17907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qwen3.5</a:t>
            </a:r>
          </a:p>
        </p:txBody>
      </p:sp>
      <p:sp>
        <p:nvSpPr>
          <p:cNvPr id="11" name="">
            <a:extLst xmlns:a="http://schemas.openxmlformats.org/drawingml/2006/main">
              <a:ext uri="{FF2B5EF4-FFF2-40B4-BE49-F238E27FC236}">
                <a16:creationId xmlns:a16="http://schemas.microsoft.com/office/drawing/2014/main" id="{4CD1916F-572E-48E7-A5C0-F902FC04ECB0}"/>
              </a:ext>
            </a:extLst>
          </p:cNvPr>
          <p:cNvSpPr>
            <a:spLocks xmlns:a="http://schemas.openxmlformats.org/drawingml/2006/main" noGrp="1"/>
          </p:cNvSpPr>
          <p:nvPr/>
        </p:nvSpPr>
        <p:spPr>
          <a:xfrm xmlns:a="http://schemas.openxmlformats.org/drawingml/2006/main">
            <a:off x="2724150" y="17526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168B85"/>
                </a:solidFill>
                <a:latin typeface="Helvetica Neue"/>
                <a:ea typeface="Helvetica Neue"/>
                <a:cs typeface="Helvetica Neue"/>
              </a:defRPr>
            </a:pPr>
            <a:r>
              <a:rPr sz="2550" b="1">
                <a:solidFill>
                  <a:srgbClr val="168B85"/>
                </a:solidFill>
                <a:latin typeface="Helvetica Neue"/>
                <a:ea typeface="Helvetica Neue"/>
                <a:cs typeface="Helvetica Neue"/>
              </a:rPr>
              <a:t>64</a:t>
            </a:r>
          </a:p>
        </p:txBody>
      </p:sp>
      <p:sp>
        <p:nvSpPr>
          <p:cNvPr id="12" name="">
            <a:extLst xmlns:a="http://schemas.openxmlformats.org/drawingml/2006/main">
              <a:ext uri="{FF2B5EF4-FFF2-40B4-BE49-F238E27FC236}">
                <a16:creationId xmlns:a16="http://schemas.microsoft.com/office/drawing/2014/main" id="{ED490292-6580-42D9-B1D6-A2EA7F8B5EE8}"/>
              </a:ext>
            </a:extLst>
          </p:cNvPr>
          <p:cNvSpPr>
            <a:spLocks xmlns:a="http://schemas.openxmlformats.org/drawingml/2006/main" noGrp="1"/>
          </p:cNvSpPr>
          <p:nvPr/>
        </p:nvSpPr>
        <p:spPr>
          <a:xfrm xmlns:a="http://schemas.openxmlformats.org/drawingml/2006/main">
            <a:off x="3524250" y="182880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FB4A02D-64EE-4C60-99DE-0B4F23323D1F}"/>
              </a:ext>
            </a:extLst>
          </p:cNvPr>
          <p:cNvSpPr>
            <a:spLocks xmlns:a="http://schemas.openxmlformats.org/drawingml/2006/main" noGrp="1"/>
          </p:cNvSpPr>
          <p:nvPr/>
        </p:nvSpPr>
        <p:spPr>
          <a:xfrm xmlns:a="http://schemas.openxmlformats.org/drawingml/2006/main">
            <a:off x="3752850" y="179070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Best questions and evidence requests. It framed the changed outage configuration correctly.</a:t>
            </a:r>
          </a:p>
        </p:txBody>
      </p:sp>
      <p:sp>
        <p:nvSpPr>
          <p:cNvPr id="14" name="">
            <a:extLst xmlns:a="http://schemas.openxmlformats.org/drawingml/2006/main">
              <a:ext uri="{FF2B5EF4-FFF2-40B4-BE49-F238E27FC236}">
                <a16:creationId xmlns:a16="http://schemas.microsoft.com/office/drawing/2014/main" id="{BCA13A0F-76DB-4220-A683-C700D27B5EDC}"/>
              </a:ext>
            </a:extLst>
          </p:cNvPr>
          <p:cNvSpPr>
            <a:spLocks xmlns:a="http://schemas.openxmlformats.org/drawingml/2006/main" noGrp="1"/>
          </p:cNvSpPr>
          <p:nvPr/>
        </p:nvSpPr>
        <p:spPr>
          <a:xfrm xmlns:a="http://schemas.openxmlformats.org/drawingml/2006/main">
            <a:off x="7677150" y="179070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Evidence processing failed. The board had one event node and no causal edges.</a:t>
            </a:r>
          </a:p>
        </p:txBody>
      </p:sp>
      <p:sp>
        <p:nvSpPr>
          <p:cNvPr id="15" name="">
            <a:extLst xmlns:a="http://schemas.openxmlformats.org/drawingml/2006/main">
              <a:ext uri="{FF2B5EF4-FFF2-40B4-BE49-F238E27FC236}">
                <a16:creationId xmlns:a16="http://schemas.microsoft.com/office/drawing/2014/main" id="{07865C02-5C04-4F91-A919-8E7562B2DFB2}"/>
              </a:ext>
            </a:extLst>
          </p:cNvPr>
          <p:cNvSpPr>
            <a:spLocks xmlns:a="http://schemas.openxmlformats.org/drawingml/2006/main" noGrp="1"/>
          </p:cNvSpPr>
          <p:nvPr/>
        </p:nvSpPr>
        <p:spPr>
          <a:xfrm xmlns:a="http://schemas.openxmlformats.org/drawingml/2006/main">
            <a:off x="685800" y="265747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E120B04-F7A5-4EDE-B59F-67826641BD8D}"/>
              </a:ext>
            </a:extLst>
          </p:cNvPr>
          <p:cNvSpPr>
            <a:spLocks xmlns:a="http://schemas.openxmlformats.org/drawingml/2006/main" noGrp="1"/>
          </p:cNvSpPr>
          <p:nvPr/>
        </p:nvSpPr>
        <p:spPr>
          <a:xfrm xmlns:a="http://schemas.openxmlformats.org/drawingml/2006/main">
            <a:off x="685800" y="28003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qwen2.5</a:t>
            </a:r>
          </a:p>
        </p:txBody>
      </p:sp>
      <p:sp>
        <p:nvSpPr>
          <p:cNvPr id="17" name="">
            <a:extLst xmlns:a="http://schemas.openxmlformats.org/drawingml/2006/main">
              <a:ext uri="{FF2B5EF4-FFF2-40B4-BE49-F238E27FC236}">
                <a16:creationId xmlns:a16="http://schemas.microsoft.com/office/drawing/2014/main" id="{B239925E-5ACE-4185-99B7-77E151AB450E}"/>
              </a:ext>
            </a:extLst>
          </p:cNvPr>
          <p:cNvSpPr>
            <a:spLocks xmlns:a="http://schemas.openxmlformats.org/drawingml/2006/main" noGrp="1"/>
          </p:cNvSpPr>
          <p:nvPr/>
        </p:nvSpPr>
        <p:spPr>
          <a:xfrm xmlns:a="http://schemas.openxmlformats.org/drawingml/2006/main">
            <a:off x="2724150" y="27622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3377B5"/>
                </a:solidFill>
                <a:latin typeface="Helvetica Neue"/>
                <a:ea typeface="Helvetica Neue"/>
                <a:cs typeface="Helvetica Neue"/>
              </a:defRPr>
            </a:pPr>
            <a:r>
              <a:rPr sz="2550" b="1">
                <a:solidFill>
                  <a:srgbClr val="3377B5"/>
                </a:solidFill>
                <a:latin typeface="Helvetica Neue"/>
                <a:ea typeface="Helvetica Neue"/>
                <a:cs typeface="Helvetica Neue"/>
              </a:rPr>
              <a:t>38</a:t>
            </a:r>
          </a:p>
        </p:txBody>
      </p:sp>
      <p:sp>
        <p:nvSpPr>
          <p:cNvPr id="18" name="">
            <a:extLst xmlns:a="http://schemas.openxmlformats.org/drawingml/2006/main">
              <a:ext uri="{FF2B5EF4-FFF2-40B4-BE49-F238E27FC236}">
                <a16:creationId xmlns:a16="http://schemas.microsoft.com/office/drawing/2014/main" id="{CFC4A0F2-7DCD-4BEC-8C9A-B4512CF2A040}"/>
              </a:ext>
            </a:extLst>
          </p:cNvPr>
          <p:cNvSpPr>
            <a:spLocks xmlns:a="http://schemas.openxmlformats.org/drawingml/2006/main" noGrp="1"/>
          </p:cNvSpPr>
          <p:nvPr/>
        </p:nvSpPr>
        <p:spPr>
          <a:xfrm xmlns:a="http://schemas.openxmlformats.org/drawingml/2006/main">
            <a:off x="3524250" y="283845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0C30319-8FB6-45A6-863A-B1C6AA3F15F6}"/>
              </a:ext>
            </a:extLst>
          </p:cNvPr>
          <p:cNvSpPr>
            <a:spLocks xmlns:a="http://schemas.openxmlformats.org/drawingml/2006/main" noGrp="1"/>
          </p:cNvSpPr>
          <p:nvPr/>
        </p:nvSpPr>
        <p:spPr>
          <a:xfrm xmlns:a="http://schemas.openxmlformats.org/drawingml/2006/main">
            <a:off x="3752850" y="280035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Useful tags and questions about restraint, turnover, and isolation boundaries.</a:t>
            </a:r>
          </a:p>
        </p:txBody>
      </p:sp>
      <p:sp>
        <p:nvSpPr>
          <p:cNvPr id="20" name="">
            <a:extLst xmlns:a="http://schemas.openxmlformats.org/drawingml/2006/main">
              <a:ext uri="{FF2B5EF4-FFF2-40B4-BE49-F238E27FC236}">
                <a16:creationId xmlns:a16="http://schemas.microsoft.com/office/drawing/2014/main" id="{7322114E-D35F-4EEE-8354-1E32033A18A9}"/>
              </a:ext>
            </a:extLst>
          </p:cNvPr>
          <p:cNvSpPr>
            <a:spLocks xmlns:a="http://schemas.openxmlformats.org/drawingml/2006/main" noGrp="1"/>
          </p:cNvSpPr>
          <p:nvPr/>
        </p:nvSpPr>
        <p:spPr>
          <a:xfrm xmlns:a="http://schemas.openxmlformats.org/drawingml/2006/main">
            <a:off x="7677150" y="280035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Six stage errors, repeated questions, missed conflicts, and reverse causal arrows.</a:t>
            </a:r>
          </a:p>
        </p:txBody>
      </p:sp>
      <p:sp>
        <p:nvSpPr>
          <p:cNvPr id="21" name="">
            <a:extLst xmlns:a="http://schemas.openxmlformats.org/drawingml/2006/main">
              <a:ext uri="{FF2B5EF4-FFF2-40B4-BE49-F238E27FC236}">
                <a16:creationId xmlns:a16="http://schemas.microsoft.com/office/drawing/2014/main" id="{447FDB0A-E409-4ED1-AB49-C14623C37FF5}"/>
              </a:ext>
            </a:extLst>
          </p:cNvPr>
          <p:cNvSpPr>
            <a:spLocks xmlns:a="http://schemas.openxmlformats.org/drawingml/2006/main" noGrp="1"/>
          </p:cNvSpPr>
          <p:nvPr/>
        </p:nvSpPr>
        <p:spPr>
          <a:xfrm xmlns:a="http://schemas.openxmlformats.org/drawingml/2006/main">
            <a:off x="685800" y="366712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BAAB75A-678E-4E34-8667-D93BB9C1F21D}"/>
              </a:ext>
            </a:extLst>
          </p:cNvPr>
          <p:cNvSpPr>
            <a:spLocks xmlns:a="http://schemas.openxmlformats.org/drawingml/2006/main" noGrp="1"/>
          </p:cNvSpPr>
          <p:nvPr/>
        </p:nvSpPr>
        <p:spPr>
          <a:xfrm xmlns:a="http://schemas.openxmlformats.org/drawingml/2006/main">
            <a:off x="685800" y="38100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gemma3</a:t>
            </a:r>
          </a:p>
        </p:txBody>
      </p:sp>
      <p:sp>
        <p:nvSpPr>
          <p:cNvPr id="23" name="">
            <a:extLst xmlns:a="http://schemas.openxmlformats.org/drawingml/2006/main">
              <a:ext uri="{FF2B5EF4-FFF2-40B4-BE49-F238E27FC236}">
                <a16:creationId xmlns:a16="http://schemas.microsoft.com/office/drawing/2014/main" id="{4D87BE3E-599F-47CB-8B54-05CF18D50D41}"/>
              </a:ext>
            </a:extLst>
          </p:cNvPr>
          <p:cNvSpPr>
            <a:spLocks xmlns:a="http://schemas.openxmlformats.org/drawingml/2006/main" noGrp="1"/>
          </p:cNvSpPr>
          <p:nvPr/>
        </p:nvSpPr>
        <p:spPr>
          <a:xfrm xmlns:a="http://schemas.openxmlformats.org/drawingml/2006/main">
            <a:off x="2724150" y="37719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3377B5"/>
                </a:solidFill>
                <a:latin typeface="Helvetica Neue"/>
                <a:ea typeface="Helvetica Neue"/>
                <a:cs typeface="Helvetica Neue"/>
              </a:defRPr>
            </a:pPr>
            <a:r>
              <a:rPr sz="2550" b="1">
                <a:solidFill>
                  <a:srgbClr val="3377B5"/>
                </a:solidFill>
                <a:latin typeface="Helvetica Neue"/>
                <a:ea typeface="Helvetica Neue"/>
                <a:cs typeface="Helvetica Neue"/>
              </a:rPr>
              <a:t>31</a:t>
            </a:r>
          </a:p>
        </p:txBody>
      </p:sp>
      <p:sp>
        <p:nvSpPr>
          <p:cNvPr id="24" name="">
            <a:extLst xmlns:a="http://schemas.openxmlformats.org/drawingml/2006/main">
              <a:ext uri="{FF2B5EF4-FFF2-40B4-BE49-F238E27FC236}">
                <a16:creationId xmlns:a16="http://schemas.microsoft.com/office/drawing/2014/main" id="{1D873D0C-C514-4199-B9D1-352F4EA342A3}"/>
              </a:ext>
            </a:extLst>
          </p:cNvPr>
          <p:cNvSpPr>
            <a:spLocks xmlns:a="http://schemas.openxmlformats.org/drawingml/2006/main" noGrp="1"/>
          </p:cNvSpPr>
          <p:nvPr/>
        </p:nvSpPr>
        <p:spPr>
          <a:xfrm xmlns:a="http://schemas.openxmlformats.org/drawingml/2006/main">
            <a:off x="3524250" y="384810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1969A33-BBEE-434F-AC55-42CD07938855}"/>
              </a:ext>
            </a:extLst>
          </p:cNvPr>
          <p:cNvSpPr>
            <a:spLocks xmlns:a="http://schemas.openxmlformats.org/drawingml/2006/main" noGrp="1"/>
          </p:cNvSpPr>
          <p:nvPr/>
        </p:nvSpPr>
        <p:spPr>
          <a:xfrm xmlns:a="http://schemas.openxmlformats.org/drawingml/2006/main">
            <a:off x="3752850" y="381000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Sound focal-event summary and useful requests for drawings and isolation records.</a:t>
            </a:r>
          </a:p>
        </p:txBody>
      </p:sp>
      <p:sp>
        <p:nvSpPr>
          <p:cNvPr id="26" name="">
            <a:extLst xmlns:a="http://schemas.openxmlformats.org/drawingml/2006/main">
              <a:ext uri="{FF2B5EF4-FFF2-40B4-BE49-F238E27FC236}">
                <a16:creationId xmlns:a16="http://schemas.microsoft.com/office/drawing/2014/main" id="{41B2B9F2-C0E2-43C8-8059-539465E4E4F5}"/>
              </a:ext>
            </a:extLst>
          </p:cNvPr>
          <p:cNvSpPr>
            <a:spLocks xmlns:a="http://schemas.openxmlformats.org/drawingml/2006/main" noGrp="1"/>
          </p:cNvSpPr>
          <p:nvPr/>
        </p:nvSpPr>
        <p:spPr>
          <a:xfrm xmlns:a="http://schemas.openxmlformats.org/drawingml/2006/main">
            <a:off x="7677150" y="381000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Wrong rail and electrical tags, unsupported assertions, and failed causal analysis.</a:t>
            </a:r>
          </a:p>
        </p:txBody>
      </p:sp>
      <p:sp>
        <p:nvSpPr>
          <p:cNvPr id="27" name="">
            <a:extLst xmlns:a="http://schemas.openxmlformats.org/drawingml/2006/main">
              <a:ext uri="{FF2B5EF4-FFF2-40B4-BE49-F238E27FC236}">
                <a16:creationId xmlns:a16="http://schemas.microsoft.com/office/drawing/2014/main" id="{F74A97A1-E3E7-446D-BD85-B229AD3F5BCF}"/>
              </a:ext>
            </a:extLst>
          </p:cNvPr>
          <p:cNvSpPr>
            <a:spLocks xmlns:a="http://schemas.openxmlformats.org/drawingml/2006/main" noGrp="1"/>
          </p:cNvSpPr>
          <p:nvPr/>
        </p:nvSpPr>
        <p:spPr>
          <a:xfrm xmlns:a="http://schemas.openxmlformats.org/drawingml/2006/main">
            <a:off x="685800" y="467677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9CA8634-2788-4640-8098-CAD6AC58135E}"/>
              </a:ext>
            </a:extLst>
          </p:cNvPr>
          <p:cNvSpPr>
            <a:spLocks xmlns:a="http://schemas.openxmlformats.org/drawingml/2006/main" noGrp="1"/>
          </p:cNvSpPr>
          <p:nvPr/>
        </p:nvSpPr>
        <p:spPr>
          <a:xfrm xmlns:a="http://schemas.openxmlformats.org/drawingml/2006/main">
            <a:off x="685800" y="48196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mistral</a:t>
            </a:r>
          </a:p>
        </p:txBody>
      </p:sp>
      <p:sp>
        <p:nvSpPr>
          <p:cNvPr id="29" name="">
            <a:extLst xmlns:a="http://schemas.openxmlformats.org/drawingml/2006/main">
              <a:ext uri="{FF2B5EF4-FFF2-40B4-BE49-F238E27FC236}">
                <a16:creationId xmlns:a16="http://schemas.microsoft.com/office/drawing/2014/main" id="{0374911E-DA59-422C-9268-624F250E3CC2}"/>
              </a:ext>
            </a:extLst>
          </p:cNvPr>
          <p:cNvSpPr>
            <a:spLocks xmlns:a="http://schemas.openxmlformats.org/drawingml/2006/main" noGrp="1"/>
          </p:cNvSpPr>
          <p:nvPr/>
        </p:nvSpPr>
        <p:spPr>
          <a:xfrm xmlns:a="http://schemas.openxmlformats.org/drawingml/2006/main">
            <a:off x="2724150" y="47815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3377B5"/>
                </a:solidFill>
                <a:latin typeface="Helvetica Neue"/>
                <a:ea typeface="Helvetica Neue"/>
                <a:cs typeface="Helvetica Neue"/>
              </a:defRPr>
            </a:pPr>
            <a:r>
              <a:rPr sz="2550" b="1">
                <a:solidFill>
                  <a:srgbClr val="3377B5"/>
                </a:solidFill>
                <a:latin typeface="Helvetica Neue"/>
                <a:ea typeface="Helvetica Neue"/>
                <a:cs typeface="Helvetica Neue"/>
              </a:rPr>
              <a:t>29</a:t>
            </a:r>
          </a:p>
        </p:txBody>
      </p:sp>
      <p:sp>
        <p:nvSpPr>
          <p:cNvPr id="30" name="">
            <a:extLst xmlns:a="http://schemas.openxmlformats.org/drawingml/2006/main">
              <a:ext uri="{FF2B5EF4-FFF2-40B4-BE49-F238E27FC236}">
                <a16:creationId xmlns:a16="http://schemas.microsoft.com/office/drawing/2014/main" id="{CB449D59-C75D-4B36-915B-0EA8708CDD57}"/>
              </a:ext>
            </a:extLst>
          </p:cNvPr>
          <p:cNvSpPr>
            <a:spLocks xmlns:a="http://schemas.openxmlformats.org/drawingml/2006/main" noGrp="1"/>
          </p:cNvSpPr>
          <p:nvPr/>
        </p:nvSpPr>
        <p:spPr>
          <a:xfrm xmlns:a="http://schemas.openxmlformats.org/drawingml/2006/main">
            <a:off x="3524250" y="485775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5621EF7-E70A-423E-86DF-1F4B2D523B69}"/>
              </a:ext>
            </a:extLst>
          </p:cNvPr>
          <p:cNvSpPr>
            <a:spLocks xmlns:a="http://schemas.openxmlformats.org/drawingml/2006/main" noGrp="1"/>
          </p:cNvSpPr>
          <p:nvPr/>
        </p:nvSpPr>
        <p:spPr>
          <a:xfrm xmlns:a="http://schemas.openxmlformats.org/drawingml/2006/main">
            <a:off x="3752850" y="481965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Recognized gravity energy, planning, and communication context.</a:t>
            </a:r>
          </a:p>
        </p:txBody>
      </p:sp>
      <p:sp>
        <p:nvSpPr>
          <p:cNvPr id="32" name="">
            <a:extLst xmlns:a="http://schemas.openxmlformats.org/drawingml/2006/main">
              <a:ext uri="{FF2B5EF4-FFF2-40B4-BE49-F238E27FC236}">
                <a16:creationId xmlns:a16="http://schemas.microsoft.com/office/drawing/2014/main" id="{7FD53C59-5240-4B6C-BF34-84D43A1A273C}"/>
              </a:ext>
            </a:extLst>
          </p:cNvPr>
          <p:cNvSpPr>
            <a:spLocks xmlns:a="http://schemas.openxmlformats.org/drawingml/2006/main" noGrp="1"/>
          </p:cNvSpPr>
          <p:nvPr/>
        </p:nvSpPr>
        <p:spPr>
          <a:xfrm xmlns:a="http://schemas.openxmlformats.org/drawingml/2006/main">
            <a:off x="7677150" y="481965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Weak evidence targeting and only a shallow causal board. No planted conflict was found.</a:t>
            </a:r>
          </a:p>
        </p:txBody>
      </p:sp>
      <p:sp>
        <p:nvSpPr>
          <p:cNvPr id="33" name="">
            <a:extLst xmlns:a="http://schemas.openxmlformats.org/drawingml/2006/main">
              <a:ext uri="{FF2B5EF4-FFF2-40B4-BE49-F238E27FC236}">
                <a16:creationId xmlns:a16="http://schemas.microsoft.com/office/drawing/2014/main" id="{9F96CD87-EF71-4B04-B2AF-77283F4979E6}"/>
              </a:ext>
            </a:extLst>
          </p:cNvPr>
          <p:cNvSpPr>
            <a:spLocks xmlns:a="http://schemas.openxmlformats.org/drawingml/2006/main" noGrp="1"/>
          </p:cNvSpPr>
          <p:nvPr/>
        </p:nvSpPr>
        <p:spPr>
          <a:xfrm xmlns:a="http://schemas.openxmlformats.org/drawingml/2006/main">
            <a:off x="685800" y="568642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419405890"/>
      </p:ext>
    </p:extLst>
  </p:cSld>
</p:sld>
</file>

<file path=ppt/slides/slide8.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2E99E1B-E3B6-4635-A1F0-125A6E608EA0}"/>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Why the remaining Try 3 models scored below 30</a:t>
            </a:r>
          </a:p>
        </p:txBody>
      </p:sp>
      <p:sp>
        <p:nvSpPr>
          <p:cNvPr id="2" name="">
            <a:extLst xmlns:a="http://schemas.openxmlformats.org/drawingml/2006/main">
              <a:ext uri="{FF2B5EF4-FFF2-40B4-BE49-F238E27FC236}">
                <a16:creationId xmlns:a16="http://schemas.microsoft.com/office/drawing/2014/main" id="{82AD46E3-22C6-463E-AC76-74AEB06660AA}"/>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Completion alone did not earn a strong score when the investigation remained shallow or unreliable.</a:t>
            </a:r>
          </a:p>
        </p:txBody>
      </p:sp>
      <p:sp>
        <p:nvSpPr>
          <p:cNvPr id="3" name="">
            <a:extLst xmlns:a="http://schemas.openxmlformats.org/drawingml/2006/main">
              <a:ext uri="{FF2B5EF4-FFF2-40B4-BE49-F238E27FC236}">
                <a16:creationId xmlns:a16="http://schemas.microsoft.com/office/drawing/2014/main" id="{D682EF73-134B-46C6-AD89-5CDAB7A85B67}"/>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2E9082-43E7-4DC2-AE18-979FDB3ABF8C}"/>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 model-by-model findings</a:t>
            </a:r>
          </a:p>
        </p:txBody>
      </p:sp>
      <p:sp>
        <p:nvSpPr>
          <p:cNvPr id="5" name="">
            <a:extLst xmlns:a="http://schemas.openxmlformats.org/drawingml/2006/main">
              <a:ext uri="{FF2B5EF4-FFF2-40B4-BE49-F238E27FC236}">
                <a16:creationId xmlns:a16="http://schemas.microsoft.com/office/drawing/2014/main" id="{2D2763FA-DA8D-4DE1-BC47-1EA9A8583FDD}"/>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25ECBD09-91B1-4060-B3E8-4BF254A5A537}"/>
              </a:ext>
            </a:extLst>
          </p:cNvPr>
          <p:cNvSpPr>
            <a:spLocks xmlns:a="http://schemas.openxmlformats.org/drawingml/2006/main" noGrp="1"/>
          </p:cNvSpPr>
          <p:nvPr/>
        </p:nvSpPr>
        <p:spPr>
          <a:xfrm xmlns:a="http://schemas.openxmlformats.org/drawingml/2006/main">
            <a:off x="685800" y="15049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MODEL / SCORE</a:t>
            </a:r>
          </a:p>
        </p:txBody>
      </p:sp>
      <p:sp>
        <p:nvSpPr>
          <p:cNvPr id="7" name="">
            <a:extLst xmlns:a="http://schemas.openxmlformats.org/drawingml/2006/main">
              <a:ext uri="{FF2B5EF4-FFF2-40B4-BE49-F238E27FC236}">
                <a16:creationId xmlns:a16="http://schemas.microsoft.com/office/drawing/2014/main" id="{B0122007-122B-4E89-BD47-77F7B3B06FA1}"/>
              </a:ext>
            </a:extLst>
          </p:cNvPr>
          <p:cNvSpPr>
            <a:spLocks xmlns:a="http://schemas.openxmlformats.org/drawingml/2006/main" noGrp="1"/>
          </p:cNvSpPr>
          <p:nvPr/>
        </p:nvSpPr>
        <p:spPr>
          <a:xfrm xmlns:a="http://schemas.openxmlformats.org/drawingml/2006/main">
            <a:off x="3257550" y="1504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CREDIT EARNED</a:t>
            </a:r>
          </a:p>
        </p:txBody>
      </p:sp>
      <p:sp>
        <p:nvSpPr>
          <p:cNvPr id="8" name="">
            <a:extLst xmlns:a="http://schemas.openxmlformats.org/drawingml/2006/main">
              <a:ext uri="{FF2B5EF4-FFF2-40B4-BE49-F238E27FC236}">
                <a16:creationId xmlns:a16="http://schemas.microsoft.com/office/drawing/2014/main" id="{57C80D72-3C6B-4470-80A0-899EDE462A90}"/>
              </a:ext>
            </a:extLst>
          </p:cNvPr>
          <p:cNvSpPr>
            <a:spLocks xmlns:a="http://schemas.openxmlformats.org/drawingml/2006/main" noGrp="1"/>
          </p:cNvSpPr>
          <p:nvPr/>
        </p:nvSpPr>
        <p:spPr>
          <a:xfrm xmlns:a="http://schemas.openxmlformats.org/drawingml/2006/main">
            <a:off x="6762750" y="15049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PRIMARY LIMIT</a:t>
            </a:r>
          </a:p>
        </p:txBody>
      </p:sp>
      <p:sp>
        <p:nvSpPr>
          <p:cNvPr id="9" name="">
            <a:extLst xmlns:a="http://schemas.openxmlformats.org/drawingml/2006/main">
              <a:ext uri="{FF2B5EF4-FFF2-40B4-BE49-F238E27FC236}">
                <a16:creationId xmlns:a16="http://schemas.microsoft.com/office/drawing/2014/main" id="{A6839F67-7EFB-44A2-9C5D-DA453D00556D}"/>
              </a:ext>
            </a:extLst>
          </p:cNvPr>
          <p:cNvSpPr>
            <a:spLocks xmlns:a="http://schemas.openxmlformats.org/drawingml/2006/main" noGrp="1"/>
          </p:cNvSpPr>
          <p:nvPr/>
        </p:nvSpPr>
        <p:spPr>
          <a:xfrm xmlns:a="http://schemas.openxmlformats.org/drawingml/2006/main">
            <a:off x="685800" y="18478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llama3.1   27</a:t>
            </a:r>
          </a:p>
        </p:txBody>
      </p:sp>
      <p:sp>
        <p:nvSpPr>
          <p:cNvPr id="10" name="">
            <a:extLst xmlns:a="http://schemas.openxmlformats.org/drawingml/2006/main">
              <a:ext uri="{FF2B5EF4-FFF2-40B4-BE49-F238E27FC236}">
                <a16:creationId xmlns:a16="http://schemas.microsoft.com/office/drawing/2014/main" id="{BA970E2F-BCBA-415D-BA22-E0CCD08E4117}"/>
              </a:ext>
            </a:extLst>
          </p:cNvPr>
          <p:cNvSpPr>
            <a:spLocks xmlns:a="http://schemas.openxmlformats.org/drawingml/2006/main" noGrp="1"/>
          </p:cNvSpPr>
          <p:nvPr/>
        </p:nvSpPr>
        <p:spPr>
          <a:xfrm xmlns:a="http://schemas.openxmlformats.org/drawingml/2006/main">
            <a:off x="3257550" y="18478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Clean structured-output run</a:t>
            </a:r>
          </a:p>
        </p:txBody>
      </p:sp>
      <p:sp>
        <p:nvSpPr>
          <p:cNvPr id="11" name="">
            <a:extLst xmlns:a="http://schemas.openxmlformats.org/drawingml/2006/main">
              <a:ext uri="{FF2B5EF4-FFF2-40B4-BE49-F238E27FC236}">
                <a16:creationId xmlns:a16="http://schemas.microsoft.com/office/drawing/2014/main" id="{6DDA5C8D-C922-479D-991C-9F8FF503571C}"/>
              </a:ext>
            </a:extLst>
          </p:cNvPr>
          <p:cNvSpPr>
            <a:spLocks xmlns:a="http://schemas.openxmlformats.org/drawingml/2006/main" noGrp="1"/>
          </p:cNvSpPr>
          <p:nvPr/>
        </p:nvSpPr>
        <p:spPr>
          <a:xfrm xmlns:a="http://schemas.openxmlformats.org/drawingml/2006/main">
            <a:off x="6762750" y="18478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Only one tag and a shallow evidence-to-cause path</a:t>
            </a:r>
          </a:p>
        </p:txBody>
      </p:sp>
      <p:sp>
        <p:nvSpPr>
          <p:cNvPr id="12" name="">
            <a:extLst xmlns:a="http://schemas.openxmlformats.org/drawingml/2006/main">
              <a:ext uri="{FF2B5EF4-FFF2-40B4-BE49-F238E27FC236}">
                <a16:creationId xmlns:a16="http://schemas.microsoft.com/office/drawing/2014/main" id="{162D4748-C89E-4B55-B4FA-F9086CF12128}"/>
              </a:ext>
            </a:extLst>
          </p:cNvPr>
          <p:cNvSpPr>
            <a:spLocks xmlns:a="http://schemas.openxmlformats.org/drawingml/2006/main" noGrp="1"/>
          </p:cNvSpPr>
          <p:nvPr/>
        </p:nvSpPr>
        <p:spPr>
          <a:xfrm xmlns:a="http://schemas.openxmlformats.org/drawingml/2006/main">
            <a:off x="685800" y="24003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6ABAA43-BCB9-4B68-BFFA-03ADC89CA276}"/>
              </a:ext>
            </a:extLst>
          </p:cNvPr>
          <p:cNvSpPr>
            <a:spLocks xmlns:a="http://schemas.openxmlformats.org/drawingml/2006/main" noGrp="1"/>
          </p:cNvSpPr>
          <p:nvPr/>
        </p:nvSpPr>
        <p:spPr>
          <a:xfrm xmlns:a="http://schemas.openxmlformats.org/drawingml/2006/main">
            <a:off x="685800" y="25336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hermes3   18</a:t>
            </a:r>
          </a:p>
        </p:txBody>
      </p:sp>
      <p:sp>
        <p:nvSpPr>
          <p:cNvPr id="14" name="">
            <a:extLst xmlns:a="http://schemas.openxmlformats.org/drawingml/2006/main">
              <a:ext uri="{FF2B5EF4-FFF2-40B4-BE49-F238E27FC236}">
                <a16:creationId xmlns:a16="http://schemas.microsoft.com/office/drawing/2014/main" id="{36F3EC57-FBEC-4D9A-8B34-59BFB84DC62D}"/>
              </a:ext>
            </a:extLst>
          </p:cNvPr>
          <p:cNvSpPr>
            <a:spLocks xmlns:a="http://schemas.openxmlformats.org/drawingml/2006/main" noGrp="1"/>
          </p:cNvSpPr>
          <p:nvPr/>
        </p:nvSpPr>
        <p:spPr>
          <a:xfrm xmlns:a="http://schemas.openxmlformats.org/drawingml/2006/main">
            <a:off x="3257550" y="25336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Produced a small causal graph</a:t>
            </a:r>
          </a:p>
        </p:txBody>
      </p:sp>
      <p:sp>
        <p:nvSpPr>
          <p:cNvPr id="15" name="">
            <a:extLst xmlns:a="http://schemas.openxmlformats.org/drawingml/2006/main">
              <a:ext uri="{FF2B5EF4-FFF2-40B4-BE49-F238E27FC236}">
                <a16:creationId xmlns:a16="http://schemas.microsoft.com/office/drawing/2014/main" id="{D9CCB420-9CC6-40B8-A0A3-AB3C1A7D8506}"/>
              </a:ext>
            </a:extLst>
          </p:cNvPr>
          <p:cNvSpPr>
            <a:spLocks xmlns:a="http://schemas.openxmlformats.org/drawingml/2006/main" noGrp="1"/>
          </p:cNvSpPr>
          <p:nvPr/>
        </p:nvSpPr>
        <p:spPr>
          <a:xfrm xmlns:a="http://schemas.openxmlformats.org/drawingml/2006/main">
            <a:off x="6762750" y="25336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Weak tag selection and little provenance discipline</a:t>
            </a:r>
          </a:p>
        </p:txBody>
      </p:sp>
      <p:sp>
        <p:nvSpPr>
          <p:cNvPr id="16" name="">
            <a:extLst xmlns:a="http://schemas.openxmlformats.org/drawingml/2006/main">
              <a:ext uri="{FF2B5EF4-FFF2-40B4-BE49-F238E27FC236}">
                <a16:creationId xmlns:a16="http://schemas.microsoft.com/office/drawing/2014/main" id="{802DE7E6-A831-4E3C-873B-0F28B0B3801A}"/>
              </a:ext>
            </a:extLst>
          </p:cNvPr>
          <p:cNvSpPr>
            <a:spLocks xmlns:a="http://schemas.openxmlformats.org/drawingml/2006/main" noGrp="1"/>
          </p:cNvSpPr>
          <p:nvPr/>
        </p:nvSpPr>
        <p:spPr>
          <a:xfrm xmlns:a="http://schemas.openxmlformats.org/drawingml/2006/main">
            <a:off x="685800" y="30861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8867E02-A148-4C64-A0A8-1110B325D577}"/>
              </a:ext>
            </a:extLst>
          </p:cNvPr>
          <p:cNvSpPr>
            <a:spLocks xmlns:a="http://schemas.openxmlformats.org/drawingml/2006/main" noGrp="1"/>
          </p:cNvSpPr>
          <p:nvPr/>
        </p:nvSpPr>
        <p:spPr>
          <a:xfrm xmlns:a="http://schemas.openxmlformats.org/drawingml/2006/main">
            <a:off x="685800" y="32194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llama3.2   17</a:t>
            </a:r>
          </a:p>
        </p:txBody>
      </p:sp>
      <p:sp>
        <p:nvSpPr>
          <p:cNvPr id="18" name="">
            <a:extLst xmlns:a="http://schemas.openxmlformats.org/drawingml/2006/main">
              <a:ext uri="{FF2B5EF4-FFF2-40B4-BE49-F238E27FC236}">
                <a16:creationId xmlns:a16="http://schemas.microsoft.com/office/drawing/2014/main" id="{556F4203-09FA-4597-985B-7569A5D49BE6}"/>
              </a:ext>
            </a:extLst>
          </p:cNvPr>
          <p:cNvSpPr>
            <a:spLocks xmlns:a="http://schemas.openxmlformats.org/drawingml/2006/main" noGrp="1"/>
          </p:cNvSpPr>
          <p:nvPr/>
        </p:nvSpPr>
        <p:spPr>
          <a:xfrm xmlns:a="http://schemas.openxmlformats.org/drawingml/2006/main">
            <a:off x="3257550" y="32194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Completed two versions</a:t>
            </a:r>
          </a:p>
        </p:txBody>
      </p:sp>
      <p:sp>
        <p:nvSpPr>
          <p:cNvPr id="19" name="">
            <a:extLst xmlns:a="http://schemas.openxmlformats.org/drawingml/2006/main">
              <a:ext uri="{FF2B5EF4-FFF2-40B4-BE49-F238E27FC236}">
                <a16:creationId xmlns:a16="http://schemas.microsoft.com/office/drawing/2014/main" id="{58D5EB25-D254-4FEF-84BA-72FEA9D8BB20}"/>
              </a:ext>
            </a:extLst>
          </p:cNvPr>
          <p:cNvSpPr>
            <a:spLocks xmlns:a="http://schemas.openxmlformats.org/drawingml/2006/main" noGrp="1"/>
          </p:cNvSpPr>
          <p:nvPr/>
        </p:nvSpPr>
        <p:spPr>
          <a:xfrm xmlns:a="http://schemas.openxmlformats.org/drawingml/2006/main">
            <a:off x="6762750" y="32194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Low-value questions and weak causal development</a:t>
            </a:r>
          </a:p>
        </p:txBody>
      </p:sp>
      <p:sp>
        <p:nvSpPr>
          <p:cNvPr id="20" name="">
            <a:extLst xmlns:a="http://schemas.openxmlformats.org/drawingml/2006/main">
              <a:ext uri="{FF2B5EF4-FFF2-40B4-BE49-F238E27FC236}">
                <a16:creationId xmlns:a16="http://schemas.microsoft.com/office/drawing/2014/main" id="{2E5BEC4A-E5C2-44AC-9A13-C2891C46C48F}"/>
              </a:ext>
            </a:extLst>
          </p:cNvPr>
          <p:cNvSpPr>
            <a:spLocks xmlns:a="http://schemas.openxmlformats.org/drawingml/2006/main" noGrp="1"/>
          </p:cNvSpPr>
          <p:nvPr/>
        </p:nvSpPr>
        <p:spPr>
          <a:xfrm xmlns:a="http://schemas.openxmlformats.org/drawingml/2006/main">
            <a:off x="685800" y="37719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C1CE28F-9540-4BF2-B3B8-37D25A17174D}"/>
              </a:ext>
            </a:extLst>
          </p:cNvPr>
          <p:cNvSpPr>
            <a:spLocks xmlns:a="http://schemas.openxmlformats.org/drawingml/2006/main" noGrp="1"/>
          </p:cNvSpPr>
          <p:nvPr/>
        </p:nvSpPr>
        <p:spPr>
          <a:xfrm xmlns:a="http://schemas.openxmlformats.org/drawingml/2006/main">
            <a:off x="685800" y="39052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phi4-mini   13</a:t>
            </a:r>
          </a:p>
        </p:txBody>
      </p:sp>
      <p:sp>
        <p:nvSpPr>
          <p:cNvPr id="22" name="">
            <a:extLst xmlns:a="http://schemas.openxmlformats.org/drawingml/2006/main">
              <a:ext uri="{FF2B5EF4-FFF2-40B4-BE49-F238E27FC236}">
                <a16:creationId xmlns:a16="http://schemas.microsoft.com/office/drawing/2014/main" id="{E2EEB055-6F4E-4DE4-92D1-3D4EE2D5A88D}"/>
              </a:ext>
            </a:extLst>
          </p:cNvPr>
          <p:cNvSpPr>
            <a:spLocks xmlns:a="http://schemas.openxmlformats.org/drawingml/2006/main" noGrp="1"/>
          </p:cNvSpPr>
          <p:nvPr/>
        </p:nvSpPr>
        <p:spPr>
          <a:xfrm xmlns:a="http://schemas.openxmlformats.org/drawingml/2006/main">
            <a:off x="3257550" y="39052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Generated substantial text</a:t>
            </a:r>
          </a:p>
        </p:txBody>
      </p:sp>
      <p:sp>
        <p:nvSpPr>
          <p:cNvPr id="23" name="">
            <a:extLst xmlns:a="http://schemas.openxmlformats.org/drawingml/2006/main">
              <a:ext uri="{FF2B5EF4-FFF2-40B4-BE49-F238E27FC236}">
                <a16:creationId xmlns:a16="http://schemas.microsoft.com/office/drawing/2014/main" id="{C3DF520D-3C39-4763-BEF6-F26EFAA9E128}"/>
              </a:ext>
            </a:extLst>
          </p:cNvPr>
          <p:cNvSpPr>
            <a:spLocks xmlns:a="http://schemas.openxmlformats.org/drawingml/2006/main" noGrp="1"/>
          </p:cNvSpPr>
          <p:nvPr/>
        </p:nvSpPr>
        <p:spPr>
          <a:xfrm xmlns:a="http://schemas.openxmlformats.org/drawingml/2006/main">
            <a:off x="6762750" y="39052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Nineteen stage errors and extensive fallback content</a:t>
            </a:r>
          </a:p>
        </p:txBody>
      </p:sp>
      <p:sp>
        <p:nvSpPr>
          <p:cNvPr id="24" name="">
            <a:extLst xmlns:a="http://schemas.openxmlformats.org/drawingml/2006/main">
              <a:ext uri="{FF2B5EF4-FFF2-40B4-BE49-F238E27FC236}">
                <a16:creationId xmlns:a16="http://schemas.microsoft.com/office/drawing/2014/main" id="{80A3E6D8-5912-42CE-8798-67A51B73BEC1}"/>
              </a:ext>
            </a:extLst>
          </p:cNvPr>
          <p:cNvSpPr>
            <a:spLocks xmlns:a="http://schemas.openxmlformats.org/drawingml/2006/main" noGrp="1"/>
          </p:cNvSpPr>
          <p:nvPr/>
        </p:nvSpPr>
        <p:spPr>
          <a:xfrm xmlns:a="http://schemas.openxmlformats.org/drawingml/2006/main">
            <a:off x="685800" y="44577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D503F94-D6B4-4A70-9FA9-8B4B648AE5FC}"/>
              </a:ext>
            </a:extLst>
          </p:cNvPr>
          <p:cNvSpPr>
            <a:spLocks xmlns:a="http://schemas.openxmlformats.org/drawingml/2006/main" noGrp="1"/>
          </p:cNvSpPr>
          <p:nvPr/>
        </p:nvSpPr>
        <p:spPr>
          <a:xfrm xmlns:a="http://schemas.openxmlformats.org/drawingml/2006/main">
            <a:off x="685800" y="45910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C9564D"/>
                </a:solidFill>
                <a:latin typeface="Helvetica Neue"/>
                <a:ea typeface="Helvetica Neue"/>
                <a:cs typeface="Helvetica Neue"/>
              </a:defRPr>
            </a:pPr>
            <a:r>
              <a:rPr sz="1650" b="1">
                <a:solidFill>
                  <a:srgbClr val="C9564D"/>
                </a:solidFill>
                <a:latin typeface="Helvetica Neue"/>
                <a:ea typeface="Helvetica Neue"/>
                <a:cs typeface="Helvetica Neue"/>
              </a:rPr>
              <a:t>deepseek-r1   0</a:t>
            </a:r>
          </a:p>
        </p:txBody>
      </p:sp>
      <p:sp>
        <p:nvSpPr>
          <p:cNvPr id="26" name="">
            <a:extLst xmlns:a="http://schemas.openxmlformats.org/drawingml/2006/main">
              <a:ext uri="{FF2B5EF4-FFF2-40B4-BE49-F238E27FC236}">
                <a16:creationId xmlns:a16="http://schemas.microsoft.com/office/drawing/2014/main" id="{BD18C510-07D6-4C08-8634-F9F98C88A625}"/>
              </a:ext>
            </a:extLst>
          </p:cNvPr>
          <p:cNvSpPr>
            <a:spLocks xmlns:a="http://schemas.openxmlformats.org/drawingml/2006/main" noGrp="1"/>
          </p:cNvSpPr>
          <p:nvPr/>
        </p:nvSpPr>
        <p:spPr>
          <a:xfrm xmlns:a="http://schemas.openxmlformats.org/drawingml/2006/main">
            <a:off x="3257550" y="45910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No gradeable artifact</a:t>
            </a:r>
          </a:p>
        </p:txBody>
      </p:sp>
      <p:sp>
        <p:nvSpPr>
          <p:cNvPr id="27" name="">
            <a:extLst xmlns:a="http://schemas.openxmlformats.org/drawingml/2006/main">
              <a:ext uri="{FF2B5EF4-FFF2-40B4-BE49-F238E27FC236}">
                <a16:creationId xmlns:a16="http://schemas.microsoft.com/office/drawing/2014/main" id="{93831E24-D415-4D38-932D-E26A7C639A40}"/>
              </a:ext>
            </a:extLst>
          </p:cNvPr>
          <p:cNvSpPr>
            <a:spLocks xmlns:a="http://schemas.openxmlformats.org/drawingml/2006/main" noGrp="1"/>
          </p:cNvSpPr>
          <p:nvPr/>
        </p:nvSpPr>
        <p:spPr>
          <a:xfrm xmlns:a="http://schemas.openxmlformats.org/drawingml/2006/main">
            <a:off x="6762750" y="45910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9131"/>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Exceeded the 30-minute limit before committing a version</a:t>
            </a:r>
          </a:p>
        </p:txBody>
      </p:sp>
      <p:sp>
        <p:nvSpPr>
          <p:cNvPr id="28" name="">
            <a:extLst xmlns:a="http://schemas.openxmlformats.org/drawingml/2006/main">
              <a:ext uri="{FF2B5EF4-FFF2-40B4-BE49-F238E27FC236}">
                <a16:creationId xmlns:a16="http://schemas.microsoft.com/office/drawing/2014/main" id="{88C84087-51FD-4DC5-8F62-050C881DFB0F}"/>
              </a:ext>
            </a:extLst>
          </p:cNvPr>
          <p:cNvSpPr>
            <a:spLocks xmlns:a="http://schemas.openxmlformats.org/drawingml/2006/main" noGrp="1"/>
          </p:cNvSpPr>
          <p:nvPr/>
        </p:nvSpPr>
        <p:spPr>
          <a:xfrm xmlns:a="http://schemas.openxmlformats.org/drawingml/2006/main">
            <a:off x="685800" y="51435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9107B5F-07DF-499B-9492-674FC454760D}"/>
              </a:ext>
            </a:extLst>
          </p:cNvPr>
          <p:cNvSpPr>
            <a:spLocks xmlns:a="http://schemas.openxmlformats.org/drawingml/2006/main" noGrp="1"/>
          </p:cNvSpPr>
          <p:nvPr/>
        </p:nvSpPr>
        <p:spPr>
          <a:xfrm xmlns:a="http://schemas.openxmlformats.org/drawingml/2006/main">
            <a:off x="685800" y="52768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C9564D"/>
                </a:solidFill>
                <a:latin typeface="Helvetica Neue"/>
                <a:ea typeface="Helvetica Neue"/>
                <a:cs typeface="Helvetica Neue"/>
              </a:defRPr>
            </a:pPr>
            <a:r>
              <a:rPr sz="1650" b="1">
                <a:solidFill>
                  <a:srgbClr val="C9564D"/>
                </a:solidFill>
                <a:latin typeface="Helvetica Neue"/>
                <a:ea typeface="Helvetica Neue"/>
                <a:cs typeface="Helvetica Neue"/>
              </a:rPr>
              <a:t>granite3.3   0</a:t>
            </a:r>
          </a:p>
        </p:txBody>
      </p:sp>
      <p:sp>
        <p:nvSpPr>
          <p:cNvPr id="30" name="">
            <a:extLst xmlns:a="http://schemas.openxmlformats.org/drawingml/2006/main">
              <a:ext uri="{FF2B5EF4-FFF2-40B4-BE49-F238E27FC236}">
                <a16:creationId xmlns:a16="http://schemas.microsoft.com/office/drawing/2014/main" id="{A726F8C1-12A3-4EF2-A7E7-C4E26CE52489}"/>
              </a:ext>
            </a:extLst>
          </p:cNvPr>
          <p:cNvSpPr>
            <a:spLocks xmlns:a="http://schemas.openxmlformats.org/drawingml/2006/main" noGrp="1"/>
          </p:cNvSpPr>
          <p:nvPr/>
        </p:nvSpPr>
        <p:spPr>
          <a:xfrm xmlns:a="http://schemas.openxmlformats.org/drawingml/2006/main">
            <a:off x="3257550" y="52768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No gradeable artifact</a:t>
            </a:r>
          </a:p>
        </p:txBody>
      </p:sp>
      <p:sp>
        <p:nvSpPr>
          <p:cNvPr id="31" name="">
            <a:extLst xmlns:a="http://schemas.openxmlformats.org/drawingml/2006/main">
              <a:ext uri="{FF2B5EF4-FFF2-40B4-BE49-F238E27FC236}">
                <a16:creationId xmlns:a16="http://schemas.microsoft.com/office/drawing/2014/main" id="{69C562D0-A573-46D1-9DD6-C74BE7ACB7DF}"/>
              </a:ext>
            </a:extLst>
          </p:cNvPr>
          <p:cNvSpPr>
            <a:spLocks xmlns:a="http://schemas.openxmlformats.org/drawingml/2006/main" noGrp="1"/>
          </p:cNvSpPr>
          <p:nvPr/>
        </p:nvSpPr>
        <p:spPr>
          <a:xfrm xmlns:a="http://schemas.openxmlformats.org/drawingml/2006/main">
            <a:off x="6762750" y="52768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9131"/>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Exceeded the 30-minute limit before committing a version</a:t>
            </a:r>
          </a:p>
        </p:txBody>
      </p:sp>
      <p:sp>
        <p:nvSpPr>
          <p:cNvPr id="32" name="">
            <a:extLst xmlns:a="http://schemas.openxmlformats.org/drawingml/2006/main">
              <a:ext uri="{FF2B5EF4-FFF2-40B4-BE49-F238E27FC236}">
                <a16:creationId xmlns:a16="http://schemas.microsoft.com/office/drawing/2014/main" id="{940BE0D2-5981-4923-9068-F8BFF74C86AB}"/>
              </a:ext>
            </a:extLst>
          </p:cNvPr>
          <p:cNvSpPr>
            <a:spLocks xmlns:a="http://schemas.openxmlformats.org/drawingml/2006/main" noGrp="1"/>
          </p:cNvSpPr>
          <p:nvPr/>
        </p:nvSpPr>
        <p:spPr>
          <a:xfrm xmlns:a="http://schemas.openxmlformats.org/drawingml/2006/main">
            <a:off x="685800" y="58293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12900206"/>
      </p:ext>
    </p:extLst>
  </p:cSld>
</p:sld>
</file>

<file path=ppt/slides/slide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D99E1E2-8CD8-4351-9317-7C49D24F44DF}"/>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3 exposed system failures as well as model failures</a:t>
            </a:r>
          </a:p>
        </p:txBody>
      </p:sp>
      <p:sp>
        <p:nvSpPr>
          <p:cNvPr id="2" name="">
            <a:extLst xmlns:a="http://schemas.openxmlformats.org/drawingml/2006/main">
              <a:ext uri="{FF2B5EF4-FFF2-40B4-BE49-F238E27FC236}">
                <a16:creationId xmlns:a16="http://schemas.microsoft.com/office/drawing/2014/main" id="{D3DEB05B-7A80-4DE5-8710-6A952DB388CA}"/>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Several weaknesses appeared across models, which means prompt quality alone could not solve them.</a:t>
            </a:r>
          </a:p>
        </p:txBody>
      </p:sp>
      <p:sp>
        <p:nvSpPr>
          <p:cNvPr id="3" name="">
            <a:extLst xmlns:a="http://schemas.openxmlformats.org/drawingml/2006/main">
              <a:ext uri="{FF2B5EF4-FFF2-40B4-BE49-F238E27FC236}">
                <a16:creationId xmlns:a16="http://schemas.microsoft.com/office/drawing/2014/main" id="{3BA31DA5-69A8-466A-8DDF-B8A928F3F069}"/>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9A2F9E-8E41-4817-A133-8876766BA90B}"/>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 cross-model findings</a:t>
            </a:r>
          </a:p>
        </p:txBody>
      </p:sp>
      <p:sp>
        <p:nvSpPr>
          <p:cNvPr id="5" name="">
            <a:extLst xmlns:a="http://schemas.openxmlformats.org/drawingml/2006/main">
              <a:ext uri="{FF2B5EF4-FFF2-40B4-BE49-F238E27FC236}">
                <a16:creationId xmlns:a16="http://schemas.microsoft.com/office/drawing/2014/main" id="{101BF4E5-D80F-4949-9917-206D9ACD2B25}"/>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C12CD7A0-66BF-4183-8E0E-134551F50CDB}"/>
              </a:ext>
            </a:extLst>
          </p:cNvPr>
          <p:cNvSpPr>
            <a:spLocks xmlns:a="http://schemas.openxmlformats.org/drawingml/2006/main" noGrp="1"/>
          </p:cNvSpPr>
          <p:nvPr/>
        </p:nvSpPr>
        <p:spPr>
          <a:xfrm xmlns:a="http://schemas.openxmlformats.org/drawingml/2006/main">
            <a:off x="742950" y="16764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3377B5"/>
                </a:solidFill>
                <a:latin typeface="Helvetica Neue"/>
                <a:ea typeface="Helvetica Neue"/>
                <a:cs typeface="Helvetica Neue"/>
              </a:defRPr>
            </a:pPr>
            <a:r>
              <a:rPr sz="2100" b="1">
                <a:solidFill>
                  <a:srgbClr val="3377B5"/>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E9F1A178-1A3C-4A7D-B2AC-ECFFFC64B9CA}"/>
              </a:ext>
            </a:extLst>
          </p:cNvPr>
          <p:cNvSpPr>
            <a:spLocks xmlns:a="http://schemas.openxmlformats.org/drawingml/2006/main" noGrp="1"/>
          </p:cNvSpPr>
          <p:nvPr/>
        </p:nvSpPr>
        <p:spPr>
          <a:xfrm xmlns:a="http://schemas.openxmlformats.org/drawingml/2006/main">
            <a:off x="1409700" y="16764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Structured output</a:t>
            </a:r>
          </a:p>
        </p:txBody>
      </p:sp>
      <p:sp>
        <p:nvSpPr>
          <p:cNvPr id="8" name="">
            <a:extLst xmlns:a="http://schemas.openxmlformats.org/drawingml/2006/main">
              <a:ext uri="{FF2B5EF4-FFF2-40B4-BE49-F238E27FC236}">
                <a16:creationId xmlns:a16="http://schemas.microsoft.com/office/drawing/2014/main" id="{A4FFB425-32B0-4A0B-AD1E-461BBBB37564}"/>
              </a:ext>
            </a:extLst>
          </p:cNvPr>
          <p:cNvSpPr>
            <a:spLocks xmlns:a="http://schemas.openxmlformats.org/drawingml/2006/main" noGrp="1"/>
          </p:cNvSpPr>
          <p:nvPr/>
        </p:nvSpPr>
        <p:spPr>
          <a:xfrm xmlns:a="http://schemas.openxmlformats.org/drawingml/2006/main">
            <a:off x="1409700" y="20955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Long JSON responses failed or truncated.</a:t>
            </a:r>
          </a:p>
        </p:txBody>
      </p:sp>
      <p:sp>
        <p:nvSpPr>
          <p:cNvPr id="9" name="">
            <a:extLst xmlns:a="http://schemas.openxmlformats.org/drawingml/2006/main">
              <a:ext uri="{FF2B5EF4-FFF2-40B4-BE49-F238E27FC236}">
                <a16:creationId xmlns:a16="http://schemas.microsoft.com/office/drawing/2014/main" id="{2B7AAC48-349E-4BEF-882F-860EAE989160}"/>
              </a:ext>
            </a:extLst>
          </p:cNvPr>
          <p:cNvSpPr>
            <a:spLocks xmlns:a="http://schemas.openxmlformats.org/drawingml/2006/main" noGrp="1"/>
          </p:cNvSpPr>
          <p:nvPr/>
        </p:nvSpPr>
        <p:spPr>
          <a:xfrm xmlns:a="http://schemas.openxmlformats.org/drawingml/2006/main">
            <a:off x="1409700" y="28384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78826D6-80A8-46DA-B6ED-16B88218A2A5}"/>
              </a:ext>
            </a:extLst>
          </p:cNvPr>
          <p:cNvSpPr>
            <a:spLocks xmlns:a="http://schemas.openxmlformats.org/drawingml/2006/main" noGrp="1"/>
          </p:cNvSpPr>
          <p:nvPr/>
        </p:nvSpPr>
        <p:spPr>
          <a:xfrm xmlns:a="http://schemas.openxmlformats.org/drawingml/2006/main">
            <a:off x="742950" y="30861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3377B5"/>
                </a:solidFill>
                <a:latin typeface="Helvetica Neue"/>
                <a:ea typeface="Helvetica Neue"/>
                <a:cs typeface="Helvetica Neue"/>
              </a:defRPr>
            </a:pPr>
            <a:r>
              <a:rPr sz="2100" b="1">
                <a:solidFill>
                  <a:srgbClr val="3377B5"/>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9C6BF9B8-B399-402E-BE6F-038377EF46F0}"/>
              </a:ext>
            </a:extLst>
          </p:cNvPr>
          <p:cNvSpPr>
            <a:spLocks xmlns:a="http://schemas.openxmlformats.org/drawingml/2006/main" noGrp="1"/>
          </p:cNvSpPr>
          <p:nvPr/>
        </p:nvSpPr>
        <p:spPr>
          <a:xfrm xmlns:a="http://schemas.openxmlformats.org/drawingml/2006/main">
            <a:off x="1409700" y="30861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Evidence scope</a:t>
            </a:r>
          </a:p>
        </p:txBody>
      </p:sp>
      <p:sp>
        <p:nvSpPr>
          <p:cNvPr id="12" name="">
            <a:extLst xmlns:a="http://schemas.openxmlformats.org/drawingml/2006/main">
              <a:ext uri="{FF2B5EF4-FFF2-40B4-BE49-F238E27FC236}">
                <a16:creationId xmlns:a16="http://schemas.microsoft.com/office/drawing/2014/main" id="{723D24E7-CB7D-4F72-9DF7-6C9BEB617923}"/>
              </a:ext>
            </a:extLst>
          </p:cNvPr>
          <p:cNvSpPr>
            <a:spLocks xmlns:a="http://schemas.openxmlformats.org/drawingml/2006/main" noGrp="1"/>
          </p:cNvSpPr>
          <p:nvPr/>
        </p:nvSpPr>
        <p:spPr>
          <a:xfrm xmlns:a="http://schemas.openxmlformats.org/drawingml/2006/main">
            <a:off x="1409700" y="35052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Large packets behaved like one source instead of separate records.</a:t>
            </a:r>
          </a:p>
        </p:txBody>
      </p:sp>
      <p:sp>
        <p:nvSpPr>
          <p:cNvPr id="13" name="">
            <a:extLst xmlns:a="http://schemas.openxmlformats.org/drawingml/2006/main">
              <a:ext uri="{FF2B5EF4-FFF2-40B4-BE49-F238E27FC236}">
                <a16:creationId xmlns:a16="http://schemas.microsoft.com/office/drawing/2014/main" id="{AD347FB3-CF74-485C-B6A5-FD2304D343E2}"/>
              </a:ext>
            </a:extLst>
          </p:cNvPr>
          <p:cNvSpPr>
            <a:spLocks xmlns:a="http://schemas.openxmlformats.org/drawingml/2006/main" noGrp="1"/>
          </p:cNvSpPr>
          <p:nvPr/>
        </p:nvSpPr>
        <p:spPr>
          <a:xfrm xmlns:a="http://schemas.openxmlformats.org/drawingml/2006/main">
            <a:off x="1409700" y="42481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12FA202-02E2-4715-8D74-AC2193E6F2FC}"/>
              </a:ext>
            </a:extLst>
          </p:cNvPr>
          <p:cNvSpPr>
            <a:spLocks xmlns:a="http://schemas.openxmlformats.org/drawingml/2006/main" noGrp="1"/>
          </p:cNvSpPr>
          <p:nvPr/>
        </p:nvSpPr>
        <p:spPr>
          <a:xfrm xmlns:a="http://schemas.openxmlformats.org/drawingml/2006/main">
            <a:off x="742950" y="44958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3377B5"/>
                </a:solidFill>
                <a:latin typeface="Helvetica Neue"/>
                <a:ea typeface="Helvetica Neue"/>
                <a:cs typeface="Helvetica Neue"/>
              </a:defRPr>
            </a:pPr>
            <a:r>
              <a:rPr sz="2100" b="1">
                <a:solidFill>
                  <a:srgbClr val="3377B5"/>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50268C0A-1962-4C1E-823F-879BC732F95B}"/>
              </a:ext>
            </a:extLst>
          </p:cNvPr>
          <p:cNvSpPr>
            <a:spLocks xmlns:a="http://schemas.openxmlformats.org/drawingml/2006/main" noGrp="1"/>
          </p:cNvSpPr>
          <p:nvPr/>
        </p:nvSpPr>
        <p:spPr>
          <a:xfrm xmlns:a="http://schemas.openxmlformats.org/drawingml/2006/main">
            <a:off x="1409700" y="44958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Question control</a:t>
            </a:r>
          </a:p>
        </p:txBody>
      </p:sp>
      <p:sp>
        <p:nvSpPr>
          <p:cNvPr id="16" name="">
            <a:extLst xmlns:a="http://schemas.openxmlformats.org/drawingml/2006/main">
              <a:ext uri="{FF2B5EF4-FFF2-40B4-BE49-F238E27FC236}">
                <a16:creationId xmlns:a16="http://schemas.microsoft.com/office/drawing/2014/main" id="{D8B2423F-28B4-473D-B205-D6B16FA1E6B9}"/>
              </a:ext>
            </a:extLst>
          </p:cNvPr>
          <p:cNvSpPr>
            <a:spLocks xmlns:a="http://schemas.openxmlformats.org/drawingml/2006/main" noGrp="1"/>
          </p:cNvSpPr>
          <p:nvPr/>
        </p:nvSpPr>
        <p:spPr>
          <a:xfrm xmlns:a="http://schemas.openxmlformats.org/drawingml/2006/main">
            <a:off x="1409700" y="49149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Overlap survived and low-value questions consumed runtime.</a:t>
            </a:r>
          </a:p>
        </p:txBody>
      </p:sp>
      <p:sp>
        <p:nvSpPr>
          <p:cNvPr id="17" name="">
            <a:extLst xmlns:a="http://schemas.openxmlformats.org/drawingml/2006/main">
              <a:ext uri="{FF2B5EF4-FFF2-40B4-BE49-F238E27FC236}">
                <a16:creationId xmlns:a16="http://schemas.microsoft.com/office/drawing/2014/main" id="{B3FFC6E3-E6E3-4B58-BD69-18A4F9487148}"/>
              </a:ext>
            </a:extLst>
          </p:cNvPr>
          <p:cNvSpPr>
            <a:spLocks xmlns:a="http://schemas.openxmlformats.org/drawingml/2006/main" noGrp="1"/>
          </p:cNvSpPr>
          <p:nvPr/>
        </p:nvSpPr>
        <p:spPr>
          <a:xfrm xmlns:a="http://schemas.openxmlformats.org/drawingml/2006/main">
            <a:off x="1409700" y="56578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00239B8-A7BB-459D-B984-703BB1F27D5B}"/>
              </a:ext>
            </a:extLst>
          </p:cNvPr>
          <p:cNvSpPr>
            <a:spLocks xmlns:a="http://schemas.openxmlformats.org/drawingml/2006/main" noGrp="1"/>
          </p:cNvSpPr>
          <p:nvPr/>
        </p:nvSpPr>
        <p:spPr>
          <a:xfrm xmlns:a="http://schemas.openxmlformats.org/drawingml/2006/main">
            <a:off x="6229350" y="16764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C9564D"/>
                </a:solidFill>
                <a:latin typeface="Helvetica Neue"/>
                <a:ea typeface="Helvetica Neue"/>
                <a:cs typeface="Helvetica Neue"/>
              </a:defRPr>
            </a:pPr>
            <a:r>
              <a:rPr sz="2100" b="1">
                <a:solidFill>
                  <a:srgbClr val="C9564D"/>
                </a:solidFill>
                <a:latin typeface="Helvetica Neue"/>
                <a:ea typeface="Helvetica Neue"/>
                <a:cs typeface="Helvetica Neue"/>
              </a:rPr>
              <a:t>04</a:t>
            </a:r>
          </a:p>
        </p:txBody>
      </p:sp>
      <p:sp>
        <p:nvSpPr>
          <p:cNvPr id="19" name="">
            <a:extLst xmlns:a="http://schemas.openxmlformats.org/drawingml/2006/main">
              <a:ext uri="{FF2B5EF4-FFF2-40B4-BE49-F238E27FC236}">
                <a16:creationId xmlns:a16="http://schemas.microsoft.com/office/drawing/2014/main" id="{6F6E1A7E-6D88-4B8F-8BA6-42408EF821C1}"/>
              </a:ext>
            </a:extLst>
          </p:cNvPr>
          <p:cNvSpPr>
            <a:spLocks xmlns:a="http://schemas.openxmlformats.org/drawingml/2006/main" noGrp="1"/>
          </p:cNvSpPr>
          <p:nvPr/>
        </p:nvSpPr>
        <p:spPr>
          <a:xfrm xmlns:a="http://schemas.openxmlformats.org/drawingml/2006/main">
            <a:off x="6896100" y="16764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Causal direction</a:t>
            </a:r>
          </a:p>
        </p:txBody>
      </p:sp>
      <p:sp>
        <p:nvSpPr>
          <p:cNvPr id="20" name="">
            <a:extLst xmlns:a="http://schemas.openxmlformats.org/drawingml/2006/main">
              <a:ext uri="{FF2B5EF4-FFF2-40B4-BE49-F238E27FC236}">
                <a16:creationId xmlns:a16="http://schemas.microsoft.com/office/drawing/2014/main" id="{B8466EDC-6505-4B3E-861F-39999C77A842}"/>
              </a:ext>
            </a:extLst>
          </p:cNvPr>
          <p:cNvSpPr>
            <a:spLocks xmlns:a="http://schemas.openxmlformats.org/drawingml/2006/main" noGrp="1"/>
          </p:cNvSpPr>
          <p:nvPr/>
        </p:nvSpPr>
        <p:spPr>
          <a:xfrm xmlns:a="http://schemas.openxmlformats.org/drawingml/2006/main">
            <a:off x="6896100" y="20955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Some boards pointed from the event back to pre-event conditions.</a:t>
            </a:r>
          </a:p>
        </p:txBody>
      </p:sp>
      <p:sp>
        <p:nvSpPr>
          <p:cNvPr id="21" name="">
            <a:extLst xmlns:a="http://schemas.openxmlformats.org/drawingml/2006/main">
              <a:ext uri="{FF2B5EF4-FFF2-40B4-BE49-F238E27FC236}">
                <a16:creationId xmlns:a16="http://schemas.microsoft.com/office/drawing/2014/main" id="{72983EBD-3FB6-4580-98B7-38F77557E802}"/>
              </a:ext>
            </a:extLst>
          </p:cNvPr>
          <p:cNvSpPr>
            <a:spLocks xmlns:a="http://schemas.openxmlformats.org/drawingml/2006/main" noGrp="1"/>
          </p:cNvSpPr>
          <p:nvPr/>
        </p:nvSpPr>
        <p:spPr>
          <a:xfrm xmlns:a="http://schemas.openxmlformats.org/drawingml/2006/main">
            <a:off x="6896100" y="28384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7E90AF7-D9B5-4378-BFAB-F4DC36141303}"/>
              </a:ext>
            </a:extLst>
          </p:cNvPr>
          <p:cNvSpPr>
            <a:spLocks xmlns:a="http://schemas.openxmlformats.org/drawingml/2006/main" noGrp="1"/>
          </p:cNvSpPr>
          <p:nvPr/>
        </p:nvSpPr>
        <p:spPr>
          <a:xfrm xmlns:a="http://schemas.openxmlformats.org/drawingml/2006/main">
            <a:off x="6229350" y="30861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C9564D"/>
                </a:solidFill>
                <a:latin typeface="Helvetica Neue"/>
                <a:ea typeface="Helvetica Neue"/>
                <a:cs typeface="Helvetica Neue"/>
              </a:defRPr>
            </a:pPr>
            <a:r>
              <a:rPr sz="2100" b="1">
                <a:solidFill>
                  <a:srgbClr val="C9564D"/>
                </a:solidFill>
                <a:latin typeface="Helvetica Neue"/>
                <a:ea typeface="Helvetica Neue"/>
                <a:cs typeface="Helvetica Neue"/>
              </a:rPr>
              <a:t>05</a:t>
            </a:r>
          </a:p>
        </p:txBody>
      </p:sp>
      <p:sp>
        <p:nvSpPr>
          <p:cNvPr id="23" name="">
            <a:extLst xmlns:a="http://schemas.openxmlformats.org/drawingml/2006/main">
              <a:ext uri="{FF2B5EF4-FFF2-40B4-BE49-F238E27FC236}">
                <a16:creationId xmlns:a16="http://schemas.microsoft.com/office/drawing/2014/main" id="{65085E52-AB43-4200-8983-8B4D745A297B}"/>
              </a:ext>
            </a:extLst>
          </p:cNvPr>
          <p:cNvSpPr>
            <a:spLocks xmlns:a="http://schemas.openxmlformats.org/drawingml/2006/main" noGrp="1"/>
          </p:cNvSpPr>
          <p:nvPr/>
        </p:nvSpPr>
        <p:spPr>
          <a:xfrm xmlns:a="http://schemas.openxmlformats.org/drawingml/2006/main">
            <a:off x="6896100" y="30861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Contradictions</a:t>
            </a:r>
          </a:p>
        </p:txBody>
      </p:sp>
      <p:sp>
        <p:nvSpPr>
          <p:cNvPr id="24" name="">
            <a:extLst xmlns:a="http://schemas.openxmlformats.org/drawingml/2006/main">
              <a:ext uri="{FF2B5EF4-FFF2-40B4-BE49-F238E27FC236}">
                <a16:creationId xmlns:a16="http://schemas.microsoft.com/office/drawing/2014/main" id="{29DDDCD7-D46D-4B57-8226-49DEC08F07DD}"/>
              </a:ext>
            </a:extLst>
          </p:cNvPr>
          <p:cNvSpPr>
            <a:spLocks xmlns:a="http://schemas.openxmlformats.org/drawingml/2006/main" noGrp="1"/>
          </p:cNvSpPr>
          <p:nvPr/>
        </p:nvSpPr>
        <p:spPr>
          <a:xfrm xmlns:a="http://schemas.openxmlformats.org/drawingml/2006/main">
            <a:off x="6896100" y="35052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Every scored Try 3 output missed the three planted challenge records.</a:t>
            </a:r>
          </a:p>
        </p:txBody>
      </p:sp>
      <p:sp>
        <p:nvSpPr>
          <p:cNvPr id="25" name="">
            <a:extLst xmlns:a="http://schemas.openxmlformats.org/drawingml/2006/main">
              <a:ext uri="{FF2B5EF4-FFF2-40B4-BE49-F238E27FC236}">
                <a16:creationId xmlns:a16="http://schemas.microsoft.com/office/drawing/2014/main" id="{A2D1880F-8768-46BB-9AC3-B0EC395F350E}"/>
              </a:ext>
            </a:extLst>
          </p:cNvPr>
          <p:cNvSpPr>
            <a:spLocks xmlns:a="http://schemas.openxmlformats.org/drawingml/2006/main" noGrp="1"/>
          </p:cNvSpPr>
          <p:nvPr/>
        </p:nvSpPr>
        <p:spPr>
          <a:xfrm xmlns:a="http://schemas.openxmlformats.org/drawingml/2006/main">
            <a:off x="6896100" y="42481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8E03904-6A55-4ECD-9E0E-FE110AA377EF}"/>
              </a:ext>
            </a:extLst>
          </p:cNvPr>
          <p:cNvSpPr>
            <a:spLocks xmlns:a="http://schemas.openxmlformats.org/drawingml/2006/main" noGrp="1"/>
          </p:cNvSpPr>
          <p:nvPr/>
        </p:nvSpPr>
        <p:spPr>
          <a:xfrm xmlns:a="http://schemas.openxmlformats.org/drawingml/2006/main">
            <a:off x="6229350" y="44958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C9564D"/>
                </a:solidFill>
                <a:latin typeface="Helvetica Neue"/>
                <a:ea typeface="Helvetica Neue"/>
                <a:cs typeface="Helvetica Neue"/>
              </a:defRPr>
            </a:pPr>
            <a:r>
              <a:rPr sz="2100" b="1">
                <a:solidFill>
                  <a:srgbClr val="C9564D"/>
                </a:solidFill>
                <a:latin typeface="Helvetica Neue"/>
                <a:ea typeface="Helvetica Neue"/>
                <a:cs typeface="Helvetica Neue"/>
              </a:rPr>
              <a:t>06</a:t>
            </a:r>
          </a:p>
        </p:txBody>
      </p:sp>
      <p:sp>
        <p:nvSpPr>
          <p:cNvPr id="27" name="">
            <a:extLst xmlns:a="http://schemas.openxmlformats.org/drawingml/2006/main">
              <a:ext uri="{FF2B5EF4-FFF2-40B4-BE49-F238E27FC236}">
                <a16:creationId xmlns:a16="http://schemas.microsoft.com/office/drawing/2014/main" id="{F6BA889B-866C-4C95-8CA6-515367F827D2}"/>
              </a:ext>
            </a:extLst>
          </p:cNvPr>
          <p:cNvSpPr>
            <a:spLocks xmlns:a="http://schemas.openxmlformats.org/drawingml/2006/main" noGrp="1"/>
          </p:cNvSpPr>
          <p:nvPr/>
        </p:nvSpPr>
        <p:spPr>
          <a:xfrm xmlns:a="http://schemas.openxmlformats.org/drawingml/2006/main">
            <a:off x="6896100" y="44958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Corrective actions</a:t>
            </a:r>
          </a:p>
        </p:txBody>
      </p:sp>
      <p:sp>
        <p:nvSpPr>
          <p:cNvPr id="28" name="">
            <a:extLst xmlns:a="http://schemas.openxmlformats.org/drawingml/2006/main">
              <a:ext uri="{FF2B5EF4-FFF2-40B4-BE49-F238E27FC236}">
                <a16:creationId xmlns:a16="http://schemas.microsoft.com/office/drawing/2014/main" id="{AEB88DE9-792E-4FD1-BEEF-1ECE314D704E}"/>
              </a:ext>
            </a:extLst>
          </p:cNvPr>
          <p:cNvSpPr>
            <a:spLocks xmlns:a="http://schemas.openxmlformats.org/drawingml/2006/main" noGrp="1"/>
          </p:cNvSpPr>
          <p:nvPr/>
        </p:nvSpPr>
        <p:spPr>
          <a:xfrm xmlns:a="http://schemas.openxmlformats.org/drawingml/2006/main">
            <a:off x="6896100" y="49149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Some models proposed actions before verifying the causal mechanism.</a:t>
            </a:r>
          </a:p>
        </p:txBody>
      </p:sp>
      <p:sp>
        <p:nvSpPr>
          <p:cNvPr id="29" name="">
            <a:extLst xmlns:a="http://schemas.openxmlformats.org/drawingml/2006/main">
              <a:ext uri="{FF2B5EF4-FFF2-40B4-BE49-F238E27FC236}">
                <a16:creationId xmlns:a16="http://schemas.microsoft.com/office/drawing/2014/main" id="{E0218070-F5D7-4C7D-942E-9DA0130B7FD3}"/>
              </a:ext>
            </a:extLst>
          </p:cNvPr>
          <p:cNvSpPr>
            <a:spLocks xmlns:a="http://schemas.openxmlformats.org/drawingml/2006/main" noGrp="1"/>
          </p:cNvSpPr>
          <p:nvPr/>
        </p:nvSpPr>
        <p:spPr>
          <a:xfrm xmlns:a="http://schemas.openxmlformats.org/drawingml/2006/main">
            <a:off x="6896100" y="56578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2019020479"/>
      </p:ext>
    </p:extLst>
  </p:cSld>
</p:sld>
</file>

<file path=ppt/slides/slide10.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376DF37-A12A-43EE-B515-6C046F4252ED}"/>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4 design changes apply to every supported model</a:t>
            </a:r>
          </a:p>
        </p:txBody>
      </p:sp>
      <p:sp>
        <p:nvSpPr>
          <p:cNvPr id="2" name="">
            <a:extLst xmlns:a="http://schemas.openxmlformats.org/drawingml/2006/main">
              <a:ext uri="{FF2B5EF4-FFF2-40B4-BE49-F238E27FC236}">
                <a16:creationId xmlns:a16="http://schemas.microsoft.com/office/drawing/2014/main" id="{7F7A5553-FDF9-40BD-AD3A-7C7F59A136F9}"/>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initial validation used qwen3.5 alone so the effect of the harness changes remained observable.</a:t>
            </a:r>
          </a:p>
        </p:txBody>
      </p:sp>
      <p:sp>
        <p:nvSpPr>
          <p:cNvPr id="3" name="">
            <a:extLst xmlns:a="http://schemas.openxmlformats.org/drawingml/2006/main">
              <a:ext uri="{FF2B5EF4-FFF2-40B4-BE49-F238E27FC236}">
                <a16:creationId xmlns:a16="http://schemas.microsoft.com/office/drawing/2014/main" id="{3DEB5723-5C9F-4DDC-925E-7D11F96FC358}"/>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6F0CAD6-21A2-43BF-A5CF-B08D9F12F02F}"/>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4 implementation and initial qwen3.5 evaluation</a:t>
            </a:r>
          </a:p>
        </p:txBody>
      </p:sp>
      <p:sp>
        <p:nvSpPr>
          <p:cNvPr id="5" name="">
            <a:extLst xmlns:a="http://schemas.openxmlformats.org/drawingml/2006/main">
              <a:ext uri="{FF2B5EF4-FFF2-40B4-BE49-F238E27FC236}">
                <a16:creationId xmlns:a16="http://schemas.microsoft.com/office/drawing/2014/main" id="{BEA5E7F1-1FBC-45C4-A2F9-9759E133A624}"/>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16B6318D-5565-4987-A171-194B7273EBD9}"/>
              </a:ext>
            </a:extLst>
          </p:cNvPr>
          <p:cNvSpPr>
            <a:spLocks xmlns:a="http://schemas.openxmlformats.org/drawingml/2006/main" noGrp="1"/>
          </p:cNvSpPr>
          <p:nvPr/>
        </p:nvSpPr>
        <p:spPr>
          <a:xfrm xmlns:a="http://schemas.openxmlformats.org/drawingml/2006/main">
            <a:off x="742950" y="14668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3377B5"/>
                </a:solidFill>
                <a:latin typeface="Helvetica Neue"/>
                <a:ea typeface="Helvetica Neue"/>
                <a:cs typeface="Helvetica Neue"/>
              </a:defRPr>
            </a:pPr>
            <a:r>
              <a:rPr sz="1350" b="1">
                <a:solidFill>
                  <a:srgbClr val="3377B5"/>
                </a:solidFill>
                <a:latin typeface="Helvetica Neue"/>
                <a:ea typeface="Helvetica Neue"/>
                <a:cs typeface="Helvetica Neue"/>
              </a:rPr>
              <a:t>TRY 3</a:t>
            </a:r>
          </a:p>
        </p:txBody>
      </p:sp>
      <p:sp>
        <p:nvSpPr>
          <p:cNvPr id="7" name="">
            <a:extLst xmlns:a="http://schemas.openxmlformats.org/drawingml/2006/main">
              <a:ext uri="{FF2B5EF4-FFF2-40B4-BE49-F238E27FC236}">
                <a16:creationId xmlns:a16="http://schemas.microsoft.com/office/drawing/2014/main" id="{46AAAFEF-254D-406B-A171-6DF3F5B0BF39}"/>
              </a:ext>
            </a:extLst>
          </p:cNvPr>
          <p:cNvSpPr>
            <a:spLocks xmlns:a="http://schemas.openxmlformats.org/drawingml/2006/main" noGrp="1"/>
          </p:cNvSpPr>
          <p:nvPr/>
        </p:nvSpPr>
        <p:spPr>
          <a:xfrm xmlns:a="http://schemas.openxmlformats.org/drawingml/2006/main">
            <a:off x="6667500" y="14668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68B85"/>
                </a:solidFill>
                <a:latin typeface="Helvetica Neue"/>
                <a:ea typeface="Helvetica Neue"/>
                <a:cs typeface="Helvetica Neue"/>
              </a:defRPr>
            </a:pPr>
            <a:r>
              <a:rPr sz="1350" b="1">
                <a:solidFill>
                  <a:srgbClr val="168B85"/>
                </a:solidFill>
                <a:latin typeface="Helvetica Neue"/>
                <a:ea typeface="Helvetica Neue"/>
                <a:cs typeface="Helvetica Neue"/>
              </a:rPr>
              <a:t>TRY 4</a:t>
            </a:r>
          </a:p>
        </p:txBody>
      </p:sp>
      <p:sp>
        <p:nvSpPr>
          <p:cNvPr id="8" name="">
            <a:extLst xmlns:a="http://schemas.openxmlformats.org/drawingml/2006/main">
              <a:ext uri="{FF2B5EF4-FFF2-40B4-BE49-F238E27FC236}">
                <a16:creationId xmlns:a16="http://schemas.microsoft.com/office/drawing/2014/main" id="{EFDB0CA5-99C2-443F-86DD-4970C34366E0}"/>
              </a:ext>
            </a:extLst>
          </p:cNvPr>
          <p:cNvSpPr>
            <a:spLocks xmlns:a="http://schemas.openxmlformats.org/drawingml/2006/main" noGrp="1"/>
          </p:cNvSpPr>
          <p:nvPr/>
        </p:nvSpPr>
        <p:spPr>
          <a:xfrm xmlns:a="http://schemas.openxmlformats.org/drawingml/2006/main">
            <a:off x="742950" y="1885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Documents supplied as broad packets</a:t>
            </a:r>
          </a:p>
        </p:txBody>
      </p:sp>
      <p:sp>
        <p:nvSpPr>
          <p:cNvPr id="9" name="">
            <a:extLst xmlns:a="http://schemas.openxmlformats.org/drawingml/2006/main">
              <a:ext uri="{FF2B5EF4-FFF2-40B4-BE49-F238E27FC236}">
                <a16:creationId xmlns:a16="http://schemas.microsoft.com/office/drawing/2014/main" id="{A13E1EA9-BD03-455A-B7EE-FD4323E754DE}"/>
              </a:ext>
            </a:extLst>
          </p:cNvPr>
          <p:cNvSpPr>
            <a:spLocks xmlns:a="http://schemas.openxmlformats.org/drawingml/2006/main" noGrp="1"/>
          </p:cNvSpPr>
          <p:nvPr/>
        </p:nvSpPr>
        <p:spPr>
          <a:xfrm xmlns:a="http://schemas.openxmlformats.org/drawingml/2006/main">
            <a:off x="5429250" y="19621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90B37E0-4E26-48D3-A6C5-2D996FFFC0B0}"/>
              </a:ext>
            </a:extLst>
          </p:cNvPr>
          <p:cNvSpPr>
            <a:spLocks xmlns:a="http://schemas.openxmlformats.org/drawingml/2006/main" noGrp="1"/>
          </p:cNvSpPr>
          <p:nvPr/>
        </p:nvSpPr>
        <p:spPr>
          <a:xfrm xmlns:a="http://schemas.openxmlformats.org/drawingml/2006/main">
            <a:off x="6667500" y="18859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524"/>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Evidence split into individually identified segments</a:t>
            </a:r>
          </a:p>
        </p:txBody>
      </p:sp>
      <p:sp>
        <p:nvSpPr>
          <p:cNvPr id="11" name="">
            <a:extLst xmlns:a="http://schemas.openxmlformats.org/drawingml/2006/main">
              <a:ext uri="{FF2B5EF4-FFF2-40B4-BE49-F238E27FC236}">
                <a16:creationId xmlns:a16="http://schemas.microsoft.com/office/drawing/2014/main" id="{1E751122-99C3-46DB-B074-1FD0101DED81}"/>
              </a:ext>
            </a:extLst>
          </p:cNvPr>
          <p:cNvSpPr>
            <a:spLocks xmlns:a="http://schemas.openxmlformats.org/drawingml/2006/main" noGrp="1"/>
          </p:cNvSpPr>
          <p:nvPr/>
        </p:nvSpPr>
        <p:spPr>
          <a:xfrm xmlns:a="http://schemas.openxmlformats.org/drawingml/2006/main">
            <a:off x="742950" y="24384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D4A815B-12FF-423A-A727-2051F6B0A0EC}"/>
              </a:ext>
            </a:extLst>
          </p:cNvPr>
          <p:cNvSpPr>
            <a:spLocks xmlns:a="http://schemas.openxmlformats.org/drawingml/2006/main" noGrp="1"/>
          </p:cNvSpPr>
          <p:nvPr/>
        </p:nvSpPr>
        <p:spPr>
          <a:xfrm xmlns:a="http://schemas.openxmlformats.org/drawingml/2006/main">
            <a:off x="742950" y="25717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Prompt asked for source discipline</a:t>
            </a:r>
          </a:p>
        </p:txBody>
      </p:sp>
      <p:sp>
        <p:nvSpPr>
          <p:cNvPr id="13" name="">
            <a:extLst xmlns:a="http://schemas.openxmlformats.org/drawingml/2006/main">
              <a:ext uri="{FF2B5EF4-FFF2-40B4-BE49-F238E27FC236}">
                <a16:creationId xmlns:a16="http://schemas.microsoft.com/office/drawing/2014/main" id="{E3E7B576-EAF8-4C79-B03B-A948988D2578}"/>
              </a:ext>
            </a:extLst>
          </p:cNvPr>
          <p:cNvSpPr>
            <a:spLocks xmlns:a="http://schemas.openxmlformats.org/drawingml/2006/main" noGrp="1"/>
          </p:cNvSpPr>
          <p:nvPr/>
        </p:nvSpPr>
        <p:spPr>
          <a:xfrm xmlns:a="http://schemas.openxmlformats.org/drawingml/2006/main">
            <a:off x="5429250" y="26479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23E7309-566A-429B-86CB-CF1222F388A6}"/>
              </a:ext>
            </a:extLst>
          </p:cNvPr>
          <p:cNvSpPr>
            <a:spLocks xmlns:a="http://schemas.openxmlformats.org/drawingml/2006/main" noGrp="1"/>
          </p:cNvSpPr>
          <p:nvPr/>
        </p:nvSpPr>
        <p:spPr>
          <a:xfrm xmlns:a="http://schemas.openxmlformats.org/drawingml/2006/main">
            <a:off x="6667500" y="25717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Dedicated source adjudication before specialists</a:t>
            </a:r>
          </a:p>
        </p:txBody>
      </p:sp>
      <p:sp>
        <p:nvSpPr>
          <p:cNvPr id="15" name="">
            <a:extLst xmlns:a="http://schemas.openxmlformats.org/drawingml/2006/main">
              <a:ext uri="{FF2B5EF4-FFF2-40B4-BE49-F238E27FC236}">
                <a16:creationId xmlns:a16="http://schemas.microsoft.com/office/drawing/2014/main" id="{EDE01B59-9336-464F-82D3-34A5FAC18E5E}"/>
              </a:ext>
            </a:extLst>
          </p:cNvPr>
          <p:cNvSpPr>
            <a:spLocks xmlns:a="http://schemas.openxmlformats.org/drawingml/2006/main" noGrp="1"/>
          </p:cNvSpPr>
          <p:nvPr/>
        </p:nvSpPr>
        <p:spPr>
          <a:xfrm xmlns:a="http://schemas.openxmlformats.org/drawingml/2006/main">
            <a:off x="742950" y="31242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AD479ED-EAAF-4F74-B648-B84A711A6EE9}"/>
              </a:ext>
            </a:extLst>
          </p:cNvPr>
          <p:cNvSpPr>
            <a:spLocks xmlns:a="http://schemas.openxmlformats.org/drawingml/2006/main" noGrp="1"/>
          </p:cNvSpPr>
          <p:nvPr/>
        </p:nvSpPr>
        <p:spPr>
          <a:xfrm xmlns:a="http://schemas.openxmlformats.org/drawingml/2006/main">
            <a:off x="742950" y="32575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Broker mainly removed duplicates</a:t>
            </a:r>
          </a:p>
        </p:txBody>
      </p:sp>
      <p:sp>
        <p:nvSpPr>
          <p:cNvPr id="17" name="">
            <a:extLst xmlns:a="http://schemas.openxmlformats.org/drawingml/2006/main">
              <a:ext uri="{FF2B5EF4-FFF2-40B4-BE49-F238E27FC236}">
                <a16:creationId xmlns:a16="http://schemas.microsoft.com/office/drawing/2014/main" id="{768409EE-49C3-4E1D-8D65-6CDA3471CF2F}"/>
              </a:ext>
            </a:extLst>
          </p:cNvPr>
          <p:cNvSpPr>
            <a:spLocks xmlns:a="http://schemas.openxmlformats.org/drawingml/2006/main" noGrp="1"/>
          </p:cNvSpPr>
          <p:nvPr/>
        </p:nvSpPr>
        <p:spPr>
          <a:xfrm xmlns:a="http://schemas.openxmlformats.org/drawingml/2006/main">
            <a:off x="5429250" y="33337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1401098-F7C5-4FAD-A8FD-3A27B6BC9431}"/>
              </a:ext>
            </a:extLst>
          </p:cNvPr>
          <p:cNvSpPr>
            <a:spLocks xmlns:a="http://schemas.openxmlformats.org/drawingml/2006/main" noGrp="1"/>
          </p:cNvSpPr>
          <p:nvPr/>
        </p:nvSpPr>
        <p:spPr>
          <a:xfrm xmlns:a="http://schemas.openxmlformats.org/drawingml/2006/main">
            <a:off x="6667500" y="32575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834"/>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Questions need a causal branch and decision unlocked</a:t>
            </a:r>
          </a:p>
        </p:txBody>
      </p:sp>
      <p:sp>
        <p:nvSpPr>
          <p:cNvPr id="19" name="">
            <a:extLst xmlns:a="http://schemas.openxmlformats.org/drawingml/2006/main">
              <a:ext uri="{FF2B5EF4-FFF2-40B4-BE49-F238E27FC236}">
                <a16:creationId xmlns:a16="http://schemas.microsoft.com/office/drawing/2014/main" id="{2D804146-391C-442C-9674-18D9C38AD2E2}"/>
              </a:ext>
            </a:extLst>
          </p:cNvPr>
          <p:cNvSpPr>
            <a:spLocks xmlns:a="http://schemas.openxmlformats.org/drawingml/2006/main" noGrp="1"/>
          </p:cNvSpPr>
          <p:nvPr/>
        </p:nvSpPr>
        <p:spPr>
          <a:xfrm xmlns:a="http://schemas.openxmlformats.org/drawingml/2006/main">
            <a:off x="742950" y="38100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958065F-6D82-4420-BDDE-E12F8CF3954D}"/>
              </a:ext>
            </a:extLst>
          </p:cNvPr>
          <p:cNvSpPr>
            <a:spLocks xmlns:a="http://schemas.openxmlformats.org/drawingml/2006/main" noGrp="1"/>
          </p:cNvSpPr>
          <p:nvPr/>
        </p:nvSpPr>
        <p:spPr>
          <a:xfrm xmlns:a="http://schemas.openxmlformats.org/drawingml/2006/main">
            <a:off x="742950" y="39433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Causal links could remain weak</a:t>
            </a:r>
          </a:p>
        </p:txBody>
      </p:sp>
      <p:sp>
        <p:nvSpPr>
          <p:cNvPr id="21" name="">
            <a:extLst xmlns:a="http://schemas.openxmlformats.org/drawingml/2006/main">
              <a:ext uri="{FF2B5EF4-FFF2-40B4-BE49-F238E27FC236}">
                <a16:creationId xmlns:a16="http://schemas.microsoft.com/office/drawing/2014/main" id="{F1C32B9C-942F-446E-A5A9-7F965F2A3698}"/>
              </a:ext>
            </a:extLst>
          </p:cNvPr>
          <p:cNvSpPr>
            <a:spLocks xmlns:a="http://schemas.openxmlformats.org/drawingml/2006/main" noGrp="1"/>
          </p:cNvSpPr>
          <p:nvPr/>
        </p:nvSpPr>
        <p:spPr>
          <a:xfrm xmlns:a="http://schemas.openxmlformats.org/drawingml/2006/main">
            <a:off x="5429250" y="40195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12E5E94-2FE8-4102-A5C2-082922FFFF81}"/>
              </a:ext>
            </a:extLst>
          </p:cNvPr>
          <p:cNvSpPr>
            <a:spLocks xmlns:a="http://schemas.openxmlformats.org/drawingml/2006/main" noGrp="1"/>
          </p:cNvSpPr>
          <p:nvPr/>
        </p:nvSpPr>
        <p:spPr>
          <a:xfrm xmlns:a="http://schemas.openxmlformats.org/drawingml/2006/main">
            <a:off x="6667500" y="39433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211"/>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Every link needs support, a counterfactual, an alternative, and a gap</a:t>
            </a:r>
          </a:p>
        </p:txBody>
      </p:sp>
      <p:sp>
        <p:nvSpPr>
          <p:cNvPr id="23" name="">
            <a:extLst xmlns:a="http://schemas.openxmlformats.org/drawingml/2006/main">
              <a:ext uri="{FF2B5EF4-FFF2-40B4-BE49-F238E27FC236}">
                <a16:creationId xmlns:a16="http://schemas.microsoft.com/office/drawing/2014/main" id="{4203E4BD-5D1B-4378-B28E-161F042EF460}"/>
              </a:ext>
            </a:extLst>
          </p:cNvPr>
          <p:cNvSpPr>
            <a:spLocks xmlns:a="http://schemas.openxmlformats.org/drawingml/2006/main" noGrp="1"/>
          </p:cNvSpPr>
          <p:nvPr/>
        </p:nvSpPr>
        <p:spPr>
          <a:xfrm xmlns:a="http://schemas.openxmlformats.org/drawingml/2006/main">
            <a:off x="742950" y="44958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C0B7A96-7883-4286-8AF7-15830847AAD1}"/>
              </a:ext>
            </a:extLst>
          </p:cNvPr>
          <p:cNvSpPr>
            <a:spLocks xmlns:a="http://schemas.openxmlformats.org/drawingml/2006/main" noGrp="1"/>
          </p:cNvSpPr>
          <p:nvPr/>
        </p:nvSpPr>
        <p:spPr>
          <a:xfrm xmlns:a="http://schemas.openxmlformats.org/drawingml/2006/main">
            <a:off x="742950" y="46291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Actions could appear early</a:t>
            </a:r>
          </a:p>
        </p:txBody>
      </p:sp>
      <p:sp>
        <p:nvSpPr>
          <p:cNvPr id="25" name="">
            <a:extLst xmlns:a="http://schemas.openxmlformats.org/drawingml/2006/main">
              <a:ext uri="{FF2B5EF4-FFF2-40B4-BE49-F238E27FC236}">
                <a16:creationId xmlns:a16="http://schemas.microsoft.com/office/drawing/2014/main" id="{931B670E-5A03-4B34-8714-477BF822975B}"/>
              </a:ext>
            </a:extLst>
          </p:cNvPr>
          <p:cNvSpPr>
            <a:spLocks xmlns:a="http://schemas.openxmlformats.org/drawingml/2006/main" noGrp="1"/>
          </p:cNvSpPr>
          <p:nvPr/>
        </p:nvSpPr>
        <p:spPr>
          <a:xfrm xmlns:a="http://schemas.openxmlformats.org/drawingml/2006/main">
            <a:off x="5429250" y="47053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00E7FE7-3D12-4132-9033-8AB460F27ACF}"/>
              </a:ext>
            </a:extLst>
          </p:cNvPr>
          <p:cNvSpPr>
            <a:spLocks xmlns:a="http://schemas.openxmlformats.org/drawingml/2006/main" noGrp="1"/>
          </p:cNvSpPr>
          <p:nvPr/>
        </p:nvSpPr>
        <p:spPr>
          <a:xfrm xmlns:a="http://schemas.openxmlformats.org/drawingml/2006/main">
            <a:off x="6667500" y="46291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Actions require a verified causal target</a:t>
            </a:r>
          </a:p>
        </p:txBody>
      </p:sp>
      <p:sp>
        <p:nvSpPr>
          <p:cNvPr id="27" name="">
            <a:extLst xmlns:a="http://schemas.openxmlformats.org/drawingml/2006/main">
              <a:ext uri="{FF2B5EF4-FFF2-40B4-BE49-F238E27FC236}">
                <a16:creationId xmlns:a16="http://schemas.microsoft.com/office/drawing/2014/main" id="{1B60B9F9-1D28-44E6-8BC4-CDC4F7694EBC}"/>
              </a:ext>
            </a:extLst>
          </p:cNvPr>
          <p:cNvSpPr>
            <a:spLocks xmlns:a="http://schemas.openxmlformats.org/drawingml/2006/main" noGrp="1"/>
          </p:cNvSpPr>
          <p:nvPr/>
        </p:nvSpPr>
        <p:spPr>
          <a:xfrm xmlns:a="http://schemas.openxmlformats.org/drawingml/2006/main">
            <a:off x="742950" y="51816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F8A0821-0391-43F4-AAFB-56E105B483B7}"/>
              </a:ext>
            </a:extLst>
          </p:cNvPr>
          <p:cNvSpPr>
            <a:spLocks xmlns:a="http://schemas.openxmlformats.org/drawingml/2006/main" noGrp="1"/>
          </p:cNvSpPr>
          <p:nvPr/>
        </p:nvSpPr>
        <p:spPr>
          <a:xfrm xmlns:a="http://schemas.openxmlformats.org/drawingml/2006/main">
            <a:off x="742950" y="5314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Final output carried most audit detail</a:t>
            </a:r>
          </a:p>
        </p:txBody>
      </p:sp>
      <p:sp>
        <p:nvSpPr>
          <p:cNvPr id="29" name="">
            <a:extLst xmlns:a="http://schemas.openxmlformats.org/drawingml/2006/main">
              <a:ext uri="{FF2B5EF4-FFF2-40B4-BE49-F238E27FC236}">
                <a16:creationId xmlns:a16="http://schemas.microsoft.com/office/drawing/2014/main" id="{1F9E6B13-4320-439D-984D-6A39376367F1}"/>
              </a:ext>
            </a:extLst>
          </p:cNvPr>
          <p:cNvSpPr>
            <a:spLocks xmlns:a="http://schemas.openxmlformats.org/drawingml/2006/main" noGrp="1"/>
          </p:cNvSpPr>
          <p:nvPr/>
        </p:nvSpPr>
        <p:spPr>
          <a:xfrm xmlns:a="http://schemas.openxmlformats.org/drawingml/2006/main">
            <a:off x="5429250" y="53911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85557E3-8EE0-4C36-9D25-2188C245D5BD}"/>
              </a:ext>
            </a:extLst>
          </p:cNvPr>
          <p:cNvSpPr>
            <a:spLocks xmlns:a="http://schemas.openxmlformats.org/drawingml/2006/main" noGrp="1"/>
          </p:cNvSpPr>
          <p:nvPr/>
        </p:nvSpPr>
        <p:spPr>
          <a:xfrm xmlns:a="http://schemas.openxmlformats.org/drawingml/2006/main">
            <a:off x="6667500" y="53149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Every stage persists a visible checkpoint</a:t>
            </a:r>
          </a:p>
        </p:txBody>
      </p:sp>
      <p:sp>
        <p:nvSpPr>
          <p:cNvPr id="31" name="">
            <a:extLst xmlns:a="http://schemas.openxmlformats.org/drawingml/2006/main">
              <a:ext uri="{FF2B5EF4-FFF2-40B4-BE49-F238E27FC236}">
                <a16:creationId xmlns:a16="http://schemas.microsoft.com/office/drawing/2014/main" id="{2C4C6345-ACA8-4BAE-9B92-CACE36A0A87C}"/>
              </a:ext>
            </a:extLst>
          </p:cNvPr>
          <p:cNvSpPr>
            <a:spLocks xmlns:a="http://schemas.openxmlformats.org/drawingml/2006/main" noGrp="1"/>
          </p:cNvSpPr>
          <p:nvPr/>
        </p:nvSpPr>
        <p:spPr>
          <a:xfrm xmlns:a="http://schemas.openxmlformats.org/drawingml/2006/main">
            <a:off x="742950" y="58674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1482027328"/>
      </p:ext>
    </p:extLst>
  </p:cSld>
</p:sld>
</file>

<file path=ppt/slides/slide11.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BA05BA4-8B46-406C-9CBC-610DCD8DAB87}"/>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What is new in Try 4</a:t>
            </a:r>
          </a:p>
        </p:txBody>
      </p:sp>
      <p:sp>
        <p:nvSpPr>
          <p:cNvPr id="2" name="">
            <a:extLst xmlns:a="http://schemas.openxmlformats.org/drawingml/2006/main">
              <a:ext uri="{FF2B5EF4-FFF2-40B4-BE49-F238E27FC236}">
                <a16:creationId xmlns:a16="http://schemas.microsoft.com/office/drawing/2014/main" id="{69360579-3C42-4CA2-B62C-5FE6E57EBBB6}"/>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97"/>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One reusable investigation harness now adds evidence discipline, causal tests, and explicit decision gates around the selected model.</a:t>
            </a:r>
          </a:p>
        </p:txBody>
      </p:sp>
      <p:sp>
        <p:nvSpPr>
          <p:cNvPr id="3" name="">
            <a:extLst xmlns:a="http://schemas.openxmlformats.org/drawingml/2006/main">
              <a:ext uri="{FF2B5EF4-FFF2-40B4-BE49-F238E27FC236}">
                <a16:creationId xmlns:a16="http://schemas.microsoft.com/office/drawing/2014/main" id="{822AC691-BFB6-4434-AD65-00D7702E6E32}"/>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2582CC8-9459-4AC2-8616-0EFE03107A9D}"/>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4 implementation design</a:t>
            </a:r>
          </a:p>
        </p:txBody>
      </p:sp>
      <p:sp>
        <p:nvSpPr>
          <p:cNvPr id="5" name="">
            <a:extLst xmlns:a="http://schemas.openxmlformats.org/drawingml/2006/main">
              <a:ext uri="{FF2B5EF4-FFF2-40B4-BE49-F238E27FC236}">
                <a16:creationId xmlns:a16="http://schemas.microsoft.com/office/drawing/2014/main" id="{D61447F5-3E53-4B62-96C4-9712AD2626C9}"/>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EA6D27C8-A7A3-45BC-ADAA-0A082B34663E}"/>
              </a:ext>
            </a:extLst>
          </p:cNvPr>
          <p:cNvSpPr>
            <a:spLocks xmlns:a="http://schemas.openxmlformats.org/drawingml/2006/main" noGrp="1"/>
          </p:cNvSpPr>
          <p:nvPr/>
        </p:nvSpPr>
        <p:spPr>
          <a:xfrm xmlns:a="http://schemas.openxmlformats.org/drawingml/2006/main">
            <a:off x="666750" y="15049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l">
              <a:defRPr sz="1050" b="1">
                <a:solidFill>
                  <a:srgbClr val="6B7B8C"/>
                </a:solidFill>
                <a:latin typeface="Helvetica Neue"/>
                <a:ea typeface="Helvetica Neue"/>
                <a:cs typeface="Helvetica Neue"/>
              </a:defRPr>
            </a:pPr>
            <a:r>
              <a:rPr sz="1050" b="1">
                <a:solidFill>
                  <a:srgbClr val="6B7B8C"/>
                </a:solidFill>
                <a:latin typeface="Helvetica Neue"/>
                <a:ea typeface="Helvetica Neue"/>
                <a:cs typeface="Helvetica Neue"/>
              </a:rPr>
              <a:t>SUPPORTED MODEL</a:t>
            </a:r>
          </a:p>
        </p:txBody>
      </p:sp>
      <p:sp>
        <p:nvSpPr>
          <p:cNvPr id="7" name="">
            <a:extLst xmlns:a="http://schemas.openxmlformats.org/drawingml/2006/main">
              <a:ext uri="{FF2B5EF4-FFF2-40B4-BE49-F238E27FC236}">
                <a16:creationId xmlns:a16="http://schemas.microsoft.com/office/drawing/2014/main" id="{3562032D-6F57-4C40-B6A5-9309330D1090}"/>
              </a:ext>
            </a:extLst>
          </p:cNvPr>
          <p:cNvSpPr>
            <a:spLocks xmlns:a="http://schemas.openxmlformats.org/drawingml/2006/main" noGrp="1"/>
          </p:cNvSpPr>
          <p:nvPr/>
        </p:nvSpPr>
        <p:spPr>
          <a:xfrm xmlns:a="http://schemas.openxmlformats.org/drawingml/2006/main">
            <a:off x="666750" y="1857375"/>
            <a:ext cx="1600200" cy="590550"/>
          </a:xfrm>
          <a:prstGeom xmlns:a="http://schemas.openxmlformats.org/drawingml/2006/main" prst="roundRect">
            <a:avLst>
              <a:gd name="adj" fmla="val 12903"/>
            </a:avLst>
          </a:prstGeom>
          <a:solidFill xmlns:a="http://schemas.openxmlformats.org/drawingml/2006/main">
            <a:srgbClr val="DCE9F4"/>
          </a:solidFill>
          <a:ln xmlns:a="http://schemas.openxmlformats.org/drawingml/2006/main" w="9525">
            <a:solidFill>
              <a:srgbClr val="3377B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Ollama model</a:t>
            </a:r>
          </a:p>
        </p:txBody>
      </p:sp>
      <p:sp>
        <p:nvSpPr>
          <p:cNvPr id="8" name="">
            <a:extLst xmlns:a="http://schemas.openxmlformats.org/drawingml/2006/main">
              <a:ext uri="{FF2B5EF4-FFF2-40B4-BE49-F238E27FC236}">
                <a16:creationId xmlns:a16="http://schemas.microsoft.com/office/drawing/2014/main" id="{6B9DA917-3830-416E-86EF-CBBFEC1B3147}"/>
              </a:ext>
            </a:extLst>
          </p:cNvPr>
          <p:cNvSpPr>
            <a:spLocks xmlns:a="http://schemas.openxmlformats.org/drawingml/2006/main" noGrp="1"/>
          </p:cNvSpPr>
          <p:nvPr/>
        </p:nvSpPr>
        <p:spPr>
          <a:xfrm xmlns:a="http://schemas.openxmlformats.org/drawingml/2006/main">
            <a:off x="666750" y="2657475"/>
            <a:ext cx="1600200" cy="590550"/>
          </a:xfrm>
          <a:prstGeom xmlns:a="http://schemas.openxmlformats.org/drawingml/2006/main" prst="roundRect">
            <a:avLst>
              <a:gd name="adj" fmla="val 12903"/>
            </a:avLst>
          </a:prstGeom>
          <a:solidFill xmlns:a="http://schemas.openxmlformats.org/drawingml/2006/main">
            <a:srgbClr val="DCE9F4"/>
          </a:solidFill>
          <a:ln xmlns:a="http://schemas.openxmlformats.org/drawingml/2006/main" w="9525">
            <a:solidFill>
              <a:srgbClr val="3377B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API model</a:t>
            </a:r>
          </a:p>
        </p:txBody>
      </p:sp>
      <p:sp>
        <p:nvSpPr>
          <p:cNvPr id="9" name="">
            <a:extLst xmlns:a="http://schemas.openxmlformats.org/drawingml/2006/main">
              <a:ext uri="{FF2B5EF4-FFF2-40B4-BE49-F238E27FC236}">
                <a16:creationId xmlns:a16="http://schemas.microsoft.com/office/drawing/2014/main" id="{7C9BB088-891C-4D2C-AF3E-B00A9EC0D1D4}"/>
              </a:ext>
            </a:extLst>
          </p:cNvPr>
          <p:cNvSpPr>
            <a:spLocks xmlns:a="http://schemas.openxmlformats.org/drawingml/2006/main" noGrp="1"/>
          </p:cNvSpPr>
          <p:nvPr/>
        </p:nvSpPr>
        <p:spPr>
          <a:xfrm xmlns:a="http://schemas.openxmlformats.org/drawingml/2006/main">
            <a:off x="666750" y="3552825"/>
            <a:ext cx="1733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414"/>
          </a:bodyPr>
          <a:lstStyle xmlns:a="http://schemas.openxmlformats.org/drawingml/2006/main"/>
          <a:p xmlns:a="http://schemas.openxmlformats.org/drawingml/2006/main">
            <a:pPr algn="ctr">
              <a:defRPr sz="1350" b="1">
                <a:solidFill>
                  <a:srgbClr val="10263C"/>
                </a:solidFill>
                <a:latin typeface="Helvetica Neue"/>
                <a:ea typeface="Helvetica Neue"/>
                <a:cs typeface="Helvetica Neue"/>
              </a:defRPr>
            </a:pPr>
            <a:r>
              <a:rPr sz="1350" b="1">
                <a:solidFill>
                  <a:srgbClr val="10263C"/>
                </a:solidFill>
                <a:latin typeface="Helvetica Neue"/>
                <a:ea typeface="Helvetica Neue"/>
                <a:cs typeface="Helvetica Neue"/>
              </a:rPr>
              <a:t>Qwen3.5 was the first test,</a:t>
            </a:r>
          </a:p>
          <a:p xmlns:a="http://schemas.openxmlformats.org/drawingml/2006/main">
            <a:pPr algn="ctr">
              <a:defRPr sz="1350" b="1">
                <a:solidFill>
                  <a:srgbClr val="10263C"/>
                </a:solidFill>
                <a:latin typeface="Helvetica Neue"/>
                <a:ea typeface="Helvetica Neue"/>
                <a:cs typeface="Helvetica Neue"/>
              </a:defRPr>
            </a:pPr>
            <a:r>
              <a:rPr sz="1350" b="1">
                <a:solidFill>
                  <a:srgbClr val="10263C"/>
                </a:solidFill>
                <a:latin typeface="Helvetica Neue"/>
                <a:ea typeface="Helvetica Neue"/>
                <a:cs typeface="Helvetica Neue"/>
              </a:rPr>
              <a:t>not a fixed dependency</a:t>
            </a:r>
          </a:p>
        </p:txBody>
      </p:sp>
      <p:sp>
        <p:nvSpPr>
          <p:cNvPr id="10" name="">
            <a:extLst xmlns:a="http://schemas.openxmlformats.org/drawingml/2006/main">
              <a:ext uri="{FF2B5EF4-FFF2-40B4-BE49-F238E27FC236}">
                <a16:creationId xmlns:a16="http://schemas.microsoft.com/office/drawing/2014/main" id="{BAC18963-F785-4B1B-A7CB-76D6DF00858F}"/>
              </a:ext>
            </a:extLst>
          </p:cNvPr>
          <p:cNvSpPr>
            <a:spLocks xmlns:a="http://schemas.openxmlformats.org/drawingml/2006/main" noGrp="1"/>
          </p:cNvSpPr>
          <p:nvPr/>
        </p:nvSpPr>
        <p:spPr>
          <a:xfrm xmlns:a="http://schemas.openxmlformats.org/drawingml/2006/main">
            <a:off x="3067050" y="2257425"/>
            <a:ext cx="1847850" cy="742950"/>
          </a:xfrm>
          <a:prstGeom xmlns:a="http://schemas.openxmlformats.org/drawingml/2006/main" prst="roundRect">
            <a:avLst>
              <a:gd name="adj" fmla="val 10256"/>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Same Try 4 harness</a:t>
            </a:r>
          </a:p>
        </p:txBody>
      </p:sp>
      <p:cxnSp>
        <p:nvCxnSpPr>
          <p:cNvPr id="34" name=""/>
          <p:cNvCxnSpPr>
            <a:stCxn xmlns:a="http://schemas.openxmlformats.org/drawingml/2006/main" id="7" idx="3"/>
            <a:endCxn xmlns:a="http://schemas.openxmlformats.org/drawingml/2006/main" id="10" idx="1"/>
          </p:cNvCxnSpPr>
          <p:nvPr/>
        </p:nvCxnSpPr>
        <p:spPr>
          <a:xfrm xmlns:a="http://schemas.openxmlformats.org/drawingml/2006/main">
            <a:off x="2266950" y="2152650"/>
            <a:ext cx="800100" cy="476250"/>
          </a:xfrm>
          <a:prstGeom xmlns:a="http://schemas.openxmlformats.org/drawingml/2006/main" prst="bentConnector3">
            <a:avLst>
              <a:gd name="adj1" fmla="val 50000"/>
            </a:avLst>
          </a:prstGeom>
          <a:ln xmlns:a="http://schemas.openxmlformats.org/drawingml/2006/main" w="19050">
            <a:solidFill>
              <a:srgbClr val="3377B5"/>
            </a:solidFill>
            <a:prstDash val="solid"/>
            <a:tailEnd type="arrow" w="med" len="med"/>
          </a:ln>
        </p:spPr>
      </p:cxnSp>
      <p:cxnSp>
        <p:nvCxnSpPr>
          <p:cNvPr id="35" name=""/>
          <p:cNvCxnSpPr>
            <a:stCxn xmlns:a="http://schemas.openxmlformats.org/drawingml/2006/main" id="8" idx="3"/>
            <a:endCxn xmlns:a="http://schemas.openxmlformats.org/drawingml/2006/main" id="10" idx="1"/>
          </p:cNvCxnSpPr>
          <p:nvPr/>
        </p:nvCxnSpPr>
        <p:spPr>
          <a:xfrm xmlns:a="http://schemas.openxmlformats.org/drawingml/2006/main" flipV="1">
            <a:off x="2266950" y="2628900"/>
            <a:ext cx="800100" cy="323850"/>
          </a:xfrm>
          <a:prstGeom xmlns:a="http://schemas.openxmlformats.org/drawingml/2006/main" prst="bentConnector3">
            <a:avLst>
              <a:gd name="adj1" fmla="val 50000"/>
            </a:avLst>
          </a:prstGeom>
          <a:ln xmlns:a="http://schemas.openxmlformats.org/drawingml/2006/main" w="19050">
            <a:solidFill>
              <a:srgbClr val="3377B5"/>
            </a:solidFill>
            <a:prstDash val="solid"/>
            <a:tailEnd type="arrow" w="med" len="med"/>
          </a:ln>
        </p:spPr>
      </p:cxnSp>
      <p:sp>
        <p:nvSpPr>
          <p:cNvPr id="13" name="">
            <a:extLst xmlns:a="http://schemas.openxmlformats.org/drawingml/2006/main">
              <a:ext uri="{FF2B5EF4-FFF2-40B4-BE49-F238E27FC236}">
                <a16:creationId xmlns:a16="http://schemas.microsoft.com/office/drawing/2014/main" id="{12C383AC-0863-4AB1-9DD8-361993A22147}"/>
              </a:ext>
            </a:extLst>
          </p:cNvPr>
          <p:cNvSpPr>
            <a:spLocks xmlns:a="http://schemas.openxmlformats.org/drawingml/2006/main" noGrp="1"/>
          </p:cNvSpPr>
          <p:nvPr/>
        </p:nvSpPr>
        <p:spPr>
          <a:xfrm xmlns:a="http://schemas.openxmlformats.org/drawingml/2006/main">
            <a:off x="5657850" y="1581150"/>
            <a:ext cx="1981200" cy="1066800"/>
          </a:xfrm>
          <a:prstGeom xmlns:a="http://schemas.openxmlformats.org/drawingml/2006/main" prst="roundRect">
            <a:avLst>
              <a:gd name="adj" fmla="val 7143"/>
            </a:avLst>
          </a:prstGeom>
          <a:solidFill xmlns:a="http://schemas.openxmlformats.org/drawingml/2006/main">
            <a:srgbClr val="F7E5BE"/>
          </a:solidFill>
          <a:ln xmlns:a="http://schemas.openxmlformats.org/drawingml/2006/main" w="9525">
            <a:solidFill>
              <a:srgbClr val="E5A32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Evidence layer</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Individual records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Source adjudication</a:t>
            </a:r>
          </a:p>
        </p:txBody>
      </p:sp>
      <p:sp>
        <p:nvSpPr>
          <p:cNvPr id="14" name="">
            <a:extLst xmlns:a="http://schemas.openxmlformats.org/drawingml/2006/main">
              <a:ext uri="{FF2B5EF4-FFF2-40B4-BE49-F238E27FC236}">
                <a16:creationId xmlns:a16="http://schemas.microsoft.com/office/drawing/2014/main" id="{771BE41A-4E34-455B-9F50-713AFB4E3ACE}"/>
              </a:ext>
            </a:extLst>
          </p:cNvPr>
          <p:cNvSpPr>
            <a:spLocks xmlns:a="http://schemas.openxmlformats.org/drawingml/2006/main" noGrp="1"/>
          </p:cNvSpPr>
          <p:nvPr/>
        </p:nvSpPr>
        <p:spPr>
          <a:xfrm xmlns:a="http://schemas.openxmlformats.org/drawingml/2006/main">
            <a:off x="5657850" y="2952750"/>
            <a:ext cx="19812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425466"/>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Reasoning layer</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Question value gate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Causal-link tests</a:t>
            </a:r>
          </a:p>
        </p:txBody>
      </p:sp>
      <p:sp>
        <p:nvSpPr>
          <p:cNvPr id="15" name="">
            <a:extLst xmlns:a="http://schemas.openxmlformats.org/drawingml/2006/main">
              <a:ext uri="{FF2B5EF4-FFF2-40B4-BE49-F238E27FC236}">
                <a16:creationId xmlns:a16="http://schemas.microsoft.com/office/drawing/2014/main" id="{3182131A-EF62-44C3-8CC9-64B88FDD4170}"/>
              </a:ext>
            </a:extLst>
          </p:cNvPr>
          <p:cNvSpPr>
            <a:spLocks xmlns:a="http://schemas.openxmlformats.org/drawingml/2006/main" noGrp="1"/>
          </p:cNvSpPr>
          <p:nvPr/>
        </p:nvSpPr>
        <p:spPr>
          <a:xfrm xmlns:a="http://schemas.openxmlformats.org/drawingml/2006/main">
            <a:off x="5657850" y="4324350"/>
            <a:ext cx="1981200" cy="1066800"/>
          </a:xfrm>
          <a:prstGeom xmlns:a="http://schemas.openxmlformats.org/drawingml/2006/main" prst="roundRect">
            <a:avLst>
              <a:gd name="adj" fmla="val 7143"/>
            </a:avLst>
          </a:prstGeom>
          <a:solidFill xmlns:a="http://schemas.openxmlformats.org/drawingml/2006/main">
            <a:srgbClr val="F3DAD7"/>
          </a:solidFill>
          <a:ln xmlns:a="http://schemas.openxmlformats.org/drawingml/2006/main" w="9525">
            <a:solidFill>
              <a:srgbClr val="C9564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Control layer</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Stage checkpoints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Action verification</a:t>
            </a:r>
          </a:p>
        </p:txBody>
      </p:sp>
      <p:cxnSp>
        <p:nvCxnSpPr>
          <p:cNvPr id="39" name=""/>
          <p:cNvCxnSpPr>
            <a:stCxn xmlns:a="http://schemas.openxmlformats.org/drawingml/2006/main" id="10" idx="3"/>
            <a:endCxn xmlns:a="http://schemas.openxmlformats.org/drawingml/2006/main" id="13" idx="1"/>
          </p:cNvCxnSpPr>
          <p:nvPr/>
        </p:nvCxnSpPr>
        <p:spPr>
          <a:xfrm xmlns:a="http://schemas.openxmlformats.org/drawingml/2006/main" flipV="1">
            <a:off x="4914900" y="2114550"/>
            <a:ext cx="742950" cy="514350"/>
          </a:xfrm>
          <a:prstGeom xmlns:a="http://schemas.openxmlformats.org/drawingml/2006/main" prst="bentConnector3">
            <a:avLst>
              <a:gd name="adj1" fmla="val 50000"/>
            </a:avLst>
          </a:prstGeom>
          <a:ln xmlns:a="http://schemas.openxmlformats.org/drawingml/2006/main" w="19050">
            <a:solidFill>
              <a:srgbClr val="E5A32D"/>
            </a:solidFill>
            <a:prstDash val="solid"/>
            <a:tailEnd type="arrow" w="med" len="med"/>
          </a:ln>
        </p:spPr>
      </p:cxnSp>
      <p:cxnSp>
        <p:nvCxnSpPr>
          <p:cNvPr id="40" name=""/>
          <p:cNvCxnSpPr>
            <a:stCxn xmlns:a="http://schemas.openxmlformats.org/drawingml/2006/main" id="10" idx="3"/>
            <a:endCxn xmlns:a="http://schemas.openxmlformats.org/drawingml/2006/main" id="14" idx="1"/>
          </p:cNvCxnSpPr>
          <p:nvPr/>
        </p:nvCxnSpPr>
        <p:spPr>
          <a:xfrm xmlns:a="http://schemas.openxmlformats.org/drawingml/2006/main">
            <a:off x="4914900" y="2628900"/>
            <a:ext cx="742950" cy="857250"/>
          </a:xfrm>
          <a:prstGeom xmlns:a="http://schemas.openxmlformats.org/drawingml/2006/main" prst="bentConnector3">
            <a:avLst>
              <a:gd name="adj1" fmla="val 50000"/>
            </a:avLst>
          </a:prstGeom>
          <a:ln xmlns:a="http://schemas.openxmlformats.org/drawingml/2006/main" w="19050">
            <a:solidFill>
              <a:srgbClr val="425466"/>
            </a:solidFill>
            <a:prstDash val="solid"/>
            <a:tailEnd type="arrow" w="med" len="med"/>
          </a:ln>
        </p:spPr>
      </p:cxnSp>
      <p:cxnSp>
        <p:nvCxnSpPr>
          <p:cNvPr id="41" name=""/>
          <p:cNvCxnSpPr>
            <a:stCxn xmlns:a="http://schemas.openxmlformats.org/drawingml/2006/main" id="10" idx="3"/>
            <a:endCxn xmlns:a="http://schemas.openxmlformats.org/drawingml/2006/main" id="15" idx="1"/>
          </p:cNvCxnSpPr>
          <p:nvPr/>
        </p:nvCxnSpPr>
        <p:spPr>
          <a:xfrm xmlns:a="http://schemas.openxmlformats.org/drawingml/2006/main">
            <a:off x="4914900" y="2628900"/>
            <a:ext cx="742950" cy="2228850"/>
          </a:xfrm>
          <a:prstGeom xmlns:a="http://schemas.openxmlformats.org/drawingml/2006/main" prst="bentConnector3">
            <a:avLst>
              <a:gd name="adj1" fmla="val 50000"/>
            </a:avLst>
          </a:prstGeom>
          <a:ln xmlns:a="http://schemas.openxmlformats.org/drawingml/2006/main" w="19050">
            <a:solidFill>
              <a:srgbClr val="C9564D"/>
            </a:solidFill>
            <a:prstDash val="solid"/>
            <a:tailEnd type="arrow" w="med" len="med"/>
          </a:ln>
        </p:spPr>
      </p:cxnSp>
      <p:sp>
        <p:nvSpPr>
          <p:cNvPr id="19" name="">
            <a:extLst xmlns:a="http://schemas.openxmlformats.org/drawingml/2006/main">
              <a:ext uri="{FF2B5EF4-FFF2-40B4-BE49-F238E27FC236}">
                <a16:creationId xmlns:a16="http://schemas.microsoft.com/office/drawing/2014/main" id="{09F4356A-EB28-44F2-8447-F4CC01E70149}"/>
              </a:ext>
            </a:extLst>
          </p:cNvPr>
          <p:cNvSpPr>
            <a:spLocks xmlns:a="http://schemas.openxmlformats.org/drawingml/2006/main" noGrp="1"/>
          </p:cNvSpPr>
          <p:nvPr/>
        </p:nvSpPr>
        <p:spPr>
          <a:xfrm xmlns:a="http://schemas.openxmlformats.org/drawingml/2006/main">
            <a:off x="8591550" y="2667000"/>
            <a:ext cx="2667000" cy="1333500"/>
          </a:xfrm>
          <a:prstGeom xmlns:a="http://schemas.openxmlformats.org/drawingml/2006/main" prst="roundRect">
            <a:avLst>
              <a:gd name="adj" fmla="val 5714"/>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Traceable investigation</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with supported, disputed,</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and missing evidence visible</a:t>
            </a:r>
          </a:p>
        </p:txBody>
      </p:sp>
      <p:cxnSp>
        <p:nvCxnSpPr>
          <p:cNvPr id="43" name=""/>
          <p:cNvCxnSpPr>
            <a:stCxn xmlns:a="http://schemas.openxmlformats.org/drawingml/2006/main" id="13" idx="3"/>
            <a:endCxn xmlns:a="http://schemas.openxmlformats.org/drawingml/2006/main" id="19" idx="1"/>
          </p:cNvCxnSpPr>
          <p:nvPr/>
        </p:nvCxnSpPr>
        <p:spPr>
          <a:xfrm xmlns:a="http://schemas.openxmlformats.org/drawingml/2006/main">
            <a:off x="7639050" y="2114550"/>
            <a:ext cx="952500" cy="1219200"/>
          </a:xfrm>
          <a:prstGeom xmlns:a="http://schemas.openxmlformats.org/drawingml/2006/main" prst="bentConnector3">
            <a:avLst>
              <a:gd name="adj1" fmla="val 50000"/>
            </a:avLst>
          </a:prstGeom>
          <a:ln xmlns:a="http://schemas.openxmlformats.org/drawingml/2006/main" w="19050">
            <a:solidFill>
              <a:srgbClr val="168B85"/>
            </a:solidFill>
            <a:prstDash val="solid"/>
            <a:tailEnd type="arrow" w="med" len="med"/>
          </a:ln>
        </p:spPr>
      </p:cxnSp>
      <p:cxnSp>
        <p:nvCxnSpPr>
          <p:cNvPr id="44" name=""/>
          <p:cNvCxnSpPr>
            <a:stCxn xmlns:a="http://schemas.openxmlformats.org/drawingml/2006/main" id="14" idx="3"/>
            <a:endCxn xmlns:a="http://schemas.openxmlformats.org/drawingml/2006/main" id="19" idx="1"/>
          </p:cNvCxnSpPr>
          <p:nvPr/>
        </p:nvCxnSpPr>
        <p:spPr>
          <a:xfrm xmlns:a="http://schemas.openxmlformats.org/drawingml/2006/main" flipV="1">
            <a:off x="7639050" y="3333750"/>
            <a:ext cx="952500" cy="152400"/>
          </a:xfrm>
          <a:prstGeom xmlns:a="http://schemas.openxmlformats.org/drawingml/2006/main" prst="bentConnector3">
            <a:avLst>
              <a:gd name="adj1" fmla="val 50000"/>
            </a:avLst>
          </a:prstGeom>
          <a:ln xmlns:a="http://schemas.openxmlformats.org/drawingml/2006/main" w="19050">
            <a:solidFill>
              <a:srgbClr val="168B85"/>
            </a:solidFill>
            <a:prstDash val="solid"/>
            <a:tailEnd type="arrow" w="med" len="med"/>
          </a:ln>
        </p:spPr>
      </p:cxnSp>
      <p:cxnSp>
        <p:nvCxnSpPr>
          <p:cNvPr id="45" name=""/>
          <p:cNvCxnSpPr>
            <a:stCxn xmlns:a="http://schemas.openxmlformats.org/drawingml/2006/main" id="15" idx="3"/>
            <a:endCxn xmlns:a="http://schemas.openxmlformats.org/drawingml/2006/main" id="19" idx="1"/>
          </p:cNvCxnSpPr>
          <p:nvPr/>
        </p:nvCxnSpPr>
        <p:spPr>
          <a:xfrm xmlns:a="http://schemas.openxmlformats.org/drawingml/2006/main" flipV="1">
            <a:off x="7639050" y="3333750"/>
            <a:ext cx="952500" cy="1524000"/>
          </a:xfrm>
          <a:prstGeom xmlns:a="http://schemas.openxmlformats.org/drawingml/2006/main" prst="bentConnector3">
            <a:avLst>
              <a:gd name="adj1" fmla="val 50000"/>
            </a:avLst>
          </a:prstGeom>
          <a:ln xmlns:a="http://schemas.openxmlformats.org/drawingml/2006/main" w="19050">
            <a:solidFill>
              <a:srgbClr val="168B85"/>
            </a:solidFill>
            <a:prstDash val="solid"/>
            <a:tailEnd type="arrow" w="med" len="med"/>
          </a:ln>
        </p:spPr>
      </p:cxnSp>
      <p:sp>
        <p:nvSpPr>
          <p:cNvPr id="23" name="">
            <a:extLst xmlns:a="http://schemas.openxmlformats.org/drawingml/2006/main">
              <a:ext uri="{FF2B5EF4-FFF2-40B4-BE49-F238E27FC236}">
                <a16:creationId xmlns:a16="http://schemas.microsoft.com/office/drawing/2014/main" id="{2239C959-BB51-40B2-9C95-244E6B896728}"/>
              </a:ext>
            </a:extLst>
          </p:cNvPr>
          <p:cNvSpPr>
            <a:spLocks xmlns:a="http://schemas.openxmlformats.org/drawingml/2006/main" noGrp="1"/>
          </p:cNvSpPr>
          <p:nvPr/>
        </p:nvSpPr>
        <p:spPr>
          <a:xfrm xmlns:a="http://schemas.openxmlformats.org/drawingml/2006/main">
            <a:off x="3048000" y="5781675"/>
            <a:ext cx="828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p xmlns:a="http://schemas.openxmlformats.org/drawingml/2006/main">
            <a:pPr algn="ctr">
              <a:defRPr sz="1950" b="1">
                <a:solidFill>
                  <a:srgbClr val="10263C"/>
                </a:solidFill>
                <a:latin typeface="Helvetica Neue"/>
                <a:ea typeface="Helvetica Neue"/>
                <a:cs typeface="Helvetica Neue"/>
              </a:defRPr>
            </a:pPr>
            <a:r>
              <a:rPr sz="1950" b="1">
                <a:solidFill>
                  <a:srgbClr val="10263C"/>
                </a:solidFill>
                <a:latin typeface="Helvetica Neue"/>
                <a:ea typeface="Helvetica Neue"/>
                <a:cs typeface="Helvetica Neue"/>
              </a:rPr>
              <a:t>The harness changes stay constant when the model changes</a:t>
            </a:r>
          </a:p>
        </p:txBody>
      </p:sp>
    </p:spTree>
    <p:extLst>
      <p:ext uri="{BB962C8B-B14F-4D97-AF65-F5344CB8AC3E}">
        <p14:creationId xmlns:p14="http://schemas.microsoft.com/office/powerpoint/2010/main" val="292386146"/>
      </p:ext>
    </p:extLst>
  </p:cSld>
</p:sld>
</file>

<file path=ppt/slides/slide1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BF3D885-6AFB-4B9F-A7E5-481798D54D74}"/>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First Try 4 validation run: qwen3.5</a:t>
            </a:r>
          </a:p>
        </p:txBody>
      </p:sp>
      <p:sp>
        <p:nvSpPr>
          <p:cNvPr id="2" name="">
            <a:extLst xmlns:a="http://schemas.openxmlformats.org/drawingml/2006/main">
              <a:ext uri="{FF2B5EF4-FFF2-40B4-BE49-F238E27FC236}">
                <a16:creationId xmlns:a16="http://schemas.microsoft.com/office/drawing/2014/main" id="{4ECAEA69-BF9F-4563-83BA-99B9CCB4DAB1}"/>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This initial run completed every reasoning stage and blocked corrective actions at the final gate.</a:t>
            </a:r>
          </a:p>
        </p:txBody>
      </p:sp>
      <p:sp>
        <p:nvSpPr>
          <p:cNvPr id="3" name="">
            <a:extLst xmlns:a="http://schemas.openxmlformats.org/drawingml/2006/main">
              <a:ext uri="{FF2B5EF4-FFF2-40B4-BE49-F238E27FC236}">
                <a16:creationId xmlns:a16="http://schemas.microsoft.com/office/drawing/2014/main" id="{4DDD87BD-A980-4F24-9A1E-559F1DF68DD3}"/>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3F01CC-1290-439E-A271-06F02F080FCB}"/>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4 stage checkpoints for incident e1325fa4-6198-4d26-a5eb-ae8d4a930ef8</a:t>
            </a:r>
          </a:p>
        </p:txBody>
      </p:sp>
      <p:sp>
        <p:nvSpPr>
          <p:cNvPr id="5" name="">
            <a:extLst xmlns:a="http://schemas.openxmlformats.org/drawingml/2006/main">
              <a:ext uri="{FF2B5EF4-FFF2-40B4-BE49-F238E27FC236}">
                <a16:creationId xmlns:a16="http://schemas.microsoft.com/office/drawing/2014/main" id="{2432D738-E068-4404-8C95-3B91CDCAC6E4}"/>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75679CBE-B965-45A3-92C2-D1CB4971F11F}"/>
              </a:ext>
            </a:extLst>
          </p:cNvPr>
          <p:cNvSpPr>
            <a:spLocks xmlns:a="http://schemas.openxmlformats.org/drawingml/2006/main" noGrp="1"/>
          </p:cNvSpPr>
          <p:nvPr/>
        </p:nvSpPr>
        <p:spPr>
          <a:xfrm xmlns:a="http://schemas.openxmlformats.org/drawingml/2006/main">
            <a:off x="6667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Understand</a:t>
            </a:r>
          </a:p>
        </p:txBody>
      </p:sp>
      <p:sp>
        <p:nvSpPr>
          <p:cNvPr id="7" name="">
            <a:extLst xmlns:a="http://schemas.openxmlformats.org/drawingml/2006/main">
              <a:ext uri="{FF2B5EF4-FFF2-40B4-BE49-F238E27FC236}">
                <a16:creationId xmlns:a16="http://schemas.microsoft.com/office/drawing/2014/main" id="{E2EB6208-BDB3-4B3C-BCDC-45A9A5D7F7A3}"/>
              </a:ext>
            </a:extLst>
          </p:cNvPr>
          <p:cNvSpPr>
            <a:spLocks xmlns:a="http://schemas.openxmlformats.org/drawingml/2006/main" noGrp="1"/>
          </p:cNvSpPr>
          <p:nvPr/>
        </p:nvSpPr>
        <p:spPr>
          <a:xfrm xmlns:a="http://schemas.openxmlformats.org/drawingml/2006/main">
            <a:off x="23812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Structure</a:t>
            </a:r>
          </a:p>
        </p:txBody>
      </p:sp>
      <p:sp>
        <p:nvSpPr>
          <p:cNvPr id="8" name="">
            <a:extLst xmlns:a="http://schemas.openxmlformats.org/drawingml/2006/main">
              <a:ext uri="{FF2B5EF4-FFF2-40B4-BE49-F238E27FC236}">
                <a16:creationId xmlns:a16="http://schemas.microsoft.com/office/drawing/2014/main" id="{9E43D48C-5148-42D9-8FB5-40D3272036E3}"/>
              </a:ext>
            </a:extLst>
          </p:cNvPr>
          <p:cNvSpPr>
            <a:spLocks xmlns:a="http://schemas.openxmlformats.org/drawingml/2006/main" noGrp="1"/>
          </p:cNvSpPr>
          <p:nvPr/>
        </p:nvSpPr>
        <p:spPr>
          <a:xfrm xmlns:a="http://schemas.openxmlformats.org/drawingml/2006/main">
            <a:off x="40957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Tag</a:t>
            </a:r>
          </a:p>
        </p:txBody>
      </p:sp>
      <p:sp>
        <p:nvSpPr>
          <p:cNvPr id="9" name="">
            <a:extLst xmlns:a="http://schemas.openxmlformats.org/drawingml/2006/main">
              <a:ext uri="{FF2B5EF4-FFF2-40B4-BE49-F238E27FC236}">
                <a16:creationId xmlns:a16="http://schemas.microsoft.com/office/drawing/2014/main" id="{9AF79AC7-7082-4EF2-A14B-C34174E5498D}"/>
              </a:ext>
            </a:extLst>
          </p:cNvPr>
          <p:cNvSpPr>
            <a:spLocks xmlns:a="http://schemas.openxmlformats.org/drawingml/2006/main" noGrp="1"/>
          </p:cNvSpPr>
          <p:nvPr/>
        </p:nvSpPr>
        <p:spPr>
          <a:xfrm xmlns:a="http://schemas.openxmlformats.org/drawingml/2006/main">
            <a:off x="5810250" y="1752600"/>
            <a:ext cx="1352550" cy="685800"/>
          </a:xfrm>
          <a:prstGeom xmlns:a="http://schemas.openxmlformats.org/drawingml/2006/main" prst="roundRect">
            <a:avLst>
              <a:gd name="adj" fmla="val 11111"/>
            </a:avLst>
          </a:prstGeom>
          <a:solidFill xmlns:a="http://schemas.openxmlformats.org/drawingml/2006/main">
            <a:srgbClr val="F7E5BE"/>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Adjudicate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sources</a:t>
            </a:r>
          </a:p>
        </p:txBody>
      </p:sp>
      <p:sp>
        <p:nvSpPr>
          <p:cNvPr id="10" name="">
            <a:extLst xmlns:a="http://schemas.openxmlformats.org/drawingml/2006/main">
              <a:ext uri="{FF2B5EF4-FFF2-40B4-BE49-F238E27FC236}">
                <a16:creationId xmlns:a16="http://schemas.microsoft.com/office/drawing/2014/main" id="{C5373DD7-9E0C-460C-BB73-CCAA91605E40}"/>
              </a:ext>
            </a:extLst>
          </p:cNvPr>
          <p:cNvSpPr>
            <a:spLocks xmlns:a="http://schemas.openxmlformats.org/drawingml/2006/main" noGrp="1"/>
          </p:cNvSpPr>
          <p:nvPr/>
        </p:nvSpPr>
        <p:spPr>
          <a:xfrm xmlns:a="http://schemas.openxmlformats.org/drawingml/2006/main">
            <a:off x="75247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Five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specialists</a:t>
            </a:r>
          </a:p>
        </p:txBody>
      </p:sp>
      <p:sp>
        <p:nvSpPr>
          <p:cNvPr id="11" name="">
            <a:extLst xmlns:a="http://schemas.openxmlformats.org/drawingml/2006/main">
              <a:ext uri="{FF2B5EF4-FFF2-40B4-BE49-F238E27FC236}">
                <a16:creationId xmlns:a16="http://schemas.microsoft.com/office/drawing/2014/main" id="{3C4A1C76-B5A6-46C2-BA22-BA316E91942F}"/>
              </a:ext>
            </a:extLst>
          </p:cNvPr>
          <p:cNvSpPr>
            <a:spLocks xmlns:a="http://schemas.openxmlformats.org/drawingml/2006/main" noGrp="1"/>
          </p:cNvSpPr>
          <p:nvPr/>
        </p:nvSpPr>
        <p:spPr>
          <a:xfrm xmlns:a="http://schemas.openxmlformats.org/drawingml/2006/main">
            <a:off x="92392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Broker</a:t>
            </a:r>
          </a:p>
        </p:txBody>
      </p:sp>
      <p:cxnSp>
        <p:nvCxnSpPr>
          <p:cNvPr id="46" name=""/>
          <p:cNvCxnSpPr>
            <a:stCxn xmlns:a="http://schemas.openxmlformats.org/drawingml/2006/main" id="6" idx="3"/>
            <a:endCxn xmlns:a="http://schemas.openxmlformats.org/drawingml/2006/main" id="7" idx="1"/>
          </p:cNvCxnSpPr>
          <p:nvPr/>
        </p:nvCxnSpPr>
        <p:spPr>
          <a:xfrm xmlns:a="http://schemas.openxmlformats.org/drawingml/2006/main">
            <a:off x="20193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47" name=""/>
          <p:cNvCxnSpPr>
            <a:stCxn xmlns:a="http://schemas.openxmlformats.org/drawingml/2006/main" id="7" idx="3"/>
            <a:endCxn xmlns:a="http://schemas.openxmlformats.org/drawingml/2006/main" id="8" idx="1"/>
          </p:cNvCxnSpPr>
          <p:nvPr/>
        </p:nvCxnSpPr>
        <p:spPr>
          <a:xfrm xmlns:a="http://schemas.openxmlformats.org/drawingml/2006/main">
            <a:off x="37338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48" name=""/>
          <p:cNvCxnSpPr>
            <a:stCxn xmlns:a="http://schemas.openxmlformats.org/drawingml/2006/main" id="8" idx="3"/>
            <a:endCxn xmlns:a="http://schemas.openxmlformats.org/drawingml/2006/main" id="9" idx="1"/>
          </p:cNvCxnSpPr>
          <p:nvPr/>
        </p:nvCxnSpPr>
        <p:spPr>
          <a:xfrm xmlns:a="http://schemas.openxmlformats.org/drawingml/2006/main">
            <a:off x="54483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49" name=""/>
          <p:cNvCxnSpPr>
            <a:stCxn xmlns:a="http://schemas.openxmlformats.org/drawingml/2006/main" id="9" idx="3"/>
            <a:endCxn xmlns:a="http://schemas.openxmlformats.org/drawingml/2006/main" id="10" idx="1"/>
          </p:cNvCxnSpPr>
          <p:nvPr/>
        </p:nvCxnSpPr>
        <p:spPr>
          <a:xfrm xmlns:a="http://schemas.openxmlformats.org/drawingml/2006/main">
            <a:off x="71628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50" name=""/>
          <p:cNvCxnSpPr>
            <a:stCxn xmlns:a="http://schemas.openxmlformats.org/drawingml/2006/main" id="10" idx="3"/>
            <a:endCxn xmlns:a="http://schemas.openxmlformats.org/drawingml/2006/main" id="11" idx="1"/>
          </p:cNvCxnSpPr>
          <p:nvPr/>
        </p:nvCxnSpPr>
        <p:spPr>
          <a:xfrm xmlns:a="http://schemas.openxmlformats.org/drawingml/2006/main">
            <a:off x="88773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sp>
        <p:nvSpPr>
          <p:cNvPr id="17" name="">
            <a:extLst xmlns:a="http://schemas.openxmlformats.org/drawingml/2006/main">
              <a:ext uri="{FF2B5EF4-FFF2-40B4-BE49-F238E27FC236}">
                <a16:creationId xmlns:a16="http://schemas.microsoft.com/office/drawing/2014/main" id="{7FA6C50D-5AEA-45F2-A879-6D4EAFB58099}"/>
              </a:ext>
            </a:extLst>
          </p:cNvPr>
          <p:cNvSpPr>
            <a:spLocks xmlns:a="http://schemas.openxmlformats.org/drawingml/2006/main" noGrp="1"/>
          </p:cNvSpPr>
          <p:nvPr/>
        </p:nvSpPr>
        <p:spPr>
          <a:xfrm xmlns:a="http://schemas.openxmlformats.org/drawingml/2006/main">
            <a:off x="9239250" y="3714750"/>
            <a:ext cx="1352550" cy="685800"/>
          </a:xfrm>
          <a:prstGeom xmlns:a="http://schemas.openxmlformats.org/drawingml/2006/main" prst="roundRect">
            <a:avLst>
              <a:gd name="adj" fmla="val 11111"/>
            </a:avLst>
          </a:prstGeom>
          <a:solidFill xmlns:a="http://schemas.openxmlformats.org/drawingml/2006/main">
            <a:srgbClr val="F7E5BE"/>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11 answer</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fetches</a:t>
            </a:r>
          </a:p>
        </p:txBody>
      </p:sp>
      <p:sp>
        <p:nvSpPr>
          <p:cNvPr id="18" name="">
            <a:extLst xmlns:a="http://schemas.openxmlformats.org/drawingml/2006/main">
              <a:ext uri="{FF2B5EF4-FFF2-40B4-BE49-F238E27FC236}">
                <a16:creationId xmlns:a16="http://schemas.microsoft.com/office/drawing/2014/main" id="{A44917D2-25D1-4642-9AB6-0DF19421DCDD}"/>
              </a:ext>
            </a:extLst>
          </p:cNvPr>
          <p:cNvSpPr>
            <a:spLocks xmlns:a="http://schemas.openxmlformats.org/drawingml/2006/main" noGrp="1"/>
          </p:cNvSpPr>
          <p:nvPr/>
        </p:nvSpPr>
        <p:spPr>
          <a:xfrm xmlns:a="http://schemas.openxmlformats.org/drawingml/2006/main">
            <a:off x="75247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54 evidence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claims</a:t>
            </a:r>
          </a:p>
        </p:txBody>
      </p:sp>
      <p:sp>
        <p:nvSpPr>
          <p:cNvPr id="19" name="">
            <a:extLst xmlns:a="http://schemas.openxmlformats.org/drawingml/2006/main">
              <a:ext uri="{FF2B5EF4-FFF2-40B4-BE49-F238E27FC236}">
                <a16:creationId xmlns:a16="http://schemas.microsoft.com/office/drawing/2014/main" id="{E9AC12C2-E7F2-4A1D-A277-879AE7168C20}"/>
              </a:ext>
            </a:extLst>
          </p:cNvPr>
          <p:cNvSpPr>
            <a:spLocks xmlns:a="http://schemas.openxmlformats.org/drawingml/2006/main" noGrp="1"/>
          </p:cNvSpPr>
          <p:nvPr/>
        </p:nvSpPr>
        <p:spPr>
          <a:xfrm xmlns:a="http://schemas.openxmlformats.org/drawingml/2006/main">
            <a:off x="58102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13 causal</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nodes</a:t>
            </a:r>
          </a:p>
        </p:txBody>
      </p:sp>
      <p:sp>
        <p:nvSpPr>
          <p:cNvPr id="20" name="">
            <a:extLst xmlns:a="http://schemas.openxmlformats.org/drawingml/2006/main">
              <a:ext uri="{FF2B5EF4-FFF2-40B4-BE49-F238E27FC236}">
                <a16:creationId xmlns:a16="http://schemas.microsoft.com/office/drawing/2014/main" id="{E6273DA9-24C9-44FB-8EFE-5FAB6F5DBF99}"/>
              </a:ext>
            </a:extLst>
          </p:cNvPr>
          <p:cNvSpPr>
            <a:spLocks xmlns:a="http://schemas.openxmlformats.org/drawingml/2006/main" noGrp="1"/>
          </p:cNvSpPr>
          <p:nvPr/>
        </p:nvSpPr>
        <p:spPr>
          <a:xfrm xmlns:a="http://schemas.openxmlformats.org/drawingml/2006/main">
            <a:off x="40957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7 causal</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links</a:t>
            </a:r>
          </a:p>
        </p:txBody>
      </p:sp>
      <p:sp>
        <p:nvSpPr>
          <p:cNvPr id="21" name="">
            <a:extLst xmlns:a="http://schemas.openxmlformats.org/drawingml/2006/main">
              <a:ext uri="{FF2B5EF4-FFF2-40B4-BE49-F238E27FC236}">
                <a16:creationId xmlns:a16="http://schemas.microsoft.com/office/drawing/2014/main" id="{B45CA873-3EFB-4F2C-922C-7F657519E8DF}"/>
              </a:ext>
            </a:extLst>
          </p:cNvPr>
          <p:cNvSpPr>
            <a:spLocks xmlns:a="http://schemas.openxmlformats.org/drawingml/2006/main" noGrp="1"/>
          </p:cNvSpPr>
          <p:nvPr/>
        </p:nvSpPr>
        <p:spPr>
          <a:xfrm xmlns:a="http://schemas.openxmlformats.org/drawingml/2006/main">
            <a:off x="23812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Verify</a:t>
            </a:r>
          </a:p>
        </p:txBody>
      </p:sp>
      <p:sp>
        <p:nvSpPr>
          <p:cNvPr id="22" name="">
            <a:extLst xmlns:a="http://schemas.openxmlformats.org/drawingml/2006/main">
              <a:ext uri="{FF2B5EF4-FFF2-40B4-BE49-F238E27FC236}">
                <a16:creationId xmlns:a16="http://schemas.microsoft.com/office/drawing/2014/main" id="{1B227459-70BE-4978-8E67-AD441D2A5087}"/>
              </a:ext>
            </a:extLst>
          </p:cNvPr>
          <p:cNvSpPr>
            <a:spLocks xmlns:a="http://schemas.openxmlformats.org/drawingml/2006/main" noGrp="1"/>
          </p:cNvSpPr>
          <p:nvPr/>
        </p:nvSpPr>
        <p:spPr>
          <a:xfrm xmlns:a="http://schemas.openxmlformats.org/drawingml/2006/main">
            <a:off x="666750" y="3714750"/>
            <a:ext cx="1352550" cy="685800"/>
          </a:xfrm>
          <a:prstGeom xmlns:a="http://schemas.openxmlformats.org/drawingml/2006/main" prst="roundRect">
            <a:avLst>
              <a:gd name="adj" fmla="val 11111"/>
            </a:avLst>
          </a:prstGeom>
          <a:solidFill xmlns:a="http://schemas.openxmlformats.org/drawingml/2006/main">
            <a:srgbClr val="F3DAD7"/>
          </a:solidFill>
          <a:ln xmlns:a="http://schemas.openxmlformats.org/drawingml/2006/main" w="9525">
            <a:solidFill>
              <a:srgbClr val="C9564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Actions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blocked</a:t>
            </a:r>
          </a:p>
        </p:txBody>
      </p:sp>
      <p:cxnSp>
        <p:nvCxnSpPr>
          <p:cNvPr id="57" name=""/>
          <p:cNvCxnSpPr>
            <a:stCxn xmlns:a="http://schemas.openxmlformats.org/drawingml/2006/main" id="11" idx="2"/>
            <a:endCxn xmlns:a="http://schemas.openxmlformats.org/drawingml/2006/main" id="17" idx="0"/>
          </p:cNvCxnSpPr>
          <p:nvPr/>
        </p:nvCxnSpPr>
        <p:spPr>
          <a:xfrm xmlns:a="http://schemas.openxmlformats.org/drawingml/2006/main">
            <a:off x="9915525" y="2438400"/>
            <a:ext cx="0" cy="127635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58" name=""/>
          <p:cNvCxnSpPr>
            <a:stCxn xmlns:a="http://schemas.openxmlformats.org/drawingml/2006/main" id="17" idx="1"/>
            <a:endCxn xmlns:a="http://schemas.openxmlformats.org/drawingml/2006/main" id="18" idx="3"/>
          </p:cNvCxnSpPr>
          <p:nvPr/>
        </p:nvCxnSpPr>
        <p:spPr>
          <a:xfrm xmlns:a="http://schemas.openxmlformats.org/drawingml/2006/main" flipH="1">
            <a:off x="8877300" y="4057650"/>
            <a:ext cx="3619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59" name=""/>
          <p:cNvCxnSpPr>
            <a:stCxn xmlns:a="http://schemas.openxmlformats.org/drawingml/2006/main" id="18" idx="1"/>
            <a:endCxn xmlns:a="http://schemas.openxmlformats.org/drawingml/2006/main" id="19" idx="3"/>
          </p:cNvCxnSpPr>
          <p:nvPr/>
        </p:nvCxnSpPr>
        <p:spPr>
          <a:xfrm xmlns:a="http://schemas.openxmlformats.org/drawingml/2006/main" flipH="1">
            <a:off x="7162800" y="4057650"/>
            <a:ext cx="3619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60" name=""/>
          <p:cNvCxnSpPr>
            <a:stCxn xmlns:a="http://schemas.openxmlformats.org/drawingml/2006/main" id="19" idx="1"/>
            <a:endCxn xmlns:a="http://schemas.openxmlformats.org/drawingml/2006/main" id="20" idx="3"/>
          </p:cNvCxnSpPr>
          <p:nvPr/>
        </p:nvCxnSpPr>
        <p:spPr>
          <a:xfrm xmlns:a="http://schemas.openxmlformats.org/drawingml/2006/main" flipH="1">
            <a:off x="5448300" y="4057650"/>
            <a:ext cx="3619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61" name=""/>
          <p:cNvCxnSpPr>
            <a:stCxn xmlns:a="http://schemas.openxmlformats.org/drawingml/2006/main" id="20" idx="1"/>
            <a:endCxn xmlns:a="http://schemas.openxmlformats.org/drawingml/2006/main" id="21" idx="3"/>
          </p:cNvCxnSpPr>
          <p:nvPr/>
        </p:nvCxnSpPr>
        <p:spPr>
          <a:xfrm xmlns:a="http://schemas.openxmlformats.org/drawingml/2006/main" flipH="1">
            <a:off x="3733800" y="4057650"/>
            <a:ext cx="3619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62" name=""/>
          <p:cNvCxnSpPr>
            <a:stCxn xmlns:a="http://schemas.openxmlformats.org/drawingml/2006/main" id="21" idx="1"/>
            <a:endCxn xmlns:a="http://schemas.openxmlformats.org/drawingml/2006/main" id="22" idx="3"/>
          </p:cNvCxnSpPr>
          <p:nvPr/>
        </p:nvCxnSpPr>
        <p:spPr>
          <a:xfrm xmlns:a="http://schemas.openxmlformats.org/drawingml/2006/main" flipH="1">
            <a:off x="2019300" y="4057650"/>
            <a:ext cx="361950" cy="0"/>
          </a:xfrm>
          <a:prstGeom xmlns:a="http://schemas.openxmlformats.org/drawingml/2006/main" prst="straightConnector1">
            <a:avLst/>
          </a:prstGeom>
          <a:ln xmlns:a="http://schemas.openxmlformats.org/drawingml/2006/main" w="19050">
            <a:solidFill>
              <a:srgbClr val="C9564D"/>
            </a:solidFill>
            <a:prstDash val="solid"/>
            <a:tailEnd type="arrow" w="med" len="med"/>
          </a:ln>
        </p:spPr>
      </p:cxnSp>
      <p:sp>
        <p:nvSpPr>
          <p:cNvPr id="29" name="">
            <a:extLst xmlns:a="http://schemas.openxmlformats.org/drawingml/2006/main">
              <a:ext uri="{FF2B5EF4-FFF2-40B4-BE49-F238E27FC236}">
                <a16:creationId xmlns:a16="http://schemas.microsoft.com/office/drawing/2014/main" id="{0D23F8B7-B994-4E6E-A9EE-34CEA1B64C25}"/>
              </a:ext>
            </a:extLst>
          </p:cNvPr>
          <p:cNvSpPr>
            <a:spLocks xmlns:a="http://schemas.openxmlformats.org/drawingml/2006/main" noGrp="1"/>
          </p:cNvSpPr>
          <p:nvPr/>
        </p:nvSpPr>
        <p:spPr>
          <a:xfrm xmlns:a="http://schemas.openxmlformats.org/drawingml/2006/main">
            <a:off x="1676400" y="5095875"/>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159"/>
          </a:bodyPr>
          <a:lstStyle xmlns:a="http://schemas.openxmlformats.org/drawingml/2006/main"/>
          <a:p xmlns:a="http://schemas.openxmlformats.org/drawingml/2006/main">
            <a:pPr algn="ctr">
              <a:defRPr sz="3150" b="1">
                <a:solidFill>
                  <a:srgbClr val="168B85"/>
                </a:solidFill>
                <a:latin typeface="Helvetica Neue"/>
                <a:ea typeface="Helvetica Neue"/>
                <a:cs typeface="Helvetica Neue"/>
              </a:defRPr>
            </a:pPr>
            <a:r>
              <a:rPr sz="3150" b="1">
                <a:solidFill>
                  <a:srgbClr val="168B85"/>
                </a:solidFill>
                <a:latin typeface="Helvetica Neue"/>
                <a:ea typeface="Helvetica Neue"/>
                <a:cs typeface="Helvetica Neue"/>
              </a:rPr>
              <a:t>15</a:t>
            </a:r>
          </a:p>
        </p:txBody>
      </p:sp>
      <p:sp>
        <p:nvSpPr>
          <p:cNvPr id="30" name="">
            <a:extLst xmlns:a="http://schemas.openxmlformats.org/drawingml/2006/main">
              <a:ext uri="{FF2B5EF4-FFF2-40B4-BE49-F238E27FC236}">
                <a16:creationId xmlns:a16="http://schemas.microsoft.com/office/drawing/2014/main" id="{01F66E16-29A8-4379-8346-6A4DD7C425A9}"/>
              </a:ext>
            </a:extLst>
          </p:cNvPr>
          <p:cNvSpPr>
            <a:spLocks xmlns:a="http://schemas.openxmlformats.org/drawingml/2006/main" noGrp="1"/>
          </p:cNvSpPr>
          <p:nvPr/>
        </p:nvSpPr>
        <p:spPr>
          <a:xfrm xmlns:a="http://schemas.openxmlformats.org/drawingml/2006/main">
            <a:off x="2524125" y="52006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successful checkpoints</a:t>
            </a:r>
          </a:p>
        </p:txBody>
      </p:sp>
      <p:sp>
        <p:nvSpPr>
          <p:cNvPr id="31" name="">
            <a:extLst xmlns:a="http://schemas.openxmlformats.org/drawingml/2006/main">
              <a:ext uri="{FF2B5EF4-FFF2-40B4-BE49-F238E27FC236}">
                <a16:creationId xmlns:a16="http://schemas.microsoft.com/office/drawing/2014/main" id="{9C5459A2-561E-444F-B5A8-BC1B337E5A42}"/>
              </a:ext>
            </a:extLst>
          </p:cNvPr>
          <p:cNvSpPr>
            <a:spLocks xmlns:a="http://schemas.openxmlformats.org/drawingml/2006/main" noGrp="1"/>
          </p:cNvSpPr>
          <p:nvPr/>
        </p:nvSpPr>
        <p:spPr>
          <a:xfrm xmlns:a="http://schemas.openxmlformats.org/drawingml/2006/main">
            <a:off x="5391150" y="5095875"/>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159"/>
          </a:bodyPr>
          <a:lstStyle xmlns:a="http://schemas.openxmlformats.org/drawingml/2006/main"/>
          <a:p xmlns:a="http://schemas.openxmlformats.org/drawingml/2006/main">
            <a:pPr algn="ctr">
              <a:defRPr sz="3150" b="1">
                <a:solidFill>
                  <a:srgbClr val="168B85"/>
                </a:solidFill>
                <a:latin typeface="Helvetica Neue"/>
                <a:ea typeface="Helvetica Neue"/>
                <a:cs typeface="Helvetica Neue"/>
              </a:defRPr>
            </a:pPr>
            <a:r>
              <a:rPr sz="3150" b="1">
                <a:solidFill>
                  <a:srgbClr val="168B85"/>
                </a:solidFill>
                <a:latin typeface="Helvetica Neue"/>
                <a:ea typeface="Helvetica Neue"/>
                <a:cs typeface="Helvetica Neue"/>
              </a:rPr>
              <a:t>0</a:t>
            </a:r>
          </a:p>
        </p:txBody>
      </p:sp>
      <p:sp>
        <p:nvSpPr>
          <p:cNvPr id="32" name="">
            <a:extLst xmlns:a="http://schemas.openxmlformats.org/drawingml/2006/main">
              <a:ext uri="{FF2B5EF4-FFF2-40B4-BE49-F238E27FC236}">
                <a16:creationId xmlns:a16="http://schemas.microsoft.com/office/drawing/2014/main" id="{667D7F47-38D1-44DC-8E5D-8A270A246D70}"/>
              </a:ext>
            </a:extLst>
          </p:cNvPr>
          <p:cNvSpPr>
            <a:spLocks xmlns:a="http://schemas.openxmlformats.org/drawingml/2006/main" noGrp="1"/>
          </p:cNvSpPr>
          <p:nvPr/>
        </p:nvSpPr>
        <p:spPr>
          <a:xfrm xmlns:a="http://schemas.openxmlformats.org/drawingml/2006/main">
            <a:off x="6248400" y="52006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failed stages</a:t>
            </a:r>
          </a:p>
        </p:txBody>
      </p:sp>
      <p:sp>
        <p:nvSpPr>
          <p:cNvPr id="33" name="">
            <a:extLst xmlns:a="http://schemas.openxmlformats.org/drawingml/2006/main">
              <a:ext uri="{FF2B5EF4-FFF2-40B4-BE49-F238E27FC236}">
                <a16:creationId xmlns:a16="http://schemas.microsoft.com/office/drawing/2014/main" id="{C664F815-B134-488F-95ED-BD0E9ABDA62B}"/>
              </a:ext>
            </a:extLst>
          </p:cNvPr>
          <p:cNvSpPr>
            <a:spLocks xmlns:a="http://schemas.openxmlformats.org/drawingml/2006/main" noGrp="1"/>
          </p:cNvSpPr>
          <p:nvPr/>
        </p:nvSpPr>
        <p:spPr>
          <a:xfrm xmlns:a="http://schemas.openxmlformats.org/drawingml/2006/main">
            <a:off x="8648700" y="5095875"/>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518"/>
          </a:bodyPr>
          <a:lstStyle xmlns:a="http://schemas.openxmlformats.org/drawingml/2006/main"/>
          <a:p xmlns:a="http://schemas.openxmlformats.org/drawingml/2006/main">
            <a:pPr algn="ctr">
              <a:defRPr sz="2700" b="1">
                <a:solidFill>
                  <a:srgbClr val="10263C"/>
                </a:solidFill>
                <a:latin typeface="Helvetica Neue"/>
                <a:ea typeface="Helvetica Neue"/>
                <a:cs typeface="Helvetica Neue"/>
              </a:defRPr>
            </a:pPr>
            <a:r>
              <a:rPr sz="2700" b="1">
                <a:solidFill>
                  <a:srgbClr val="10263C"/>
                </a:solidFill>
                <a:latin typeface="Helvetica Neue"/>
                <a:ea typeface="Helvetica Neue"/>
                <a:cs typeface="Helvetica Neue"/>
              </a:rPr>
              <a:t>23 min</a:t>
            </a:r>
          </a:p>
        </p:txBody>
      </p:sp>
      <p:sp>
        <p:nvSpPr>
          <p:cNvPr id="34" name="">
            <a:extLst xmlns:a="http://schemas.openxmlformats.org/drawingml/2006/main">
              <a:ext uri="{FF2B5EF4-FFF2-40B4-BE49-F238E27FC236}">
                <a16:creationId xmlns:a16="http://schemas.microsoft.com/office/drawing/2014/main" id="{3078BF46-599C-47DB-8B10-AE3AFD5358F2}"/>
              </a:ext>
            </a:extLst>
          </p:cNvPr>
          <p:cNvSpPr>
            <a:spLocks xmlns:a="http://schemas.openxmlformats.org/drawingml/2006/main" noGrp="1"/>
          </p:cNvSpPr>
          <p:nvPr/>
        </p:nvSpPr>
        <p:spPr>
          <a:xfrm xmlns:a="http://schemas.openxmlformats.org/drawingml/2006/main">
            <a:off x="9944100" y="52006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runtime</a:t>
            </a:r>
          </a:p>
        </p:txBody>
      </p:sp>
    </p:spTree>
    <p:extLst>
      <p:ext uri="{BB962C8B-B14F-4D97-AF65-F5344CB8AC3E}">
        <p14:creationId xmlns:p14="http://schemas.microsoft.com/office/powerpoint/2010/main" val="268127885"/>
      </p:ext>
    </p:extLst>
  </p:cSld>
</p:sld>
</file>

<file path=ppt/slides/slide1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777958-0101-4C70-9D80-F286BF8F494D}"/>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Qwen3.5 improved most in causal reasoning</a:t>
            </a:r>
          </a:p>
        </p:txBody>
      </p:sp>
      <p:sp>
        <p:nvSpPr>
          <p:cNvPr id="2" name="">
            <a:extLst xmlns:a="http://schemas.openxmlformats.org/drawingml/2006/main">
              <a:ext uri="{FF2B5EF4-FFF2-40B4-BE49-F238E27FC236}">
                <a16:creationId xmlns:a16="http://schemas.microsoft.com/office/drawing/2014/main" id="{555E1CF1-DD24-4CE9-95A1-77C7D252CEED}"/>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55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first Try 4 validation gained evidence and causal discipline but lost action points because the verifier blocked premature actions.</a:t>
            </a:r>
          </a:p>
        </p:txBody>
      </p:sp>
      <p:sp>
        <p:nvSpPr>
          <p:cNvPr id="3" name="">
            <a:extLst xmlns:a="http://schemas.openxmlformats.org/drawingml/2006/main">
              <a:ext uri="{FF2B5EF4-FFF2-40B4-BE49-F238E27FC236}">
                <a16:creationId xmlns:a16="http://schemas.microsoft.com/office/drawing/2014/main" id="{420964A0-CA78-42A7-9779-05AC0CBF5449}"/>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583855-F6A4-4BEA-AAE2-AF6586A3DF7A}"/>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Sources: Try 3 qwen score 64; Try 4 qwen score 68</a:t>
            </a:r>
          </a:p>
        </p:txBody>
      </p:sp>
      <p:sp>
        <p:nvSpPr>
          <p:cNvPr id="5" name="">
            <a:extLst xmlns:a="http://schemas.openxmlformats.org/drawingml/2006/main">
              <a:ext uri="{FF2B5EF4-FFF2-40B4-BE49-F238E27FC236}">
                <a16:creationId xmlns:a16="http://schemas.microsoft.com/office/drawing/2014/main" id="{AA9AC0E8-46E3-473A-B6D9-FFF345F4EB41}"/>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13</a:t>
            </a:r>
          </a:p>
        </p:txBody>
      </p:sp>
      <p:graphicFrame>
        <p:nvGraphicFramePr>
          <p:cNvPr id="18" name="Chart"/>
          <p:cNvGraphicFramePr/>
          <p:nvPr/>
        </p:nvGraphicFramePr>
        <p:xfrm>
          <a:off xmlns:a="http://schemas.openxmlformats.org/drawingml/2006/main" x="666750" y="1466850"/>
          <a:ext xmlns:a="http://schemas.openxmlformats.org/drawingml/2006/main" cx="8620125" cy="4610100"/>
        </p:xfrm>
        <a:graphic xmlns:a="http://schemas.openxmlformats.org/drawingml/2006/main">
          <a:graphicData uri="http://schemas.openxmlformats.org/drawingml/2006/chart">
            <c:chart xmlns:r="http://schemas.openxmlformats.org/officeDocument/2006/relationships" xmlns:c="http://schemas.openxmlformats.org/drawingml/2006/chart" r:id="Rdd114f74914f48a2"/>
          </a:graphicData>
        </a:graphic>
      </p:graphicFrame>
      <p:sp>
        <p:nvSpPr>
          <p:cNvPr id="7" name="">
            <a:extLst xmlns:a="http://schemas.openxmlformats.org/drawingml/2006/main">
              <a:ext uri="{FF2B5EF4-FFF2-40B4-BE49-F238E27FC236}">
                <a16:creationId xmlns:a16="http://schemas.microsoft.com/office/drawing/2014/main" id="{46A7904F-BE02-4115-BADC-61583261E97A}"/>
              </a:ext>
            </a:extLst>
          </p:cNvPr>
          <p:cNvSpPr>
            <a:spLocks xmlns:a="http://schemas.openxmlformats.org/drawingml/2006/main" noGrp="1"/>
          </p:cNvSpPr>
          <p:nvPr/>
        </p:nvSpPr>
        <p:spPr>
          <a:xfrm xmlns:a="http://schemas.openxmlformats.org/drawingml/2006/main">
            <a:off x="9620250" y="203835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881"/>
          </a:bodyPr>
          <a:lstStyle xmlns:a="http://schemas.openxmlformats.org/drawingml/2006/main"/>
          <a:p xmlns:a="http://schemas.openxmlformats.org/drawingml/2006/main">
            <a:pPr algn="ctr">
              <a:defRPr sz="4200" b="1">
                <a:solidFill>
                  <a:srgbClr val="3377B5"/>
                </a:solidFill>
                <a:latin typeface="Helvetica Neue"/>
                <a:ea typeface="Helvetica Neue"/>
                <a:cs typeface="Helvetica Neue"/>
              </a:defRPr>
            </a:pPr>
            <a:r>
              <a:rPr sz="4200" b="1">
                <a:solidFill>
                  <a:srgbClr val="3377B5"/>
                </a:solidFill>
                <a:latin typeface="Helvetica Neue"/>
                <a:ea typeface="Helvetica Neue"/>
                <a:cs typeface="Helvetica Neue"/>
              </a:rPr>
              <a:t>64</a:t>
            </a:r>
          </a:p>
        </p:txBody>
      </p:sp>
      <p:sp>
        <p:nvSpPr>
          <p:cNvPr id="8" name="">
            <a:extLst xmlns:a="http://schemas.openxmlformats.org/drawingml/2006/main">
              <a:ext uri="{FF2B5EF4-FFF2-40B4-BE49-F238E27FC236}">
                <a16:creationId xmlns:a16="http://schemas.microsoft.com/office/drawing/2014/main" id="{415E1A83-1D31-4E4D-A5F7-13F2C0375F85}"/>
              </a:ext>
            </a:extLst>
          </p:cNvPr>
          <p:cNvSpPr>
            <a:spLocks xmlns:a="http://schemas.openxmlformats.org/drawingml/2006/main" noGrp="1"/>
          </p:cNvSpPr>
          <p:nvPr/>
        </p:nvSpPr>
        <p:spPr>
          <a:xfrm xmlns:a="http://schemas.openxmlformats.org/drawingml/2006/main">
            <a:off x="9620250" y="26860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ctr">
              <a:defRPr sz="1200" b="1">
                <a:solidFill>
                  <a:srgbClr val="6B7B8C"/>
                </a:solidFill>
                <a:latin typeface="Helvetica Neue"/>
                <a:ea typeface="Helvetica Neue"/>
                <a:cs typeface="Helvetica Neue"/>
              </a:defRPr>
            </a:pPr>
            <a:r>
              <a:rPr sz="1200" b="1">
                <a:solidFill>
                  <a:srgbClr val="6B7B8C"/>
                </a:solidFill>
                <a:latin typeface="Helvetica Neue"/>
                <a:ea typeface="Helvetica Neue"/>
                <a:cs typeface="Helvetica Neue"/>
              </a:rPr>
              <a:t>TRY 3</a:t>
            </a:r>
          </a:p>
        </p:txBody>
      </p:sp>
      <p:sp>
        <p:nvSpPr>
          <p:cNvPr id="9" name="">
            <a:extLst xmlns:a="http://schemas.openxmlformats.org/drawingml/2006/main">
              <a:ext uri="{FF2B5EF4-FFF2-40B4-BE49-F238E27FC236}">
                <a16:creationId xmlns:a16="http://schemas.microsoft.com/office/drawing/2014/main" id="{30088670-E109-47D0-A6ED-CCD547D8BFB5}"/>
              </a:ext>
            </a:extLst>
          </p:cNvPr>
          <p:cNvSpPr>
            <a:spLocks xmlns:a="http://schemas.openxmlformats.org/drawingml/2006/main" noGrp="1"/>
          </p:cNvSpPr>
          <p:nvPr/>
        </p:nvSpPr>
        <p:spPr>
          <a:xfrm xmlns:a="http://schemas.openxmlformats.org/drawingml/2006/main">
            <a:off x="9791700" y="3162300"/>
            <a:ext cx="1085850" cy="19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9735B7E-ACFC-4396-81E6-B1936774282B}"/>
              </a:ext>
            </a:extLst>
          </p:cNvPr>
          <p:cNvSpPr>
            <a:spLocks xmlns:a="http://schemas.openxmlformats.org/drawingml/2006/main" noGrp="1"/>
          </p:cNvSpPr>
          <p:nvPr/>
        </p:nvSpPr>
        <p:spPr>
          <a:xfrm xmlns:a="http://schemas.openxmlformats.org/drawingml/2006/main">
            <a:off x="9620250" y="350520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881"/>
          </a:bodyPr>
          <a:lstStyle xmlns:a="http://schemas.openxmlformats.org/drawingml/2006/main"/>
          <a:p xmlns:a="http://schemas.openxmlformats.org/drawingml/2006/main">
            <a:pPr algn="ctr">
              <a:defRPr sz="4200" b="1">
                <a:solidFill>
                  <a:srgbClr val="168B85"/>
                </a:solidFill>
                <a:latin typeface="Helvetica Neue"/>
                <a:ea typeface="Helvetica Neue"/>
                <a:cs typeface="Helvetica Neue"/>
              </a:defRPr>
            </a:pPr>
            <a:r>
              <a:rPr sz="4200" b="1">
                <a:solidFill>
                  <a:srgbClr val="168B85"/>
                </a:solidFill>
                <a:latin typeface="Helvetica Neue"/>
                <a:ea typeface="Helvetica Neue"/>
                <a:cs typeface="Helvetica Neue"/>
              </a:rPr>
              <a:t>68</a:t>
            </a:r>
          </a:p>
        </p:txBody>
      </p:sp>
      <p:sp>
        <p:nvSpPr>
          <p:cNvPr id="11" name="">
            <a:extLst xmlns:a="http://schemas.openxmlformats.org/drawingml/2006/main">
              <a:ext uri="{FF2B5EF4-FFF2-40B4-BE49-F238E27FC236}">
                <a16:creationId xmlns:a16="http://schemas.microsoft.com/office/drawing/2014/main" id="{72771B99-07B6-4E93-8DC9-F5A82C5DF5A6}"/>
              </a:ext>
            </a:extLst>
          </p:cNvPr>
          <p:cNvSpPr>
            <a:spLocks xmlns:a="http://schemas.openxmlformats.org/drawingml/2006/main" noGrp="1"/>
          </p:cNvSpPr>
          <p:nvPr/>
        </p:nvSpPr>
        <p:spPr>
          <a:xfrm xmlns:a="http://schemas.openxmlformats.org/drawingml/2006/main">
            <a:off x="9620250" y="41529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ctr">
              <a:defRPr sz="1200" b="1">
                <a:solidFill>
                  <a:srgbClr val="6B7B8C"/>
                </a:solidFill>
                <a:latin typeface="Helvetica Neue"/>
                <a:ea typeface="Helvetica Neue"/>
                <a:cs typeface="Helvetica Neue"/>
              </a:defRPr>
            </a:pPr>
            <a:r>
              <a:rPr sz="1200" b="1">
                <a:solidFill>
                  <a:srgbClr val="6B7B8C"/>
                </a:solidFill>
                <a:latin typeface="Helvetica Neue"/>
                <a:ea typeface="Helvetica Neue"/>
                <a:cs typeface="Helvetica Neue"/>
              </a:rPr>
              <a:t>TRY 4</a:t>
            </a:r>
          </a:p>
        </p:txBody>
      </p:sp>
      <p:sp>
        <p:nvSpPr>
          <p:cNvPr id="12" name="">
            <a:extLst xmlns:a="http://schemas.openxmlformats.org/drawingml/2006/main">
              <a:ext uri="{FF2B5EF4-FFF2-40B4-BE49-F238E27FC236}">
                <a16:creationId xmlns:a16="http://schemas.microsoft.com/office/drawing/2014/main" id="{0FA89291-8B7D-43D1-8724-6A96462CEB90}"/>
              </a:ext>
            </a:extLst>
          </p:cNvPr>
          <p:cNvSpPr>
            <a:spLocks xmlns:a="http://schemas.openxmlformats.org/drawingml/2006/main" noGrp="1"/>
          </p:cNvSpPr>
          <p:nvPr/>
        </p:nvSpPr>
        <p:spPr>
          <a:xfrm xmlns:a="http://schemas.openxmlformats.org/drawingml/2006/main">
            <a:off x="9477375" y="4838700"/>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947"/>
          </a:bodyPr>
          <a:lstStyle xmlns:a="http://schemas.openxmlformats.org/drawingml/2006/main"/>
          <a:p xmlns:a="http://schemas.openxmlformats.org/drawingml/2006/main">
            <a:pPr algn="ctr">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Safer restraint lowered the action score while improving the investigation's integrity.</a:t>
            </a:r>
          </a:p>
        </p:txBody>
      </p:sp>
    </p:spTree>
    <p:extLst>
      <p:ext uri="{BB962C8B-B14F-4D97-AF65-F5344CB8AC3E}">
        <p14:creationId xmlns:p14="http://schemas.microsoft.com/office/powerpoint/2010/main" val="856031322"/>
      </p:ext>
    </p:extLst>
  </p:cSld>
</p:sld>
</file>

<file path=ppt/slides/slide1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D3E7650-CEE4-4C4D-8784-7EBD4C1C54BF}"/>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The first Try 4 run produced a developing causal board</a:t>
            </a:r>
          </a:p>
        </p:txBody>
      </p:sp>
      <p:sp>
        <p:nvSpPr>
          <p:cNvPr id="2" name="">
            <a:extLst xmlns:a="http://schemas.openxmlformats.org/drawingml/2006/main">
              <a:ext uri="{FF2B5EF4-FFF2-40B4-BE49-F238E27FC236}">
                <a16:creationId xmlns:a16="http://schemas.microsoft.com/office/drawing/2014/main" id="{1AA95231-9460-49C6-B519-0A87709B6D3C}"/>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Qwen3.5 proposed forward hypotheses. Verification kept the board at initial maturity.</a:t>
            </a:r>
          </a:p>
        </p:txBody>
      </p:sp>
      <p:sp>
        <p:nvSpPr>
          <p:cNvPr id="3" name="">
            <a:extLst xmlns:a="http://schemas.openxmlformats.org/drawingml/2006/main">
              <a:ext uri="{FF2B5EF4-FFF2-40B4-BE49-F238E27FC236}">
                <a16:creationId xmlns:a16="http://schemas.microsoft.com/office/drawing/2014/main" id="{538F18C9-5746-4426-9271-07381A497EFA}"/>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691AF93-32C2-46F9-B005-D1E8A0B0CCF4}"/>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4 qwen causal board and verification findings</a:t>
            </a:r>
          </a:p>
        </p:txBody>
      </p:sp>
      <p:sp>
        <p:nvSpPr>
          <p:cNvPr id="5" name="">
            <a:extLst xmlns:a="http://schemas.openxmlformats.org/drawingml/2006/main">
              <a:ext uri="{FF2B5EF4-FFF2-40B4-BE49-F238E27FC236}">
                <a16:creationId xmlns:a16="http://schemas.microsoft.com/office/drawing/2014/main" id="{38FE23E7-96E4-47C1-A1CF-A5B2EE54A183}"/>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14</a:t>
            </a:r>
          </a:p>
        </p:txBody>
      </p:sp>
      <p:sp>
        <p:nvSpPr>
          <p:cNvPr id="6" name="">
            <a:extLst xmlns:a="http://schemas.openxmlformats.org/drawingml/2006/main">
              <a:ext uri="{FF2B5EF4-FFF2-40B4-BE49-F238E27FC236}">
                <a16:creationId xmlns:a16="http://schemas.microsoft.com/office/drawing/2014/main" id="{3C7CA59F-730B-4F9A-82F7-A05B06F50A55}"/>
              </a:ext>
            </a:extLst>
          </p:cNvPr>
          <p:cNvSpPr>
            <a:spLocks xmlns:a="http://schemas.openxmlformats.org/drawingml/2006/main" noGrp="1"/>
          </p:cNvSpPr>
          <p:nvPr/>
        </p:nvSpPr>
        <p:spPr>
          <a:xfrm xmlns:a="http://schemas.openxmlformats.org/drawingml/2006/main">
            <a:off x="590550" y="1809750"/>
            <a:ext cx="1924050" cy="723900"/>
          </a:xfrm>
          <a:prstGeom xmlns:a="http://schemas.openxmlformats.org/drawingml/2006/main" prst="roundRect">
            <a:avLst>
              <a:gd name="adj" fmla="val 10526"/>
            </a:avLst>
          </a:prstGeom>
          <a:solidFill xmlns:a="http://schemas.openxmlformats.org/drawingml/2006/main">
            <a:srgbClr val="DCE9F4"/>
          </a:solidFill>
          <a:ln xmlns:a="http://schemas.openxmlformats.org/drawingml/2006/main" w="9525">
            <a:solidFill>
              <a:srgbClr val="3377B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Balance left raised</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with rolls removed</a:t>
            </a:r>
          </a:p>
        </p:txBody>
      </p:sp>
      <p:sp>
        <p:nvSpPr>
          <p:cNvPr id="7" name="">
            <a:extLst xmlns:a="http://schemas.openxmlformats.org/drawingml/2006/main">
              <a:ext uri="{FF2B5EF4-FFF2-40B4-BE49-F238E27FC236}">
                <a16:creationId xmlns:a16="http://schemas.microsoft.com/office/drawing/2014/main" id="{B9844DE8-8C73-4855-87E2-A537BB23D0DF}"/>
              </a:ext>
            </a:extLst>
          </p:cNvPr>
          <p:cNvSpPr>
            <a:spLocks xmlns:a="http://schemas.openxmlformats.org/drawingml/2006/main" noGrp="1"/>
          </p:cNvSpPr>
          <p:nvPr/>
        </p:nvSpPr>
        <p:spPr>
          <a:xfrm xmlns:a="http://schemas.openxmlformats.org/drawingml/2006/main">
            <a:off x="590550" y="2990850"/>
            <a:ext cx="1924050" cy="723900"/>
          </a:xfrm>
          <a:prstGeom xmlns:a="http://schemas.openxmlformats.org/drawingml/2006/main" prst="roundRect">
            <a:avLst>
              <a:gd name="adj" fmla="val 10526"/>
            </a:avLst>
          </a:prstGeom>
          <a:solidFill xmlns:a="http://schemas.openxmlformats.org/drawingml/2006/main">
            <a:srgbClr val="DCE9F4"/>
          </a:solidFill>
          <a:ln xmlns:a="http://schemas.openxmlformats.org/drawingml/2006/main" w="9525">
            <a:solidFill>
              <a:srgbClr val="3377B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 hydraulics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isolated and bled</a:t>
            </a:r>
          </a:p>
        </p:txBody>
      </p:sp>
      <p:sp>
        <p:nvSpPr>
          <p:cNvPr id="8" name="">
            <a:extLst xmlns:a="http://schemas.openxmlformats.org/drawingml/2006/main">
              <a:ext uri="{FF2B5EF4-FFF2-40B4-BE49-F238E27FC236}">
                <a16:creationId xmlns:a16="http://schemas.microsoft.com/office/drawing/2014/main" id="{1DACCD01-DB89-4C62-A962-E68EF17F1B18}"/>
              </a:ext>
            </a:extLst>
          </p:cNvPr>
          <p:cNvSpPr>
            <a:spLocks xmlns:a="http://schemas.openxmlformats.org/drawingml/2006/main" noGrp="1"/>
          </p:cNvSpPr>
          <p:nvPr/>
        </p:nvSpPr>
        <p:spPr>
          <a:xfrm xmlns:a="http://schemas.openxmlformats.org/drawingml/2006/main">
            <a:off x="590550" y="4171950"/>
            <a:ext cx="1924050" cy="819150"/>
          </a:xfrm>
          <a:prstGeom xmlns:a="http://schemas.openxmlformats.org/drawingml/2006/main" prst="roundRect">
            <a:avLst>
              <a:gd name="adj" fmla="val 9302"/>
            </a:avLst>
          </a:prstGeom>
          <a:solidFill xmlns:a="http://schemas.openxmlformats.org/drawingml/2006/main">
            <a:srgbClr val="F7E5BE"/>
          </a:solidFill>
          <a:ln xmlns:a="http://schemas.openxmlformats.org/drawingml/2006/main" w="9525">
            <a:solidFill>
              <a:srgbClr val="E5A32D"/>
            </a:solidFill>
            <a:prstDash val="solid"/>
          </a:ln>
        </p:spPr>
        <p:txBody>
          <a:bodyPr xmlns:a="http://schemas.openxmlformats.org/drawingml/2006/main">
            <a:normAutofit fontScale="83002"/>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Gravity-control field blank</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No independent signature</a:t>
            </a:r>
          </a:p>
        </p:txBody>
      </p:sp>
      <p:sp>
        <p:nvSpPr>
          <p:cNvPr id="9" name="">
            <a:extLst xmlns:a="http://schemas.openxmlformats.org/drawingml/2006/main">
              <a:ext uri="{FF2B5EF4-FFF2-40B4-BE49-F238E27FC236}">
                <a16:creationId xmlns:a16="http://schemas.microsoft.com/office/drawing/2014/main" id="{F8CE0194-C898-4497-90C0-6E556B50D5CA}"/>
              </a:ext>
            </a:extLst>
          </p:cNvPr>
          <p:cNvSpPr>
            <a:spLocks xmlns:a="http://schemas.openxmlformats.org/drawingml/2006/main" noGrp="1"/>
          </p:cNvSpPr>
          <p:nvPr/>
        </p:nvSpPr>
        <p:spPr>
          <a:xfrm xmlns:a="http://schemas.openxmlformats.org/drawingml/2006/main">
            <a:off x="3714750" y="2667000"/>
            <a:ext cx="2324100" cy="895350"/>
          </a:xfrm>
          <a:prstGeom xmlns:a="http://schemas.openxmlformats.org/drawingml/2006/main" prst="roundRect">
            <a:avLst>
              <a:gd name="adj" fmla="val 8511"/>
            </a:avLst>
          </a:prstGeom>
          <a:solidFill xmlns:a="http://schemas.openxmlformats.org/drawingml/2006/main">
            <a:srgbClr val="F7E5BE"/>
          </a:solidFill>
          <a:ln xmlns:a="http://schemas.openxmlformats.org/drawingml/2006/main" w="9525">
            <a:solidFill>
              <a:srgbClr val="E5A32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Suspected loss of positive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mechanical restraint</a:t>
            </a:r>
          </a:p>
        </p:txBody>
      </p:sp>
      <p:sp>
        <p:nvSpPr>
          <p:cNvPr id="10" name="">
            <a:extLst xmlns:a="http://schemas.openxmlformats.org/drawingml/2006/main">
              <a:ext uri="{FF2B5EF4-FFF2-40B4-BE49-F238E27FC236}">
                <a16:creationId xmlns:a16="http://schemas.microsoft.com/office/drawing/2014/main" id="{AD11B5F3-D0B9-4EBF-BC8F-B01FA989932F}"/>
              </a:ext>
            </a:extLst>
          </p:cNvPr>
          <p:cNvSpPr>
            <a:spLocks xmlns:a="http://schemas.openxmlformats.org/drawingml/2006/main" noGrp="1"/>
          </p:cNvSpPr>
          <p:nvPr/>
        </p:nvSpPr>
        <p:spPr>
          <a:xfrm xmlns:a="http://schemas.openxmlformats.org/drawingml/2006/main">
            <a:off x="7219950" y="2667000"/>
            <a:ext cx="2133600" cy="895350"/>
          </a:xfrm>
          <a:prstGeom xmlns:a="http://schemas.openxmlformats.org/drawingml/2006/main" prst="roundRect">
            <a:avLst>
              <a:gd name="adj" fmla="val 8511"/>
            </a:avLst>
          </a:prstGeom>
          <a:solidFill xmlns:a="http://schemas.openxmlformats.org/drawingml/2006/main">
            <a:srgbClr val="F3DAD7"/>
          </a:solidFill>
          <a:ln xmlns:a="http://schemas.openxmlformats.org/drawingml/2006/main" w="9525">
            <a:solidFill>
              <a:srgbClr val="C9564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Carrier beam falls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into R3 mill pit</a:t>
            </a:r>
          </a:p>
        </p:txBody>
      </p:sp>
      <p:cxnSp>
        <p:nvCxnSpPr>
          <p:cNvPr id="30" name=""/>
          <p:cNvCxnSpPr>
            <a:stCxn xmlns:a="http://schemas.openxmlformats.org/drawingml/2006/main" id="6" idx="3"/>
            <a:endCxn xmlns:a="http://schemas.openxmlformats.org/drawingml/2006/main" id="9" idx="1"/>
          </p:cNvCxnSpPr>
          <p:nvPr/>
        </p:nvCxnSpPr>
        <p:spPr>
          <a:xfrm xmlns:a="http://schemas.openxmlformats.org/drawingml/2006/main">
            <a:off x="2514600" y="2171700"/>
            <a:ext cx="1200150" cy="942975"/>
          </a:xfrm>
          <a:prstGeom xmlns:a="http://schemas.openxmlformats.org/drawingml/2006/main" prst="bentConnector3">
            <a:avLst>
              <a:gd name="adj1" fmla="val 50000"/>
            </a:avLst>
          </a:prstGeom>
          <a:ln xmlns:a="http://schemas.openxmlformats.org/drawingml/2006/main" w="19050">
            <a:solidFill>
              <a:srgbClr val="425466"/>
            </a:solidFill>
            <a:prstDash val="dash"/>
            <a:tailEnd type="arrow" w="med" len="med"/>
          </a:ln>
        </p:spPr>
      </p:cxnSp>
      <p:cxnSp>
        <p:nvCxnSpPr>
          <p:cNvPr id="31" name=""/>
          <p:cNvCxnSpPr>
            <a:stCxn xmlns:a="http://schemas.openxmlformats.org/drawingml/2006/main" id="7" idx="3"/>
            <a:endCxn xmlns:a="http://schemas.openxmlformats.org/drawingml/2006/main" id="9" idx="1"/>
          </p:cNvCxnSpPr>
          <p:nvPr/>
        </p:nvCxnSpPr>
        <p:spPr>
          <a:xfrm xmlns:a="http://schemas.openxmlformats.org/drawingml/2006/main" flipV="1">
            <a:off x="2514600" y="3114675"/>
            <a:ext cx="1200150" cy="238125"/>
          </a:xfrm>
          <a:prstGeom xmlns:a="http://schemas.openxmlformats.org/drawingml/2006/main" prst="bentConnector3">
            <a:avLst>
              <a:gd name="adj1" fmla="val 50000"/>
            </a:avLst>
          </a:prstGeom>
          <a:ln xmlns:a="http://schemas.openxmlformats.org/drawingml/2006/main" w="19050">
            <a:solidFill>
              <a:srgbClr val="425466"/>
            </a:solidFill>
            <a:prstDash val="dash"/>
            <a:tailEnd type="arrow" w="med" len="med"/>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flipV="1">
            <a:off x="2514600" y="3114675"/>
            <a:ext cx="1200150" cy="1466850"/>
          </a:xfrm>
          <a:prstGeom xmlns:a="http://schemas.openxmlformats.org/drawingml/2006/main" prst="bentConnector3">
            <a:avLst>
              <a:gd name="adj1" fmla="val 50000"/>
            </a:avLst>
          </a:prstGeom>
          <a:ln xmlns:a="http://schemas.openxmlformats.org/drawingml/2006/main" w="19050">
            <a:solidFill>
              <a:srgbClr val="425466"/>
            </a:solidFill>
            <a:prstDash val="dash"/>
            <a:tailEnd type="arrow" w="med" len="med"/>
          </a:ln>
        </p:spPr>
      </p:cxnSp>
      <p:cxnSp>
        <p:nvCxnSpPr>
          <p:cNvPr id="33" name=""/>
          <p:cNvCxnSpPr>
            <a:stCxn xmlns:a="http://schemas.openxmlformats.org/drawingml/2006/main" id="9" idx="3"/>
            <a:endCxn xmlns:a="http://schemas.openxmlformats.org/drawingml/2006/main" id="10" idx="1"/>
          </p:cNvCxnSpPr>
          <p:nvPr/>
        </p:nvCxnSpPr>
        <p:spPr>
          <a:xfrm xmlns:a="http://schemas.openxmlformats.org/drawingml/2006/main">
            <a:off x="6038850" y="3114675"/>
            <a:ext cx="1181100" cy="0"/>
          </a:xfrm>
          <a:prstGeom xmlns:a="http://schemas.openxmlformats.org/drawingml/2006/main" prst="straightConnector1">
            <a:avLst/>
          </a:prstGeom>
          <a:ln xmlns:a="http://schemas.openxmlformats.org/drawingml/2006/main" w="19050">
            <a:solidFill>
              <a:srgbClr val="C9564D"/>
            </a:solidFill>
            <a:prstDash val="dash"/>
            <a:tailEnd type="arrow" w="med" len="med"/>
          </a:ln>
        </p:spPr>
      </p:cxnSp>
      <p:sp>
        <p:nvSpPr>
          <p:cNvPr id="15" name="">
            <a:extLst xmlns:a="http://schemas.openxmlformats.org/drawingml/2006/main">
              <a:ext uri="{FF2B5EF4-FFF2-40B4-BE49-F238E27FC236}">
                <a16:creationId xmlns:a16="http://schemas.microsoft.com/office/drawing/2014/main" id="{E038206D-1B58-4569-9065-AF4574FE4C46}"/>
              </a:ext>
            </a:extLst>
          </p:cNvPr>
          <p:cNvSpPr>
            <a:spLocks xmlns:a="http://schemas.openxmlformats.org/drawingml/2006/main" noGrp="1"/>
          </p:cNvSpPr>
          <p:nvPr/>
        </p:nvSpPr>
        <p:spPr>
          <a:xfrm xmlns:a="http://schemas.openxmlformats.org/drawingml/2006/main">
            <a:off x="9620250" y="1714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2107"/>
          </a:bodyPr>
          <a:lstStyle xmlns:a="http://schemas.openxmlformats.org/drawingml/2006/main"/>
          <a:p xmlns:a="http://schemas.openxmlformats.org/drawingml/2006/main">
            <a:pPr algn="l">
              <a:defRPr sz="1575" b="1">
                <a:solidFill>
                  <a:srgbClr val="C9564D"/>
                </a:solidFill>
                <a:latin typeface="Helvetica Neue"/>
                <a:ea typeface="Helvetica Neue"/>
                <a:cs typeface="Helvetica Neue"/>
              </a:defRPr>
            </a:pPr>
            <a:r>
              <a:rPr sz="1575" b="1">
                <a:solidFill>
                  <a:srgbClr val="C9564D"/>
                </a:solidFill>
                <a:latin typeface="Helvetica Neue"/>
                <a:ea typeface="Helvetica Neue"/>
                <a:cs typeface="Helvetica Neue"/>
              </a:rPr>
              <a:t>Six blocking findings</a:t>
            </a:r>
          </a:p>
        </p:txBody>
      </p:sp>
      <p:sp>
        <p:nvSpPr>
          <p:cNvPr id="16" name="">
            <a:extLst xmlns:a="http://schemas.openxmlformats.org/drawingml/2006/main">
              <a:ext uri="{FF2B5EF4-FFF2-40B4-BE49-F238E27FC236}">
                <a16:creationId xmlns:a16="http://schemas.microsoft.com/office/drawing/2014/main" id="{7EB098F2-CA52-45EC-8AEB-72BE48B4AB65}"/>
              </a:ext>
            </a:extLst>
          </p:cNvPr>
          <p:cNvSpPr>
            <a:spLocks xmlns:a="http://schemas.openxmlformats.org/drawingml/2006/main" noGrp="1"/>
          </p:cNvSpPr>
          <p:nvPr/>
        </p:nvSpPr>
        <p:spPr>
          <a:xfrm xmlns:a="http://schemas.openxmlformats.org/drawingml/2006/main">
            <a:off x="9620250" y="2171700"/>
            <a:ext cx="1885950" cy="2876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08"/>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Keeper function</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Required restraint design</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Temporary supports</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Pre-event configuration</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Anonymous note provenance</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R3 versus other stands</a:t>
            </a:r>
          </a:p>
        </p:txBody>
      </p:sp>
      <p:sp>
        <p:nvSpPr>
          <p:cNvPr id="17" name="">
            <a:extLst xmlns:a="http://schemas.openxmlformats.org/drawingml/2006/main">
              <a:ext uri="{FF2B5EF4-FFF2-40B4-BE49-F238E27FC236}">
                <a16:creationId xmlns:a16="http://schemas.microsoft.com/office/drawing/2014/main" id="{0FA6A2BD-6522-40B0-83CA-6BFD9013FE87}"/>
              </a:ext>
            </a:extLst>
          </p:cNvPr>
          <p:cNvSpPr>
            <a:spLocks xmlns:a="http://schemas.openxmlformats.org/drawingml/2006/main" noGrp="1"/>
          </p:cNvSpPr>
          <p:nvPr/>
        </p:nvSpPr>
        <p:spPr>
          <a:xfrm xmlns:a="http://schemas.openxmlformats.org/drawingml/2006/main">
            <a:off x="3714750" y="4000500"/>
            <a:ext cx="5638800" cy="19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C3FCE0C-BA6E-4C7B-9C9A-FDC15E73E17C}"/>
              </a:ext>
            </a:extLst>
          </p:cNvPr>
          <p:cNvSpPr>
            <a:spLocks xmlns:a="http://schemas.openxmlformats.org/drawingml/2006/main" noGrp="1"/>
          </p:cNvSpPr>
          <p:nvPr/>
        </p:nvSpPr>
        <p:spPr>
          <a:xfrm xmlns:a="http://schemas.openxmlformats.org/drawingml/2006/main">
            <a:off x="3714750" y="4248150"/>
            <a:ext cx="5638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Every displayed connection remains a hypothesis until the missing design and execution evidence discriminates it from alternatives.</a:t>
            </a:r>
          </a:p>
        </p:txBody>
      </p:sp>
      <p:sp>
        <p:nvSpPr>
          <p:cNvPr id="19" name="">
            <a:extLst xmlns:a="http://schemas.openxmlformats.org/drawingml/2006/main">
              <a:ext uri="{FF2B5EF4-FFF2-40B4-BE49-F238E27FC236}">
                <a16:creationId xmlns:a16="http://schemas.microsoft.com/office/drawing/2014/main" id="{B4593E70-BE63-43DF-91A9-386397C089D4}"/>
              </a:ext>
            </a:extLst>
          </p:cNvPr>
          <p:cNvSpPr>
            <a:spLocks xmlns:a="http://schemas.openxmlformats.org/drawingml/2006/main" noGrp="1"/>
          </p:cNvSpPr>
          <p:nvPr/>
        </p:nvSpPr>
        <p:spPr>
          <a:xfrm xmlns:a="http://schemas.openxmlformats.org/drawingml/2006/main">
            <a:off x="4171950" y="5505450"/>
            <a:ext cx="4714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436"/>
          </a:bodyPr>
          <a:lstStyle xmlns:a="http://schemas.openxmlformats.org/drawingml/2006/main"/>
          <a:p xmlns:a="http://schemas.openxmlformats.org/drawingml/2006/main">
            <a:pPr algn="ctr">
              <a:defRPr sz="1950" b="1">
                <a:solidFill>
                  <a:srgbClr val="C9564D"/>
                </a:solidFill>
                <a:latin typeface="Helvetica Neue"/>
                <a:ea typeface="Helvetica Neue"/>
                <a:cs typeface="Helvetica Neue"/>
              </a:defRPr>
            </a:pPr>
            <a:r>
              <a:rPr sz="1950" b="1">
                <a:solidFill>
                  <a:srgbClr val="C9564D"/>
                </a:solidFill>
                <a:latin typeface="Helvetica Neue"/>
                <a:ea typeface="Helvetica Neue"/>
                <a:cs typeface="Helvetica Neue"/>
              </a:rPr>
              <a:t>Corrective actions stayed blocked</a:t>
            </a:r>
          </a:p>
        </p:txBody>
      </p:sp>
    </p:spTree>
    <p:extLst>
      <p:ext uri="{BB962C8B-B14F-4D97-AF65-F5344CB8AC3E}">
        <p14:creationId xmlns:p14="http://schemas.microsoft.com/office/powerpoint/2010/main" val="398828374"/>
      </p:ext>
    </p:extLst>
  </p:cSld>
</p:sld>
</file>

<file path=ppt/slides/slide1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923CE4E-100A-4C50-8E3A-F8F97AE65888}"/>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The current test cannot establish a final root cause</a:t>
            </a:r>
          </a:p>
        </p:txBody>
      </p:sp>
      <p:sp>
        <p:nvSpPr>
          <p:cNvPr id="2" name="">
            <a:extLst xmlns:a="http://schemas.openxmlformats.org/drawingml/2006/main">
              <a:ext uri="{FF2B5EF4-FFF2-40B4-BE49-F238E27FC236}">
                <a16:creationId xmlns:a16="http://schemas.microsoft.com/office/drawing/2014/main" id="{E50AC124-7CB2-4E69-976F-1474E671FA07}"/>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method can find good questions and hypotheses, but the evidence package cannot prove the physical mechanism.</a:t>
            </a:r>
          </a:p>
        </p:txBody>
      </p:sp>
      <p:sp>
        <p:nvSpPr>
          <p:cNvPr id="3" name="">
            <a:extLst xmlns:a="http://schemas.openxmlformats.org/drawingml/2006/main">
              <a:ext uri="{FF2B5EF4-FFF2-40B4-BE49-F238E27FC236}">
                <a16:creationId xmlns:a16="http://schemas.microsoft.com/office/drawing/2014/main" id="{CC0CA429-AEB9-47B7-A800-F6856296086F}"/>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D937C47-A493-4170-AD28-5D82CE1D1824}"/>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Sources: Try 4 qwen verification findings and post-run evaluation</a:t>
            </a:r>
          </a:p>
        </p:txBody>
      </p:sp>
      <p:sp>
        <p:nvSpPr>
          <p:cNvPr id="5" name="">
            <a:extLst xmlns:a="http://schemas.openxmlformats.org/drawingml/2006/main">
              <a:ext uri="{FF2B5EF4-FFF2-40B4-BE49-F238E27FC236}">
                <a16:creationId xmlns:a16="http://schemas.microsoft.com/office/drawing/2014/main" id="{A54AEB6B-CD43-4985-91EC-680A81B0F258}"/>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15</a:t>
            </a:r>
          </a:p>
        </p:txBody>
      </p:sp>
      <p:sp>
        <p:nvSpPr>
          <p:cNvPr id="6" name="">
            <a:extLst xmlns:a="http://schemas.openxmlformats.org/drawingml/2006/main">
              <a:ext uri="{FF2B5EF4-FFF2-40B4-BE49-F238E27FC236}">
                <a16:creationId xmlns:a16="http://schemas.microsoft.com/office/drawing/2014/main" id="{5FF53FF5-635D-44FA-B8AD-AE17C1C84333}"/>
              </a:ext>
            </a:extLst>
          </p:cNvPr>
          <p:cNvSpPr>
            <a:spLocks xmlns:a="http://schemas.openxmlformats.org/drawingml/2006/main" noGrp="1"/>
          </p:cNvSpPr>
          <p:nvPr/>
        </p:nvSpPr>
        <p:spPr>
          <a:xfrm xmlns:a="http://schemas.openxmlformats.org/drawingml/2006/main">
            <a:off x="723900" y="1638300"/>
            <a:ext cx="76200" cy="209550"/>
          </a:xfrm>
          <a:prstGeom xmlns:a="http://schemas.openxmlformats.org/drawingml/2006/main" prst="rect">
            <a:avLst/>
          </a:prstGeom>
          <a:solidFill xmlns:a="http://schemas.openxmlformats.org/drawingml/2006/main">
            <a:srgbClr val="168B8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119CB99-A5C4-4AEB-9E45-9C2653E0D370}"/>
              </a:ext>
            </a:extLst>
          </p:cNvPr>
          <p:cNvSpPr>
            <a:spLocks xmlns:a="http://schemas.openxmlformats.org/drawingml/2006/main" noGrp="1"/>
          </p:cNvSpPr>
          <p:nvPr/>
        </p:nvSpPr>
        <p:spPr>
          <a:xfrm xmlns:a="http://schemas.openxmlformats.org/drawingml/2006/main">
            <a:off x="895350" y="1600200"/>
            <a:ext cx="430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WHAT THE PACKAGE ESTABLISHES</a:t>
            </a:r>
          </a:p>
        </p:txBody>
      </p:sp>
      <p:sp>
        <p:nvSpPr>
          <p:cNvPr id="8" name="">
            <a:extLst xmlns:a="http://schemas.openxmlformats.org/drawingml/2006/main">
              <a:ext uri="{FF2B5EF4-FFF2-40B4-BE49-F238E27FC236}">
                <a16:creationId xmlns:a16="http://schemas.microsoft.com/office/drawing/2014/main" id="{91CA3D11-ED7D-45E2-A7DB-1A0DBD05C206}"/>
              </a:ext>
            </a:extLst>
          </p:cNvPr>
          <p:cNvSpPr>
            <a:spLocks xmlns:a="http://schemas.openxmlformats.org/drawingml/2006/main" noGrp="1"/>
          </p:cNvSpPr>
          <p:nvPr/>
        </p:nvSpPr>
        <p:spPr>
          <a:xfrm xmlns:a="http://schemas.openxmlformats.org/drawingml/2006/main">
            <a:off x="781050" y="2076450"/>
            <a:ext cx="43815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beam fell with the keeper present.</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rolls had been removed.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balance remained raised.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B hydraulics had been isolated and bled.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gravity-control record had gaps.</a:t>
            </a:r>
          </a:p>
        </p:txBody>
      </p:sp>
      <p:sp>
        <p:nvSpPr>
          <p:cNvPr id="9" name="">
            <a:extLst xmlns:a="http://schemas.openxmlformats.org/drawingml/2006/main">
              <a:ext uri="{FF2B5EF4-FFF2-40B4-BE49-F238E27FC236}">
                <a16:creationId xmlns:a16="http://schemas.microsoft.com/office/drawing/2014/main" id="{FC85DCC6-0A5D-4926-B0C5-096905A64285}"/>
              </a:ext>
            </a:extLst>
          </p:cNvPr>
          <p:cNvSpPr>
            <a:spLocks xmlns:a="http://schemas.openxmlformats.org/drawingml/2006/main" noGrp="1"/>
          </p:cNvSpPr>
          <p:nvPr/>
        </p:nvSpPr>
        <p:spPr>
          <a:xfrm xmlns:a="http://schemas.openxmlformats.org/drawingml/2006/main">
            <a:off x="5619750" y="1581150"/>
            <a:ext cx="19050" cy="426720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753F49D-6706-4AEF-9861-82B6A08F4DE0}"/>
              </a:ext>
            </a:extLst>
          </p:cNvPr>
          <p:cNvSpPr>
            <a:spLocks xmlns:a="http://schemas.openxmlformats.org/drawingml/2006/main" noGrp="1"/>
          </p:cNvSpPr>
          <p:nvPr/>
        </p:nvSpPr>
        <p:spPr>
          <a:xfrm xmlns:a="http://schemas.openxmlformats.org/drawingml/2006/main">
            <a:off x="6229350" y="1638300"/>
            <a:ext cx="76200" cy="209550"/>
          </a:xfrm>
          <a:prstGeom xmlns:a="http://schemas.openxmlformats.org/drawingml/2006/main" prst="rect">
            <a:avLst/>
          </a:prstGeom>
          <a:solidFill xmlns:a="http://schemas.openxmlformats.org/drawingml/2006/main">
            <a:srgbClr val="C9564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9AE0D9C-BBD7-4165-9CB1-8E03B1530E02}"/>
              </a:ext>
            </a:extLst>
          </p:cNvPr>
          <p:cNvSpPr>
            <a:spLocks xmlns:a="http://schemas.openxmlformats.org/drawingml/2006/main" noGrp="1"/>
          </p:cNvSpPr>
          <p:nvPr/>
        </p:nvSpPr>
        <p:spPr>
          <a:xfrm xmlns:a="http://schemas.openxmlformats.org/drawingml/2006/main">
            <a:off x="6400800" y="16002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WHAT THE PACKAGE DOES NOT PROVE</a:t>
            </a:r>
          </a:p>
        </p:txBody>
      </p:sp>
      <p:sp>
        <p:nvSpPr>
          <p:cNvPr id="12" name="">
            <a:extLst xmlns:a="http://schemas.openxmlformats.org/drawingml/2006/main">
              <a:ext uri="{FF2B5EF4-FFF2-40B4-BE49-F238E27FC236}">
                <a16:creationId xmlns:a16="http://schemas.microsoft.com/office/drawing/2014/main" id="{3A947983-7D0D-4AE4-A14A-6622DD7262CE}"/>
              </a:ext>
            </a:extLst>
          </p:cNvPr>
          <p:cNvSpPr>
            <a:spLocks xmlns:a="http://schemas.openxmlformats.org/drawingml/2006/main" noGrp="1"/>
          </p:cNvSpPr>
          <p:nvPr/>
        </p:nvSpPr>
        <p:spPr>
          <a:xfrm xmlns:a="http://schemas.openxmlformats.org/drawingml/2006/main">
            <a:off x="6286500" y="2076450"/>
            <a:ext cx="47625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keeper's load-bearing function.</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required support or stopper arrangement.</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Whether supports were installed, removed, or failed.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exact release mechanism.</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Which procedural gap caused the physical failure.</a:t>
            </a:r>
          </a:p>
        </p:txBody>
      </p:sp>
      <p:sp>
        <p:nvSpPr>
          <p:cNvPr id="13" name="">
            <a:extLst xmlns:a="http://schemas.openxmlformats.org/drawingml/2006/main">
              <a:ext uri="{FF2B5EF4-FFF2-40B4-BE49-F238E27FC236}">
                <a16:creationId xmlns:a16="http://schemas.microsoft.com/office/drawing/2014/main" id="{C298027B-4835-4C98-B868-193BC4385CF0}"/>
              </a:ext>
            </a:extLst>
          </p:cNvPr>
          <p:cNvSpPr>
            <a:spLocks xmlns:a="http://schemas.openxmlformats.org/drawingml/2006/main" noGrp="1"/>
          </p:cNvSpPr>
          <p:nvPr/>
        </p:nvSpPr>
        <p:spPr>
          <a:xfrm xmlns:a="http://schemas.openxmlformats.org/drawingml/2006/main">
            <a:off x="2171700" y="5524500"/>
            <a:ext cx="784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948"/>
          </a:bodyPr>
          <a:lstStyle xmlns:a="http://schemas.openxmlformats.org/drawingml/2006/main"/>
          <a:p xmlns:a="http://schemas.openxmlformats.org/drawingml/2006/main">
            <a:pPr algn="ctr">
              <a:defRPr sz="2250" b="1">
                <a:solidFill>
                  <a:srgbClr val="10263C"/>
                </a:solidFill>
                <a:latin typeface="Helvetica Neue"/>
                <a:ea typeface="Helvetica Neue"/>
                <a:cs typeface="Helvetica Neue"/>
              </a:defRPr>
            </a:pPr>
            <a:r>
              <a:rPr sz="2250" b="1">
                <a:solidFill>
                  <a:srgbClr val="10263C"/>
                </a:solidFill>
                <a:latin typeface="Helvetica Neue"/>
                <a:ea typeface="Helvetica Neue"/>
                <a:cs typeface="Helvetica Neue"/>
              </a:rPr>
              <a:t>The test mixes model limitations with missing ground truth</a:t>
            </a:r>
          </a:p>
        </p:txBody>
      </p:sp>
    </p:spTree>
    <p:extLst>
      <p:ext uri="{BB962C8B-B14F-4D97-AF65-F5344CB8AC3E}">
        <p14:creationId xmlns:p14="http://schemas.microsoft.com/office/powerpoint/2010/main" val="218355795"/>
      </p:ext>
    </p:extLst>
  </p:cSld>
</p:sld>
</file>

<file path=ppt/slides/slide1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22578EC-5C33-4BBF-AF31-98BC3D105DFC}"/>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A partner RCA can create a valid ground-truth test</a:t>
            </a:r>
          </a:p>
        </p:txBody>
      </p:sp>
      <p:sp>
        <p:nvSpPr>
          <p:cNvPr id="2" name="">
            <a:extLst xmlns:a="http://schemas.openxmlformats.org/drawingml/2006/main">
              <a:ext uri="{FF2B5EF4-FFF2-40B4-BE49-F238E27FC236}">
                <a16:creationId xmlns:a16="http://schemas.microsoft.com/office/drawing/2014/main" id="{9203511C-08D9-45F9-956B-F6E0B5786D8F}"/>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completed RCA provides the answer key. Its underlying evidence provides the fair model input.</a:t>
            </a:r>
          </a:p>
        </p:txBody>
      </p:sp>
      <p:sp>
        <p:nvSpPr>
          <p:cNvPr id="3" name="">
            <a:extLst xmlns:a="http://schemas.openxmlformats.org/drawingml/2006/main">
              <a:ext uri="{FF2B5EF4-FFF2-40B4-BE49-F238E27FC236}">
                <a16:creationId xmlns:a16="http://schemas.microsoft.com/office/drawing/2014/main" id="{37ACE60D-6D02-415A-B964-6F408B2D3A1E}"/>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01DE419-2AD7-42D8-8D05-76F6B3D1D29F}"/>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Recommended validation design based on the current benchmark limitation</a:t>
            </a:r>
          </a:p>
        </p:txBody>
      </p:sp>
      <p:sp>
        <p:nvSpPr>
          <p:cNvPr id="5" name="">
            <a:extLst xmlns:a="http://schemas.openxmlformats.org/drawingml/2006/main">
              <a:ext uri="{FF2B5EF4-FFF2-40B4-BE49-F238E27FC236}">
                <a16:creationId xmlns:a16="http://schemas.microsoft.com/office/drawing/2014/main" id="{FF272B42-1CFF-4078-94CC-9B17E98DFA53}"/>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16</a:t>
            </a:r>
          </a:p>
        </p:txBody>
      </p:sp>
      <p:sp>
        <p:nvSpPr>
          <p:cNvPr id="6" name="">
            <a:extLst xmlns:a="http://schemas.openxmlformats.org/drawingml/2006/main">
              <a:ext uri="{FF2B5EF4-FFF2-40B4-BE49-F238E27FC236}">
                <a16:creationId xmlns:a16="http://schemas.microsoft.com/office/drawing/2014/main" id="{4E536AEE-D8A5-46E2-B1C9-85CC096C951D}"/>
              </a:ext>
            </a:extLst>
          </p:cNvPr>
          <p:cNvSpPr>
            <a:spLocks xmlns:a="http://schemas.openxmlformats.org/drawingml/2006/main" noGrp="1"/>
          </p:cNvSpPr>
          <p:nvPr/>
        </p:nvSpPr>
        <p:spPr>
          <a:xfrm xmlns:a="http://schemas.openxmlformats.org/drawingml/2006/main">
            <a:off x="666750" y="1924050"/>
            <a:ext cx="2095500" cy="781050"/>
          </a:xfrm>
          <a:prstGeom xmlns:a="http://schemas.openxmlformats.org/drawingml/2006/main" prst="roundRect">
            <a:avLst>
              <a:gd name="adj" fmla="val 9756"/>
            </a:avLst>
          </a:prstGeom>
          <a:solidFill xmlns:a="http://schemas.openxmlformats.org/drawingml/2006/main">
            <a:srgbClr val="F7E5BE"/>
          </a:solidFill>
          <a:ln xmlns:a="http://schemas.openxmlformats.org/drawingml/2006/main" w="9525">
            <a:solidFill>
              <a:srgbClr val="E5A32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Partner's completed RCA</a:t>
            </a:r>
          </a:p>
        </p:txBody>
      </p:sp>
      <p:sp>
        <p:nvSpPr>
          <p:cNvPr id="7" name="">
            <a:extLst xmlns:a="http://schemas.openxmlformats.org/drawingml/2006/main">
              <a:ext uri="{FF2B5EF4-FFF2-40B4-BE49-F238E27FC236}">
                <a16:creationId xmlns:a16="http://schemas.microsoft.com/office/drawing/2014/main" id="{03526B64-6684-4455-AFDE-E710D41367BF}"/>
              </a:ext>
            </a:extLst>
          </p:cNvPr>
          <p:cNvSpPr>
            <a:spLocks xmlns:a="http://schemas.openxmlformats.org/drawingml/2006/main" noGrp="1"/>
          </p:cNvSpPr>
          <p:nvPr/>
        </p:nvSpPr>
        <p:spPr>
          <a:xfrm xmlns:a="http://schemas.openxmlformats.org/drawingml/2006/main">
            <a:off x="3524250" y="1924050"/>
            <a:ext cx="2381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93153"/>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Identify accepted sequence,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mechanism, barriers, and causes</a:t>
            </a:r>
          </a:p>
        </p:txBody>
      </p:sp>
      <p:sp>
        <p:nvSpPr>
          <p:cNvPr id="8" name="">
            <a:extLst xmlns:a="http://schemas.openxmlformats.org/drawingml/2006/main">
              <a:ext uri="{FF2B5EF4-FFF2-40B4-BE49-F238E27FC236}">
                <a16:creationId xmlns:a16="http://schemas.microsoft.com/office/drawing/2014/main" id="{31855299-6A1E-4AFB-AB75-CB96D6ADFBAB}"/>
              </a:ext>
            </a:extLst>
          </p:cNvPr>
          <p:cNvSpPr>
            <a:spLocks xmlns:a="http://schemas.openxmlformats.org/drawingml/2006/main" noGrp="1"/>
          </p:cNvSpPr>
          <p:nvPr/>
        </p:nvSpPr>
        <p:spPr>
          <a:xfrm xmlns:a="http://schemas.openxmlformats.org/drawingml/2006/main">
            <a:off x="6667500" y="1924050"/>
            <a:ext cx="2381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9918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Assemble only the records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used to reach those findings</a:t>
            </a:r>
          </a:p>
        </p:txBody>
      </p:sp>
      <p:sp>
        <p:nvSpPr>
          <p:cNvPr id="9" name="">
            <a:extLst xmlns:a="http://schemas.openxmlformats.org/drawingml/2006/main">
              <a:ext uri="{FF2B5EF4-FFF2-40B4-BE49-F238E27FC236}">
                <a16:creationId xmlns:a16="http://schemas.microsoft.com/office/drawing/2014/main" id="{3187FC9F-7A8F-49C4-AEC3-471AE4C107B4}"/>
              </a:ext>
            </a:extLst>
          </p:cNvPr>
          <p:cNvSpPr>
            <a:spLocks xmlns:a="http://schemas.openxmlformats.org/drawingml/2006/main" noGrp="1"/>
          </p:cNvSpPr>
          <p:nvPr/>
        </p:nvSpPr>
        <p:spPr>
          <a:xfrm xmlns:a="http://schemas.openxmlformats.org/drawingml/2006/main">
            <a:off x="9810750" y="1924050"/>
            <a:ext cx="1714500" cy="781050"/>
          </a:xfrm>
          <a:prstGeom xmlns:a="http://schemas.openxmlformats.org/drawingml/2006/main" prst="roundRect">
            <a:avLst>
              <a:gd name="adj" fmla="val 9756"/>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Run blind model tests</a:t>
            </a:r>
          </a:p>
        </p:txBody>
      </p: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2762250" y="2314575"/>
            <a:ext cx="76200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5905500" y="2314575"/>
            <a:ext cx="76200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a:off x="9048750" y="2314575"/>
            <a:ext cx="76200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sp>
        <p:nvSpPr>
          <p:cNvPr id="13" name="">
            <a:extLst xmlns:a="http://schemas.openxmlformats.org/drawingml/2006/main">
              <a:ext uri="{FF2B5EF4-FFF2-40B4-BE49-F238E27FC236}">
                <a16:creationId xmlns:a16="http://schemas.microsoft.com/office/drawing/2014/main" id="{79ADB670-9BE0-4603-B345-5B660F3DD758}"/>
              </a:ext>
            </a:extLst>
          </p:cNvPr>
          <p:cNvSpPr>
            <a:spLocks xmlns:a="http://schemas.openxmlformats.org/drawingml/2006/main" noGrp="1"/>
          </p:cNvSpPr>
          <p:nvPr/>
        </p:nvSpPr>
        <p:spPr>
          <a:xfrm xmlns:a="http://schemas.openxmlformats.org/drawingml/2006/main">
            <a:off x="1524000" y="3619500"/>
            <a:ext cx="9144000" cy="19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A92300A-9FDB-4192-AAA8-FD84A16942D3}"/>
              </a:ext>
            </a:extLst>
          </p:cNvPr>
          <p:cNvSpPr>
            <a:spLocks xmlns:a="http://schemas.openxmlformats.org/drawingml/2006/main" noGrp="1"/>
          </p:cNvSpPr>
          <p:nvPr/>
        </p:nvSpPr>
        <p:spPr>
          <a:xfrm xmlns:a="http://schemas.openxmlformats.org/drawingml/2006/main">
            <a:off x="1619250" y="39624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722"/>
          </a:bodyPr>
          <a:lstStyle xmlns:a="http://schemas.openxmlformats.org/drawingml/2006/main"/>
          <a:p xmlns:a="http://schemas.openxmlformats.org/drawingml/2006/main">
            <a:pPr algn="l">
              <a:defRPr sz="1800" b="1">
                <a:solidFill>
                  <a:srgbClr val="168B85"/>
                </a:solidFill>
                <a:latin typeface="Helvetica Neue"/>
                <a:ea typeface="Helvetica Neue"/>
                <a:cs typeface="Helvetica Neue"/>
              </a:defRPr>
            </a:pPr>
            <a:r>
              <a:rPr sz="1800" b="1">
                <a:solidFill>
                  <a:srgbClr val="168B85"/>
                </a:solidFill>
                <a:latin typeface="Helvetica Neue"/>
                <a:ea typeface="Helvetica Neue"/>
                <a:cs typeface="Helvetica Neue"/>
              </a:rPr>
              <a:t>Fair test</a:t>
            </a:r>
          </a:p>
        </p:txBody>
      </p:sp>
      <p:sp>
        <p:nvSpPr>
          <p:cNvPr id="15" name="">
            <a:extLst xmlns:a="http://schemas.openxmlformats.org/drawingml/2006/main">
              <a:ext uri="{FF2B5EF4-FFF2-40B4-BE49-F238E27FC236}">
                <a16:creationId xmlns:a16="http://schemas.microsoft.com/office/drawing/2014/main" id="{94B326D5-4F21-46F7-B2BF-B68107A33205}"/>
              </a:ext>
            </a:extLst>
          </p:cNvPr>
          <p:cNvSpPr>
            <a:spLocks xmlns:a="http://schemas.openxmlformats.org/drawingml/2006/main" noGrp="1"/>
          </p:cNvSpPr>
          <p:nvPr/>
        </p:nvSpPr>
        <p:spPr>
          <a:xfrm xmlns:a="http://schemas.openxmlformats.org/drawingml/2006/main">
            <a:off x="1619250" y="4400550"/>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588"/>
          </a:bodyPr>
          <a:lstStyle xmlns:a="http://schemas.openxmlformats.org/drawingml/2006/main"/>
          <a:p xmlns:a="http://schemas.openxmlformats.org/drawingml/2006/main">
            <a:pPr algn="l">
              <a:defRPr sz="1575" b="0">
                <a:solidFill>
                  <a:srgbClr val="425466"/>
                </a:solidFill>
                <a:latin typeface="Helvetica Neue"/>
                <a:ea typeface="Helvetica Neue"/>
                <a:cs typeface="Helvetica Neue"/>
              </a:defRPr>
            </a:pPr>
            <a:r>
              <a:rPr sz="1575" b="0">
                <a:solidFill>
                  <a:srgbClr val="425466"/>
                </a:solidFill>
                <a:latin typeface="Helvetica Neue"/>
                <a:ea typeface="Helvetica Neue"/>
                <a:cs typeface="Helvetica Neue"/>
              </a:rPr>
              <a:t>Models receive the underlying documents without the completed RCA.</a:t>
            </a:r>
          </a:p>
        </p:txBody>
      </p:sp>
      <p:sp>
        <p:nvSpPr>
          <p:cNvPr id="16" name="">
            <a:extLst xmlns:a="http://schemas.openxmlformats.org/drawingml/2006/main">
              <a:ext uri="{FF2B5EF4-FFF2-40B4-BE49-F238E27FC236}">
                <a16:creationId xmlns:a16="http://schemas.microsoft.com/office/drawing/2014/main" id="{4D6F4EEA-512B-4DAB-94D5-38B481662DB3}"/>
              </a:ext>
            </a:extLst>
          </p:cNvPr>
          <p:cNvSpPr>
            <a:spLocks xmlns:a="http://schemas.openxmlformats.org/drawingml/2006/main" noGrp="1"/>
          </p:cNvSpPr>
          <p:nvPr/>
        </p:nvSpPr>
        <p:spPr>
          <a:xfrm xmlns:a="http://schemas.openxmlformats.org/drawingml/2006/main">
            <a:off x="5524500" y="39624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722"/>
          </a:bodyPr>
          <a:lstStyle xmlns:a="http://schemas.openxmlformats.org/drawingml/2006/main"/>
          <a:p xmlns:a="http://schemas.openxmlformats.org/drawingml/2006/main">
            <a:pPr algn="l">
              <a:defRPr sz="1800" b="1">
                <a:solidFill>
                  <a:srgbClr val="E5A32D"/>
                </a:solidFill>
                <a:latin typeface="Helvetica Neue"/>
                <a:ea typeface="Helvetica Neue"/>
                <a:cs typeface="Helvetica Neue"/>
              </a:defRPr>
            </a:pPr>
            <a:r>
              <a:rPr sz="1800" b="1">
                <a:solidFill>
                  <a:srgbClr val="E5A32D"/>
                </a:solidFill>
                <a:latin typeface="Helvetica Neue"/>
                <a:ea typeface="Helvetica Neue"/>
                <a:cs typeface="Helvetica Neue"/>
              </a:rPr>
              <a:t>Ground truth</a:t>
            </a:r>
          </a:p>
        </p:txBody>
      </p:sp>
      <p:sp>
        <p:nvSpPr>
          <p:cNvPr id="17" name="">
            <a:extLst xmlns:a="http://schemas.openxmlformats.org/drawingml/2006/main">
              <a:ext uri="{FF2B5EF4-FFF2-40B4-BE49-F238E27FC236}">
                <a16:creationId xmlns:a16="http://schemas.microsoft.com/office/drawing/2014/main" id="{E4614C79-DBFB-4712-A182-BA92894E52D4}"/>
              </a:ext>
            </a:extLst>
          </p:cNvPr>
          <p:cNvSpPr>
            <a:spLocks xmlns:a="http://schemas.openxmlformats.org/drawingml/2006/main" noGrp="1"/>
          </p:cNvSpPr>
          <p:nvPr/>
        </p:nvSpPr>
        <p:spPr>
          <a:xfrm xmlns:a="http://schemas.openxmlformats.org/drawingml/2006/main">
            <a:off x="5524500" y="4400550"/>
            <a:ext cx="352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p xmlns:a="http://schemas.openxmlformats.org/drawingml/2006/main">
            <a:pPr algn="l">
              <a:defRPr sz="1575" b="0">
                <a:solidFill>
                  <a:srgbClr val="425466"/>
                </a:solidFill>
                <a:latin typeface="Helvetica Neue"/>
                <a:ea typeface="Helvetica Neue"/>
                <a:cs typeface="Helvetica Neue"/>
              </a:defRPr>
            </a:pPr>
            <a:r>
              <a:rPr sz="1575" b="0">
                <a:solidFill>
                  <a:srgbClr val="425466"/>
                </a:solidFill>
                <a:latin typeface="Helvetica Neue"/>
                <a:ea typeface="Helvetica Neue"/>
                <a:cs typeface="Helvetica Neue"/>
              </a:rPr>
              <a:t>Reviewers compare each model's causal chain with the partner's accepted findings.</a:t>
            </a:r>
          </a:p>
        </p:txBody>
      </p:sp>
      <p:sp>
        <p:nvSpPr>
          <p:cNvPr id="18" name="">
            <a:extLst xmlns:a="http://schemas.openxmlformats.org/drawingml/2006/main">
              <a:ext uri="{FF2B5EF4-FFF2-40B4-BE49-F238E27FC236}">
                <a16:creationId xmlns:a16="http://schemas.microsoft.com/office/drawing/2014/main" id="{915FD8AA-0E1D-479E-99DB-BF7B07E7006E}"/>
              </a:ext>
            </a:extLst>
          </p:cNvPr>
          <p:cNvSpPr>
            <a:spLocks xmlns:a="http://schemas.openxmlformats.org/drawingml/2006/main" noGrp="1"/>
          </p:cNvSpPr>
          <p:nvPr/>
        </p:nvSpPr>
        <p:spPr>
          <a:xfrm xmlns:a="http://schemas.openxmlformats.org/drawingml/2006/main">
            <a:off x="9239250" y="39624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722"/>
          </a:bodyPr>
          <a:lstStyle xmlns:a="http://schemas.openxmlformats.org/drawingml/2006/main"/>
          <a:p xmlns:a="http://schemas.openxmlformats.org/drawingml/2006/main">
            <a:pPr algn="l">
              <a:defRPr sz="1800" b="1">
                <a:solidFill>
                  <a:srgbClr val="3377B5"/>
                </a:solidFill>
                <a:latin typeface="Helvetica Neue"/>
                <a:ea typeface="Helvetica Neue"/>
                <a:cs typeface="Helvetica Neue"/>
              </a:defRPr>
            </a:pPr>
            <a:r>
              <a:rPr sz="1800" b="1">
                <a:solidFill>
                  <a:srgbClr val="3377B5"/>
                </a:solidFill>
                <a:latin typeface="Helvetica Neue"/>
                <a:ea typeface="Helvetica Neue"/>
                <a:cs typeface="Helvetica Neue"/>
              </a:rPr>
              <a:t>What improves</a:t>
            </a:r>
          </a:p>
        </p:txBody>
      </p:sp>
      <p:sp>
        <p:nvSpPr>
          <p:cNvPr id="19" name="">
            <a:extLst xmlns:a="http://schemas.openxmlformats.org/drawingml/2006/main">
              <a:ext uri="{FF2B5EF4-FFF2-40B4-BE49-F238E27FC236}">
                <a16:creationId xmlns:a16="http://schemas.microsoft.com/office/drawing/2014/main" id="{9953CDBF-B249-46CC-88F0-1B2E1EF2E3D9}"/>
              </a:ext>
            </a:extLst>
          </p:cNvPr>
          <p:cNvSpPr>
            <a:spLocks xmlns:a="http://schemas.openxmlformats.org/drawingml/2006/main" noGrp="1"/>
          </p:cNvSpPr>
          <p:nvPr/>
        </p:nvSpPr>
        <p:spPr>
          <a:xfrm xmlns:a="http://schemas.openxmlformats.org/drawingml/2006/main">
            <a:off x="9239250" y="44005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3488"/>
          </a:bodyPr>
          <a:lstStyle xmlns:a="http://schemas.openxmlformats.org/drawingml/2006/main"/>
          <a:p xmlns:a="http://schemas.openxmlformats.org/drawingml/2006/main">
            <a:pPr algn="l">
              <a:defRPr sz="1575" b="0">
                <a:solidFill>
                  <a:srgbClr val="425466"/>
                </a:solidFill>
                <a:latin typeface="Helvetica Neue"/>
                <a:ea typeface="Helvetica Neue"/>
                <a:cs typeface="Helvetica Neue"/>
              </a:defRPr>
            </a:pPr>
            <a:r>
              <a:rPr sz="1575" b="0">
                <a:solidFill>
                  <a:srgbClr val="425466"/>
                </a:solidFill>
                <a:latin typeface="Helvetica Neue"/>
                <a:ea typeface="Helvetica Neue"/>
                <a:cs typeface="Helvetica Neue"/>
              </a:rPr>
              <a:t>The test can separate missing data from failures in the method or model.</a:t>
            </a:r>
          </a:p>
        </p:txBody>
      </p:sp>
      <p:sp>
        <p:nvSpPr>
          <p:cNvPr id="20" name="">
            <a:extLst xmlns:a="http://schemas.openxmlformats.org/drawingml/2006/main">
              <a:ext uri="{FF2B5EF4-FFF2-40B4-BE49-F238E27FC236}">
                <a16:creationId xmlns:a16="http://schemas.microsoft.com/office/drawing/2014/main" id="{754E8BEE-B24D-40F1-BB36-4443AFDE4937}"/>
              </a:ext>
            </a:extLst>
          </p:cNvPr>
          <p:cNvSpPr>
            <a:spLocks xmlns:a="http://schemas.openxmlformats.org/drawingml/2006/main" noGrp="1"/>
          </p:cNvSpPr>
          <p:nvPr/>
        </p:nvSpPr>
        <p:spPr>
          <a:xfrm xmlns:a="http://schemas.openxmlformats.org/drawingml/2006/main">
            <a:off x="1943100" y="5638800"/>
            <a:ext cx="830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834"/>
          </a:bodyPr>
          <a:lstStyle xmlns:a="http://schemas.openxmlformats.org/drawingml/2006/main"/>
          <a:p xmlns:a="http://schemas.openxmlformats.org/drawingml/2006/main">
            <a:pPr algn="ctr">
              <a:defRPr sz="2100" b="1">
                <a:solidFill>
                  <a:srgbClr val="10263C"/>
                </a:solidFill>
                <a:latin typeface="Helvetica Neue"/>
                <a:ea typeface="Helvetica Neue"/>
                <a:cs typeface="Helvetica Neue"/>
              </a:defRPr>
            </a:pPr>
            <a:r>
              <a:rPr sz="2100" b="1">
                <a:solidFill>
                  <a:srgbClr val="10263C"/>
                </a:solidFill>
                <a:latin typeface="Helvetica Neue"/>
                <a:ea typeface="Helvetica Neue"/>
                <a:cs typeface="Helvetica Neue"/>
              </a:rPr>
              <a:t>Best next input: the partner RCA plus every source record it relied on</a:t>
            </a:r>
          </a:p>
        </p:txBody>
      </p:sp>
    </p:spTree>
    <p:extLst>
      <p:ext uri="{BB962C8B-B14F-4D97-AF65-F5344CB8AC3E}">
        <p14:creationId xmlns:p14="http://schemas.microsoft.com/office/powerpoint/2010/main" val="8480455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2026-09-08T14:32:10.4540000Z</dcterms:created>
  <dcterms:modified xsi:type="dcterms:W3CDTF">2026-09-08T14:32:10.4540000Z</dcterms:modified>
</coreProperties>
</file>