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00f9b96935c46dc" /><Relationship Type="http://schemas.openxmlformats.org/officeDocument/2006/relationships/extended-properties" Target="/docProps/app.xml" Id="Reae7c1483b544bc7" /><Relationship Type="http://schemas.openxmlformats.org/officeDocument/2006/relationships/officeDocument" Target="/ppt/presentation.xml" Id="R1f1bc0e86c8344de" /></Relationships>
</file>

<file path=ppt/presentation.xml><?xml version="1.0" encoding="utf-8"?>
<p:presentation xmlns:p="http://schemas.openxmlformats.org/presentationml/2006/main">
  <p:sldMasterIdLst>
    <p:sldMasterId xmlns:r="http://schemas.openxmlformats.org/officeDocument/2006/relationships" id="2147483648" r:id="Ra920fc0fd54640ac"/>
  </p:sldMasterIdLst>
  <p:notesMasterIdLst>
    <p:notesMasterId xmlns:r="http://schemas.openxmlformats.org/officeDocument/2006/relationships" r:id="R4f1cb5fd646f4b2a"/>
  </p:notesMasterIdLst>
  <p:sldIdLst>
    <p:sldId xmlns:r="http://schemas.openxmlformats.org/officeDocument/2006/relationships" id="256" r:id="Rcba55344a1464b0d"/>
    <p:sldId xmlns:r="http://schemas.openxmlformats.org/officeDocument/2006/relationships" id="257" r:id="R9f4b08d9b6fa4d7e"/>
    <p:sldId xmlns:r="http://schemas.openxmlformats.org/officeDocument/2006/relationships" id="258" r:id="R23ba31c6a93d4b16"/>
    <p:sldId xmlns:r="http://schemas.openxmlformats.org/officeDocument/2006/relationships" id="259" r:id="R020454396fda4452"/>
    <p:sldId xmlns:r="http://schemas.openxmlformats.org/officeDocument/2006/relationships" id="260" r:id="Re3604092593148bf"/>
    <p:sldId xmlns:r="http://schemas.openxmlformats.org/officeDocument/2006/relationships" id="261" r:id="Rf6db280fcac1409d"/>
    <p:sldId xmlns:r="http://schemas.openxmlformats.org/officeDocument/2006/relationships" id="262" r:id="R68b3917694824c40"/>
    <p:sldId xmlns:r="http://schemas.openxmlformats.org/officeDocument/2006/relationships" id="263" r:id="R07a1605da80b4c15"/>
    <p:sldId xmlns:r="http://schemas.openxmlformats.org/officeDocument/2006/relationships" id="264" r:id="Re7c3d0090c13486f"/>
    <p:sldId xmlns:r="http://schemas.openxmlformats.org/officeDocument/2006/relationships" id="265" r:id="R65ba35563e6b4bfc"/>
    <p:sldId xmlns:r="http://schemas.openxmlformats.org/officeDocument/2006/relationships" id="266" r:id="R58bc89a944cb4604"/>
    <p:sldId xmlns:r="http://schemas.openxmlformats.org/officeDocument/2006/relationships" id="267" r:id="R931c6be989b644a7"/>
    <p:sldId xmlns:r="http://schemas.openxmlformats.org/officeDocument/2006/relationships" id="268" r:id="Rc93bd7c739e945f5"/>
    <p:sldId xmlns:r="http://schemas.openxmlformats.org/officeDocument/2006/relationships" id="269" r:id="R512f62ade0a34cd9"/>
    <p:sldId xmlns:r="http://schemas.openxmlformats.org/officeDocument/2006/relationships" id="270" r:id="R67e0d063a11849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b880a1018447c8" /><Relationship Type="http://schemas.openxmlformats.org/officeDocument/2006/relationships/slideMaster" Target="/ppt/slideMasters/slideMaster1.xml" Id="Ra920fc0fd54640ac" /><Relationship Type="http://schemas.openxmlformats.org/officeDocument/2006/relationships/notesMaster" Target="/ppt/notesMasters/notesMaster1.xml" Id="R4f1cb5fd646f4b2a" /><Relationship Type="http://schemas.openxmlformats.org/officeDocument/2006/relationships/presProps" Target="/ppt/presProps.xml" Id="R9d61cec54a48432a" /><Relationship Type="http://schemas.openxmlformats.org/officeDocument/2006/relationships/tableStyles" Target="/ppt/tableStyles.xml" Id="Rb25fca5c441147ac" /><Relationship Type="http://schemas.openxmlformats.org/officeDocument/2006/relationships/slide" Target="/ppt/slides/slide1.xml" Id="Rcba55344a1464b0d" /><Relationship Type="http://schemas.openxmlformats.org/officeDocument/2006/relationships/slide" Target="/ppt/slides/slide2.xml" Id="R9f4b08d9b6fa4d7e" /><Relationship Type="http://schemas.openxmlformats.org/officeDocument/2006/relationships/slide" Target="/ppt/slides/slide3.xml" Id="R23ba31c6a93d4b16" /><Relationship Type="http://schemas.openxmlformats.org/officeDocument/2006/relationships/slide" Target="/ppt/slides/slide4.xml" Id="R020454396fda4452" /><Relationship Type="http://schemas.openxmlformats.org/officeDocument/2006/relationships/slide" Target="/ppt/slides/slide5.xml" Id="Re3604092593148bf" /><Relationship Type="http://schemas.openxmlformats.org/officeDocument/2006/relationships/slide" Target="/ppt/slides/slide6.xml" Id="Rf6db280fcac1409d" /><Relationship Type="http://schemas.openxmlformats.org/officeDocument/2006/relationships/slide" Target="/ppt/slides/slide7.xml" Id="R68b3917694824c40" /><Relationship Type="http://schemas.openxmlformats.org/officeDocument/2006/relationships/slide" Target="/ppt/slides/slide8.xml" Id="R07a1605da80b4c15" /><Relationship Type="http://schemas.openxmlformats.org/officeDocument/2006/relationships/slide" Target="/ppt/slides/slide9.xml" Id="Re7c3d0090c13486f" /><Relationship Type="http://schemas.openxmlformats.org/officeDocument/2006/relationships/slide" Target="/ppt/slides/slide10.xml" Id="R65ba35563e6b4bfc" /><Relationship Type="http://schemas.openxmlformats.org/officeDocument/2006/relationships/slide" Target="/ppt/slides/slide11.xml" Id="R58bc89a944cb4604" /><Relationship Type="http://schemas.openxmlformats.org/officeDocument/2006/relationships/slide" Target="/ppt/slides/slide12.xml" Id="R931c6be989b644a7" /><Relationship Type="http://schemas.openxmlformats.org/officeDocument/2006/relationships/slide" Target="/ppt/slides/slide13.xml" Id="Rc93bd7c739e945f5" /><Relationship Type="http://schemas.openxmlformats.org/officeDocument/2006/relationships/slide" Target="/ppt/slides/slide14.xml" Id="R512f62ade0a34cd9" /><Relationship Type="http://schemas.openxmlformats.org/officeDocument/2006/relationships/slide" Target="/ppt/slides/slide15.xml" Id="R67e0d063a11849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d3c4c4fd484a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1fb552c548475e" /><Relationship Type="http://schemas.openxmlformats.org/officeDocument/2006/relationships/notesMaster" Target="/ppt/notesMasters/notesMaster1.xml" Id="R0d176db444c347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455b9f4bae4742" /><Relationship Type="http://schemas.openxmlformats.org/officeDocument/2006/relationships/notesMaster" Target="/ppt/notesMasters/notesMaster1.xml" Id="R60b7496df4f94f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34afa071ea4bb9" /><Relationship Type="http://schemas.openxmlformats.org/officeDocument/2006/relationships/notesMaster" Target="/ppt/notesMasters/notesMaster1.xml" Id="Rb943f66a8ca64a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cc5a1ecec543a0" /><Relationship Type="http://schemas.openxmlformats.org/officeDocument/2006/relationships/notesMaster" Target="/ppt/notesMasters/notesMaster1.xml" Id="R76af2b5cc84045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136e5622054796" /><Relationship Type="http://schemas.openxmlformats.org/officeDocument/2006/relationships/notesMaster" Target="/ppt/notesMasters/notesMaster1.xml" Id="R3ff378da24cf4b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f8d082e92849dd" /><Relationship Type="http://schemas.openxmlformats.org/officeDocument/2006/relationships/notesMaster" Target="/ppt/notesMasters/notesMaster1.xml" Id="R6e8d01a37bce4d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525abb95814e13" /><Relationship Type="http://schemas.openxmlformats.org/officeDocument/2006/relationships/notesMaster" Target="/ppt/notesMasters/notesMaster1.xml" Id="R2eda5840d35546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fef46770204a5c" /><Relationship Type="http://schemas.openxmlformats.org/officeDocument/2006/relationships/notesMaster" Target="/ppt/notesMasters/notesMaster1.xml" Id="R5c17c75dca594c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988f023efc4910" /><Relationship Type="http://schemas.openxmlformats.org/officeDocument/2006/relationships/notesMaster" Target="/ppt/notesMasters/notesMaster1.xml" Id="Re890733661494b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f5fb5e4817448f" /><Relationship Type="http://schemas.openxmlformats.org/officeDocument/2006/relationships/notesMaster" Target="/ppt/notesMasters/notesMaster1.xml" Id="Rb2e83b3dfc014c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345079c3c944fd" /><Relationship Type="http://schemas.openxmlformats.org/officeDocument/2006/relationships/notesMaster" Target="/ppt/notesMasters/notesMaster1.xml" Id="Rcc285346e42941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a1da830de3424a" /><Relationship Type="http://schemas.openxmlformats.org/officeDocument/2006/relationships/notesMaster" Target="/ppt/notesMasters/notesMaster1.xml" Id="Rf17b13fd4a6c40b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59cd1b5d6748f1" /><Relationship Type="http://schemas.openxmlformats.org/officeDocument/2006/relationships/notesMaster" Target="/ppt/notesMasters/notesMaster1.xml" Id="R37bbd91882e940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c7116e329f4755" /><Relationship Type="http://schemas.openxmlformats.org/officeDocument/2006/relationships/notesMaster" Target="/ppt/notesMasters/notesMaster1.xml" Id="Rf3ee5671302c4cf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11a7a7069a4427" /><Relationship Type="http://schemas.openxmlformats.org/officeDocument/2006/relationships/notesMaster" Target="/ppt/notesMasters/notesMaster1.xml" Id="Re6d49f49f94940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Try 3 benchmark results and Try 4 qwen3.5 evaluation produced in the RCA Fieldwork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score leader: qwen3.5 at 64/100. Try 4 qwen3.5 score: 68/100 using the same rubric. Try 4 did not test other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architecture summary. The flow is simplified for presentation and preserves the model-track separation described in the evaluation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Rubric weights: comprehension 10, tags 10, questions 15, evidence targeting 15, provenance and contradictions 15, causal reasoning 20, corrective actions 10, calibration and trace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rubric wording from evaluation_protocol.md, shortened only for slide fit without changing the scoring meaning.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scores: qwen3.5 64, qwen2.5 38, gemma3 31, mistral 29, llama3.1 27, hermes3 18, llama3.2 17, phi4-mini-reasoning 13, deepseek-r1 0, granite3.3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Explanations summarize the detailed findings in Try 3 benchmark_results.md.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3 lower-ranked model findings. Zero scores reflect the absence of a committed artifact, not a claim that the models have no general capability.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Cross-model findings from Try 3: no scored output detected the seeded conflicts, several stages failed structured validation, and multiple boards contained weak or reversed causal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4 changes implemented in the duplicated application. No model combination or model fallback was used in the scored qwen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scored Try 4 run had 15 completed checkpoints, no failed reasoning stages, and one blocked corrective-action stage. Runtime was approximately 23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Dimension scores. Try 3 qwen: 9, 8, 13, 13, 4, 6, 7, 4. Try 4 qwen: 9, 9, 13, 14, 6, 12, 0, 5. Totals are 64 and 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Simplified rendering of the Try 4 qwen causal board. The actual board contains 13 nodes and 7 links. None were verified. Six blocking findings remained.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synthetic package contains useful records but lacks authoritative design and execution evidence required to verify the beam-release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next validation step. Do not give the completed RCA to the model during the blind test. Use it as the scoring reference and supply the underlying evidence records as model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5ac0a295544b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de7dd7ec4648f9" /><Relationship Type="http://schemas.openxmlformats.org/officeDocument/2006/relationships/slideLayout" Target="/ppt/slideLayouts/slideLayout1.xml" Id="R463853f3e01649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3853f3e01649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217b24bc3b49ee" /><Relationship Type="http://schemas.openxmlformats.org/officeDocument/2006/relationships/notesSlide" Target="/ppt/notesSlides/notesSlide1.xml" Id="R96af6364fae942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f40983ea3f4712" /><Relationship Type="http://schemas.openxmlformats.org/officeDocument/2006/relationships/notesSlide" Target="/ppt/notesSlides/notesSlide2.xml" Id="R6dfca642a60c4c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9525c9dbb344a0" /><Relationship Type="http://schemas.openxmlformats.org/officeDocument/2006/relationships/notesSlide" Target="/ppt/notesSlides/notesSlide3.xml" Id="R8aab1c34792748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e829bb722d47fe" /><Relationship Type="http://schemas.openxmlformats.org/officeDocument/2006/relationships/chart" Target="/ppt/slides/charts/chart1.xml" Id="R926e80e2e3cd4daa" /><Relationship Type="http://schemas.openxmlformats.org/officeDocument/2006/relationships/notesSlide" Target="/ppt/notesSlides/notesSlide4.xml" Id="R907c3fe1ff954c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19dc8ac5e494491" /><Relationship Type="http://schemas.openxmlformats.org/officeDocument/2006/relationships/notesSlide" Target="/ppt/notesSlides/notesSlide5.xml" Id="Rd5a7d145263c43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308ab7e3b24fd9" /><Relationship Type="http://schemas.openxmlformats.org/officeDocument/2006/relationships/chart" Target="/ppt/slides/charts/chart2.xml" Id="R9519f2c3c0ec4419" /><Relationship Type="http://schemas.openxmlformats.org/officeDocument/2006/relationships/notesSlide" Target="/ppt/notesSlides/notesSlide6.xml" Id="R58e75bc5a38e4a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8bf379cd0e428e" /><Relationship Type="http://schemas.openxmlformats.org/officeDocument/2006/relationships/notesSlide" Target="/ppt/notesSlides/notesSlide7.xml" Id="Re2b7f4cc69aa47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ca2adc4b1340d9" /><Relationship Type="http://schemas.openxmlformats.org/officeDocument/2006/relationships/notesSlide" Target="/ppt/notesSlides/notesSlide8.xml" Id="R65a8729db67b4f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556978fb1148b4" /><Relationship Type="http://schemas.openxmlformats.org/officeDocument/2006/relationships/notesSlide" Target="/ppt/notesSlides/notesSlide9.xml" Id="R604be47561b24d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ab54a835da74837" /><Relationship Type="http://schemas.openxmlformats.org/officeDocument/2006/relationships/notesSlide" Target="/ppt/notesSlides/notesSlide10.xml" Id="R50e91aa875d945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55f1e4b2e024105" /><Relationship Type="http://schemas.openxmlformats.org/officeDocument/2006/relationships/notesSlide" Target="/ppt/notesSlides/notesSlide11.xml" Id="R59dd8c55161b437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769ff995c2b4705" /><Relationship Type="http://schemas.openxmlformats.org/officeDocument/2006/relationships/chart" Target="/ppt/slides/charts/chart3.xml" Id="Rcaff52f255774fb5" /><Relationship Type="http://schemas.openxmlformats.org/officeDocument/2006/relationships/notesSlide" Target="/ppt/notesSlides/notesSlide12.xml" Id="Rb0da012de01049e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f6fef2b6f8245eb" /><Relationship Type="http://schemas.openxmlformats.org/officeDocument/2006/relationships/notesSlide" Target="/ppt/notesSlides/notesSlide13.xml" Id="R02d6b01c92f94b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6b31b4eeb754cce" /><Relationship Type="http://schemas.openxmlformats.org/officeDocument/2006/relationships/notesSlide" Target="/ppt/notesSlides/notesSlide14.xml" Id="R0c8ce626fb934f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97e8af7cef24af6" /><Relationship Type="http://schemas.openxmlformats.org/officeDocument/2006/relationships/notesSlide" Target="/ppt/notesSlides/notesSlide15.xml" Id="R5efd8f3e6e84416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Available points</c:v>
          </c:tx>
          <c:spPr>
            <a:solidFill xmlns:a="http://schemas.openxmlformats.org/drawingml/2006/main">
              <a:srgbClr val="3377B5"/>
            </a:solidFill>
          </c:spPr>
          <c:cat>
            <c:strRef>
              <c:f>'Chart Data'!$A$2:$A$9</c:f>
              <c:strCache>
                <c:ptCount val="8"/>
                <c:pt idx="0">
                  <c:v>Causal reasoning</c:v>
                </c:pt>
                <c:pt idx="1">
                  <c:v>Questions</c:v>
                </c:pt>
                <c:pt idx="2">
                  <c:v>Evidence targeting</c:v>
                </c:pt>
                <c:pt idx="3">
                  <c:v>Provenance</c:v>
                </c:pt>
                <c:pt idx="4">
                  <c:v>Comprehension</c:v>
                </c:pt>
                <c:pt idx="5">
                  <c:v>Tags</c:v>
                </c:pt>
                <c:pt idx="6">
                  <c:v>Corrective actions</c:v>
                </c:pt>
                <c:pt idx="7">
                  <c:v>Calibration</c:v>
                </c:pt>
              </c:strCache>
            </c:strRef>
          </c:cat>
          <c:val>
            <c:numRef>
              <c:f>'Chart Data'!$B$2:$B$9</c:f>
              <c:numCache>
                <c:formatCode>General</c:formatCode>
                <c:ptCount val="8"/>
                <c:pt idx="0">
                  <c:v>20</c:v>
                </c:pt>
                <c:pt idx="1">
                  <c:v>15</c:v>
                </c:pt>
                <c:pt idx="2">
                  <c:v>15</c:v>
                </c:pt>
                <c:pt idx="3">
                  <c:v>15</c:v>
                </c:pt>
                <c:pt idx="4">
                  <c:v>10</c:v>
                </c:pt>
                <c:pt idx="5">
                  <c:v>10</c:v>
                </c:pt>
                <c:pt idx="6">
                  <c:v>10</c:v>
                </c:pt>
                <c:pt idx="7">
                  <c:v>5</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026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CCD3D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B7B8C"/>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CD3D9"/>
            </a:solidFill>
            <a:prstDash val="solid"/>
          </a:ln>
        </c:spPr>
        <c:txPr>
          <a:bodyPr xmlns:a="http://schemas.openxmlformats.org/drawingml/2006/main" anchorCtr="1"/>
          <a:lstStyle xmlns:a="http://schemas.openxmlformats.org/drawingml/2006/main"/>
          <a:p xmlns:a="http://schemas.openxmlformats.org/drawingml/2006/main">
            <a:pPr>
              <a:defRPr sz="1125">
                <a:solidFill>
                  <a:srgbClr val="17212B"/>
                </a:solidFill>
                <a:latin typeface="Helvetica Neue"/>
                <a:ea typeface="Helvetica Neue"/>
                <a:cs typeface="Helvetica Neue"/>
              </a:defRPr>
            </a:pPr>
          </a:p>
        </c:txPr>
        <c:crossAx val="48650112"/>
        <c:crossBetween val="between"/>
      </c:valAx>
      <c:spPr>
        <a:solidFill xmlns:a="http://schemas.openxmlformats.org/drawingml/2006/main">
          <a:srgbClr val="F6F3ED"/>
        </a:solidFill>
      </c:spPr>
    </c:plotArea>
    <c:plotVisOnly val="1"/>
  </c:chart>
  <c:spPr>
    <a:solidFill xmlns:a="http://schemas.openxmlformats.org/drawingml/2006/main">
      <a:srgbClr val="F6F3ED"/>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Score out of 100</c:v>
          </c:tx>
          <c:spPr>
            <a:solidFill xmlns:a="http://schemas.openxmlformats.org/drawingml/2006/main">
              <a:srgbClr val="3377B5"/>
            </a:solidFill>
          </c:spPr>
          <c:dPt>
            <c:idx val="0"/>
            <c:invertIfNegative val="0"/>
            <c:spPr>
              <a:solidFill xmlns:a="http://schemas.openxmlformats.org/drawingml/2006/main">
                <a:srgbClr val="168B85"/>
              </a:solidFill>
            </c:spPr>
          </c:dPt>
          <c:dPt>
            <c:idx val="8"/>
            <c:invertIfNegative val="0"/>
            <c:spPr>
              <a:solidFill xmlns:a="http://schemas.openxmlformats.org/drawingml/2006/main">
                <a:srgbClr val="C9564D"/>
              </a:solidFill>
            </c:spPr>
          </c:dPt>
          <c:dPt>
            <c:idx val="9"/>
            <c:invertIfNegative val="0"/>
            <c:spPr>
              <a:solidFill xmlns:a="http://schemas.openxmlformats.org/drawingml/2006/main">
                <a:srgbClr val="C9564D"/>
              </a:solidFill>
            </c:spPr>
          </c:dPt>
          <c:cat>
            <c:strRef>
              <c:f>'Chart Data'!$A$2:$A$11</c:f>
              <c:strCache>
                <c:ptCount val="10"/>
                <c:pt idx="0">
                  <c:v>qwen3.5</c:v>
                </c:pt>
                <c:pt idx="1">
                  <c:v>qwen2.5</c:v>
                </c:pt>
                <c:pt idx="2">
                  <c:v>gemma3</c:v>
                </c:pt>
                <c:pt idx="3">
                  <c:v>mistral</c:v>
                </c:pt>
                <c:pt idx="4">
                  <c:v>llama3.1</c:v>
                </c:pt>
                <c:pt idx="5">
                  <c:v>hermes3</c:v>
                </c:pt>
                <c:pt idx="6">
                  <c:v>llama3.2</c:v>
                </c:pt>
                <c:pt idx="7">
                  <c:v>phi4-mini</c:v>
                </c:pt>
                <c:pt idx="8">
                  <c:v>deepseek-r1</c:v>
                </c:pt>
                <c:pt idx="9">
                  <c:v>granite3.3</c:v>
                </c:pt>
              </c:strCache>
            </c:strRef>
          </c:cat>
          <c:val>
            <c:numRef>
              <c:f>'Chart Data'!$B$2:$B$11</c:f>
              <c:numCache>
                <c:formatCode>General</c:formatCode>
                <c:ptCount val="10"/>
                <c:pt idx="0">
                  <c:v>64</c:v>
                </c:pt>
                <c:pt idx="1">
                  <c:v>38</c:v>
                </c:pt>
                <c:pt idx="2">
                  <c:v>31</c:v>
                </c:pt>
                <c:pt idx="3">
                  <c:v>29</c:v>
                </c:pt>
                <c:pt idx="4">
                  <c:v>27</c:v>
                </c:pt>
                <c:pt idx="5">
                  <c:v>18</c:v>
                </c:pt>
                <c:pt idx="6">
                  <c:v>17</c:v>
                </c:pt>
                <c:pt idx="7">
                  <c:v>13</c:v>
                </c:pt>
                <c:pt idx="8">
                  <c:v>0</c:v>
                </c:pt>
                <c:pt idx="9">
                  <c:v>0</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026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majorGridlines>
          <c:spPr>
            <a:ln xmlns:a="http://schemas.openxmlformats.org/drawingml/2006/main" w="9525">
              <a:solidFill>
                <a:srgbClr val="CCD3D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B7B8C"/>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CD3D9"/>
            </a:solidFill>
            <a:prstDash val="solid"/>
          </a:ln>
        </c:spPr>
        <c:txPr>
          <a:bodyPr xmlns:a="http://schemas.openxmlformats.org/drawingml/2006/main" anchorCtr="1"/>
          <a:lstStyle xmlns:a="http://schemas.openxmlformats.org/drawingml/2006/main"/>
          <a:p xmlns:a="http://schemas.openxmlformats.org/drawingml/2006/main">
            <a:pPr>
              <a:defRPr sz="1125">
                <a:solidFill>
                  <a:srgbClr val="17212B"/>
                </a:solidFill>
                <a:latin typeface="Helvetica Neue"/>
                <a:ea typeface="Helvetica Neue"/>
                <a:cs typeface="Helvetica Neue"/>
              </a:defRPr>
            </a:pPr>
          </a:p>
        </c:txPr>
        <c:crossAx val="48650112"/>
        <c:crossBetween val="between"/>
      </c:valAx>
      <c:spPr>
        <a:solidFill xmlns:a="http://schemas.openxmlformats.org/drawingml/2006/main">
          <a:srgbClr val="F6F3ED"/>
        </a:solidFill>
      </c:spPr>
    </c:plotArea>
    <c:plotVisOnly val="1"/>
  </c:chart>
  <c:spPr>
    <a:solidFill xmlns:a="http://schemas.openxmlformats.org/drawingml/2006/main">
      <a:srgbClr val="F6F3ED"/>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Try 3</c:v>
          </c:tx>
          <c:spPr>
            <a:solidFill xmlns:a="http://schemas.openxmlformats.org/drawingml/2006/main">
              <a:srgbClr val="3377B5"/>
            </a:solidFill>
          </c:spPr>
          <c:cat>
            <c:strRef>
              <c:f>'Chart Data'!$A$2:$A$9</c:f>
              <c:strCache>
                <c:ptCount val="8"/>
                <c:pt idx="0">
                  <c:v>Comprehension</c:v>
                </c:pt>
                <c:pt idx="1">
                  <c:v>Tags</c:v>
                </c:pt>
                <c:pt idx="2">
                  <c:v>Questions</c:v>
                </c:pt>
                <c:pt idx="3">
                  <c:v>Evidence targeting</c:v>
                </c:pt>
                <c:pt idx="4">
                  <c:v>Provenance</c:v>
                </c:pt>
                <c:pt idx="5">
                  <c:v>Causal reasoning</c:v>
                </c:pt>
                <c:pt idx="6">
                  <c:v>Corrective actions</c:v>
                </c:pt>
                <c:pt idx="7">
                  <c:v>Calibration</c:v>
                </c:pt>
              </c:strCache>
            </c:strRef>
          </c:cat>
          <c:val>
            <c:numRef>
              <c:f>'Chart Data'!$B$2:$B$9</c:f>
              <c:numCache>
                <c:formatCode>General</c:formatCode>
                <c:ptCount val="8"/>
                <c:pt idx="0">
                  <c:v>9</c:v>
                </c:pt>
                <c:pt idx="1">
                  <c:v>8</c:v>
                </c:pt>
                <c:pt idx="2">
                  <c:v>13</c:v>
                </c:pt>
                <c:pt idx="3">
                  <c:v>13</c:v>
                </c:pt>
                <c:pt idx="4">
                  <c:v>4</c:v>
                </c:pt>
                <c:pt idx="5">
                  <c:v>6</c:v>
                </c:pt>
                <c:pt idx="6">
                  <c:v>7</c:v>
                </c:pt>
                <c:pt idx="7">
                  <c:v>4</c:v>
                </c:pt>
              </c:numCache>
            </c:numRef>
          </c:val>
        </c:ser>
        <c:ser>
          <c:idx val="1"/>
          <c:order val="1"/>
          <c:tx>
            <c:v>Try 4</c:v>
          </c:tx>
          <c:spPr>
            <a:solidFill xmlns:a="http://schemas.openxmlformats.org/drawingml/2006/main">
              <a:srgbClr val="168B85"/>
            </a:solidFill>
          </c:spPr>
          <c:cat>
            <c:strRef>
              <c:f>'Chart Data'!$C$2:$C$9</c:f>
              <c:strCache>
                <c:ptCount val="8"/>
                <c:pt idx="0">
                  <c:v>Comprehension</c:v>
                </c:pt>
                <c:pt idx="1">
                  <c:v>Tags</c:v>
                </c:pt>
                <c:pt idx="2">
                  <c:v>Questions</c:v>
                </c:pt>
                <c:pt idx="3">
                  <c:v>Evidence targeting</c:v>
                </c:pt>
                <c:pt idx="4">
                  <c:v>Provenance</c:v>
                </c:pt>
                <c:pt idx="5">
                  <c:v>Causal reasoning</c:v>
                </c:pt>
                <c:pt idx="6">
                  <c:v>Corrective actions</c:v>
                </c:pt>
                <c:pt idx="7">
                  <c:v>Calibration</c:v>
                </c:pt>
              </c:strCache>
            </c:strRef>
          </c:cat>
          <c:val>
            <c:numRef>
              <c:f>'Chart Data'!$D$2:$D$9</c:f>
              <c:numCache>
                <c:formatCode>General</c:formatCode>
                <c:ptCount val="8"/>
                <c:pt idx="0">
                  <c:v>9</c:v>
                </c:pt>
                <c:pt idx="1">
                  <c:v>9</c:v>
                </c:pt>
                <c:pt idx="2">
                  <c:v>13</c:v>
                </c:pt>
                <c:pt idx="3">
                  <c:v>14</c:v>
                </c:pt>
                <c:pt idx="4">
                  <c:v>6</c:v>
                </c:pt>
                <c:pt idx="5">
                  <c:v>12</c:v>
                </c:pt>
                <c:pt idx="6">
                  <c:v>0</c:v>
                </c:pt>
                <c:pt idx="7">
                  <c:v>5</c:v>
                </c:pt>
              </c:numCache>
            </c:numRef>
          </c:val>
        </c:ser>
        <c:dLbls>
          <c:txPr>
            <a:bodyPr xmlns:a="http://schemas.openxmlformats.org/drawingml/2006/main" anchorCtr="1"/>
            <a:lstStyle xmlns:a="http://schemas.openxmlformats.org/drawingml/2006/main"/>
            <a:p xmlns:a="http://schemas.openxmlformats.org/drawingml/2006/main">
              <a:pPr>
                <a:defRPr sz="900" b="1">
                  <a:solidFill>
                    <a:srgbClr val="1026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9525">
              <a:solidFill>
                <a:srgbClr val="CCD3D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B7B8C"/>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CD3D9"/>
            </a:solidFill>
            <a:prstDash val="solid"/>
          </a:ln>
        </c:spPr>
        <c:txPr>
          <a:bodyPr xmlns:a="http://schemas.openxmlformats.org/drawingml/2006/main" anchorCtr="1"/>
          <a:lstStyle xmlns:a="http://schemas.openxmlformats.org/drawingml/2006/main"/>
          <a:p xmlns:a="http://schemas.openxmlformats.org/drawingml/2006/main">
            <a:pPr>
              <a:defRPr sz="1050">
                <a:solidFill>
                  <a:srgbClr val="17212B"/>
                </a:solidFill>
                <a:latin typeface="Helvetica Neue"/>
                <a:ea typeface="Helvetica Neue"/>
                <a:cs typeface="Helvetica Neue"/>
              </a:defRPr>
            </a:pPr>
          </a:p>
        </c:txPr>
        <c:crossAx val="48650112"/>
        <c:crossBetween val="between"/>
      </c:valAx>
      <c:spPr>
        <a:solidFill xmlns:a="http://schemas.openxmlformats.org/drawingml/2006/main">
          <a:srgbClr val="F6F3ED"/>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7212B"/>
              </a:solidFill>
              <a:latin typeface="Helvetica Neue"/>
              <a:ea typeface="Helvetica Neue"/>
              <a:cs typeface="Helvetica Neue"/>
            </a:defRPr>
          </a:pPr>
        </a:p>
      </c:txPr>
    </c:legend>
    <c:plotVisOnly val="1"/>
  </c:chart>
  <c:spPr>
    <a:solidFill xmlns:a="http://schemas.openxmlformats.org/drawingml/2006/main">
      <a:srgbClr val="F6F3ED"/>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63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54A0A4-B920-4F19-913E-B7AE27FB38A6}"/>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094DDFA-28D0-4BB8-9445-063E622E48B5}"/>
              </a:ext>
            </a:extLst>
          </p:cNvPr>
          <p:cNvSpPr>
            <a:spLocks xmlns:a="http://schemas.openxmlformats.org/drawingml/2006/main" noGrp="1"/>
          </p:cNvSpPr>
          <p:nvPr/>
        </p:nvSpPr>
        <p:spPr>
          <a:xfrm xmlns:a="http://schemas.openxmlformats.org/drawingml/2006/main">
            <a:off x="781050" y="1238250"/>
            <a:ext cx="885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782"/>
          </a:bodyPr>
          <a:lstStyle xmlns:a="http://schemas.openxmlformats.org/drawingml/2006/main"/>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RCA Fieldwork</a:t>
            </a:r>
          </a:p>
        </p:txBody>
      </p:sp>
      <p:sp>
        <p:nvSpPr>
          <p:cNvPr id="3" name="">
            <a:extLst xmlns:a="http://schemas.openxmlformats.org/drawingml/2006/main">
              <a:ext uri="{FF2B5EF4-FFF2-40B4-BE49-F238E27FC236}">
                <a16:creationId xmlns:a16="http://schemas.microsoft.com/office/drawing/2014/main" id="{55FA0821-29CD-461E-A48E-06AA36281C0A}"/>
              </a:ext>
            </a:extLst>
          </p:cNvPr>
          <p:cNvSpPr>
            <a:spLocks xmlns:a="http://schemas.openxmlformats.org/drawingml/2006/main" noGrp="1"/>
          </p:cNvSpPr>
          <p:nvPr/>
        </p:nvSpPr>
        <p:spPr>
          <a:xfrm xmlns:a="http://schemas.openxmlformats.org/drawingml/2006/main">
            <a:off x="819150" y="2095500"/>
            <a:ext cx="9620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325" b="0">
                <a:solidFill>
                  <a:srgbClr val="D8E3EB"/>
                </a:solidFill>
                <a:latin typeface="Helvetica Neue"/>
                <a:ea typeface="Helvetica Neue"/>
                <a:cs typeface="Helvetica Neue"/>
              </a:defRPr>
            </a:pPr>
            <a:r>
              <a:rPr sz="2325" b="0">
                <a:solidFill>
                  <a:srgbClr val="D8E3EB"/>
                </a:solidFill>
                <a:latin typeface="Helvetica Neue"/>
                <a:ea typeface="Helvetica Neue"/>
                <a:cs typeface="Helvetica Neue"/>
              </a:rPr>
              <a:t>What Try 3 tested, what Try 4 changed, and why the investigation remains open</a:t>
            </a:r>
          </a:p>
        </p:txBody>
      </p:sp>
      <p:sp>
        <p:nvSpPr>
          <p:cNvPr id="4" name="">
            <a:extLst xmlns:a="http://schemas.openxmlformats.org/drawingml/2006/main">
              <a:ext uri="{FF2B5EF4-FFF2-40B4-BE49-F238E27FC236}">
                <a16:creationId xmlns:a16="http://schemas.microsoft.com/office/drawing/2014/main" id="{251D2111-5431-483D-8F6B-7DBE39EC2523}"/>
              </a:ext>
            </a:extLst>
          </p:cNvPr>
          <p:cNvSpPr>
            <a:spLocks xmlns:a="http://schemas.openxmlformats.org/drawingml/2006/main" noGrp="1"/>
          </p:cNvSpPr>
          <p:nvPr/>
        </p:nvSpPr>
        <p:spPr>
          <a:xfrm xmlns:a="http://schemas.openxmlformats.org/drawingml/2006/main">
            <a:off x="819150" y="3467100"/>
            <a:ext cx="228600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DAAF8D1-ED38-4145-8E83-6BA05B2B3465}"/>
              </a:ext>
            </a:extLst>
          </p:cNvPr>
          <p:cNvSpPr>
            <a:spLocks xmlns:a="http://schemas.openxmlformats.org/drawingml/2006/main" noGrp="1"/>
          </p:cNvSpPr>
          <p:nvPr/>
        </p:nvSpPr>
        <p:spPr>
          <a:xfrm xmlns:a="http://schemas.openxmlformats.org/drawingml/2006/main">
            <a:off x="819150" y="3743325"/>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275" b="1">
                <a:solidFill>
                  <a:srgbClr val="E5A32D"/>
                </a:solidFill>
                <a:latin typeface="Helvetica Neue"/>
                <a:ea typeface="Helvetica Neue"/>
                <a:cs typeface="Helvetica Neue"/>
              </a:defRPr>
            </a:pPr>
            <a:r>
              <a:rPr sz="1275" b="1">
                <a:solidFill>
                  <a:srgbClr val="E5A32D"/>
                </a:solidFill>
                <a:latin typeface="Helvetica Neue"/>
                <a:ea typeface="Helvetica Neue"/>
                <a:cs typeface="Helvetica Neue"/>
              </a:rPr>
              <a:t>R3 EXIT CARRIER BEAM CASE</a:t>
            </a:r>
          </a:p>
        </p:txBody>
      </p:sp>
      <p:sp>
        <p:nvSpPr>
          <p:cNvPr id="6" name="">
            <a:extLst xmlns:a="http://schemas.openxmlformats.org/drawingml/2006/main">
              <a:ext uri="{FF2B5EF4-FFF2-40B4-BE49-F238E27FC236}">
                <a16:creationId xmlns:a16="http://schemas.microsoft.com/office/drawing/2014/main" id="{E0CBACCD-9830-4BB2-8028-3336B7D33733}"/>
              </a:ext>
            </a:extLst>
          </p:cNvPr>
          <p:cNvSpPr>
            <a:spLocks xmlns:a="http://schemas.openxmlformats.org/drawingml/2006/main" noGrp="1"/>
          </p:cNvSpPr>
          <p:nvPr/>
        </p:nvSpPr>
        <p:spPr>
          <a:xfrm xmlns:a="http://schemas.openxmlformats.org/drawingml/2006/main">
            <a:off x="819150" y="4143375"/>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Model behavior benchmark and causal-analysis review</a:t>
            </a:r>
          </a:p>
        </p:txBody>
      </p:sp>
      <p:sp>
        <p:nvSpPr>
          <p:cNvPr id="7" name="">
            <a:extLst xmlns:a="http://schemas.openxmlformats.org/drawingml/2006/main">
              <a:ext uri="{FF2B5EF4-FFF2-40B4-BE49-F238E27FC236}">
                <a16:creationId xmlns:a16="http://schemas.microsoft.com/office/drawing/2014/main" id="{D91E86CA-1DD9-41F9-AC03-FEBC59854B6B}"/>
              </a:ext>
            </a:extLst>
          </p:cNvPr>
          <p:cNvSpPr>
            <a:spLocks xmlns:a="http://schemas.openxmlformats.org/drawingml/2006/main" noGrp="1"/>
          </p:cNvSpPr>
          <p:nvPr/>
        </p:nvSpPr>
        <p:spPr>
          <a:xfrm xmlns:a="http://schemas.openxmlformats.org/drawingml/2006/main">
            <a:off x="819150" y="60388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1111"/>
          </a:bodyPr>
          <a:lstStyle xmlns:a="http://schemas.openxmlformats.org/drawingml/2006/main"/>
          <a:p xmlns:a="http://schemas.openxmlformats.org/drawingml/2006/main">
            <a:pPr algn="l">
              <a:defRPr sz="1125" b="0">
                <a:solidFill>
                  <a:srgbClr val="9FB2C1"/>
                </a:solidFill>
                <a:latin typeface="Helvetica Neue"/>
                <a:ea typeface="Helvetica Neue"/>
                <a:cs typeface="Helvetica Neue"/>
              </a:defRPr>
            </a:pPr>
            <a:r>
              <a:rPr sz="1125" b="0">
                <a:solidFill>
                  <a:srgbClr val="9FB2C1"/>
                </a:solidFill>
                <a:latin typeface="Helvetica Neue"/>
                <a:ea typeface="Helvetica Neue"/>
                <a:cs typeface="Helvetica Neue"/>
              </a:rPr>
              <a:t>September 2026</a:t>
            </a:r>
          </a:p>
        </p:txBody>
      </p:sp>
    </p:spTree>
    <p:extLst>
      <p:ext uri="{BB962C8B-B14F-4D97-AF65-F5344CB8AC3E}">
        <p14:creationId xmlns:p14="http://schemas.microsoft.com/office/powerpoint/2010/main" val="3266018"/>
      </p:ext>
    </p:extLst>
  </p:cSld>
</p:sld>
</file>

<file path=ppt/slides/slide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18226AB-7AD6-4DD4-B0BC-6231BCC3C1B9}"/>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Two experiments with different purposes</a:t>
            </a:r>
          </a:p>
        </p:txBody>
      </p:sp>
      <p:sp>
        <p:nvSpPr>
          <p:cNvPr id="2" name="">
            <a:extLst xmlns:a="http://schemas.openxmlformats.org/drawingml/2006/main">
              <a:ext uri="{FF2B5EF4-FFF2-40B4-BE49-F238E27FC236}">
                <a16:creationId xmlns:a16="http://schemas.microsoft.com/office/drawing/2014/main" id="{13A8B65A-409B-4F85-B6EC-79B332E3122F}"/>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Try 3 compared models. Try 4 strengthened the investigation harness around the best model.</a:t>
            </a:r>
          </a:p>
        </p:txBody>
      </p:sp>
      <p:sp>
        <p:nvSpPr>
          <p:cNvPr id="3" name="">
            <a:extLst xmlns:a="http://schemas.openxmlformats.org/drawingml/2006/main">
              <a:ext uri="{FF2B5EF4-FFF2-40B4-BE49-F238E27FC236}">
                <a16:creationId xmlns:a16="http://schemas.microsoft.com/office/drawing/2014/main" id="{1F0E6E93-5A13-4831-81AB-0D6DFC13A1DD}"/>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8DBBE61-54FF-4D8F-A1F8-A7074CB90D38}"/>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Sources: Try 3 benchmark results; Try 4 evaluation report</a:t>
            </a:r>
          </a:p>
        </p:txBody>
      </p:sp>
      <p:sp>
        <p:nvSpPr>
          <p:cNvPr id="5" name="">
            <a:extLst xmlns:a="http://schemas.openxmlformats.org/drawingml/2006/main">
              <a:ext uri="{FF2B5EF4-FFF2-40B4-BE49-F238E27FC236}">
                <a16:creationId xmlns:a16="http://schemas.microsoft.com/office/drawing/2014/main" id="{4DDD1DD9-5E95-4759-A5E3-7BCDD8830197}"/>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21788591-C825-43DC-A9FA-28ADDE7C427E}"/>
              </a:ext>
            </a:extLst>
          </p:cNvPr>
          <p:cNvSpPr>
            <a:spLocks xmlns:a="http://schemas.openxmlformats.org/drawingml/2006/main" noGrp="1"/>
          </p:cNvSpPr>
          <p:nvPr/>
        </p:nvSpPr>
        <p:spPr>
          <a:xfrm xmlns:a="http://schemas.openxmlformats.org/drawingml/2006/main">
            <a:off x="723900" y="1619250"/>
            <a:ext cx="76200" cy="209550"/>
          </a:xfrm>
          <a:prstGeom xmlns:a="http://schemas.openxmlformats.org/drawingml/2006/main" prst="rect">
            <a:avLst/>
          </a:prstGeom>
          <a:solidFill xmlns:a="http://schemas.openxmlformats.org/drawingml/2006/main">
            <a:srgbClr val="3377B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A5F19ED-F866-4933-91A9-F661A3C73582}"/>
              </a:ext>
            </a:extLst>
          </p:cNvPr>
          <p:cNvSpPr>
            <a:spLocks xmlns:a="http://schemas.openxmlformats.org/drawingml/2006/main" noGrp="1"/>
          </p:cNvSpPr>
          <p:nvPr/>
        </p:nvSpPr>
        <p:spPr>
          <a:xfrm xmlns:a="http://schemas.openxmlformats.org/drawingml/2006/main">
            <a:off x="895350" y="1581150"/>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TRY 3</a:t>
            </a:r>
          </a:p>
        </p:txBody>
      </p:sp>
      <p:sp>
        <p:nvSpPr>
          <p:cNvPr id="8" name="">
            <a:extLst xmlns:a="http://schemas.openxmlformats.org/drawingml/2006/main">
              <a:ext uri="{FF2B5EF4-FFF2-40B4-BE49-F238E27FC236}">
                <a16:creationId xmlns:a16="http://schemas.microsoft.com/office/drawing/2014/main" id="{C3843552-62CF-4B9C-A405-79353B1D1892}"/>
              </a:ext>
            </a:extLst>
          </p:cNvPr>
          <p:cNvSpPr>
            <a:spLocks xmlns:a="http://schemas.openxmlformats.org/drawingml/2006/main" noGrp="1"/>
          </p:cNvSpPr>
          <p:nvPr/>
        </p:nvSpPr>
        <p:spPr>
          <a:xfrm xmlns:a="http://schemas.openxmlformats.org/drawingml/2006/main">
            <a:off x="723900" y="1952625"/>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0263C"/>
                </a:solidFill>
                <a:latin typeface="Helvetica Neue"/>
                <a:ea typeface="Helvetica Neue"/>
                <a:cs typeface="Helvetica Neue"/>
              </a:defRPr>
            </a:pPr>
            <a:r>
              <a:rPr sz="2550" b="1">
                <a:solidFill>
                  <a:srgbClr val="10263C"/>
                </a:solidFill>
                <a:latin typeface="Helvetica Neue"/>
                <a:ea typeface="Helvetica Neue"/>
                <a:cs typeface="Helvetica Neue"/>
              </a:rPr>
              <a:t>Model benchmark</a:t>
            </a:r>
          </a:p>
        </p:txBody>
      </p:sp>
      <p:sp>
        <p:nvSpPr>
          <p:cNvPr id="9" name="">
            <a:extLst xmlns:a="http://schemas.openxmlformats.org/drawingml/2006/main">
              <a:ext uri="{FF2B5EF4-FFF2-40B4-BE49-F238E27FC236}">
                <a16:creationId xmlns:a16="http://schemas.microsoft.com/office/drawing/2014/main" id="{5426FDBD-214D-4207-BB82-3978492552BA}"/>
              </a:ext>
            </a:extLst>
          </p:cNvPr>
          <p:cNvSpPr>
            <a:spLocks xmlns:a="http://schemas.openxmlformats.org/drawingml/2006/main" noGrp="1"/>
          </p:cNvSpPr>
          <p:nvPr/>
        </p:nvSpPr>
        <p:spPr>
          <a:xfrm xmlns:a="http://schemas.openxmlformats.org/drawingml/2006/main">
            <a:off x="723900" y="2552700"/>
            <a:ext cx="4095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425466"/>
                </a:solidFill>
                <a:latin typeface="Helvetica Neue"/>
                <a:ea typeface="Helvetica Neue"/>
                <a:cs typeface="Helvetica Neue"/>
              </a:defRPr>
            </a:pPr>
            <a:r>
              <a:rPr sz="1650" b="0">
                <a:solidFill>
                  <a:srgbClr val="425466"/>
                </a:solidFill>
                <a:latin typeface="Helvetica Neue"/>
                <a:ea typeface="Helvetica Neue"/>
                <a:cs typeface="Helvetica Neue"/>
              </a:rPr>
              <a:t>Ten installed Ollama models received independent R3 incidents and the same evidence framework.</a:t>
            </a:r>
          </a:p>
        </p:txBody>
      </p:sp>
      <p:sp>
        <p:nvSpPr>
          <p:cNvPr id="10" name="">
            <a:extLst xmlns:a="http://schemas.openxmlformats.org/drawingml/2006/main">
              <a:ext uri="{FF2B5EF4-FFF2-40B4-BE49-F238E27FC236}">
                <a16:creationId xmlns:a16="http://schemas.microsoft.com/office/drawing/2014/main" id="{666451D6-44A8-46AB-968F-852D603764C0}"/>
              </a:ext>
            </a:extLst>
          </p:cNvPr>
          <p:cNvSpPr>
            <a:spLocks xmlns:a="http://schemas.openxmlformats.org/drawingml/2006/main" noGrp="1"/>
          </p:cNvSpPr>
          <p:nvPr/>
        </p:nvSpPr>
        <p:spPr>
          <a:xfrm xmlns:a="http://schemas.openxmlformats.org/drawingml/2006/main">
            <a:off x="723900" y="36671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l">
              <a:defRPr sz="1200" b="1">
                <a:solidFill>
                  <a:srgbClr val="3377B5"/>
                </a:solidFill>
                <a:latin typeface="Helvetica Neue"/>
                <a:ea typeface="Helvetica Neue"/>
                <a:cs typeface="Helvetica Neue"/>
              </a:defRPr>
            </a:pPr>
            <a:r>
              <a:rPr sz="1200" b="1">
                <a:solidFill>
                  <a:srgbClr val="3377B5"/>
                </a:solidFill>
                <a:latin typeface="Helvetica Neue"/>
                <a:ea typeface="Helvetica Neue"/>
                <a:cs typeface="Helvetica Neue"/>
              </a:rPr>
              <a:t>Question tested</a:t>
            </a:r>
          </a:p>
        </p:txBody>
      </p:sp>
      <p:sp>
        <p:nvSpPr>
          <p:cNvPr id="11" name="">
            <a:extLst xmlns:a="http://schemas.openxmlformats.org/drawingml/2006/main">
              <a:ext uri="{FF2B5EF4-FFF2-40B4-BE49-F238E27FC236}">
                <a16:creationId xmlns:a16="http://schemas.microsoft.com/office/drawing/2014/main" id="{27E78AE0-A7C8-42EE-AD12-C4955EF51F8A}"/>
              </a:ext>
            </a:extLst>
          </p:cNvPr>
          <p:cNvSpPr>
            <a:spLocks xmlns:a="http://schemas.openxmlformats.org/drawingml/2006/main" noGrp="1"/>
          </p:cNvSpPr>
          <p:nvPr/>
        </p:nvSpPr>
        <p:spPr>
          <a:xfrm xmlns:a="http://schemas.openxmlformats.org/drawingml/2006/main">
            <a:off x="723900" y="3981450"/>
            <a:ext cx="4095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950" b="1">
                <a:solidFill>
                  <a:srgbClr val="17212B"/>
                </a:solidFill>
                <a:latin typeface="Helvetica Neue"/>
                <a:ea typeface="Helvetica Neue"/>
                <a:cs typeface="Helvetica Neue"/>
              </a:defRPr>
            </a:pPr>
            <a:r>
              <a:rPr sz="1950" b="1">
                <a:solidFill>
                  <a:srgbClr val="17212B"/>
                </a:solidFill>
                <a:latin typeface="Helvetica Neue"/>
                <a:ea typeface="Helvetica Neue"/>
                <a:cs typeface="Helvetica Neue"/>
              </a:rPr>
              <a:t>Which local model behaves best inside the existing pipeline?</a:t>
            </a:r>
          </a:p>
        </p:txBody>
      </p:sp>
      <p:sp>
        <p:nvSpPr>
          <p:cNvPr id="12" name="">
            <a:extLst xmlns:a="http://schemas.openxmlformats.org/drawingml/2006/main">
              <a:ext uri="{FF2B5EF4-FFF2-40B4-BE49-F238E27FC236}">
                <a16:creationId xmlns:a16="http://schemas.microsoft.com/office/drawing/2014/main" id="{3AB355E3-E5FC-4014-BB56-27822D351719}"/>
              </a:ext>
            </a:extLst>
          </p:cNvPr>
          <p:cNvSpPr>
            <a:spLocks xmlns:a="http://schemas.openxmlformats.org/drawingml/2006/main" noGrp="1"/>
          </p:cNvSpPr>
          <p:nvPr/>
        </p:nvSpPr>
        <p:spPr>
          <a:xfrm xmlns:a="http://schemas.openxmlformats.org/drawingml/2006/main">
            <a:off x="5619750" y="1543050"/>
            <a:ext cx="19050" cy="4210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02148D7-EABF-4F5E-9ACD-88B7FBA4168E}"/>
              </a:ext>
            </a:extLst>
          </p:cNvPr>
          <p:cNvSpPr>
            <a:spLocks xmlns:a="http://schemas.openxmlformats.org/drawingml/2006/main" noGrp="1"/>
          </p:cNvSpPr>
          <p:nvPr/>
        </p:nvSpPr>
        <p:spPr>
          <a:xfrm xmlns:a="http://schemas.openxmlformats.org/drawingml/2006/main">
            <a:off x="6267450" y="1619250"/>
            <a:ext cx="76200" cy="209550"/>
          </a:xfrm>
          <a:prstGeom xmlns:a="http://schemas.openxmlformats.org/drawingml/2006/main" prst="rect">
            <a:avLst/>
          </a:prstGeom>
          <a:solidFill xmlns:a="http://schemas.openxmlformats.org/drawingml/2006/main">
            <a:srgbClr val="168B8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ABE99B3-2259-4AC2-B88C-52416C938C1C}"/>
              </a:ext>
            </a:extLst>
          </p:cNvPr>
          <p:cNvSpPr>
            <a:spLocks xmlns:a="http://schemas.openxmlformats.org/drawingml/2006/main" noGrp="1"/>
          </p:cNvSpPr>
          <p:nvPr/>
        </p:nvSpPr>
        <p:spPr>
          <a:xfrm xmlns:a="http://schemas.openxmlformats.org/drawingml/2006/main">
            <a:off x="6438900" y="1581150"/>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TRY 4</a:t>
            </a:r>
          </a:p>
        </p:txBody>
      </p:sp>
      <p:sp>
        <p:nvSpPr>
          <p:cNvPr id="15" name="">
            <a:extLst xmlns:a="http://schemas.openxmlformats.org/drawingml/2006/main">
              <a:ext uri="{FF2B5EF4-FFF2-40B4-BE49-F238E27FC236}">
                <a16:creationId xmlns:a16="http://schemas.microsoft.com/office/drawing/2014/main" id="{FBE46DBB-D1D2-40EA-8FC9-C0FB0F43BDDE}"/>
              </a:ext>
            </a:extLst>
          </p:cNvPr>
          <p:cNvSpPr>
            <a:spLocks xmlns:a="http://schemas.openxmlformats.org/drawingml/2006/main" noGrp="1"/>
          </p:cNvSpPr>
          <p:nvPr/>
        </p:nvSpPr>
        <p:spPr>
          <a:xfrm xmlns:a="http://schemas.openxmlformats.org/drawingml/2006/main">
            <a:off x="6267450" y="1952625"/>
            <a:ext cx="419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0263C"/>
                </a:solidFill>
                <a:latin typeface="Helvetica Neue"/>
                <a:ea typeface="Helvetica Neue"/>
                <a:cs typeface="Helvetica Neue"/>
              </a:defRPr>
            </a:pPr>
            <a:r>
              <a:rPr sz="2550" b="1">
                <a:solidFill>
                  <a:srgbClr val="10263C"/>
                </a:solidFill>
                <a:latin typeface="Helvetica Neue"/>
                <a:ea typeface="Helvetica Neue"/>
                <a:cs typeface="Helvetica Neue"/>
              </a:rPr>
              <a:t>Harness validation</a:t>
            </a:r>
          </a:p>
        </p:txBody>
      </p:sp>
      <p:sp>
        <p:nvSpPr>
          <p:cNvPr id="16" name="">
            <a:extLst xmlns:a="http://schemas.openxmlformats.org/drawingml/2006/main">
              <a:ext uri="{FF2B5EF4-FFF2-40B4-BE49-F238E27FC236}">
                <a16:creationId xmlns:a16="http://schemas.microsoft.com/office/drawing/2014/main" id="{94E02426-9624-43F2-B37A-741A01BD447A}"/>
              </a:ext>
            </a:extLst>
          </p:cNvPr>
          <p:cNvSpPr>
            <a:spLocks xmlns:a="http://schemas.openxmlformats.org/drawingml/2006/main" noGrp="1"/>
          </p:cNvSpPr>
          <p:nvPr/>
        </p:nvSpPr>
        <p:spPr>
          <a:xfrm xmlns:a="http://schemas.openxmlformats.org/drawingml/2006/main">
            <a:off x="6267450" y="2552700"/>
            <a:ext cx="44386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425466"/>
                </a:solidFill>
                <a:latin typeface="Helvetica Neue"/>
                <a:ea typeface="Helvetica Neue"/>
                <a:cs typeface="Helvetica Neue"/>
              </a:defRPr>
            </a:pPr>
            <a:r>
              <a:rPr sz="1650" b="0">
                <a:solidFill>
                  <a:srgbClr val="425466"/>
                </a:solidFill>
                <a:latin typeface="Helvetica Neue"/>
                <a:ea typeface="Helvetica Neue"/>
                <a:cs typeface="Helvetica Neue"/>
              </a:rPr>
              <a:t>Only qwen3.5 ran. The system added evidence adjudication, stricter causal tests, checkpoints, and action gating.</a:t>
            </a:r>
          </a:p>
        </p:txBody>
      </p:sp>
      <p:sp>
        <p:nvSpPr>
          <p:cNvPr id="17" name="">
            <a:extLst xmlns:a="http://schemas.openxmlformats.org/drawingml/2006/main">
              <a:ext uri="{FF2B5EF4-FFF2-40B4-BE49-F238E27FC236}">
                <a16:creationId xmlns:a16="http://schemas.microsoft.com/office/drawing/2014/main" id="{03D69C13-C5EC-4EC7-8C3F-3C46269886DC}"/>
              </a:ext>
            </a:extLst>
          </p:cNvPr>
          <p:cNvSpPr>
            <a:spLocks xmlns:a="http://schemas.openxmlformats.org/drawingml/2006/main" noGrp="1"/>
          </p:cNvSpPr>
          <p:nvPr/>
        </p:nvSpPr>
        <p:spPr>
          <a:xfrm xmlns:a="http://schemas.openxmlformats.org/drawingml/2006/main">
            <a:off x="6267450" y="36671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l">
              <a:defRPr sz="1200" b="1">
                <a:solidFill>
                  <a:srgbClr val="168B85"/>
                </a:solidFill>
                <a:latin typeface="Helvetica Neue"/>
                <a:ea typeface="Helvetica Neue"/>
                <a:cs typeface="Helvetica Neue"/>
              </a:defRPr>
            </a:pPr>
            <a:r>
              <a:rPr sz="1200" b="1">
                <a:solidFill>
                  <a:srgbClr val="168B85"/>
                </a:solidFill>
                <a:latin typeface="Helvetica Neue"/>
                <a:ea typeface="Helvetica Neue"/>
                <a:cs typeface="Helvetica Neue"/>
              </a:rPr>
              <a:t>Question tested</a:t>
            </a:r>
          </a:p>
        </p:txBody>
      </p:sp>
      <p:sp>
        <p:nvSpPr>
          <p:cNvPr id="18" name="">
            <a:extLst xmlns:a="http://schemas.openxmlformats.org/drawingml/2006/main">
              <a:ext uri="{FF2B5EF4-FFF2-40B4-BE49-F238E27FC236}">
                <a16:creationId xmlns:a16="http://schemas.microsoft.com/office/drawing/2014/main" id="{5A84DAE7-8D70-4BD7-B806-53284D63C0CC}"/>
              </a:ext>
            </a:extLst>
          </p:cNvPr>
          <p:cNvSpPr>
            <a:spLocks xmlns:a="http://schemas.openxmlformats.org/drawingml/2006/main" noGrp="1"/>
          </p:cNvSpPr>
          <p:nvPr/>
        </p:nvSpPr>
        <p:spPr>
          <a:xfrm xmlns:a="http://schemas.openxmlformats.org/drawingml/2006/main">
            <a:off x="6267450" y="3981450"/>
            <a:ext cx="438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950" b="1">
                <a:solidFill>
                  <a:srgbClr val="17212B"/>
                </a:solidFill>
                <a:latin typeface="Helvetica Neue"/>
                <a:ea typeface="Helvetica Neue"/>
                <a:cs typeface="Helvetica Neue"/>
              </a:defRPr>
            </a:pPr>
            <a:r>
              <a:rPr sz="1950" b="1">
                <a:solidFill>
                  <a:srgbClr val="17212B"/>
                </a:solidFill>
                <a:latin typeface="Helvetica Neue"/>
                <a:ea typeface="Helvetica Neue"/>
                <a:cs typeface="Helvetica Neue"/>
              </a:rPr>
              <a:t>Does a stronger harness produce a more defensible investigation?</a:t>
            </a:r>
          </a:p>
        </p:txBody>
      </p:sp>
      <p:sp>
        <p:nvSpPr>
          <p:cNvPr id="19" name="">
            <a:extLst xmlns:a="http://schemas.openxmlformats.org/drawingml/2006/main">
              <a:ext uri="{FF2B5EF4-FFF2-40B4-BE49-F238E27FC236}">
                <a16:creationId xmlns:a16="http://schemas.microsoft.com/office/drawing/2014/main" id="{B9E1C546-04AA-4F8C-A0DC-8158551C5875}"/>
              </a:ext>
            </a:extLst>
          </p:cNvPr>
          <p:cNvSpPr>
            <a:spLocks xmlns:a="http://schemas.openxmlformats.org/drawingml/2006/main" noGrp="1"/>
          </p:cNvSpPr>
          <p:nvPr/>
        </p:nvSpPr>
        <p:spPr>
          <a:xfrm xmlns:a="http://schemas.openxmlformats.org/drawingml/2006/main">
            <a:off x="2057400" y="5067300"/>
            <a:ext cx="85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435"/>
          </a:bodyPr>
          <a:lstStyle xmlns:a="http://schemas.openxmlformats.org/drawingml/2006/main"/>
          <a:p xmlns:a="http://schemas.openxmlformats.org/drawingml/2006/main">
            <a:pPr algn="ctr">
              <a:defRPr sz="3450" b="1">
                <a:solidFill>
                  <a:srgbClr val="3377B5"/>
                </a:solidFill>
                <a:latin typeface="Helvetica Neue"/>
                <a:ea typeface="Helvetica Neue"/>
                <a:cs typeface="Helvetica Neue"/>
              </a:defRPr>
            </a:pPr>
            <a:r>
              <a:rPr sz="3450" b="1">
                <a:solidFill>
                  <a:srgbClr val="3377B5"/>
                </a:solidFill>
                <a:latin typeface="Helvetica Neue"/>
                <a:ea typeface="Helvetica Neue"/>
                <a:cs typeface="Helvetica Neue"/>
              </a:rPr>
              <a:t>64</a:t>
            </a:r>
          </a:p>
        </p:txBody>
      </p:sp>
      <p:sp>
        <p:nvSpPr>
          <p:cNvPr id="20" name="">
            <a:extLst xmlns:a="http://schemas.openxmlformats.org/drawingml/2006/main">
              <a:ext uri="{FF2B5EF4-FFF2-40B4-BE49-F238E27FC236}">
                <a16:creationId xmlns:a16="http://schemas.microsoft.com/office/drawing/2014/main" id="{30D69BB1-65EF-4FE8-ADA1-CF9DCFCB1494}"/>
              </a:ext>
            </a:extLst>
          </p:cNvPr>
          <p:cNvSpPr>
            <a:spLocks xmlns:a="http://schemas.openxmlformats.org/drawingml/2006/main" noGrp="1"/>
          </p:cNvSpPr>
          <p:nvPr/>
        </p:nvSpPr>
        <p:spPr>
          <a:xfrm xmlns:a="http://schemas.openxmlformats.org/drawingml/2006/main">
            <a:off x="2971800" y="52006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6B7B8C"/>
                </a:solidFill>
                <a:latin typeface="Helvetica Neue"/>
                <a:ea typeface="Helvetica Neue"/>
                <a:cs typeface="Helvetica Neue"/>
              </a:defRPr>
            </a:pPr>
            <a:r>
              <a:rPr sz="1350" b="0">
                <a:solidFill>
                  <a:srgbClr val="6B7B8C"/>
                </a:solidFill>
                <a:latin typeface="Helvetica Neue"/>
                <a:ea typeface="Helvetica Neue"/>
                <a:cs typeface="Helvetica Neue"/>
              </a:rPr>
              <a:t>best Try 3 score</a:t>
            </a:r>
          </a:p>
        </p:txBody>
      </p:sp>
      <p:sp>
        <p:nvSpPr>
          <p:cNvPr id="21" name="">
            <a:extLst xmlns:a="http://schemas.openxmlformats.org/drawingml/2006/main">
              <a:ext uri="{FF2B5EF4-FFF2-40B4-BE49-F238E27FC236}">
                <a16:creationId xmlns:a16="http://schemas.microsoft.com/office/drawing/2014/main" id="{B941AD64-A56A-4E15-B066-D76D27F1E0DC}"/>
              </a:ext>
            </a:extLst>
          </p:cNvPr>
          <p:cNvSpPr>
            <a:spLocks xmlns:a="http://schemas.openxmlformats.org/drawingml/2006/main" noGrp="1"/>
          </p:cNvSpPr>
          <p:nvPr/>
        </p:nvSpPr>
        <p:spPr>
          <a:xfrm xmlns:a="http://schemas.openxmlformats.org/drawingml/2006/main">
            <a:off x="7658100" y="5067300"/>
            <a:ext cx="85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435"/>
          </a:bodyPr>
          <a:lstStyle xmlns:a="http://schemas.openxmlformats.org/drawingml/2006/main"/>
          <a:p xmlns:a="http://schemas.openxmlformats.org/drawingml/2006/main">
            <a:pPr algn="ctr">
              <a:defRPr sz="3450" b="1">
                <a:solidFill>
                  <a:srgbClr val="168B85"/>
                </a:solidFill>
                <a:latin typeface="Helvetica Neue"/>
                <a:ea typeface="Helvetica Neue"/>
                <a:cs typeface="Helvetica Neue"/>
              </a:defRPr>
            </a:pPr>
            <a:r>
              <a:rPr sz="3450" b="1">
                <a:solidFill>
                  <a:srgbClr val="168B85"/>
                </a:solidFill>
                <a:latin typeface="Helvetica Neue"/>
                <a:ea typeface="Helvetica Neue"/>
                <a:cs typeface="Helvetica Neue"/>
              </a:rPr>
              <a:t>68</a:t>
            </a:r>
          </a:p>
        </p:txBody>
      </p:sp>
      <p:sp>
        <p:nvSpPr>
          <p:cNvPr id="22" name="">
            <a:extLst xmlns:a="http://schemas.openxmlformats.org/drawingml/2006/main">
              <a:ext uri="{FF2B5EF4-FFF2-40B4-BE49-F238E27FC236}">
                <a16:creationId xmlns:a16="http://schemas.microsoft.com/office/drawing/2014/main" id="{297ADE49-95C4-4E06-B336-597232600B89}"/>
              </a:ext>
            </a:extLst>
          </p:cNvPr>
          <p:cNvSpPr>
            <a:spLocks xmlns:a="http://schemas.openxmlformats.org/drawingml/2006/main" noGrp="1"/>
          </p:cNvSpPr>
          <p:nvPr/>
        </p:nvSpPr>
        <p:spPr>
          <a:xfrm xmlns:a="http://schemas.openxmlformats.org/drawingml/2006/main">
            <a:off x="8572500" y="52006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p xmlns:a="http://schemas.openxmlformats.org/drawingml/2006/main">
            <a:pPr algn="l">
              <a:defRPr sz="1350" b="0">
                <a:solidFill>
                  <a:srgbClr val="6B7B8C"/>
                </a:solidFill>
                <a:latin typeface="Helvetica Neue"/>
                <a:ea typeface="Helvetica Neue"/>
                <a:cs typeface="Helvetica Neue"/>
              </a:defRPr>
            </a:pPr>
            <a:r>
              <a:rPr sz="1350" b="0">
                <a:solidFill>
                  <a:srgbClr val="6B7B8C"/>
                </a:solidFill>
                <a:latin typeface="Helvetica Neue"/>
                <a:ea typeface="Helvetica Neue"/>
                <a:cs typeface="Helvetica Neue"/>
              </a:rPr>
              <a:t>Try 4 qwen score</a:t>
            </a:r>
          </a:p>
        </p:txBody>
      </p:sp>
    </p:spTree>
    <p:extLst>
      <p:ext uri="{BB962C8B-B14F-4D97-AF65-F5344CB8AC3E}">
        <p14:creationId xmlns:p14="http://schemas.microsoft.com/office/powerpoint/2010/main" val="1158680749"/>
      </p:ext>
    </p:extLst>
  </p:cSld>
</p:sld>
</file>

<file path=ppt/slides/slide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2BEEDA0-3CC5-422A-893A-3CA63CCE4678}"/>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3 investigation flow</a:t>
            </a:r>
          </a:p>
        </p:txBody>
      </p:sp>
      <p:sp>
        <p:nvSpPr>
          <p:cNvPr id="2" name="">
            <a:extLst xmlns:a="http://schemas.openxmlformats.org/drawingml/2006/main">
              <a:ext uri="{FF2B5EF4-FFF2-40B4-BE49-F238E27FC236}">
                <a16:creationId xmlns:a16="http://schemas.microsoft.com/office/drawing/2014/main" id="{27A19FC1-5C03-4AC8-9B95-03E39FB27403}"/>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Each model owned a separate incident track and generated its own versioned investigation.</a:t>
            </a:r>
          </a:p>
        </p:txBody>
      </p:sp>
      <p:sp>
        <p:nvSpPr>
          <p:cNvPr id="3" name="">
            <a:extLst xmlns:a="http://schemas.openxmlformats.org/drawingml/2006/main">
              <a:ext uri="{FF2B5EF4-FFF2-40B4-BE49-F238E27FC236}">
                <a16:creationId xmlns:a16="http://schemas.microsoft.com/office/drawing/2014/main" id="{A718A12B-3F26-4DA9-AB92-258DD947FEBE}"/>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292EEAD-664A-4633-BD44-F21A7A821D6D}"/>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application design and evaluation protocol</a:t>
            </a:r>
          </a:p>
        </p:txBody>
      </p:sp>
      <p:sp>
        <p:nvSpPr>
          <p:cNvPr id="5" name="">
            <a:extLst xmlns:a="http://schemas.openxmlformats.org/drawingml/2006/main">
              <a:ext uri="{FF2B5EF4-FFF2-40B4-BE49-F238E27FC236}">
                <a16:creationId xmlns:a16="http://schemas.microsoft.com/office/drawing/2014/main" id="{01017738-55EE-4D1B-B9E3-5B257897DD63}"/>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639CD405-E5C9-41D6-9093-62A2F491DA10}"/>
              </a:ext>
            </a:extLst>
          </p:cNvPr>
          <p:cNvSpPr>
            <a:spLocks xmlns:a="http://schemas.openxmlformats.org/drawingml/2006/main" noGrp="1"/>
          </p:cNvSpPr>
          <p:nvPr/>
        </p:nvSpPr>
        <p:spPr>
          <a:xfrm xmlns:a="http://schemas.openxmlformats.org/drawingml/2006/main">
            <a:off x="609600" y="1809750"/>
            <a:ext cx="1762125" cy="819150"/>
          </a:xfrm>
          <a:prstGeom xmlns:a="http://schemas.openxmlformats.org/drawingml/2006/main" prst="roundRect">
            <a:avLst>
              <a:gd name="adj" fmla="val 9302"/>
            </a:avLst>
          </a:prstGeom>
          <a:solidFill xmlns:a="http://schemas.openxmlformats.org/drawingml/2006/main">
            <a:srgbClr val="DCE9F4"/>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Incident description</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 starter records</a:t>
            </a:r>
          </a:p>
        </p:txBody>
      </p:sp>
      <p:sp>
        <p:nvSpPr>
          <p:cNvPr id="7" name="">
            <a:extLst xmlns:a="http://schemas.openxmlformats.org/drawingml/2006/main">
              <a:ext uri="{FF2B5EF4-FFF2-40B4-BE49-F238E27FC236}">
                <a16:creationId xmlns:a16="http://schemas.microsoft.com/office/drawing/2014/main" id="{D6DC018B-FACE-4111-80E7-7320F6626CC4}"/>
              </a:ext>
            </a:extLst>
          </p:cNvPr>
          <p:cNvSpPr>
            <a:spLocks xmlns:a="http://schemas.openxmlformats.org/drawingml/2006/main" noGrp="1"/>
          </p:cNvSpPr>
          <p:nvPr/>
        </p:nvSpPr>
        <p:spPr>
          <a:xfrm xmlns:a="http://schemas.openxmlformats.org/drawingml/2006/main">
            <a:off x="2724150" y="1809750"/>
            <a:ext cx="15621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Baseline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understanding</a:t>
            </a:r>
          </a:p>
        </p:txBody>
      </p:sp>
      <p:sp>
        <p:nvSpPr>
          <p:cNvPr id="8" name="">
            <a:extLst xmlns:a="http://schemas.openxmlformats.org/drawingml/2006/main">
              <a:ext uri="{FF2B5EF4-FFF2-40B4-BE49-F238E27FC236}">
                <a16:creationId xmlns:a16="http://schemas.microsoft.com/office/drawing/2014/main" id="{EB57CD96-4A6B-47D2-9ABC-18BDE188DA08}"/>
              </a:ext>
            </a:extLst>
          </p:cNvPr>
          <p:cNvSpPr>
            <a:spLocks xmlns:a="http://schemas.openxmlformats.org/drawingml/2006/main" noGrp="1"/>
          </p:cNvSpPr>
          <p:nvPr/>
        </p:nvSpPr>
        <p:spPr>
          <a:xfrm xmlns:a="http://schemas.openxmlformats.org/drawingml/2006/main">
            <a:off x="4638675" y="1809750"/>
            <a:ext cx="14287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Tag selection</a:t>
            </a:r>
          </a:p>
        </p:txBody>
      </p:sp>
      <p:sp>
        <p:nvSpPr>
          <p:cNvPr id="9" name="">
            <a:extLst xmlns:a="http://schemas.openxmlformats.org/drawingml/2006/main">
              <a:ext uri="{FF2B5EF4-FFF2-40B4-BE49-F238E27FC236}">
                <a16:creationId xmlns:a16="http://schemas.microsoft.com/office/drawing/2014/main" id="{940E639C-598C-432C-B6AD-2AF0DBCE86EB}"/>
              </a:ext>
            </a:extLst>
          </p:cNvPr>
          <p:cNvSpPr>
            <a:spLocks xmlns:a="http://schemas.openxmlformats.org/drawingml/2006/main" noGrp="1"/>
          </p:cNvSpPr>
          <p:nvPr/>
        </p:nvSpPr>
        <p:spPr>
          <a:xfrm xmlns:a="http://schemas.openxmlformats.org/drawingml/2006/main">
            <a:off x="6419850" y="1809750"/>
            <a:ext cx="152400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Selected</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specialists</a:t>
            </a:r>
          </a:p>
        </p:txBody>
      </p:sp>
      <p:sp>
        <p:nvSpPr>
          <p:cNvPr id="10" name="">
            <a:extLst xmlns:a="http://schemas.openxmlformats.org/drawingml/2006/main">
              <a:ext uri="{FF2B5EF4-FFF2-40B4-BE49-F238E27FC236}">
                <a16:creationId xmlns:a16="http://schemas.microsoft.com/office/drawing/2014/main" id="{08D7A010-5814-4D39-A331-9E170181DD08}"/>
              </a:ext>
            </a:extLst>
          </p:cNvPr>
          <p:cNvSpPr>
            <a:spLocks xmlns:a="http://schemas.openxmlformats.org/drawingml/2006/main" noGrp="1"/>
          </p:cNvSpPr>
          <p:nvPr/>
        </p:nvSpPr>
        <p:spPr>
          <a:xfrm xmlns:a="http://schemas.openxmlformats.org/drawingml/2006/main">
            <a:off x="8296275" y="1809750"/>
            <a:ext cx="14287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Question</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broker</a:t>
            </a:r>
          </a:p>
        </p:txBody>
      </p:sp>
      <p:sp>
        <p:nvSpPr>
          <p:cNvPr id="11" name="">
            <a:extLst xmlns:a="http://schemas.openxmlformats.org/drawingml/2006/main">
              <a:ext uri="{FF2B5EF4-FFF2-40B4-BE49-F238E27FC236}">
                <a16:creationId xmlns:a16="http://schemas.microsoft.com/office/drawing/2014/main" id="{F1A6DF7F-6445-48A6-9E90-4A02A75AE3EB}"/>
              </a:ext>
            </a:extLst>
          </p:cNvPr>
          <p:cNvSpPr>
            <a:spLocks xmlns:a="http://schemas.openxmlformats.org/drawingml/2006/main" noGrp="1"/>
          </p:cNvSpPr>
          <p:nvPr/>
        </p:nvSpPr>
        <p:spPr>
          <a:xfrm xmlns:a="http://schemas.openxmlformats.org/drawingml/2006/main">
            <a:off x="10077450" y="1809750"/>
            <a:ext cx="1485900" cy="819150"/>
          </a:xfrm>
          <a:prstGeom xmlns:a="http://schemas.openxmlformats.org/drawingml/2006/main" prst="roundRect">
            <a:avLst>
              <a:gd name="adj" fmla="val 9302"/>
            </a:avLst>
          </a:prstGeom>
          <a:solidFill xmlns:a="http://schemas.openxmlformats.org/drawingml/2006/main">
            <a:srgbClr val="F7E5BE"/>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Answer</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fetchers</a:t>
            </a:r>
          </a:p>
        </p:txBody>
      </p:sp>
      <p:cxnSp>
        <p:nvCxnSpPr>
          <p:cNvPr id="38" name=""/>
          <p:cNvCxnSpPr>
            <a:stCxn xmlns:a="http://schemas.openxmlformats.org/drawingml/2006/main" id="6" idx="3"/>
            <a:endCxn xmlns:a="http://schemas.openxmlformats.org/drawingml/2006/main" id="7" idx="1"/>
          </p:cNvCxnSpPr>
          <p:nvPr/>
        </p:nvCxnSpPr>
        <p:spPr>
          <a:xfrm xmlns:a="http://schemas.openxmlformats.org/drawingml/2006/main">
            <a:off x="2371725" y="2219325"/>
            <a:ext cx="35242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39" name=""/>
          <p:cNvCxnSpPr>
            <a:stCxn xmlns:a="http://schemas.openxmlformats.org/drawingml/2006/main" id="7" idx="3"/>
            <a:endCxn xmlns:a="http://schemas.openxmlformats.org/drawingml/2006/main" id="8" idx="1"/>
          </p:cNvCxnSpPr>
          <p:nvPr/>
        </p:nvCxnSpPr>
        <p:spPr>
          <a:xfrm xmlns:a="http://schemas.openxmlformats.org/drawingml/2006/main">
            <a:off x="4286250" y="2219325"/>
            <a:ext cx="35242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40" name=""/>
          <p:cNvCxnSpPr>
            <a:stCxn xmlns:a="http://schemas.openxmlformats.org/drawingml/2006/main" id="8" idx="3"/>
            <a:endCxn xmlns:a="http://schemas.openxmlformats.org/drawingml/2006/main" id="9" idx="1"/>
          </p:cNvCxnSpPr>
          <p:nvPr/>
        </p:nvCxnSpPr>
        <p:spPr>
          <a:xfrm xmlns:a="http://schemas.openxmlformats.org/drawingml/2006/main">
            <a:off x="6067425" y="2219325"/>
            <a:ext cx="35242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41" name=""/>
          <p:cNvCxnSpPr>
            <a:stCxn xmlns:a="http://schemas.openxmlformats.org/drawingml/2006/main" id="9" idx="3"/>
            <a:endCxn xmlns:a="http://schemas.openxmlformats.org/drawingml/2006/main" id="10" idx="1"/>
          </p:cNvCxnSpPr>
          <p:nvPr/>
        </p:nvCxnSpPr>
        <p:spPr>
          <a:xfrm xmlns:a="http://schemas.openxmlformats.org/drawingml/2006/main">
            <a:off x="7943850" y="2219325"/>
            <a:ext cx="35242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42" name=""/>
          <p:cNvCxnSpPr>
            <a:stCxn xmlns:a="http://schemas.openxmlformats.org/drawingml/2006/main" id="10" idx="3"/>
            <a:endCxn xmlns:a="http://schemas.openxmlformats.org/drawingml/2006/main" id="11" idx="1"/>
          </p:cNvCxnSpPr>
          <p:nvPr/>
        </p:nvCxnSpPr>
        <p:spPr>
          <a:xfrm xmlns:a="http://schemas.openxmlformats.org/drawingml/2006/main">
            <a:off x="9725025" y="2219325"/>
            <a:ext cx="35242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sp>
        <p:nvSpPr>
          <p:cNvPr id="17" name="">
            <a:extLst xmlns:a="http://schemas.openxmlformats.org/drawingml/2006/main">
              <a:ext uri="{FF2B5EF4-FFF2-40B4-BE49-F238E27FC236}">
                <a16:creationId xmlns:a16="http://schemas.microsoft.com/office/drawing/2014/main" id="{21E233C5-4920-4B32-9E4D-F2CAF39CBD09}"/>
              </a:ext>
            </a:extLst>
          </p:cNvPr>
          <p:cNvSpPr>
            <a:spLocks xmlns:a="http://schemas.openxmlformats.org/drawingml/2006/main" noGrp="1"/>
          </p:cNvSpPr>
          <p:nvPr/>
        </p:nvSpPr>
        <p:spPr>
          <a:xfrm xmlns:a="http://schemas.openxmlformats.org/drawingml/2006/main">
            <a:off x="8058150" y="3714750"/>
            <a:ext cx="157162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Evidence claims</a:t>
            </a:r>
          </a:p>
        </p:txBody>
      </p:sp>
      <p:sp>
        <p:nvSpPr>
          <p:cNvPr id="18" name="">
            <a:extLst xmlns:a="http://schemas.openxmlformats.org/drawingml/2006/main">
              <a:ext uri="{FF2B5EF4-FFF2-40B4-BE49-F238E27FC236}">
                <a16:creationId xmlns:a16="http://schemas.microsoft.com/office/drawing/2014/main" id="{C7AF2AA3-0D2B-41E0-B3DE-6F5BAAFDE028}"/>
              </a:ext>
            </a:extLst>
          </p:cNvPr>
          <p:cNvSpPr>
            <a:spLocks xmlns:a="http://schemas.openxmlformats.org/drawingml/2006/main" noGrp="1"/>
          </p:cNvSpPr>
          <p:nvPr/>
        </p:nvSpPr>
        <p:spPr>
          <a:xfrm xmlns:a="http://schemas.openxmlformats.org/drawingml/2006/main">
            <a:off x="6000750" y="3714750"/>
            <a:ext cx="157162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Causal board</a:t>
            </a:r>
          </a:p>
        </p:txBody>
      </p:sp>
      <p:sp>
        <p:nvSpPr>
          <p:cNvPr id="19" name="">
            <a:extLst xmlns:a="http://schemas.openxmlformats.org/drawingml/2006/main">
              <a:ext uri="{FF2B5EF4-FFF2-40B4-BE49-F238E27FC236}">
                <a16:creationId xmlns:a16="http://schemas.microsoft.com/office/drawing/2014/main" id="{A257C7A9-F1DF-41ED-999D-BB80BD957480}"/>
              </a:ext>
            </a:extLst>
          </p:cNvPr>
          <p:cNvSpPr>
            <a:spLocks xmlns:a="http://schemas.openxmlformats.org/drawingml/2006/main" noGrp="1"/>
          </p:cNvSpPr>
          <p:nvPr/>
        </p:nvSpPr>
        <p:spPr>
          <a:xfrm xmlns:a="http://schemas.openxmlformats.org/drawingml/2006/main">
            <a:off x="3943350" y="3714750"/>
            <a:ext cx="157162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Verification</a:t>
            </a:r>
          </a:p>
        </p:txBody>
      </p:sp>
      <p:sp>
        <p:nvSpPr>
          <p:cNvPr id="20" name="">
            <a:extLst xmlns:a="http://schemas.openxmlformats.org/drawingml/2006/main">
              <a:ext uri="{FF2B5EF4-FFF2-40B4-BE49-F238E27FC236}">
                <a16:creationId xmlns:a16="http://schemas.microsoft.com/office/drawing/2014/main" id="{3E270B4F-14A9-4DFD-B8ED-294F9A4E92EF}"/>
              </a:ext>
            </a:extLst>
          </p:cNvPr>
          <p:cNvSpPr>
            <a:spLocks xmlns:a="http://schemas.openxmlformats.org/drawingml/2006/main" noGrp="1"/>
          </p:cNvSpPr>
          <p:nvPr/>
        </p:nvSpPr>
        <p:spPr>
          <a:xfrm xmlns:a="http://schemas.openxmlformats.org/drawingml/2006/main">
            <a:off x="1619250" y="3714750"/>
            <a:ext cx="1809750" cy="781050"/>
          </a:xfrm>
          <a:prstGeom xmlns:a="http://schemas.openxmlformats.org/drawingml/2006/main" prst="roundRect">
            <a:avLst>
              <a:gd name="adj" fmla="val 9756"/>
            </a:avLst>
          </a:prstGeom>
          <a:solidFill xmlns:a="http://schemas.openxmlformats.org/drawingml/2006/main">
            <a:srgbClr val="D9EFEC"/>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Corrective actions</a:t>
            </a:r>
          </a:p>
        </p:txBody>
      </p:sp>
      <p:cxnSp>
        <p:nvCxnSpPr>
          <p:cNvPr id="47" name=""/>
          <p:cNvCxnSpPr>
            <a:stCxn xmlns:a="http://schemas.openxmlformats.org/drawingml/2006/main" id="11" idx="2"/>
            <a:endCxn xmlns:a="http://schemas.openxmlformats.org/drawingml/2006/main" id="17" idx="3"/>
          </p:cNvCxnSpPr>
          <p:nvPr/>
        </p:nvCxnSpPr>
        <p:spPr>
          <a:xfrm xmlns:a="http://schemas.openxmlformats.org/drawingml/2006/main" flipH="1">
            <a:off x="9629775" y="2628900"/>
            <a:ext cx="1190625" cy="1476375"/>
          </a:xfrm>
          <a:prstGeom xmlns:a="http://schemas.openxmlformats.org/drawingml/2006/main" prst="bentConnector5">
            <a:avLst>
              <a:gd name="adj1" fmla="val 0"/>
              <a:gd name="adj2" fmla="val 15484"/>
              <a:gd name="adj3" fmla="val 80800"/>
            </a:avLst>
          </a:prstGeom>
          <a:ln xmlns:a="http://schemas.openxmlformats.org/drawingml/2006/main" w="19050">
            <a:solidFill>
              <a:srgbClr val="425466"/>
            </a:solidFill>
            <a:prstDash val="solid"/>
            <a:tailEnd type="arrow" w="med" len="med"/>
          </a:ln>
        </p:spPr>
      </p:cxnSp>
      <p:cxnSp>
        <p:nvCxnSpPr>
          <p:cNvPr id="48" name=""/>
          <p:cNvCxnSpPr>
            <a:stCxn xmlns:a="http://schemas.openxmlformats.org/drawingml/2006/main" id="17" idx="1"/>
            <a:endCxn xmlns:a="http://schemas.openxmlformats.org/drawingml/2006/main" id="18" idx="3"/>
          </p:cNvCxnSpPr>
          <p:nvPr/>
        </p:nvCxnSpPr>
        <p:spPr>
          <a:xfrm xmlns:a="http://schemas.openxmlformats.org/drawingml/2006/main" flipH="1">
            <a:off x="7572375" y="4105275"/>
            <a:ext cx="48577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49" name=""/>
          <p:cNvCxnSpPr>
            <a:stCxn xmlns:a="http://schemas.openxmlformats.org/drawingml/2006/main" id="18" idx="1"/>
            <a:endCxn xmlns:a="http://schemas.openxmlformats.org/drawingml/2006/main" id="19" idx="3"/>
          </p:cNvCxnSpPr>
          <p:nvPr/>
        </p:nvCxnSpPr>
        <p:spPr>
          <a:xfrm xmlns:a="http://schemas.openxmlformats.org/drawingml/2006/main" flipH="1">
            <a:off x="5514975" y="4105275"/>
            <a:ext cx="485775"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50" name=""/>
          <p:cNvCxnSpPr>
            <a:stCxn xmlns:a="http://schemas.openxmlformats.org/drawingml/2006/main" id="19" idx="1"/>
            <a:endCxn xmlns:a="http://schemas.openxmlformats.org/drawingml/2006/main" id="20" idx="3"/>
          </p:cNvCxnSpPr>
          <p:nvPr/>
        </p:nvCxnSpPr>
        <p:spPr>
          <a:xfrm xmlns:a="http://schemas.openxmlformats.org/drawingml/2006/main" flipH="1">
            <a:off x="3429000" y="4105275"/>
            <a:ext cx="51435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sp>
        <p:nvSpPr>
          <p:cNvPr id="25" name="">
            <a:extLst xmlns:a="http://schemas.openxmlformats.org/drawingml/2006/main">
              <a:ext uri="{FF2B5EF4-FFF2-40B4-BE49-F238E27FC236}">
                <a16:creationId xmlns:a16="http://schemas.microsoft.com/office/drawing/2014/main" id="{F5ACE992-8836-4473-B3FC-339D039144AB}"/>
              </a:ext>
            </a:extLst>
          </p:cNvPr>
          <p:cNvSpPr>
            <a:spLocks xmlns:a="http://schemas.openxmlformats.org/drawingml/2006/main" noGrp="1"/>
          </p:cNvSpPr>
          <p:nvPr/>
        </p:nvSpPr>
        <p:spPr>
          <a:xfrm xmlns:a="http://schemas.openxmlformats.org/drawingml/2006/main">
            <a:off x="1581150" y="50482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0263C"/>
                </a:solidFill>
                <a:latin typeface="Helvetica Neue"/>
                <a:ea typeface="Helvetica Neue"/>
                <a:cs typeface="Helvetica Neue"/>
              </a:defRPr>
            </a:pPr>
            <a:r>
              <a:rPr sz="1800" b="1">
                <a:solidFill>
                  <a:srgbClr val="10263C"/>
                </a:solidFill>
                <a:latin typeface="Helvetica Neue"/>
                <a:ea typeface="Helvetica Neue"/>
                <a:cs typeface="Helvetica Neue"/>
              </a:rPr>
              <a:t>Evidence could create a new version inside the same model track</a:t>
            </a:r>
          </a:p>
        </p:txBody>
      </p:sp>
      <p:sp>
        <p:nvSpPr>
          <p:cNvPr id="26" name="">
            <a:extLst xmlns:a="http://schemas.openxmlformats.org/drawingml/2006/main">
              <a:ext uri="{FF2B5EF4-FFF2-40B4-BE49-F238E27FC236}">
                <a16:creationId xmlns:a16="http://schemas.microsoft.com/office/drawing/2014/main" id="{472354B0-8BF2-46F1-8E04-E6CC5DDE4814}"/>
              </a:ext>
            </a:extLst>
          </p:cNvPr>
          <p:cNvSpPr>
            <a:spLocks xmlns:a="http://schemas.openxmlformats.org/drawingml/2006/main" noGrp="1"/>
          </p:cNvSpPr>
          <p:nvPr/>
        </p:nvSpPr>
        <p:spPr>
          <a:xfrm xmlns:a="http://schemas.openxmlformats.org/drawingml/2006/main">
            <a:off x="1676400" y="5543550"/>
            <a:ext cx="790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ctr">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The benchmark exposed failures in structured output, evidence reconciliation, causal direction, and premature actions.</a:t>
            </a:r>
          </a:p>
        </p:txBody>
      </p:sp>
    </p:spTree>
    <p:extLst>
      <p:ext uri="{BB962C8B-B14F-4D97-AF65-F5344CB8AC3E}">
        <p14:creationId xmlns:p14="http://schemas.microsoft.com/office/powerpoint/2010/main" val="1185155334"/>
      </p:ext>
    </p:extLst>
  </p:cSld>
</p:sld>
</file>

<file path=ppt/slides/slide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568C9C2-8CC0-4AB7-92BF-89A360A3C1BF}"/>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The 100-point evaluation rubric</a:t>
            </a:r>
          </a:p>
        </p:txBody>
      </p:sp>
      <p:sp>
        <p:nvSpPr>
          <p:cNvPr id="2" name="">
            <a:extLst xmlns:a="http://schemas.openxmlformats.org/drawingml/2006/main">
              <a:ext uri="{FF2B5EF4-FFF2-40B4-BE49-F238E27FC236}">
                <a16:creationId xmlns:a16="http://schemas.microsoft.com/office/drawing/2014/main" id="{20C88231-D531-4DFB-A6A4-26F859A08DA3}"/>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scoring framework was defined before interpreting model performance.</a:t>
            </a:r>
          </a:p>
        </p:txBody>
      </p:sp>
      <p:sp>
        <p:nvSpPr>
          <p:cNvPr id="3" name="">
            <a:extLst xmlns:a="http://schemas.openxmlformats.org/drawingml/2006/main">
              <a:ext uri="{FF2B5EF4-FFF2-40B4-BE49-F238E27FC236}">
                <a16:creationId xmlns:a16="http://schemas.microsoft.com/office/drawing/2014/main" id="{F1F5FF76-B6F7-4CD9-A1F5-A609431C062F}"/>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785990A-CA88-4E24-A47C-E5F8401CA1EF}"/>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R3 Ollama evaluation protocol</a:t>
            </a:r>
          </a:p>
        </p:txBody>
      </p:sp>
      <p:sp>
        <p:nvSpPr>
          <p:cNvPr id="5" name="">
            <a:extLst xmlns:a="http://schemas.openxmlformats.org/drawingml/2006/main">
              <a:ext uri="{FF2B5EF4-FFF2-40B4-BE49-F238E27FC236}">
                <a16:creationId xmlns:a16="http://schemas.microsoft.com/office/drawing/2014/main" id="{32D1EFF0-E4F7-4B20-8114-9DBD8F399156}"/>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3C3AE4EC-D1D2-4DCD-9CF4-826365573DEF}"/>
              </a:ext>
            </a:extLst>
          </p:cNvPr>
          <p:cNvSpPr>
            <a:spLocks xmlns:a="http://schemas.openxmlformats.org/drawingml/2006/main" noGrp="1"/>
          </p:cNvSpPr>
          <p:nvPr/>
        </p:nvSpPr>
        <p:spPr>
          <a:xfrm xmlns:a="http://schemas.openxmlformats.org/drawingml/2006/main">
            <a:off x="704850" y="163830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6150" b="1">
                <a:solidFill>
                  <a:srgbClr val="10263C"/>
                </a:solidFill>
                <a:latin typeface="Helvetica Neue"/>
                <a:ea typeface="Helvetica Neue"/>
                <a:cs typeface="Helvetica Neue"/>
              </a:defRPr>
            </a:pPr>
            <a:r>
              <a:rPr sz="6150" b="1">
                <a:solidFill>
                  <a:srgbClr val="10263C"/>
                </a:solidFill>
                <a:latin typeface="Helvetica Neue"/>
                <a:ea typeface="Helvetica Neue"/>
                <a:cs typeface="Helvetica Neue"/>
              </a:rPr>
              <a:t>100</a:t>
            </a:r>
          </a:p>
        </p:txBody>
      </p:sp>
      <p:sp>
        <p:nvSpPr>
          <p:cNvPr id="7" name="">
            <a:extLst xmlns:a="http://schemas.openxmlformats.org/drawingml/2006/main">
              <a:ext uri="{FF2B5EF4-FFF2-40B4-BE49-F238E27FC236}">
                <a16:creationId xmlns:a16="http://schemas.microsoft.com/office/drawing/2014/main" id="{E9CFD782-2F26-458F-BC26-1249C261182D}"/>
              </a:ext>
            </a:extLst>
          </p:cNvPr>
          <p:cNvSpPr>
            <a:spLocks xmlns:a="http://schemas.openxmlformats.org/drawingml/2006/main" noGrp="1"/>
          </p:cNvSpPr>
          <p:nvPr/>
        </p:nvSpPr>
        <p:spPr>
          <a:xfrm xmlns:a="http://schemas.openxmlformats.org/drawingml/2006/main">
            <a:off x="704850" y="26479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E5A32D"/>
                </a:solidFill>
                <a:latin typeface="Helvetica Neue"/>
                <a:ea typeface="Helvetica Neue"/>
                <a:cs typeface="Helvetica Neue"/>
              </a:defRPr>
            </a:pPr>
            <a:r>
              <a:rPr sz="1275" b="1">
                <a:solidFill>
                  <a:srgbClr val="E5A32D"/>
                </a:solidFill>
                <a:latin typeface="Helvetica Neue"/>
                <a:ea typeface="Helvetica Neue"/>
                <a:cs typeface="Helvetica Neue"/>
              </a:rPr>
              <a:t>TOTAL POINTS</a:t>
            </a:r>
          </a:p>
        </p:txBody>
      </p:sp>
      <p:sp>
        <p:nvSpPr>
          <p:cNvPr id="8" name="">
            <a:extLst xmlns:a="http://schemas.openxmlformats.org/drawingml/2006/main">
              <a:ext uri="{FF2B5EF4-FFF2-40B4-BE49-F238E27FC236}">
                <a16:creationId xmlns:a16="http://schemas.microsoft.com/office/drawing/2014/main" id="{ECB8DD4A-629E-4311-BD70-4597E0D0006E}"/>
              </a:ext>
            </a:extLst>
          </p:cNvPr>
          <p:cNvSpPr>
            <a:spLocks xmlns:a="http://schemas.openxmlformats.org/drawingml/2006/main" noGrp="1"/>
          </p:cNvSpPr>
          <p:nvPr/>
        </p:nvSpPr>
        <p:spPr>
          <a:xfrm xmlns:a="http://schemas.openxmlformats.org/drawingml/2006/main">
            <a:off x="685800" y="3314700"/>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636"/>
          </a:bodyPr>
          <a:lstStyle xmlns:a="http://schemas.openxmlformats.org/drawingml/2006/main"/>
          <a:p xmlns:a="http://schemas.openxmlformats.org/drawingml/2006/main">
            <a:pPr algn="ctr">
              <a:defRPr sz="1650" b="0">
                <a:solidFill>
                  <a:srgbClr val="425466"/>
                </a:solidFill>
                <a:latin typeface="Helvetica Neue"/>
                <a:ea typeface="Helvetica Neue"/>
                <a:cs typeface="Helvetica Neue"/>
              </a:defRPr>
            </a:pPr>
            <a:r>
              <a:rPr sz="1650" b="0">
                <a:solidFill>
                  <a:srgbClr val="425466"/>
                </a:solidFill>
                <a:latin typeface="Helvetica Neue"/>
                <a:ea typeface="Helvetica Neue"/>
                <a:cs typeface="Helvetica Neue"/>
              </a:rPr>
              <a:t>Higher weight goes to evidence handling and causal reasoning because a fluent summary alone does not establish root cause.</a:t>
            </a:r>
          </a:p>
        </p:txBody>
      </p:sp>
      <p:graphicFrame>
        <p:nvGraphicFramePr>
          <p:cNvPr id="18" name="Chart"/>
          <p:cNvGraphicFramePr/>
          <p:nvPr/>
        </p:nvGraphicFramePr>
        <p:xfrm>
          <a:off xmlns:a="http://schemas.openxmlformats.org/drawingml/2006/main" x="3333750" y="1485900"/>
          <a:ext xmlns:a="http://schemas.openxmlformats.org/drawingml/2006/main" cx="8020050" cy="4362450"/>
        </p:xfrm>
        <a:graphic xmlns:a="http://schemas.openxmlformats.org/drawingml/2006/main">
          <a:graphicData uri="http://schemas.openxmlformats.org/drawingml/2006/chart">
            <c:chart xmlns:r="http://schemas.openxmlformats.org/officeDocument/2006/relationships" xmlns:c="http://schemas.openxmlformats.org/drawingml/2006/chart" r:id="R926e80e2e3cd4daa"/>
          </a:graphicData>
        </a:graphic>
      </p:graphicFrame>
    </p:spTree>
    <p:extLst>
      <p:ext uri="{BB962C8B-B14F-4D97-AF65-F5344CB8AC3E}">
        <p14:creationId xmlns:p14="http://schemas.microsoft.com/office/powerpoint/2010/main" val="879554159"/>
      </p:ext>
    </p:extLst>
  </p:cSld>
</p:sld>
</file>

<file path=ppt/slides/slide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16419B-1058-45F8-B1F2-E2D1989AAD92}"/>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What earns each point allocation</a:t>
            </a:r>
          </a:p>
        </p:txBody>
      </p:sp>
      <p:sp>
        <p:nvSpPr>
          <p:cNvPr id="2" name="">
            <a:extLst xmlns:a="http://schemas.openxmlformats.org/drawingml/2006/main">
              <a:ext uri="{FF2B5EF4-FFF2-40B4-BE49-F238E27FC236}">
                <a16:creationId xmlns:a16="http://schemas.microsoft.com/office/drawing/2014/main" id="{5B1A4716-0A8F-49D0-9AA2-9F966A75BB8D}"/>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Scores reflect investigative usefulness, evidence discipline, and causal validity.</a:t>
            </a:r>
          </a:p>
        </p:txBody>
      </p:sp>
      <p:sp>
        <p:nvSpPr>
          <p:cNvPr id="3" name="">
            <a:extLst xmlns:a="http://schemas.openxmlformats.org/drawingml/2006/main">
              <a:ext uri="{FF2B5EF4-FFF2-40B4-BE49-F238E27FC236}">
                <a16:creationId xmlns:a16="http://schemas.microsoft.com/office/drawing/2014/main" id="{9EC37C31-DB85-4718-AB71-6047F20BFE26}"/>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3DF1084-BF7E-486D-BE26-0B2ABC52DA2F}"/>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R3 Ollama evaluation protocol</a:t>
            </a:r>
          </a:p>
        </p:txBody>
      </p:sp>
      <p:sp>
        <p:nvSpPr>
          <p:cNvPr id="5" name="">
            <a:extLst xmlns:a="http://schemas.openxmlformats.org/drawingml/2006/main">
              <a:ext uri="{FF2B5EF4-FFF2-40B4-BE49-F238E27FC236}">
                <a16:creationId xmlns:a16="http://schemas.microsoft.com/office/drawing/2014/main" id="{ACC56C2D-7A37-4011-8FF7-27F548EA7A96}"/>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05</a:t>
            </a:r>
          </a:p>
        </p:txBody>
      </p:sp>
      <p:graphicFrame>
        <p:nvGraphicFramePr>
          <p:cNvPr id="12" name=""/>
          <p:cNvGraphicFramePr/>
          <p:nvPr/>
        </p:nvGraphicFramePr>
        <p:xfrm>
          <a:off xmlns:a="http://schemas.openxmlformats.org/drawingml/2006/main" x="628650" y="1485900"/>
          <a:ext xmlns:a="http://schemas.openxmlformats.org/drawingml/2006/main" cx="10934700" cy="4705350"/>
        </p:xfrm>
        <a:graphic xmlns:a="http://schemas.openxmlformats.org/drawingml/2006/main">
          <a:graphicData uri="http://schemas.openxmlformats.org/drawingml/2006/table">
            <a:tbl>
              <a:tblPr/>
              <a:tblGrid>
                <a:gridCol w="3171063"/>
                <a:gridCol w="918515"/>
                <a:gridCol w="6845122"/>
              </a:tblGrid>
              <a:tr h="522817">
                <a:tc>
                  <a:txBody>
                    <a:bodyPr/>
                    <a:lstStyle/>
                    <a:p>
                      <a:r>
                        <a:rPr sz="1275" b="1">
                          <a:solidFill>
                            <a:srgbClr val="FFFFFF"/>
                          </a:solidFill>
                          <a:latin typeface="Helvetica Neue"/>
                          <a:ea typeface="Helvetica Neue"/>
                          <a:cs typeface="Helvetica Neue"/>
                        </a:rPr>
                        <a:t>Dimension</a:t>
                      </a:r>
                    </a:p>
                  </a:txBody>
                  <a:tcPr marL="95250" marR="95250" marT="66675" marB="66675">
                    <a:solidFill>
                      <a:srgbClr val="10263C"/>
                    </a:solidFill>
                  </a:tcPr>
                </a:tc>
                <a:tc>
                  <a:txBody>
                    <a:bodyPr/>
                    <a:lstStyle/>
                    <a:p>
                      <a:r>
                        <a:rPr sz="1275" b="1">
                          <a:solidFill>
                            <a:srgbClr val="FFFFFF"/>
                          </a:solidFill>
                          <a:latin typeface="Helvetica Neue"/>
                          <a:ea typeface="Helvetica Neue"/>
                          <a:cs typeface="Helvetica Neue"/>
                        </a:rPr>
                        <a:t>Points</a:t>
                      </a:r>
                    </a:p>
                  </a:txBody>
                  <a:tcPr marL="95250" marR="95250" marT="66675" marB="66675">
                    <a:solidFill>
                      <a:srgbClr val="10263C"/>
                    </a:solidFill>
                  </a:tcPr>
                </a:tc>
                <a:tc>
                  <a:txBody>
                    <a:bodyPr/>
                    <a:lstStyle/>
                    <a:p>
                      <a:r>
                        <a:rPr sz="1275" b="1">
                          <a:solidFill>
                            <a:srgbClr val="FFFFFF"/>
                          </a:solidFill>
                          <a:latin typeface="Helvetica Neue"/>
                          <a:ea typeface="Helvetica Neue"/>
                          <a:cs typeface="Helvetica Neue"/>
                        </a:rPr>
                        <a:t>What earns credit</a:t>
                      </a:r>
                    </a:p>
                  </a:txBody>
                  <a:tcPr marL="95250" marR="95250" marT="66675" marB="66675">
                    <a:solidFill>
                      <a:srgbClr val="10263C"/>
                    </a:solidFill>
                  </a:tcPr>
                </a:tc>
              </a:tr>
              <a:tr h="522817">
                <a:tc>
                  <a:txBody>
                    <a:bodyPr/>
                    <a:lstStyle/>
                    <a:p>
                      <a:r>
                        <a:rPr sz="1125">
                          <a:solidFill>
                            <a:srgbClr val="17212B"/>
                          </a:solidFill>
                          <a:latin typeface="Helvetica Neue"/>
                          <a:ea typeface="Helvetica Neue"/>
                          <a:cs typeface="Helvetica Neue"/>
                        </a:rPr>
                        <a:t>Incident comprehension</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Correct entities, sequence, context, and explicit unknowns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Tag selection</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Relevant specialist routes without treating tags as causes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Investigative questions</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High-yield questions that open distinct causal directions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Evidence targeting</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Correct drawings, records, observations, and physical evidence</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Provenance and contradictions</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Source separation, conflict detection, resistance to weak evidence</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Causal reasoning</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20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Evidence-linked conditions, barriers, causes, and tested alternatives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Corrective actions</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10</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Actions tied to verified conditions with owners and checks</a:t>
                      </a:r>
                    </a:p>
                  </a:txBody>
                  <a:tcPr marL="95250" marR="95250" marT="57150" marB="57150">
                    <a:solidFill>
                      <a:srgbClr val="FFFFFF"/>
                    </a:solidFill>
                  </a:tcPr>
                </a:tc>
              </a:tr>
              <a:tr h="522817">
                <a:tc>
                  <a:txBody>
                    <a:bodyPr/>
                    <a:lstStyle/>
                    <a:p>
                      <a:r>
                        <a:rPr sz="1125">
                          <a:solidFill>
                            <a:srgbClr val="17212B"/>
                          </a:solidFill>
                          <a:latin typeface="Helvetica Neue"/>
                          <a:ea typeface="Helvetica Neue"/>
                          <a:cs typeface="Helvetica Neue"/>
                        </a:rPr>
                        <a:t>Calibration and trace</a:t>
                      </a:r>
                    </a:p>
                  </a:txBody>
                  <a:tcPr marL="95250" marR="95250" marT="57150" marB="57150">
                    <a:solidFill>
                      <a:srgbClr val="FFFFFF"/>
                    </a:solidFill>
                  </a:tcPr>
                </a:tc>
                <a:tc>
                  <a:txBody>
                    <a:bodyPr/>
                    <a:lstStyle/>
                    <a:p>
                      <a:r>
                        <a:rPr sz="1275" b="1">
                          <a:solidFill>
                            <a:srgbClr val="10263C"/>
                          </a:solidFill>
                          <a:latin typeface="Helvetica Neue"/>
                          <a:ea typeface="Helvetica Neue"/>
                          <a:cs typeface="Helvetica Neue"/>
                        </a:rPr>
                        <a:t>5</a:t>
                      </a:r>
                    </a:p>
                  </a:txBody>
                  <a:tcPr marL="95250" marR="95250" marT="57150" marB="57150">
                    <a:solidFill>
                      <a:srgbClr val="F7E5BE"/>
                    </a:solidFill>
                  </a:tcPr>
                </a:tc>
                <a:tc>
                  <a:txBody>
                    <a:bodyPr/>
                    <a:lstStyle/>
                    <a:p>
                      <a:r>
                        <a:rPr sz="1125">
                          <a:solidFill>
                            <a:srgbClr val="17212B"/>
                          </a:solidFill>
                          <a:latin typeface="Helvetica Neue"/>
                          <a:ea typeface="Helvetica Neue"/>
                          <a:cs typeface="Helvetica Neue"/>
                        </a:rPr>
                        <a:t>Visible limits, confidence, and useful decision records</a:t>
                      </a:r>
                    </a:p>
                  </a:txBody>
                  <a:tcPr marL="95250" marR="95250" marT="57150" marB="57150">
                    <a:solidFill>
                      <a:srgbClr val="FFFFFF"/>
                    </a:solidFill>
                  </a:tcPr>
                </a:tc>
              </a:tr>
            </a:tbl>
          </a:graphicData>
        </a:graphic>
      </p:graphicFrame>
    </p:spTree>
    <p:extLst>
      <p:ext uri="{BB962C8B-B14F-4D97-AF65-F5344CB8AC3E}">
        <p14:creationId xmlns:p14="http://schemas.microsoft.com/office/powerpoint/2010/main" val="1321032568"/>
      </p:ext>
    </p:extLst>
  </p:cSld>
</p:sld>
</file>

<file path=ppt/slides/slide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187A2B-C84D-46A6-801A-E7E88E3F3E59}"/>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3 model performance</a:t>
            </a:r>
          </a:p>
        </p:txBody>
      </p:sp>
      <p:sp>
        <p:nvSpPr>
          <p:cNvPr id="2" name="">
            <a:extLst xmlns:a="http://schemas.openxmlformats.org/drawingml/2006/main">
              <a:ext uri="{FF2B5EF4-FFF2-40B4-BE49-F238E27FC236}">
                <a16:creationId xmlns:a16="http://schemas.microsoft.com/office/drawing/2014/main" id="{809526C6-8B50-4D26-983F-4C594201A2E8}"/>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Qwen3.5 led the analytical benchmark. Two models produced no gradeable version within 30 minutes.</a:t>
            </a:r>
          </a:p>
        </p:txBody>
      </p:sp>
      <p:sp>
        <p:nvSpPr>
          <p:cNvPr id="3" name="">
            <a:extLst xmlns:a="http://schemas.openxmlformats.org/drawingml/2006/main">
              <a:ext uri="{FF2B5EF4-FFF2-40B4-BE49-F238E27FC236}">
                <a16:creationId xmlns:a16="http://schemas.microsoft.com/office/drawing/2014/main" id="{BA62B2C6-0F8E-4D1D-A4EA-73654ACDED08}"/>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D3BE2C3-D5C3-46C4-A380-BE00FED7EAAC}"/>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benchmark_results.md, September 8, 2026</a:t>
            </a:r>
          </a:p>
        </p:txBody>
      </p:sp>
      <p:sp>
        <p:nvSpPr>
          <p:cNvPr id="5" name="">
            <a:extLst xmlns:a="http://schemas.openxmlformats.org/drawingml/2006/main">
              <a:ext uri="{FF2B5EF4-FFF2-40B4-BE49-F238E27FC236}">
                <a16:creationId xmlns:a16="http://schemas.microsoft.com/office/drawing/2014/main" id="{F6135ADC-87E5-4F2E-A035-DE8B36806E82}"/>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06</a:t>
            </a:r>
          </a:p>
        </p:txBody>
      </p:sp>
      <p:graphicFrame>
        <p:nvGraphicFramePr>
          <p:cNvPr id="12" name="Chart"/>
          <p:cNvGraphicFramePr/>
          <p:nvPr/>
        </p:nvGraphicFramePr>
        <p:xfrm>
          <a:off xmlns:a="http://schemas.openxmlformats.org/drawingml/2006/main" x="781050" y="1428750"/>
          <a:ext xmlns:a="http://schemas.openxmlformats.org/drawingml/2006/main" cx="10572750" cy="4714875"/>
        </p:xfrm>
        <a:graphic xmlns:a="http://schemas.openxmlformats.org/drawingml/2006/main">
          <a:graphicData uri="http://schemas.openxmlformats.org/drawingml/2006/chart">
            <c:chart xmlns:r="http://schemas.openxmlformats.org/officeDocument/2006/relationships" xmlns:c="http://schemas.openxmlformats.org/drawingml/2006/chart" r:id="R9519f2c3c0ec4419"/>
          </a:graphicData>
        </a:graphic>
      </p:graphicFrame>
    </p:spTree>
    <p:extLst>
      <p:ext uri="{BB962C8B-B14F-4D97-AF65-F5344CB8AC3E}">
        <p14:creationId xmlns:p14="http://schemas.microsoft.com/office/powerpoint/2010/main" val="1198574458"/>
      </p:ext>
    </p:extLst>
  </p:cSld>
</p:sld>
</file>

<file path=ppt/slides/slide7.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13C97B4-848D-4537-A392-28F8E26DC4EB}"/>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Why the four highest Try 3 scores landed where they did</a:t>
            </a:r>
          </a:p>
        </p:txBody>
      </p:sp>
      <p:sp>
        <p:nvSpPr>
          <p:cNvPr id="2" name="">
            <a:extLst xmlns:a="http://schemas.openxmlformats.org/drawingml/2006/main">
              <a:ext uri="{FF2B5EF4-FFF2-40B4-BE49-F238E27FC236}">
                <a16:creationId xmlns:a16="http://schemas.microsoft.com/office/drawing/2014/main" id="{ADE71805-7740-4AFD-8A61-4C10A3C00B1E}"/>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Strengths earned credit. Missing evidence discipline and causal structure capped every score.</a:t>
            </a:r>
          </a:p>
        </p:txBody>
      </p:sp>
      <p:sp>
        <p:nvSpPr>
          <p:cNvPr id="3" name="">
            <a:extLst xmlns:a="http://schemas.openxmlformats.org/drawingml/2006/main">
              <a:ext uri="{FF2B5EF4-FFF2-40B4-BE49-F238E27FC236}">
                <a16:creationId xmlns:a16="http://schemas.microsoft.com/office/drawing/2014/main" id="{EC664B5B-0757-463D-B8F1-C545FFC16802}"/>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FBAEC4-C647-4ED0-B545-E92DC71FB69E}"/>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 model-by-model findings</a:t>
            </a:r>
          </a:p>
        </p:txBody>
      </p:sp>
      <p:sp>
        <p:nvSpPr>
          <p:cNvPr id="5" name="">
            <a:extLst xmlns:a="http://schemas.openxmlformats.org/drawingml/2006/main">
              <a:ext uri="{FF2B5EF4-FFF2-40B4-BE49-F238E27FC236}">
                <a16:creationId xmlns:a16="http://schemas.microsoft.com/office/drawing/2014/main" id="{127392B8-B442-4A78-987F-3E8D992E66EF}"/>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11267DA5-2C01-4DE5-918E-5E6063CE0DA5}"/>
              </a:ext>
            </a:extLst>
          </p:cNvPr>
          <p:cNvSpPr>
            <a:spLocks xmlns:a="http://schemas.openxmlformats.org/drawingml/2006/main" noGrp="1"/>
          </p:cNvSpPr>
          <p:nvPr/>
        </p:nvSpPr>
        <p:spPr>
          <a:xfrm xmlns:a="http://schemas.openxmlformats.org/drawingml/2006/main">
            <a:off x="685800" y="14382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MODEL</a:t>
            </a:r>
          </a:p>
        </p:txBody>
      </p:sp>
      <p:sp>
        <p:nvSpPr>
          <p:cNvPr id="7" name="">
            <a:extLst xmlns:a="http://schemas.openxmlformats.org/drawingml/2006/main">
              <a:ext uri="{FF2B5EF4-FFF2-40B4-BE49-F238E27FC236}">
                <a16:creationId xmlns:a16="http://schemas.microsoft.com/office/drawing/2014/main" id="{1705A43B-1C9B-461F-8129-1E01FCA91218}"/>
              </a:ext>
            </a:extLst>
          </p:cNvPr>
          <p:cNvSpPr>
            <a:spLocks xmlns:a="http://schemas.openxmlformats.org/drawingml/2006/main" noGrp="1"/>
          </p:cNvSpPr>
          <p:nvPr/>
        </p:nvSpPr>
        <p:spPr>
          <a:xfrm xmlns:a="http://schemas.openxmlformats.org/drawingml/2006/main">
            <a:off x="2724150" y="143827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ctr">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SCORE</a:t>
            </a:r>
          </a:p>
        </p:txBody>
      </p:sp>
      <p:sp>
        <p:nvSpPr>
          <p:cNvPr id="8" name="">
            <a:extLst xmlns:a="http://schemas.openxmlformats.org/drawingml/2006/main">
              <a:ext uri="{FF2B5EF4-FFF2-40B4-BE49-F238E27FC236}">
                <a16:creationId xmlns:a16="http://schemas.microsoft.com/office/drawing/2014/main" id="{0C0390E3-0F8D-4B22-89CB-53C5974CA89F}"/>
              </a:ext>
            </a:extLst>
          </p:cNvPr>
          <p:cNvSpPr>
            <a:spLocks xmlns:a="http://schemas.openxmlformats.org/drawingml/2006/main" noGrp="1"/>
          </p:cNvSpPr>
          <p:nvPr/>
        </p:nvSpPr>
        <p:spPr>
          <a:xfrm xmlns:a="http://schemas.openxmlformats.org/drawingml/2006/main">
            <a:off x="3752850" y="14382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WHAT WORKED</a:t>
            </a:r>
          </a:p>
        </p:txBody>
      </p:sp>
      <p:sp>
        <p:nvSpPr>
          <p:cNvPr id="9" name="">
            <a:extLst xmlns:a="http://schemas.openxmlformats.org/drawingml/2006/main">
              <a:ext uri="{FF2B5EF4-FFF2-40B4-BE49-F238E27FC236}">
                <a16:creationId xmlns:a16="http://schemas.microsoft.com/office/drawing/2014/main" id="{96A8D564-2282-4CCE-A32D-476485D3BEA4}"/>
              </a:ext>
            </a:extLst>
          </p:cNvPr>
          <p:cNvSpPr>
            <a:spLocks xmlns:a="http://schemas.openxmlformats.org/drawingml/2006/main" noGrp="1"/>
          </p:cNvSpPr>
          <p:nvPr/>
        </p:nvSpPr>
        <p:spPr>
          <a:xfrm xmlns:a="http://schemas.openxmlformats.org/drawingml/2006/main">
            <a:off x="7677150" y="14382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WHY THE SCORE STOPPED</a:t>
            </a:r>
          </a:p>
        </p:txBody>
      </p:sp>
      <p:sp>
        <p:nvSpPr>
          <p:cNvPr id="10" name="">
            <a:extLst xmlns:a="http://schemas.openxmlformats.org/drawingml/2006/main">
              <a:ext uri="{FF2B5EF4-FFF2-40B4-BE49-F238E27FC236}">
                <a16:creationId xmlns:a16="http://schemas.microsoft.com/office/drawing/2014/main" id="{1E94A17D-F4B8-4BC0-B03C-CBC1D28CDD12}"/>
              </a:ext>
            </a:extLst>
          </p:cNvPr>
          <p:cNvSpPr>
            <a:spLocks xmlns:a="http://schemas.openxmlformats.org/drawingml/2006/main" noGrp="1"/>
          </p:cNvSpPr>
          <p:nvPr/>
        </p:nvSpPr>
        <p:spPr>
          <a:xfrm xmlns:a="http://schemas.openxmlformats.org/drawingml/2006/main">
            <a:off x="685800" y="17907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qwen3.5</a:t>
            </a:r>
          </a:p>
        </p:txBody>
      </p:sp>
      <p:sp>
        <p:nvSpPr>
          <p:cNvPr id="11" name="">
            <a:extLst xmlns:a="http://schemas.openxmlformats.org/drawingml/2006/main">
              <a:ext uri="{FF2B5EF4-FFF2-40B4-BE49-F238E27FC236}">
                <a16:creationId xmlns:a16="http://schemas.microsoft.com/office/drawing/2014/main" id="{8666B96B-C53B-4597-8728-971C59858F81}"/>
              </a:ext>
            </a:extLst>
          </p:cNvPr>
          <p:cNvSpPr>
            <a:spLocks xmlns:a="http://schemas.openxmlformats.org/drawingml/2006/main" noGrp="1"/>
          </p:cNvSpPr>
          <p:nvPr/>
        </p:nvSpPr>
        <p:spPr>
          <a:xfrm xmlns:a="http://schemas.openxmlformats.org/drawingml/2006/main">
            <a:off x="2724150" y="17526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168B85"/>
                </a:solidFill>
                <a:latin typeface="Helvetica Neue"/>
                <a:ea typeface="Helvetica Neue"/>
                <a:cs typeface="Helvetica Neue"/>
              </a:defRPr>
            </a:pPr>
            <a:r>
              <a:rPr sz="2550" b="1">
                <a:solidFill>
                  <a:srgbClr val="168B85"/>
                </a:solidFill>
                <a:latin typeface="Helvetica Neue"/>
                <a:ea typeface="Helvetica Neue"/>
                <a:cs typeface="Helvetica Neue"/>
              </a:rPr>
              <a:t>64</a:t>
            </a:r>
          </a:p>
        </p:txBody>
      </p:sp>
      <p:sp>
        <p:nvSpPr>
          <p:cNvPr id="12" name="">
            <a:extLst xmlns:a="http://schemas.openxmlformats.org/drawingml/2006/main">
              <a:ext uri="{FF2B5EF4-FFF2-40B4-BE49-F238E27FC236}">
                <a16:creationId xmlns:a16="http://schemas.microsoft.com/office/drawing/2014/main" id="{AF7130B3-8E87-43B2-97A7-F19550538725}"/>
              </a:ext>
            </a:extLst>
          </p:cNvPr>
          <p:cNvSpPr>
            <a:spLocks xmlns:a="http://schemas.openxmlformats.org/drawingml/2006/main" noGrp="1"/>
          </p:cNvSpPr>
          <p:nvPr/>
        </p:nvSpPr>
        <p:spPr>
          <a:xfrm xmlns:a="http://schemas.openxmlformats.org/drawingml/2006/main">
            <a:off x="3524250" y="182880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1016B30-7038-45BA-889F-F74AD0FC82C4}"/>
              </a:ext>
            </a:extLst>
          </p:cNvPr>
          <p:cNvSpPr>
            <a:spLocks xmlns:a="http://schemas.openxmlformats.org/drawingml/2006/main" noGrp="1"/>
          </p:cNvSpPr>
          <p:nvPr/>
        </p:nvSpPr>
        <p:spPr>
          <a:xfrm xmlns:a="http://schemas.openxmlformats.org/drawingml/2006/main">
            <a:off x="3752850" y="179070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Best questions and evidence requests. It framed the changed outage configuration correctly.</a:t>
            </a:r>
          </a:p>
        </p:txBody>
      </p:sp>
      <p:sp>
        <p:nvSpPr>
          <p:cNvPr id="14" name="">
            <a:extLst xmlns:a="http://schemas.openxmlformats.org/drawingml/2006/main">
              <a:ext uri="{FF2B5EF4-FFF2-40B4-BE49-F238E27FC236}">
                <a16:creationId xmlns:a16="http://schemas.microsoft.com/office/drawing/2014/main" id="{14D0CA8A-1756-483F-A4FF-CC8A4E13E844}"/>
              </a:ext>
            </a:extLst>
          </p:cNvPr>
          <p:cNvSpPr>
            <a:spLocks xmlns:a="http://schemas.openxmlformats.org/drawingml/2006/main" noGrp="1"/>
          </p:cNvSpPr>
          <p:nvPr/>
        </p:nvSpPr>
        <p:spPr>
          <a:xfrm xmlns:a="http://schemas.openxmlformats.org/drawingml/2006/main">
            <a:off x="7677150" y="179070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Evidence processing failed. The board had one event node and no causal edges.</a:t>
            </a:r>
          </a:p>
        </p:txBody>
      </p:sp>
      <p:sp>
        <p:nvSpPr>
          <p:cNvPr id="15" name="">
            <a:extLst xmlns:a="http://schemas.openxmlformats.org/drawingml/2006/main">
              <a:ext uri="{FF2B5EF4-FFF2-40B4-BE49-F238E27FC236}">
                <a16:creationId xmlns:a16="http://schemas.microsoft.com/office/drawing/2014/main" id="{23903F30-8E06-4070-97DA-4BEE30F7814C}"/>
              </a:ext>
            </a:extLst>
          </p:cNvPr>
          <p:cNvSpPr>
            <a:spLocks xmlns:a="http://schemas.openxmlformats.org/drawingml/2006/main" noGrp="1"/>
          </p:cNvSpPr>
          <p:nvPr/>
        </p:nvSpPr>
        <p:spPr>
          <a:xfrm xmlns:a="http://schemas.openxmlformats.org/drawingml/2006/main">
            <a:off x="685800" y="265747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734F5C3-CC2B-4701-AC65-5FFE6BBE40CA}"/>
              </a:ext>
            </a:extLst>
          </p:cNvPr>
          <p:cNvSpPr>
            <a:spLocks xmlns:a="http://schemas.openxmlformats.org/drawingml/2006/main" noGrp="1"/>
          </p:cNvSpPr>
          <p:nvPr/>
        </p:nvSpPr>
        <p:spPr>
          <a:xfrm xmlns:a="http://schemas.openxmlformats.org/drawingml/2006/main">
            <a:off x="685800" y="28003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qwen2.5</a:t>
            </a:r>
          </a:p>
        </p:txBody>
      </p:sp>
      <p:sp>
        <p:nvSpPr>
          <p:cNvPr id="17" name="">
            <a:extLst xmlns:a="http://schemas.openxmlformats.org/drawingml/2006/main">
              <a:ext uri="{FF2B5EF4-FFF2-40B4-BE49-F238E27FC236}">
                <a16:creationId xmlns:a16="http://schemas.microsoft.com/office/drawing/2014/main" id="{7D4B89BD-1E7C-41DD-BE58-C4758CFCF507}"/>
              </a:ext>
            </a:extLst>
          </p:cNvPr>
          <p:cNvSpPr>
            <a:spLocks xmlns:a="http://schemas.openxmlformats.org/drawingml/2006/main" noGrp="1"/>
          </p:cNvSpPr>
          <p:nvPr/>
        </p:nvSpPr>
        <p:spPr>
          <a:xfrm xmlns:a="http://schemas.openxmlformats.org/drawingml/2006/main">
            <a:off x="2724150" y="27622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3377B5"/>
                </a:solidFill>
                <a:latin typeface="Helvetica Neue"/>
                <a:ea typeface="Helvetica Neue"/>
                <a:cs typeface="Helvetica Neue"/>
              </a:defRPr>
            </a:pPr>
            <a:r>
              <a:rPr sz="2550" b="1">
                <a:solidFill>
                  <a:srgbClr val="3377B5"/>
                </a:solidFill>
                <a:latin typeface="Helvetica Neue"/>
                <a:ea typeface="Helvetica Neue"/>
                <a:cs typeface="Helvetica Neue"/>
              </a:rPr>
              <a:t>38</a:t>
            </a:r>
          </a:p>
        </p:txBody>
      </p:sp>
      <p:sp>
        <p:nvSpPr>
          <p:cNvPr id="18" name="">
            <a:extLst xmlns:a="http://schemas.openxmlformats.org/drawingml/2006/main">
              <a:ext uri="{FF2B5EF4-FFF2-40B4-BE49-F238E27FC236}">
                <a16:creationId xmlns:a16="http://schemas.microsoft.com/office/drawing/2014/main" id="{F9DC253B-67CF-4F0F-A608-D353D861A110}"/>
              </a:ext>
            </a:extLst>
          </p:cNvPr>
          <p:cNvSpPr>
            <a:spLocks xmlns:a="http://schemas.openxmlformats.org/drawingml/2006/main" noGrp="1"/>
          </p:cNvSpPr>
          <p:nvPr/>
        </p:nvSpPr>
        <p:spPr>
          <a:xfrm xmlns:a="http://schemas.openxmlformats.org/drawingml/2006/main">
            <a:off x="3524250" y="283845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A8A5FEC-AC56-4057-BFAA-A07E23D44B75}"/>
              </a:ext>
            </a:extLst>
          </p:cNvPr>
          <p:cNvSpPr>
            <a:spLocks xmlns:a="http://schemas.openxmlformats.org/drawingml/2006/main" noGrp="1"/>
          </p:cNvSpPr>
          <p:nvPr/>
        </p:nvSpPr>
        <p:spPr>
          <a:xfrm xmlns:a="http://schemas.openxmlformats.org/drawingml/2006/main">
            <a:off x="3752850" y="280035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Useful tags and questions about restraint, turnover, and isolation boundaries.</a:t>
            </a:r>
          </a:p>
        </p:txBody>
      </p:sp>
      <p:sp>
        <p:nvSpPr>
          <p:cNvPr id="20" name="">
            <a:extLst xmlns:a="http://schemas.openxmlformats.org/drawingml/2006/main">
              <a:ext uri="{FF2B5EF4-FFF2-40B4-BE49-F238E27FC236}">
                <a16:creationId xmlns:a16="http://schemas.microsoft.com/office/drawing/2014/main" id="{F844AC93-820A-4B12-AD9C-430EE5BC79F4}"/>
              </a:ext>
            </a:extLst>
          </p:cNvPr>
          <p:cNvSpPr>
            <a:spLocks xmlns:a="http://schemas.openxmlformats.org/drawingml/2006/main" noGrp="1"/>
          </p:cNvSpPr>
          <p:nvPr/>
        </p:nvSpPr>
        <p:spPr>
          <a:xfrm xmlns:a="http://schemas.openxmlformats.org/drawingml/2006/main">
            <a:off x="7677150" y="280035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Six stage errors, repeated questions, missed conflicts, and reverse causal arrows.</a:t>
            </a:r>
          </a:p>
        </p:txBody>
      </p:sp>
      <p:sp>
        <p:nvSpPr>
          <p:cNvPr id="21" name="">
            <a:extLst xmlns:a="http://schemas.openxmlformats.org/drawingml/2006/main">
              <a:ext uri="{FF2B5EF4-FFF2-40B4-BE49-F238E27FC236}">
                <a16:creationId xmlns:a16="http://schemas.microsoft.com/office/drawing/2014/main" id="{867396E2-E361-4198-8D70-1478E411970E}"/>
              </a:ext>
            </a:extLst>
          </p:cNvPr>
          <p:cNvSpPr>
            <a:spLocks xmlns:a="http://schemas.openxmlformats.org/drawingml/2006/main" noGrp="1"/>
          </p:cNvSpPr>
          <p:nvPr/>
        </p:nvSpPr>
        <p:spPr>
          <a:xfrm xmlns:a="http://schemas.openxmlformats.org/drawingml/2006/main">
            <a:off x="685800" y="366712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81AE3CA-88D0-4439-BC73-06F2B1C466AF}"/>
              </a:ext>
            </a:extLst>
          </p:cNvPr>
          <p:cNvSpPr>
            <a:spLocks xmlns:a="http://schemas.openxmlformats.org/drawingml/2006/main" noGrp="1"/>
          </p:cNvSpPr>
          <p:nvPr/>
        </p:nvSpPr>
        <p:spPr>
          <a:xfrm xmlns:a="http://schemas.openxmlformats.org/drawingml/2006/main">
            <a:off x="685800" y="38100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gemma3</a:t>
            </a:r>
          </a:p>
        </p:txBody>
      </p:sp>
      <p:sp>
        <p:nvSpPr>
          <p:cNvPr id="23" name="">
            <a:extLst xmlns:a="http://schemas.openxmlformats.org/drawingml/2006/main">
              <a:ext uri="{FF2B5EF4-FFF2-40B4-BE49-F238E27FC236}">
                <a16:creationId xmlns:a16="http://schemas.microsoft.com/office/drawing/2014/main" id="{9A962774-485D-4365-B1A6-5D8374763511}"/>
              </a:ext>
            </a:extLst>
          </p:cNvPr>
          <p:cNvSpPr>
            <a:spLocks xmlns:a="http://schemas.openxmlformats.org/drawingml/2006/main" noGrp="1"/>
          </p:cNvSpPr>
          <p:nvPr/>
        </p:nvSpPr>
        <p:spPr>
          <a:xfrm xmlns:a="http://schemas.openxmlformats.org/drawingml/2006/main">
            <a:off x="2724150" y="37719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3377B5"/>
                </a:solidFill>
                <a:latin typeface="Helvetica Neue"/>
                <a:ea typeface="Helvetica Neue"/>
                <a:cs typeface="Helvetica Neue"/>
              </a:defRPr>
            </a:pPr>
            <a:r>
              <a:rPr sz="2550" b="1">
                <a:solidFill>
                  <a:srgbClr val="3377B5"/>
                </a:solidFill>
                <a:latin typeface="Helvetica Neue"/>
                <a:ea typeface="Helvetica Neue"/>
                <a:cs typeface="Helvetica Neue"/>
              </a:rPr>
              <a:t>31</a:t>
            </a:r>
          </a:p>
        </p:txBody>
      </p:sp>
      <p:sp>
        <p:nvSpPr>
          <p:cNvPr id="24" name="">
            <a:extLst xmlns:a="http://schemas.openxmlformats.org/drawingml/2006/main">
              <a:ext uri="{FF2B5EF4-FFF2-40B4-BE49-F238E27FC236}">
                <a16:creationId xmlns:a16="http://schemas.microsoft.com/office/drawing/2014/main" id="{9C89418B-696A-4DD2-8ABB-62B1CFA695EE}"/>
              </a:ext>
            </a:extLst>
          </p:cNvPr>
          <p:cNvSpPr>
            <a:spLocks xmlns:a="http://schemas.openxmlformats.org/drawingml/2006/main" noGrp="1"/>
          </p:cNvSpPr>
          <p:nvPr/>
        </p:nvSpPr>
        <p:spPr>
          <a:xfrm xmlns:a="http://schemas.openxmlformats.org/drawingml/2006/main">
            <a:off x="3524250" y="384810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59E253C-2264-40DD-88FD-55BEFD3DF9AC}"/>
              </a:ext>
            </a:extLst>
          </p:cNvPr>
          <p:cNvSpPr>
            <a:spLocks xmlns:a="http://schemas.openxmlformats.org/drawingml/2006/main" noGrp="1"/>
          </p:cNvSpPr>
          <p:nvPr/>
        </p:nvSpPr>
        <p:spPr>
          <a:xfrm xmlns:a="http://schemas.openxmlformats.org/drawingml/2006/main">
            <a:off x="3752850" y="381000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Sound focal-event summary and useful requests for drawings and isolation records.</a:t>
            </a:r>
          </a:p>
        </p:txBody>
      </p:sp>
      <p:sp>
        <p:nvSpPr>
          <p:cNvPr id="26" name="">
            <a:extLst xmlns:a="http://schemas.openxmlformats.org/drawingml/2006/main">
              <a:ext uri="{FF2B5EF4-FFF2-40B4-BE49-F238E27FC236}">
                <a16:creationId xmlns:a16="http://schemas.microsoft.com/office/drawing/2014/main" id="{404BFBDF-B0D0-4DEB-A939-CA16D3355EAF}"/>
              </a:ext>
            </a:extLst>
          </p:cNvPr>
          <p:cNvSpPr>
            <a:spLocks xmlns:a="http://schemas.openxmlformats.org/drawingml/2006/main" noGrp="1"/>
          </p:cNvSpPr>
          <p:nvPr/>
        </p:nvSpPr>
        <p:spPr>
          <a:xfrm xmlns:a="http://schemas.openxmlformats.org/drawingml/2006/main">
            <a:off x="7677150" y="381000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Wrong rail and electrical tags, unsupported assertions, and failed causal analysis.</a:t>
            </a:r>
          </a:p>
        </p:txBody>
      </p:sp>
      <p:sp>
        <p:nvSpPr>
          <p:cNvPr id="27" name="">
            <a:extLst xmlns:a="http://schemas.openxmlformats.org/drawingml/2006/main">
              <a:ext uri="{FF2B5EF4-FFF2-40B4-BE49-F238E27FC236}">
                <a16:creationId xmlns:a16="http://schemas.microsoft.com/office/drawing/2014/main" id="{4D75DCA9-8DB2-4758-885C-89F59A9D7C62}"/>
              </a:ext>
            </a:extLst>
          </p:cNvPr>
          <p:cNvSpPr>
            <a:spLocks xmlns:a="http://schemas.openxmlformats.org/drawingml/2006/main" noGrp="1"/>
          </p:cNvSpPr>
          <p:nvPr/>
        </p:nvSpPr>
        <p:spPr>
          <a:xfrm xmlns:a="http://schemas.openxmlformats.org/drawingml/2006/main">
            <a:off x="685800" y="467677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9189663-52AC-45A6-91BD-C07B50F6F596}"/>
              </a:ext>
            </a:extLst>
          </p:cNvPr>
          <p:cNvSpPr>
            <a:spLocks xmlns:a="http://schemas.openxmlformats.org/drawingml/2006/main" noGrp="1"/>
          </p:cNvSpPr>
          <p:nvPr/>
        </p:nvSpPr>
        <p:spPr>
          <a:xfrm xmlns:a="http://schemas.openxmlformats.org/drawingml/2006/main">
            <a:off x="685800" y="48196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406"/>
          </a:bodyPr>
          <a:lstStyle xmlns:a="http://schemas.openxmlformats.org/drawingml/2006/main"/>
          <a:p xmlns:a="http://schemas.openxmlformats.org/drawingml/2006/main">
            <a:pPr algn="l">
              <a:defRPr sz="1725" b="1">
                <a:solidFill>
                  <a:srgbClr val="10263C"/>
                </a:solidFill>
                <a:latin typeface="Helvetica Neue"/>
                <a:ea typeface="Helvetica Neue"/>
                <a:cs typeface="Helvetica Neue"/>
              </a:defRPr>
            </a:pPr>
            <a:r>
              <a:rPr sz="1725" b="1">
                <a:solidFill>
                  <a:srgbClr val="10263C"/>
                </a:solidFill>
                <a:latin typeface="Helvetica Neue"/>
                <a:ea typeface="Helvetica Neue"/>
                <a:cs typeface="Helvetica Neue"/>
              </a:rPr>
              <a:t>mistral</a:t>
            </a:r>
          </a:p>
        </p:txBody>
      </p:sp>
      <p:sp>
        <p:nvSpPr>
          <p:cNvPr id="29" name="">
            <a:extLst xmlns:a="http://schemas.openxmlformats.org/drawingml/2006/main">
              <a:ext uri="{FF2B5EF4-FFF2-40B4-BE49-F238E27FC236}">
                <a16:creationId xmlns:a16="http://schemas.microsoft.com/office/drawing/2014/main" id="{977F38C1-36C5-4384-8E31-397BC717F722}"/>
              </a:ext>
            </a:extLst>
          </p:cNvPr>
          <p:cNvSpPr>
            <a:spLocks xmlns:a="http://schemas.openxmlformats.org/drawingml/2006/main" noGrp="1"/>
          </p:cNvSpPr>
          <p:nvPr/>
        </p:nvSpPr>
        <p:spPr>
          <a:xfrm xmlns:a="http://schemas.openxmlformats.org/drawingml/2006/main">
            <a:off x="2724150" y="47815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314"/>
          </a:bodyPr>
          <a:lstStyle xmlns:a="http://schemas.openxmlformats.org/drawingml/2006/main"/>
          <a:p xmlns:a="http://schemas.openxmlformats.org/drawingml/2006/main">
            <a:pPr algn="ctr">
              <a:defRPr sz="2550" b="1">
                <a:solidFill>
                  <a:srgbClr val="3377B5"/>
                </a:solidFill>
                <a:latin typeface="Helvetica Neue"/>
                <a:ea typeface="Helvetica Neue"/>
                <a:cs typeface="Helvetica Neue"/>
              </a:defRPr>
            </a:pPr>
            <a:r>
              <a:rPr sz="2550" b="1">
                <a:solidFill>
                  <a:srgbClr val="3377B5"/>
                </a:solidFill>
                <a:latin typeface="Helvetica Neue"/>
                <a:ea typeface="Helvetica Neue"/>
                <a:cs typeface="Helvetica Neue"/>
              </a:rPr>
              <a:t>29</a:t>
            </a:r>
          </a:p>
        </p:txBody>
      </p:sp>
      <p:sp>
        <p:nvSpPr>
          <p:cNvPr id="30" name="">
            <a:extLst xmlns:a="http://schemas.openxmlformats.org/drawingml/2006/main">
              <a:ext uri="{FF2B5EF4-FFF2-40B4-BE49-F238E27FC236}">
                <a16:creationId xmlns:a16="http://schemas.microsoft.com/office/drawing/2014/main" id="{146F17C6-34E4-4FB6-AE01-DC5EEE0B7D88}"/>
              </a:ext>
            </a:extLst>
          </p:cNvPr>
          <p:cNvSpPr>
            <a:spLocks xmlns:a="http://schemas.openxmlformats.org/drawingml/2006/main" noGrp="1"/>
          </p:cNvSpPr>
          <p:nvPr/>
        </p:nvSpPr>
        <p:spPr>
          <a:xfrm xmlns:a="http://schemas.openxmlformats.org/drawingml/2006/main">
            <a:off x="3524250" y="4857750"/>
            <a:ext cx="28575" cy="781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8887FB9-A2FE-4DBE-9568-03C7113EFEC2}"/>
              </a:ext>
            </a:extLst>
          </p:cNvPr>
          <p:cNvSpPr>
            <a:spLocks xmlns:a="http://schemas.openxmlformats.org/drawingml/2006/main" noGrp="1"/>
          </p:cNvSpPr>
          <p:nvPr/>
        </p:nvSpPr>
        <p:spPr>
          <a:xfrm xmlns:a="http://schemas.openxmlformats.org/drawingml/2006/main">
            <a:off x="3752850" y="4819650"/>
            <a:ext cx="3619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Recognized gravity energy, planning, and communication context.</a:t>
            </a:r>
          </a:p>
        </p:txBody>
      </p:sp>
      <p:sp>
        <p:nvSpPr>
          <p:cNvPr id="32" name="">
            <a:extLst xmlns:a="http://schemas.openxmlformats.org/drawingml/2006/main">
              <a:ext uri="{FF2B5EF4-FFF2-40B4-BE49-F238E27FC236}">
                <a16:creationId xmlns:a16="http://schemas.microsoft.com/office/drawing/2014/main" id="{DE3E52F3-2D01-4594-B21A-955973C98DE0}"/>
              </a:ext>
            </a:extLst>
          </p:cNvPr>
          <p:cNvSpPr>
            <a:spLocks xmlns:a="http://schemas.openxmlformats.org/drawingml/2006/main" noGrp="1"/>
          </p:cNvSpPr>
          <p:nvPr/>
        </p:nvSpPr>
        <p:spPr>
          <a:xfrm xmlns:a="http://schemas.openxmlformats.org/drawingml/2006/main">
            <a:off x="7677150" y="4819650"/>
            <a:ext cx="37909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Weak evidence targeting and only a shallow causal board. No planted conflict was found.</a:t>
            </a:r>
          </a:p>
        </p:txBody>
      </p:sp>
      <p:sp>
        <p:nvSpPr>
          <p:cNvPr id="33" name="">
            <a:extLst xmlns:a="http://schemas.openxmlformats.org/drawingml/2006/main">
              <a:ext uri="{FF2B5EF4-FFF2-40B4-BE49-F238E27FC236}">
                <a16:creationId xmlns:a16="http://schemas.microsoft.com/office/drawing/2014/main" id="{E195F3E2-CAD8-4D88-8949-BB1A32966AF9}"/>
              </a:ext>
            </a:extLst>
          </p:cNvPr>
          <p:cNvSpPr>
            <a:spLocks xmlns:a="http://schemas.openxmlformats.org/drawingml/2006/main" noGrp="1"/>
          </p:cNvSpPr>
          <p:nvPr/>
        </p:nvSpPr>
        <p:spPr>
          <a:xfrm xmlns:a="http://schemas.openxmlformats.org/drawingml/2006/main">
            <a:off x="685800" y="5686425"/>
            <a:ext cx="10782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1693832921"/>
      </p:ext>
    </p:extLst>
  </p:cSld>
</p:sld>
</file>

<file path=ppt/slides/slide8.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173D71EA-9138-4ED0-B0C9-B40EEED4D286}"/>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Why the remaining Try 3 models scored below 30</a:t>
            </a:r>
          </a:p>
        </p:txBody>
      </p:sp>
      <p:sp>
        <p:nvSpPr>
          <p:cNvPr id="2" name="">
            <a:extLst xmlns:a="http://schemas.openxmlformats.org/drawingml/2006/main">
              <a:ext uri="{FF2B5EF4-FFF2-40B4-BE49-F238E27FC236}">
                <a16:creationId xmlns:a16="http://schemas.microsoft.com/office/drawing/2014/main" id="{71D4E9C2-770A-4B38-A52D-9EDF23C0BABD}"/>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Completion alone did not earn a strong score when the investigation remained shallow or unreliable.</a:t>
            </a:r>
          </a:p>
        </p:txBody>
      </p:sp>
      <p:sp>
        <p:nvSpPr>
          <p:cNvPr id="3" name="">
            <a:extLst xmlns:a="http://schemas.openxmlformats.org/drawingml/2006/main">
              <a:ext uri="{FF2B5EF4-FFF2-40B4-BE49-F238E27FC236}">
                <a16:creationId xmlns:a16="http://schemas.microsoft.com/office/drawing/2014/main" id="{0D961F5D-51ED-426A-A544-5093A20DD93F}"/>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F950076-95D2-4A1E-8E7C-A4E8DDF1B5B1}"/>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 model-by-model findings</a:t>
            </a:r>
          </a:p>
        </p:txBody>
      </p:sp>
      <p:sp>
        <p:nvSpPr>
          <p:cNvPr id="5" name="">
            <a:extLst xmlns:a="http://schemas.openxmlformats.org/drawingml/2006/main">
              <a:ext uri="{FF2B5EF4-FFF2-40B4-BE49-F238E27FC236}">
                <a16:creationId xmlns:a16="http://schemas.microsoft.com/office/drawing/2014/main" id="{B4E8FC63-3192-47D6-A355-5FB2CC02739C}"/>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94DF2F15-5F4D-4E51-9441-314F50A3FB4D}"/>
              </a:ext>
            </a:extLst>
          </p:cNvPr>
          <p:cNvSpPr>
            <a:spLocks xmlns:a="http://schemas.openxmlformats.org/drawingml/2006/main" noGrp="1"/>
          </p:cNvSpPr>
          <p:nvPr/>
        </p:nvSpPr>
        <p:spPr>
          <a:xfrm xmlns:a="http://schemas.openxmlformats.org/drawingml/2006/main">
            <a:off x="685800" y="15049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MODEL / SCORE</a:t>
            </a:r>
          </a:p>
        </p:txBody>
      </p:sp>
      <p:sp>
        <p:nvSpPr>
          <p:cNvPr id="7" name="">
            <a:extLst xmlns:a="http://schemas.openxmlformats.org/drawingml/2006/main">
              <a:ext uri="{FF2B5EF4-FFF2-40B4-BE49-F238E27FC236}">
                <a16:creationId xmlns:a16="http://schemas.microsoft.com/office/drawing/2014/main" id="{28BE3215-90C6-4F4F-BFD9-712F92E01733}"/>
              </a:ext>
            </a:extLst>
          </p:cNvPr>
          <p:cNvSpPr>
            <a:spLocks xmlns:a="http://schemas.openxmlformats.org/drawingml/2006/main" noGrp="1"/>
          </p:cNvSpPr>
          <p:nvPr/>
        </p:nvSpPr>
        <p:spPr>
          <a:xfrm xmlns:a="http://schemas.openxmlformats.org/drawingml/2006/main">
            <a:off x="3257550" y="1504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CREDIT EARNED</a:t>
            </a:r>
          </a:p>
        </p:txBody>
      </p:sp>
      <p:sp>
        <p:nvSpPr>
          <p:cNvPr id="8" name="">
            <a:extLst xmlns:a="http://schemas.openxmlformats.org/drawingml/2006/main">
              <a:ext uri="{FF2B5EF4-FFF2-40B4-BE49-F238E27FC236}">
                <a16:creationId xmlns:a16="http://schemas.microsoft.com/office/drawing/2014/main" id="{3B9D2470-F0C7-4F15-B18C-A367B0FC0C24}"/>
              </a:ext>
            </a:extLst>
          </p:cNvPr>
          <p:cNvSpPr>
            <a:spLocks xmlns:a="http://schemas.openxmlformats.org/drawingml/2006/main" noGrp="1"/>
          </p:cNvSpPr>
          <p:nvPr/>
        </p:nvSpPr>
        <p:spPr>
          <a:xfrm xmlns:a="http://schemas.openxmlformats.org/drawingml/2006/main">
            <a:off x="6762750" y="15049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6B7B8C"/>
                </a:solidFill>
                <a:latin typeface="Helvetica Neue"/>
                <a:ea typeface="Helvetica Neue"/>
                <a:cs typeface="Helvetica Neue"/>
              </a:defRPr>
            </a:pPr>
            <a:r>
              <a:rPr sz="975" b="1">
                <a:solidFill>
                  <a:srgbClr val="6B7B8C"/>
                </a:solidFill>
                <a:latin typeface="Helvetica Neue"/>
                <a:ea typeface="Helvetica Neue"/>
                <a:cs typeface="Helvetica Neue"/>
              </a:rPr>
              <a:t>PRIMARY LIMIT</a:t>
            </a:r>
          </a:p>
        </p:txBody>
      </p:sp>
      <p:sp>
        <p:nvSpPr>
          <p:cNvPr id="9" name="">
            <a:extLst xmlns:a="http://schemas.openxmlformats.org/drawingml/2006/main">
              <a:ext uri="{FF2B5EF4-FFF2-40B4-BE49-F238E27FC236}">
                <a16:creationId xmlns:a16="http://schemas.microsoft.com/office/drawing/2014/main" id="{BA6B884D-F553-4FC1-8781-E458DE4AE3F7}"/>
              </a:ext>
            </a:extLst>
          </p:cNvPr>
          <p:cNvSpPr>
            <a:spLocks xmlns:a="http://schemas.openxmlformats.org/drawingml/2006/main" noGrp="1"/>
          </p:cNvSpPr>
          <p:nvPr/>
        </p:nvSpPr>
        <p:spPr>
          <a:xfrm xmlns:a="http://schemas.openxmlformats.org/drawingml/2006/main">
            <a:off x="685800" y="18478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llama3.1   27</a:t>
            </a:r>
          </a:p>
        </p:txBody>
      </p:sp>
      <p:sp>
        <p:nvSpPr>
          <p:cNvPr id="10" name="">
            <a:extLst xmlns:a="http://schemas.openxmlformats.org/drawingml/2006/main">
              <a:ext uri="{FF2B5EF4-FFF2-40B4-BE49-F238E27FC236}">
                <a16:creationId xmlns:a16="http://schemas.microsoft.com/office/drawing/2014/main" id="{41493859-2B2A-499B-A9A9-776E7FC8F1BD}"/>
              </a:ext>
            </a:extLst>
          </p:cNvPr>
          <p:cNvSpPr>
            <a:spLocks xmlns:a="http://schemas.openxmlformats.org/drawingml/2006/main" noGrp="1"/>
          </p:cNvSpPr>
          <p:nvPr/>
        </p:nvSpPr>
        <p:spPr>
          <a:xfrm xmlns:a="http://schemas.openxmlformats.org/drawingml/2006/main">
            <a:off x="3257550" y="18478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Clean structured-output run</a:t>
            </a:r>
          </a:p>
        </p:txBody>
      </p:sp>
      <p:sp>
        <p:nvSpPr>
          <p:cNvPr id="11" name="">
            <a:extLst xmlns:a="http://schemas.openxmlformats.org/drawingml/2006/main">
              <a:ext uri="{FF2B5EF4-FFF2-40B4-BE49-F238E27FC236}">
                <a16:creationId xmlns:a16="http://schemas.microsoft.com/office/drawing/2014/main" id="{7BF1D60C-E5E5-499A-93C3-FDE4E16E0B40}"/>
              </a:ext>
            </a:extLst>
          </p:cNvPr>
          <p:cNvSpPr>
            <a:spLocks xmlns:a="http://schemas.openxmlformats.org/drawingml/2006/main" noGrp="1"/>
          </p:cNvSpPr>
          <p:nvPr/>
        </p:nvSpPr>
        <p:spPr>
          <a:xfrm xmlns:a="http://schemas.openxmlformats.org/drawingml/2006/main">
            <a:off x="6762750" y="18478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Only one tag and a shallow evidence-to-cause path</a:t>
            </a:r>
          </a:p>
        </p:txBody>
      </p:sp>
      <p:sp>
        <p:nvSpPr>
          <p:cNvPr id="12" name="">
            <a:extLst xmlns:a="http://schemas.openxmlformats.org/drawingml/2006/main">
              <a:ext uri="{FF2B5EF4-FFF2-40B4-BE49-F238E27FC236}">
                <a16:creationId xmlns:a16="http://schemas.microsoft.com/office/drawing/2014/main" id="{BCE946DA-AE49-4638-882C-D7FBC93A80F3}"/>
              </a:ext>
            </a:extLst>
          </p:cNvPr>
          <p:cNvSpPr>
            <a:spLocks xmlns:a="http://schemas.openxmlformats.org/drawingml/2006/main" noGrp="1"/>
          </p:cNvSpPr>
          <p:nvPr/>
        </p:nvSpPr>
        <p:spPr>
          <a:xfrm xmlns:a="http://schemas.openxmlformats.org/drawingml/2006/main">
            <a:off x="685800" y="24003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EE377B0-C7FA-45B7-A769-953C7DE6079C}"/>
              </a:ext>
            </a:extLst>
          </p:cNvPr>
          <p:cNvSpPr>
            <a:spLocks xmlns:a="http://schemas.openxmlformats.org/drawingml/2006/main" noGrp="1"/>
          </p:cNvSpPr>
          <p:nvPr/>
        </p:nvSpPr>
        <p:spPr>
          <a:xfrm xmlns:a="http://schemas.openxmlformats.org/drawingml/2006/main">
            <a:off x="685800" y="25336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hermes3   18</a:t>
            </a:r>
          </a:p>
        </p:txBody>
      </p:sp>
      <p:sp>
        <p:nvSpPr>
          <p:cNvPr id="14" name="">
            <a:extLst xmlns:a="http://schemas.openxmlformats.org/drawingml/2006/main">
              <a:ext uri="{FF2B5EF4-FFF2-40B4-BE49-F238E27FC236}">
                <a16:creationId xmlns:a16="http://schemas.microsoft.com/office/drawing/2014/main" id="{B9E692FC-420D-40E9-A71F-9BFF8D1758A6}"/>
              </a:ext>
            </a:extLst>
          </p:cNvPr>
          <p:cNvSpPr>
            <a:spLocks xmlns:a="http://schemas.openxmlformats.org/drawingml/2006/main" noGrp="1"/>
          </p:cNvSpPr>
          <p:nvPr/>
        </p:nvSpPr>
        <p:spPr>
          <a:xfrm xmlns:a="http://schemas.openxmlformats.org/drawingml/2006/main">
            <a:off x="3257550" y="25336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Produced a small causal graph</a:t>
            </a:r>
          </a:p>
        </p:txBody>
      </p:sp>
      <p:sp>
        <p:nvSpPr>
          <p:cNvPr id="15" name="">
            <a:extLst xmlns:a="http://schemas.openxmlformats.org/drawingml/2006/main">
              <a:ext uri="{FF2B5EF4-FFF2-40B4-BE49-F238E27FC236}">
                <a16:creationId xmlns:a16="http://schemas.microsoft.com/office/drawing/2014/main" id="{9A9630B5-19B9-4CF4-9E9A-02E557152FBF}"/>
              </a:ext>
            </a:extLst>
          </p:cNvPr>
          <p:cNvSpPr>
            <a:spLocks xmlns:a="http://schemas.openxmlformats.org/drawingml/2006/main" noGrp="1"/>
          </p:cNvSpPr>
          <p:nvPr/>
        </p:nvSpPr>
        <p:spPr>
          <a:xfrm xmlns:a="http://schemas.openxmlformats.org/drawingml/2006/main">
            <a:off x="6762750" y="25336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Weak tag selection and little provenance discipline</a:t>
            </a:r>
          </a:p>
        </p:txBody>
      </p:sp>
      <p:sp>
        <p:nvSpPr>
          <p:cNvPr id="16" name="">
            <a:extLst xmlns:a="http://schemas.openxmlformats.org/drawingml/2006/main">
              <a:ext uri="{FF2B5EF4-FFF2-40B4-BE49-F238E27FC236}">
                <a16:creationId xmlns:a16="http://schemas.microsoft.com/office/drawing/2014/main" id="{E2DCE3DA-65EF-4259-BFC1-5EAABFBF18D8}"/>
              </a:ext>
            </a:extLst>
          </p:cNvPr>
          <p:cNvSpPr>
            <a:spLocks xmlns:a="http://schemas.openxmlformats.org/drawingml/2006/main" noGrp="1"/>
          </p:cNvSpPr>
          <p:nvPr/>
        </p:nvSpPr>
        <p:spPr>
          <a:xfrm xmlns:a="http://schemas.openxmlformats.org/drawingml/2006/main">
            <a:off x="685800" y="30861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9ABC4C1-79B9-4215-8538-A8324B5DC373}"/>
              </a:ext>
            </a:extLst>
          </p:cNvPr>
          <p:cNvSpPr>
            <a:spLocks xmlns:a="http://schemas.openxmlformats.org/drawingml/2006/main" noGrp="1"/>
          </p:cNvSpPr>
          <p:nvPr/>
        </p:nvSpPr>
        <p:spPr>
          <a:xfrm xmlns:a="http://schemas.openxmlformats.org/drawingml/2006/main">
            <a:off x="685800" y="32194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llama3.2   17</a:t>
            </a:r>
          </a:p>
        </p:txBody>
      </p:sp>
      <p:sp>
        <p:nvSpPr>
          <p:cNvPr id="18" name="">
            <a:extLst xmlns:a="http://schemas.openxmlformats.org/drawingml/2006/main">
              <a:ext uri="{FF2B5EF4-FFF2-40B4-BE49-F238E27FC236}">
                <a16:creationId xmlns:a16="http://schemas.microsoft.com/office/drawing/2014/main" id="{DDDB0395-D7BE-462D-A8FD-D166255A667A}"/>
              </a:ext>
            </a:extLst>
          </p:cNvPr>
          <p:cNvSpPr>
            <a:spLocks xmlns:a="http://schemas.openxmlformats.org/drawingml/2006/main" noGrp="1"/>
          </p:cNvSpPr>
          <p:nvPr/>
        </p:nvSpPr>
        <p:spPr>
          <a:xfrm xmlns:a="http://schemas.openxmlformats.org/drawingml/2006/main">
            <a:off x="3257550" y="32194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Completed two versions</a:t>
            </a:r>
          </a:p>
        </p:txBody>
      </p:sp>
      <p:sp>
        <p:nvSpPr>
          <p:cNvPr id="19" name="">
            <a:extLst xmlns:a="http://schemas.openxmlformats.org/drawingml/2006/main">
              <a:ext uri="{FF2B5EF4-FFF2-40B4-BE49-F238E27FC236}">
                <a16:creationId xmlns:a16="http://schemas.microsoft.com/office/drawing/2014/main" id="{47C6AA3F-86FF-481E-A593-6A3050CD18C8}"/>
              </a:ext>
            </a:extLst>
          </p:cNvPr>
          <p:cNvSpPr>
            <a:spLocks xmlns:a="http://schemas.openxmlformats.org/drawingml/2006/main" noGrp="1"/>
          </p:cNvSpPr>
          <p:nvPr/>
        </p:nvSpPr>
        <p:spPr>
          <a:xfrm xmlns:a="http://schemas.openxmlformats.org/drawingml/2006/main">
            <a:off x="6762750" y="32194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Low-value questions and weak causal development</a:t>
            </a:r>
          </a:p>
        </p:txBody>
      </p:sp>
      <p:sp>
        <p:nvSpPr>
          <p:cNvPr id="20" name="">
            <a:extLst xmlns:a="http://schemas.openxmlformats.org/drawingml/2006/main">
              <a:ext uri="{FF2B5EF4-FFF2-40B4-BE49-F238E27FC236}">
                <a16:creationId xmlns:a16="http://schemas.microsoft.com/office/drawing/2014/main" id="{58DBE6DC-93F0-4400-83AF-7D0EE38F5060}"/>
              </a:ext>
            </a:extLst>
          </p:cNvPr>
          <p:cNvSpPr>
            <a:spLocks xmlns:a="http://schemas.openxmlformats.org/drawingml/2006/main" noGrp="1"/>
          </p:cNvSpPr>
          <p:nvPr/>
        </p:nvSpPr>
        <p:spPr>
          <a:xfrm xmlns:a="http://schemas.openxmlformats.org/drawingml/2006/main">
            <a:off x="685800" y="37719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27F6063-3672-48E5-8D0C-508D9B614F62}"/>
              </a:ext>
            </a:extLst>
          </p:cNvPr>
          <p:cNvSpPr>
            <a:spLocks xmlns:a="http://schemas.openxmlformats.org/drawingml/2006/main" noGrp="1"/>
          </p:cNvSpPr>
          <p:nvPr/>
        </p:nvSpPr>
        <p:spPr>
          <a:xfrm xmlns:a="http://schemas.openxmlformats.org/drawingml/2006/main">
            <a:off x="685800" y="39052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phi4-mini   13</a:t>
            </a:r>
          </a:p>
        </p:txBody>
      </p:sp>
      <p:sp>
        <p:nvSpPr>
          <p:cNvPr id="22" name="">
            <a:extLst xmlns:a="http://schemas.openxmlformats.org/drawingml/2006/main">
              <a:ext uri="{FF2B5EF4-FFF2-40B4-BE49-F238E27FC236}">
                <a16:creationId xmlns:a16="http://schemas.microsoft.com/office/drawing/2014/main" id="{296E592D-BA75-4160-8054-9FCFE1CCA77A}"/>
              </a:ext>
            </a:extLst>
          </p:cNvPr>
          <p:cNvSpPr>
            <a:spLocks xmlns:a="http://schemas.openxmlformats.org/drawingml/2006/main" noGrp="1"/>
          </p:cNvSpPr>
          <p:nvPr/>
        </p:nvSpPr>
        <p:spPr>
          <a:xfrm xmlns:a="http://schemas.openxmlformats.org/drawingml/2006/main">
            <a:off x="3257550" y="39052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Generated substantial text</a:t>
            </a:r>
          </a:p>
        </p:txBody>
      </p:sp>
      <p:sp>
        <p:nvSpPr>
          <p:cNvPr id="23" name="">
            <a:extLst xmlns:a="http://schemas.openxmlformats.org/drawingml/2006/main">
              <a:ext uri="{FF2B5EF4-FFF2-40B4-BE49-F238E27FC236}">
                <a16:creationId xmlns:a16="http://schemas.microsoft.com/office/drawing/2014/main" id="{269E7C72-E458-4056-9B25-A6DB01969484}"/>
              </a:ext>
            </a:extLst>
          </p:cNvPr>
          <p:cNvSpPr>
            <a:spLocks xmlns:a="http://schemas.openxmlformats.org/drawingml/2006/main" noGrp="1"/>
          </p:cNvSpPr>
          <p:nvPr/>
        </p:nvSpPr>
        <p:spPr>
          <a:xfrm xmlns:a="http://schemas.openxmlformats.org/drawingml/2006/main">
            <a:off x="6762750" y="39052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Nineteen stage errors and extensive fallback content</a:t>
            </a:r>
          </a:p>
        </p:txBody>
      </p:sp>
      <p:sp>
        <p:nvSpPr>
          <p:cNvPr id="24" name="">
            <a:extLst xmlns:a="http://schemas.openxmlformats.org/drawingml/2006/main">
              <a:ext uri="{FF2B5EF4-FFF2-40B4-BE49-F238E27FC236}">
                <a16:creationId xmlns:a16="http://schemas.microsoft.com/office/drawing/2014/main" id="{9A9274C0-F8B9-4DC0-98A8-231F050E9C1B}"/>
              </a:ext>
            </a:extLst>
          </p:cNvPr>
          <p:cNvSpPr>
            <a:spLocks xmlns:a="http://schemas.openxmlformats.org/drawingml/2006/main" noGrp="1"/>
          </p:cNvSpPr>
          <p:nvPr/>
        </p:nvSpPr>
        <p:spPr>
          <a:xfrm xmlns:a="http://schemas.openxmlformats.org/drawingml/2006/main">
            <a:off x="685800" y="44577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5DCD3F0-F192-4111-BE7B-C35606CC216F}"/>
              </a:ext>
            </a:extLst>
          </p:cNvPr>
          <p:cNvSpPr>
            <a:spLocks xmlns:a="http://schemas.openxmlformats.org/drawingml/2006/main" noGrp="1"/>
          </p:cNvSpPr>
          <p:nvPr/>
        </p:nvSpPr>
        <p:spPr>
          <a:xfrm xmlns:a="http://schemas.openxmlformats.org/drawingml/2006/main">
            <a:off x="685800" y="45910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C9564D"/>
                </a:solidFill>
                <a:latin typeface="Helvetica Neue"/>
                <a:ea typeface="Helvetica Neue"/>
                <a:cs typeface="Helvetica Neue"/>
              </a:defRPr>
            </a:pPr>
            <a:r>
              <a:rPr sz="1650" b="1">
                <a:solidFill>
                  <a:srgbClr val="C9564D"/>
                </a:solidFill>
                <a:latin typeface="Helvetica Neue"/>
                <a:ea typeface="Helvetica Neue"/>
                <a:cs typeface="Helvetica Neue"/>
              </a:rPr>
              <a:t>deepseek-r1   0</a:t>
            </a:r>
          </a:p>
        </p:txBody>
      </p:sp>
      <p:sp>
        <p:nvSpPr>
          <p:cNvPr id="26" name="">
            <a:extLst xmlns:a="http://schemas.openxmlformats.org/drawingml/2006/main">
              <a:ext uri="{FF2B5EF4-FFF2-40B4-BE49-F238E27FC236}">
                <a16:creationId xmlns:a16="http://schemas.microsoft.com/office/drawing/2014/main" id="{26C5572C-16DB-4E5F-98CB-8E3EB3812543}"/>
              </a:ext>
            </a:extLst>
          </p:cNvPr>
          <p:cNvSpPr>
            <a:spLocks xmlns:a="http://schemas.openxmlformats.org/drawingml/2006/main" noGrp="1"/>
          </p:cNvSpPr>
          <p:nvPr/>
        </p:nvSpPr>
        <p:spPr>
          <a:xfrm xmlns:a="http://schemas.openxmlformats.org/drawingml/2006/main">
            <a:off x="3257550" y="45910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No gradeable artifact</a:t>
            </a:r>
          </a:p>
        </p:txBody>
      </p:sp>
      <p:sp>
        <p:nvSpPr>
          <p:cNvPr id="27" name="">
            <a:extLst xmlns:a="http://schemas.openxmlformats.org/drawingml/2006/main">
              <a:ext uri="{FF2B5EF4-FFF2-40B4-BE49-F238E27FC236}">
                <a16:creationId xmlns:a16="http://schemas.microsoft.com/office/drawing/2014/main" id="{31663ED0-FAA8-47D9-8D06-16248C651CD3}"/>
              </a:ext>
            </a:extLst>
          </p:cNvPr>
          <p:cNvSpPr>
            <a:spLocks xmlns:a="http://schemas.openxmlformats.org/drawingml/2006/main" noGrp="1"/>
          </p:cNvSpPr>
          <p:nvPr/>
        </p:nvSpPr>
        <p:spPr>
          <a:xfrm xmlns:a="http://schemas.openxmlformats.org/drawingml/2006/main">
            <a:off x="6762750" y="45910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9131"/>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Exceeded the 30-minute limit before committing a version</a:t>
            </a:r>
          </a:p>
        </p:txBody>
      </p:sp>
      <p:sp>
        <p:nvSpPr>
          <p:cNvPr id="28" name="">
            <a:extLst xmlns:a="http://schemas.openxmlformats.org/drawingml/2006/main">
              <a:ext uri="{FF2B5EF4-FFF2-40B4-BE49-F238E27FC236}">
                <a16:creationId xmlns:a16="http://schemas.microsoft.com/office/drawing/2014/main" id="{BB13D24E-CF4F-4977-B813-A9AC09548713}"/>
              </a:ext>
            </a:extLst>
          </p:cNvPr>
          <p:cNvSpPr>
            <a:spLocks xmlns:a="http://schemas.openxmlformats.org/drawingml/2006/main" noGrp="1"/>
          </p:cNvSpPr>
          <p:nvPr/>
        </p:nvSpPr>
        <p:spPr>
          <a:xfrm xmlns:a="http://schemas.openxmlformats.org/drawingml/2006/main">
            <a:off x="685800" y="51435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E5345E8-23C0-4C5A-8CA7-E1575A9688BA}"/>
              </a:ext>
            </a:extLst>
          </p:cNvPr>
          <p:cNvSpPr>
            <a:spLocks xmlns:a="http://schemas.openxmlformats.org/drawingml/2006/main" noGrp="1"/>
          </p:cNvSpPr>
          <p:nvPr/>
        </p:nvSpPr>
        <p:spPr>
          <a:xfrm xmlns:a="http://schemas.openxmlformats.org/drawingml/2006/main">
            <a:off x="685800" y="52768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C9564D"/>
                </a:solidFill>
                <a:latin typeface="Helvetica Neue"/>
                <a:ea typeface="Helvetica Neue"/>
                <a:cs typeface="Helvetica Neue"/>
              </a:defRPr>
            </a:pPr>
            <a:r>
              <a:rPr sz="1650" b="1">
                <a:solidFill>
                  <a:srgbClr val="C9564D"/>
                </a:solidFill>
                <a:latin typeface="Helvetica Neue"/>
                <a:ea typeface="Helvetica Neue"/>
                <a:cs typeface="Helvetica Neue"/>
              </a:rPr>
              <a:t>granite3.3   0</a:t>
            </a:r>
          </a:p>
        </p:txBody>
      </p:sp>
      <p:sp>
        <p:nvSpPr>
          <p:cNvPr id="30" name="">
            <a:extLst xmlns:a="http://schemas.openxmlformats.org/drawingml/2006/main">
              <a:ext uri="{FF2B5EF4-FFF2-40B4-BE49-F238E27FC236}">
                <a16:creationId xmlns:a16="http://schemas.microsoft.com/office/drawing/2014/main" id="{E81DB688-90FD-46EE-A9E0-79189F2486A0}"/>
              </a:ext>
            </a:extLst>
          </p:cNvPr>
          <p:cNvSpPr>
            <a:spLocks xmlns:a="http://schemas.openxmlformats.org/drawingml/2006/main" noGrp="1"/>
          </p:cNvSpPr>
          <p:nvPr/>
        </p:nvSpPr>
        <p:spPr>
          <a:xfrm xmlns:a="http://schemas.openxmlformats.org/drawingml/2006/main">
            <a:off x="3257550" y="527685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7212B"/>
                </a:solidFill>
                <a:latin typeface="Helvetica Neue"/>
                <a:ea typeface="Helvetica Neue"/>
                <a:cs typeface="Helvetica Neue"/>
              </a:defRPr>
            </a:pPr>
            <a:r>
              <a:rPr sz="1350" b="0">
                <a:solidFill>
                  <a:srgbClr val="17212B"/>
                </a:solidFill>
                <a:latin typeface="Helvetica Neue"/>
                <a:ea typeface="Helvetica Neue"/>
                <a:cs typeface="Helvetica Neue"/>
              </a:rPr>
              <a:t>No gradeable artifact</a:t>
            </a:r>
          </a:p>
        </p:txBody>
      </p:sp>
      <p:sp>
        <p:nvSpPr>
          <p:cNvPr id="31" name="">
            <a:extLst xmlns:a="http://schemas.openxmlformats.org/drawingml/2006/main">
              <a:ext uri="{FF2B5EF4-FFF2-40B4-BE49-F238E27FC236}">
                <a16:creationId xmlns:a16="http://schemas.microsoft.com/office/drawing/2014/main" id="{B09BBA5C-2629-44ED-86D3-D429BEA66877}"/>
              </a:ext>
            </a:extLst>
          </p:cNvPr>
          <p:cNvSpPr>
            <a:spLocks xmlns:a="http://schemas.openxmlformats.org/drawingml/2006/main" noGrp="1"/>
          </p:cNvSpPr>
          <p:nvPr/>
        </p:nvSpPr>
        <p:spPr>
          <a:xfrm xmlns:a="http://schemas.openxmlformats.org/drawingml/2006/main">
            <a:off x="6762750" y="52768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9131"/>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Exceeded the 30-minute limit before committing a version</a:t>
            </a:r>
          </a:p>
        </p:txBody>
      </p:sp>
      <p:sp>
        <p:nvSpPr>
          <p:cNvPr id="32" name="">
            <a:extLst xmlns:a="http://schemas.openxmlformats.org/drawingml/2006/main">
              <a:ext uri="{FF2B5EF4-FFF2-40B4-BE49-F238E27FC236}">
                <a16:creationId xmlns:a16="http://schemas.microsoft.com/office/drawing/2014/main" id="{33B3B121-F015-4459-AE4C-DF9334D90286}"/>
              </a:ext>
            </a:extLst>
          </p:cNvPr>
          <p:cNvSpPr>
            <a:spLocks xmlns:a="http://schemas.openxmlformats.org/drawingml/2006/main" noGrp="1"/>
          </p:cNvSpPr>
          <p:nvPr/>
        </p:nvSpPr>
        <p:spPr>
          <a:xfrm xmlns:a="http://schemas.openxmlformats.org/drawingml/2006/main">
            <a:off x="685800" y="5829300"/>
            <a:ext cx="1064895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1049741625"/>
      </p:ext>
    </p:extLst>
  </p:cSld>
</p:sld>
</file>

<file path=ppt/slides/slide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6F592DD-1B35-4E78-9769-CE20CC778461}"/>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3 exposed system failures as well as model failures</a:t>
            </a:r>
          </a:p>
        </p:txBody>
      </p:sp>
      <p:sp>
        <p:nvSpPr>
          <p:cNvPr id="2" name="">
            <a:extLst xmlns:a="http://schemas.openxmlformats.org/drawingml/2006/main">
              <a:ext uri="{FF2B5EF4-FFF2-40B4-BE49-F238E27FC236}">
                <a16:creationId xmlns:a16="http://schemas.microsoft.com/office/drawing/2014/main" id="{45BE92DA-9842-4314-9459-13A3FE59AB80}"/>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Several weaknesses appeared across models, which means prompt quality alone could not solve them.</a:t>
            </a:r>
          </a:p>
        </p:txBody>
      </p:sp>
      <p:sp>
        <p:nvSpPr>
          <p:cNvPr id="3" name="">
            <a:extLst xmlns:a="http://schemas.openxmlformats.org/drawingml/2006/main">
              <a:ext uri="{FF2B5EF4-FFF2-40B4-BE49-F238E27FC236}">
                <a16:creationId xmlns:a16="http://schemas.microsoft.com/office/drawing/2014/main" id="{878CE112-D57E-4027-9218-A02BEFC249B9}"/>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B0815BB-15E5-46D2-B299-25B3B9E9406E}"/>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3 benchmark cross-model findings</a:t>
            </a:r>
          </a:p>
        </p:txBody>
      </p:sp>
      <p:sp>
        <p:nvSpPr>
          <p:cNvPr id="5" name="">
            <a:extLst xmlns:a="http://schemas.openxmlformats.org/drawingml/2006/main">
              <a:ext uri="{FF2B5EF4-FFF2-40B4-BE49-F238E27FC236}">
                <a16:creationId xmlns:a16="http://schemas.microsoft.com/office/drawing/2014/main" id="{FC4F4570-EF34-40A3-BEBF-C21BB5529ECA}"/>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9B6A9DF8-4CD7-4670-93A0-5C29F1911647}"/>
              </a:ext>
            </a:extLst>
          </p:cNvPr>
          <p:cNvSpPr>
            <a:spLocks xmlns:a="http://schemas.openxmlformats.org/drawingml/2006/main" noGrp="1"/>
          </p:cNvSpPr>
          <p:nvPr/>
        </p:nvSpPr>
        <p:spPr>
          <a:xfrm xmlns:a="http://schemas.openxmlformats.org/drawingml/2006/main">
            <a:off x="742950" y="16764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3377B5"/>
                </a:solidFill>
                <a:latin typeface="Helvetica Neue"/>
                <a:ea typeface="Helvetica Neue"/>
                <a:cs typeface="Helvetica Neue"/>
              </a:defRPr>
            </a:pPr>
            <a:r>
              <a:rPr sz="2100" b="1">
                <a:solidFill>
                  <a:srgbClr val="3377B5"/>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CD27C998-2CBD-4DDB-A9E0-B998D66BC39A}"/>
              </a:ext>
            </a:extLst>
          </p:cNvPr>
          <p:cNvSpPr>
            <a:spLocks xmlns:a="http://schemas.openxmlformats.org/drawingml/2006/main" noGrp="1"/>
          </p:cNvSpPr>
          <p:nvPr/>
        </p:nvSpPr>
        <p:spPr>
          <a:xfrm xmlns:a="http://schemas.openxmlformats.org/drawingml/2006/main">
            <a:off x="1409700" y="16764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Structured output</a:t>
            </a:r>
          </a:p>
        </p:txBody>
      </p:sp>
      <p:sp>
        <p:nvSpPr>
          <p:cNvPr id="8" name="">
            <a:extLst xmlns:a="http://schemas.openxmlformats.org/drawingml/2006/main">
              <a:ext uri="{FF2B5EF4-FFF2-40B4-BE49-F238E27FC236}">
                <a16:creationId xmlns:a16="http://schemas.microsoft.com/office/drawing/2014/main" id="{56CF26E5-7148-4A76-802F-84C2C65E747A}"/>
              </a:ext>
            </a:extLst>
          </p:cNvPr>
          <p:cNvSpPr>
            <a:spLocks xmlns:a="http://schemas.openxmlformats.org/drawingml/2006/main" noGrp="1"/>
          </p:cNvSpPr>
          <p:nvPr/>
        </p:nvSpPr>
        <p:spPr>
          <a:xfrm xmlns:a="http://schemas.openxmlformats.org/drawingml/2006/main">
            <a:off x="1409700" y="20955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Long JSON responses failed or truncated.</a:t>
            </a:r>
          </a:p>
        </p:txBody>
      </p:sp>
      <p:sp>
        <p:nvSpPr>
          <p:cNvPr id="9" name="">
            <a:extLst xmlns:a="http://schemas.openxmlformats.org/drawingml/2006/main">
              <a:ext uri="{FF2B5EF4-FFF2-40B4-BE49-F238E27FC236}">
                <a16:creationId xmlns:a16="http://schemas.microsoft.com/office/drawing/2014/main" id="{BF08EFD1-DDFC-4942-8AD2-65F4075F51E0}"/>
              </a:ext>
            </a:extLst>
          </p:cNvPr>
          <p:cNvSpPr>
            <a:spLocks xmlns:a="http://schemas.openxmlformats.org/drawingml/2006/main" noGrp="1"/>
          </p:cNvSpPr>
          <p:nvPr/>
        </p:nvSpPr>
        <p:spPr>
          <a:xfrm xmlns:a="http://schemas.openxmlformats.org/drawingml/2006/main">
            <a:off x="1409700" y="28384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3A78D51-BE8A-4BC0-BA66-79FE6BEFF7AD}"/>
              </a:ext>
            </a:extLst>
          </p:cNvPr>
          <p:cNvSpPr>
            <a:spLocks xmlns:a="http://schemas.openxmlformats.org/drawingml/2006/main" noGrp="1"/>
          </p:cNvSpPr>
          <p:nvPr/>
        </p:nvSpPr>
        <p:spPr>
          <a:xfrm xmlns:a="http://schemas.openxmlformats.org/drawingml/2006/main">
            <a:off x="742950" y="30861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3377B5"/>
                </a:solidFill>
                <a:latin typeface="Helvetica Neue"/>
                <a:ea typeface="Helvetica Neue"/>
                <a:cs typeface="Helvetica Neue"/>
              </a:defRPr>
            </a:pPr>
            <a:r>
              <a:rPr sz="2100" b="1">
                <a:solidFill>
                  <a:srgbClr val="3377B5"/>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2EE29795-513B-4D85-8517-FA43E3371AFA}"/>
              </a:ext>
            </a:extLst>
          </p:cNvPr>
          <p:cNvSpPr>
            <a:spLocks xmlns:a="http://schemas.openxmlformats.org/drawingml/2006/main" noGrp="1"/>
          </p:cNvSpPr>
          <p:nvPr/>
        </p:nvSpPr>
        <p:spPr>
          <a:xfrm xmlns:a="http://schemas.openxmlformats.org/drawingml/2006/main">
            <a:off x="1409700" y="30861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Evidence scope</a:t>
            </a:r>
          </a:p>
        </p:txBody>
      </p:sp>
      <p:sp>
        <p:nvSpPr>
          <p:cNvPr id="12" name="">
            <a:extLst xmlns:a="http://schemas.openxmlformats.org/drawingml/2006/main">
              <a:ext uri="{FF2B5EF4-FFF2-40B4-BE49-F238E27FC236}">
                <a16:creationId xmlns:a16="http://schemas.microsoft.com/office/drawing/2014/main" id="{B6DFAD10-D759-4B33-9EBD-729D211C313A}"/>
              </a:ext>
            </a:extLst>
          </p:cNvPr>
          <p:cNvSpPr>
            <a:spLocks xmlns:a="http://schemas.openxmlformats.org/drawingml/2006/main" noGrp="1"/>
          </p:cNvSpPr>
          <p:nvPr/>
        </p:nvSpPr>
        <p:spPr>
          <a:xfrm xmlns:a="http://schemas.openxmlformats.org/drawingml/2006/main">
            <a:off x="1409700" y="35052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Large packets behaved like one source instead of separate records.</a:t>
            </a:r>
          </a:p>
        </p:txBody>
      </p:sp>
      <p:sp>
        <p:nvSpPr>
          <p:cNvPr id="13" name="">
            <a:extLst xmlns:a="http://schemas.openxmlformats.org/drawingml/2006/main">
              <a:ext uri="{FF2B5EF4-FFF2-40B4-BE49-F238E27FC236}">
                <a16:creationId xmlns:a16="http://schemas.microsoft.com/office/drawing/2014/main" id="{F38AB0C5-C7C3-4259-9CEB-2E73763B4020}"/>
              </a:ext>
            </a:extLst>
          </p:cNvPr>
          <p:cNvSpPr>
            <a:spLocks xmlns:a="http://schemas.openxmlformats.org/drawingml/2006/main" noGrp="1"/>
          </p:cNvSpPr>
          <p:nvPr/>
        </p:nvSpPr>
        <p:spPr>
          <a:xfrm xmlns:a="http://schemas.openxmlformats.org/drawingml/2006/main">
            <a:off x="1409700" y="42481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1A2A43C-53A7-404B-9902-F4BC80B82EB8}"/>
              </a:ext>
            </a:extLst>
          </p:cNvPr>
          <p:cNvSpPr>
            <a:spLocks xmlns:a="http://schemas.openxmlformats.org/drawingml/2006/main" noGrp="1"/>
          </p:cNvSpPr>
          <p:nvPr/>
        </p:nvSpPr>
        <p:spPr>
          <a:xfrm xmlns:a="http://schemas.openxmlformats.org/drawingml/2006/main">
            <a:off x="742950" y="44958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3377B5"/>
                </a:solidFill>
                <a:latin typeface="Helvetica Neue"/>
                <a:ea typeface="Helvetica Neue"/>
                <a:cs typeface="Helvetica Neue"/>
              </a:defRPr>
            </a:pPr>
            <a:r>
              <a:rPr sz="2100" b="1">
                <a:solidFill>
                  <a:srgbClr val="3377B5"/>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66062FD9-F8B9-4487-B3A0-74D834F2B345}"/>
              </a:ext>
            </a:extLst>
          </p:cNvPr>
          <p:cNvSpPr>
            <a:spLocks xmlns:a="http://schemas.openxmlformats.org/drawingml/2006/main" noGrp="1"/>
          </p:cNvSpPr>
          <p:nvPr/>
        </p:nvSpPr>
        <p:spPr>
          <a:xfrm xmlns:a="http://schemas.openxmlformats.org/drawingml/2006/main">
            <a:off x="1409700" y="44958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Question control</a:t>
            </a:r>
          </a:p>
        </p:txBody>
      </p:sp>
      <p:sp>
        <p:nvSpPr>
          <p:cNvPr id="16" name="">
            <a:extLst xmlns:a="http://schemas.openxmlformats.org/drawingml/2006/main">
              <a:ext uri="{FF2B5EF4-FFF2-40B4-BE49-F238E27FC236}">
                <a16:creationId xmlns:a16="http://schemas.microsoft.com/office/drawing/2014/main" id="{63C1472C-31D2-42C1-834A-8AE2BA7495D6}"/>
              </a:ext>
            </a:extLst>
          </p:cNvPr>
          <p:cNvSpPr>
            <a:spLocks xmlns:a="http://schemas.openxmlformats.org/drawingml/2006/main" noGrp="1"/>
          </p:cNvSpPr>
          <p:nvPr/>
        </p:nvSpPr>
        <p:spPr>
          <a:xfrm xmlns:a="http://schemas.openxmlformats.org/drawingml/2006/main">
            <a:off x="1409700" y="49149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Overlap survived and low-value questions consumed runtime.</a:t>
            </a:r>
          </a:p>
        </p:txBody>
      </p:sp>
      <p:sp>
        <p:nvSpPr>
          <p:cNvPr id="17" name="">
            <a:extLst xmlns:a="http://schemas.openxmlformats.org/drawingml/2006/main">
              <a:ext uri="{FF2B5EF4-FFF2-40B4-BE49-F238E27FC236}">
                <a16:creationId xmlns:a16="http://schemas.microsoft.com/office/drawing/2014/main" id="{92DC7652-1A4A-4EEA-A203-B00F3957DBC3}"/>
              </a:ext>
            </a:extLst>
          </p:cNvPr>
          <p:cNvSpPr>
            <a:spLocks xmlns:a="http://schemas.openxmlformats.org/drawingml/2006/main" noGrp="1"/>
          </p:cNvSpPr>
          <p:nvPr/>
        </p:nvSpPr>
        <p:spPr>
          <a:xfrm xmlns:a="http://schemas.openxmlformats.org/drawingml/2006/main">
            <a:off x="1409700" y="56578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0EDEA16-A720-42D6-BF6B-55BA0450A996}"/>
              </a:ext>
            </a:extLst>
          </p:cNvPr>
          <p:cNvSpPr>
            <a:spLocks xmlns:a="http://schemas.openxmlformats.org/drawingml/2006/main" noGrp="1"/>
          </p:cNvSpPr>
          <p:nvPr/>
        </p:nvSpPr>
        <p:spPr>
          <a:xfrm xmlns:a="http://schemas.openxmlformats.org/drawingml/2006/main">
            <a:off x="6229350" y="16764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C9564D"/>
                </a:solidFill>
                <a:latin typeface="Helvetica Neue"/>
                <a:ea typeface="Helvetica Neue"/>
                <a:cs typeface="Helvetica Neue"/>
              </a:defRPr>
            </a:pPr>
            <a:r>
              <a:rPr sz="2100" b="1">
                <a:solidFill>
                  <a:srgbClr val="C9564D"/>
                </a:solidFill>
                <a:latin typeface="Helvetica Neue"/>
                <a:ea typeface="Helvetica Neue"/>
                <a:cs typeface="Helvetica Neue"/>
              </a:rPr>
              <a:t>04</a:t>
            </a:r>
          </a:p>
        </p:txBody>
      </p:sp>
      <p:sp>
        <p:nvSpPr>
          <p:cNvPr id="19" name="">
            <a:extLst xmlns:a="http://schemas.openxmlformats.org/drawingml/2006/main">
              <a:ext uri="{FF2B5EF4-FFF2-40B4-BE49-F238E27FC236}">
                <a16:creationId xmlns:a16="http://schemas.microsoft.com/office/drawing/2014/main" id="{CF9ADE3E-B0DD-455D-A2D2-2D225359F72F}"/>
              </a:ext>
            </a:extLst>
          </p:cNvPr>
          <p:cNvSpPr>
            <a:spLocks xmlns:a="http://schemas.openxmlformats.org/drawingml/2006/main" noGrp="1"/>
          </p:cNvSpPr>
          <p:nvPr/>
        </p:nvSpPr>
        <p:spPr>
          <a:xfrm xmlns:a="http://schemas.openxmlformats.org/drawingml/2006/main">
            <a:off x="6896100" y="16764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Causal direction</a:t>
            </a:r>
          </a:p>
        </p:txBody>
      </p:sp>
      <p:sp>
        <p:nvSpPr>
          <p:cNvPr id="20" name="">
            <a:extLst xmlns:a="http://schemas.openxmlformats.org/drawingml/2006/main">
              <a:ext uri="{FF2B5EF4-FFF2-40B4-BE49-F238E27FC236}">
                <a16:creationId xmlns:a16="http://schemas.microsoft.com/office/drawing/2014/main" id="{FD5B2CD0-FAF1-4FF8-943F-E07B3AF84250}"/>
              </a:ext>
            </a:extLst>
          </p:cNvPr>
          <p:cNvSpPr>
            <a:spLocks xmlns:a="http://schemas.openxmlformats.org/drawingml/2006/main" noGrp="1"/>
          </p:cNvSpPr>
          <p:nvPr/>
        </p:nvSpPr>
        <p:spPr>
          <a:xfrm xmlns:a="http://schemas.openxmlformats.org/drawingml/2006/main">
            <a:off x="6896100" y="20955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Some boards pointed from the event back to pre-event conditions.</a:t>
            </a:r>
          </a:p>
        </p:txBody>
      </p:sp>
      <p:sp>
        <p:nvSpPr>
          <p:cNvPr id="21" name="">
            <a:extLst xmlns:a="http://schemas.openxmlformats.org/drawingml/2006/main">
              <a:ext uri="{FF2B5EF4-FFF2-40B4-BE49-F238E27FC236}">
                <a16:creationId xmlns:a16="http://schemas.microsoft.com/office/drawing/2014/main" id="{0B57D6E7-21CE-456A-85C0-BCAB15AE1923}"/>
              </a:ext>
            </a:extLst>
          </p:cNvPr>
          <p:cNvSpPr>
            <a:spLocks xmlns:a="http://schemas.openxmlformats.org/drawingml/2006/main" noGrp="1"/>
          </p:cNvSpPr>
          <p:nvPr/>
        </p:nvSpPr>
        <p:spPr>
          <a:xfrm xmlns:a="http://schemas.openxmlformats.org/drawingml/2006/main">
            <a:off x="6896100" y="28384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6219FF3-5214-407F-A226-916926E5B836}"/>
              </a:ext>
            </a:extLst>
          </p:cNvPr>
          <p:cNvSpPr>
            <a:spLocks xmlns:a="http://schemas.openxmlformats.org/drawingml/2006/main" noGrp="1"/>
          </p:cNvSpPr>
          <p:nvPr/>
        </p:nvSpPr>
        <p:spPr>
          <a:xfrm xmlns:a="http://schemas.openxmlformats.org/drawingml/2006/main">
            <a:off x="6229350" y="30861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C9564D"/>
                </a:solidFill>
                <a:latin typeface="Helvetica Neue"/>
                <a:ea typeface="Helvetica Neue"/>
                <a:cs typeface="Helvetica Neue"/>
              </a:defRPr>
            </a:pPr>
            <a:r>
              <a:rPr sz="2100" b="1">
                <a:solidFill>
                  <a:srgbClr val="C9564D"/>
                </a:solidFill>
                <a:latin typeface="Helvetica Neue"/>
                <a:ea typeface="Helvetica Neue"/>
                <a:cs typeface="Helvetica Neue"/>
              </a:rPr>
              <a:t>05</a:t>
            </a:r>
          </a:p>
        </p:txBody>
      </p:sp>
      <p:sp>
        <p:nvSpPr>
          <p:cNvPr id="23" name="">
            <a:extLst xmlns:a="http://schemas.openxmlformats.org/drawingml/2006/main">
              <a:ext uri="{FF2B5EF4-FFF2-40B4-BE49-F238E27FC236}">
                <a16:creationId xmlns:a16="http://schemas.microsoft.com/office/drawing/2014/main" id="{6F14668C-546F-49A1-A5A7-3D96F6E5BD1C}"/>
              </a:ext>
            </a:extLst>
          </p:cNvPr>
          <p:cNvSpPr>
            <a:spLocks xmlns:a="http://schemas.openxmlformats.org/drawingml/2006/main" noGrp="1"/>
          </p:cNvSpPr>
          <p:nvPr/>
        </p:nvSpPr>
        <p:spPr>
          <a:xfrm xmlns:a="http://schemas.openxmlformats.org/drawingml/2006/main">
            <a:off x="6896100" y="30861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Contradictions</a:t>
            </a:r>
          </a:p>
        </p:txBody>
      </p:sp>
      <p:sp>
        <p:nvSpPr>
          <p:cNvPr id="24" name="">
            <a:extLst xmlns:a="http://schemas.openxmlformats.org/drawingml/2006/main">
              <a:ext uri="{FF2B5EF4-FFF2-40B4-BE49-F238E27FC236}">
                <a16:creationId xmlns:a16="http://schemas.microsoft.com/office/drawing/2014/main" id="{E157E8EE-5530-4D95-887D-6F37820B3BE0}"/>
              </a:ext>
            </a:extLst>
          </p:cNvPr>
          <p:cNvSpPr>
            <a:spLocks xmlns:a="http://schemas.openxmlformats.org/drawingml/2006/main" noGrp="1"/>
          </p:cNvSpPr>
          <p:nvPr/>
        </p:nvSpPr>
        <p:spPr>
          <a:xfrm xmlns:a="http://schemas.openxmlformats.org/drawingml/2006/main">
            <a:off x="6896100" y="35052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Every scored Try 3 output missed the three planted challenge records.</a:t>
            </a:r>
          </a:p>
        </p:txBody>
      </p:sp>
      <p:sp>
        <p:nvSpPr>
          <p:cNvPr id="25" name="">
            <a:extLst xmlns:a="http://schemas.openxmlformats.org/drawingml/2006/main">
              <a:ext uri="{FF2B5EF4-FFF2-40B4-BE49-F238E27FC236}">
                <a16:creationId xmlns:a16="http://schemas.microsoft.com/office/drawing/2014/main" id="{968105C8-F114-425B-913F-B913916199C4}"/>
              </a:ext>
            </a:extLst>
          </p:cNvPr>
          <p:cNvSpPr>
            <a:spLocks xmlns:a="http://schemas.openxmlformats.org/drawingml/2006/main" noGrp="1"/>
          </p:cNvSpPr>
          <p:nvPr/>
        </p:nvSpPr>
        <p:spPr>
          <a:xfrm xmlns:a="http://schemas.openxmlformats.org/drawingml/2006/main">
            <a:off x="6896100" y="42481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351AD49-3759-471F-851D-9F273720115A}"/>
              </a:ext>
            </a:extLst>
          </p:cNvPr>
          <p:cNvSpPr>
            <a:spLocks xmlns:a="http://schemas.openxmlformats.org/drawingml/2006/main" noGrp="1"/>
          </p:cNvSpPr>
          <p:nvPr/>
        </p:nvSpPr>
        <p:spPr>
          <a:xfrm xmlns:a="http://schemas.openxmlformats.org/drawingml/2006/main">
            <a:off x="6229350" y="44958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p xmlns:a="http://schemas.openxmlformats.org/drawingml/2006/main">
            <a:pPr algn="l">
              <a:defRPr sz="2100" b="1">
                <a:solidFill>
                  <a:srgbClr val="C9564D"/>
                </a:solidFill>
                <a:latin typeface="Helvetica Neue"/>
                <a:ea typeface="Helvetica Neue"/>
                <a:cs typeface="Helvetica Neue"/>
              </a:defRPr>
            </a:pPr>
            <a:r>
              <a:rPr sz="2100" b="1">
                <a:solidFill>
                  <a:srgbClr val="C9564D"/>
                </a:solidFill>
                <a:latin typeface="Helvetica Neue"/>
                <a:ea typeface="Helvetica Neue"/>
                <a:cs typeface="Helvetica Neue"/>
              </a:rPr>
              <a:t>06</a:t>
            </a:r>
          </a:p>
        </p:txBody>
      </p:sp>
      <p:sp>
        <p:nvSpPr>
          <p:cNvPr id="27" name="">
            <a:extLst xmlns:a="http://schemas.openxmlformats.org/drawingml/2006/main">
              <a:ext uri="{FF2B5EF4-FFF2-40B4-BE49-F238E27FC236}">
                <a16:creationId xmlns:a16="http://schemas.microsoft.com/office/drawing/2014/main" id="{BAA1FBF6-0E6A-478C-A363-3B1668D3974D}"/>
              </a:ext>
            </a:extLst>
          </p:cNvPr>
          <p:cNvSpPr>
            <a:spLocks xmlns:a="http://schemas.openxmlformats.org/drawingml/2006/main" noGrp="1"/>
          </p:cNvSpPr>
          <p:nvPr/>
        </p:nvSpPr>
        <p:spPr>
          <a:xfrm xmlns:a="http://schemas.openxmlformats.org/drawingml/2006/main">
            <a:off x="6896100" y="44958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333"/>
          </a:bodyPr>
          <a:lstStyle xmlns:a="http://schemas.openxmlformats.org/drawingml/2006/main"/>
          <a:p xmlns:a="http://schemas.openxmlformats.org/drawingml/2006/main">
            <a:pPr algn="l">
              <a:defRPr sz="1875" b="1">
                <a:solidFill>
                  <a:srgbClr val="10263C"/>
                </a:solidFill>
                <a:latin typeface="Helvetica Neue"/>
                <a:ea typeface="Helvetica Neue"/>
                <a:cs typeface="Helvetica Neue"/>
              </a:defRPr>
            </a:pPr>
            <a:r>
              <a:rPr sz="1875" b="1">
                <a:solidFill>
                  <a:srgbClr val="10263C"/>
                </a:solidFill>
                <a:latin typeface="Helvetica Neue"/>
                <a:ea typeface="Helvetica Neue"/>
                <a:cs typeface="Helvetica Neue"/>
              </a:rPr>
              <a:t>Corrective actions</a:t>
            </a:r>
          </a:p>
        </p:txBody>
      </p:sp>
      <p:sp>
        <p:nvSpPr>
          <p:cNvPr id="28" name="">
            <a:extLst xmlns:a="http://schemas.openxmlformats.org/drawingml/2006/main">
              <a:ext uri="{FF2B5EF4-FFF2-40B4-BE49-F238E27FC236}">
                <a16:creationId xmlns:a16="http://schemas.microsoft.com/office/drawing/2014/main" id="{D59EEC35-7FAB-4825-B9D1-11E10203BD88}"/>
              </a:ext>
            </a:extLst>
          </p:cNvPr>
          <p:cNvSpPr>
            <a:spLocks xmlns:a="http://schemas.openxmlformats.org/drawingml/2006/main" noGrp="1"/>
          </p:cNvSpPr>
          <p:nvPr/>
        </p:nvSpPr>
        <p:spPr>
          <a:xfrm xmlns:a="http://schemas.openxmlformats.org/drawingml/2006/main">
            <a:off x="6896100" y="4914900"/>
            <a:ext cx="4238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425466"/>
                </a:solidFill>
                <a:latin typeface="Helvetica Neue"/>
                <a:ea typeface="Helvetica Neue"/>
                <a:cs typeface="Helvetica Neue"/>
              </a:defRPr>
            </a:pPr>
            <a:r>
              <a:rPr sz="1500" b="0">
                <a:solidFill>
                  <a:srgbClr val="425466"/>
                </a:solidFill>
                <a:latin typeface="Helvetica Neue"/>
                <a:ea typeface="Helvetica Neue"/>
                <a:cs typeface="Helvetica Neue"/>
              </a:rPr>
              <a:t>Some models proposed actions before verifying the causal mechanism.</a:t>
            </a:r>
          </a:p>
        </p:txBody>
      </p:sp>
      <p:sp>
        <p:nvSpPr>
          <p:cNvPr id="29" name="">
            <a:extLst xmlns:a="http://schemas.openxmlformats.org/drawingml/2006/main">
              <a:ext uri="{FF2B5EF4-FFF2-40B4-BE49-F238E27FC236}">
                <a16:creationId xmlns:a16="http://schemas.microsoft.com/office/drawing/2014/main" id="{1B7F04C3-C52D-4C60-8FE1-FEE308E268F3}"/>
              </a:ext>
            </a:extLst>
          </p:cNvPr>
          <p:cNvSpPr>
            <a:spLocks xmlns:a="http://schemas.openxmlformats.org/drawingml/2006/main" noGrp="1"/>
          </p:cNvSpPr>
          <p:nvPr/>
        </p:nvSpPr>
        <p:spPr>
          <a:xfrm xmlns:a="http://schemas.openxmlformats.org/drawingml/2006/main">
            <a:off x="6896100" y="5657850"/>
            <a:ext cx="4238625"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746666989"/>
      </p:ext>
    </p:extLst>
  </p:cSld>
</p:sld>
</file>

<file path=ppt/slides/slide10.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3E2296C-3751-4ED7-9B19-5FF8505A7182}"/>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4 changed the harness around one model</a:t>
            </a:r>
          </a:p>
        </p:txBody>
      </p:sp>
      <p:sp>
        <p:nvSpPr>
          <p:cNvPr id="2" name="">
            <a:extLst xmlns:a="http://schemas.openxmlformats.org/drawingml/2006/main">
              <a:ext uri="{FF2B5EF4-FFF2-40B4-BE49-F238E27FC236}">
                <a16:creationId xmlns:a16="http://schemas.microsoft.com/office/drawing/2014/main" id="{63EBFBFF-D50F-400F-95E2-25057B0586A7}"/>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experiment kept qwen3.5 as the only reasoning model so system changes remained observable.</a:t>
            </a:r>
          </a:p>
        </p:txBody>
      </p:sp>
      <p:sp>
        <p:nvSpPr>
          <p:cNvPr id="3" name="">
            <a:extLst xmlns:a="http://schemas.openxmlformats.org/drawingml/2006/main">
              <a:ext uri="{FF2B5EF4-FFF2-40B4-BE49-F238E27FC236}">
                <a16:creationId xmlns:a16="http://schemas.microsoft.com/office/drawing/2014/main" id="{6B9DB40E-9FFF-4B74-9DAB-8DD3275685A0}"/>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A70C09E-E641-4627-BF9A-FE0368A0CE7D}"/>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4 implementation and qwen evaluation</a:t>
            </a:r>
          </a:p>
        </p:txBody>
      </p:sp>
      <p:sp>
        <p:nvSpPr>
          <p:cNvPr id="5" name="">
            <a:extLst xmlns:a="http://schemas.openxmlformats.org/drawingml/2006/main">
              <a:ext uri="{FF2B5EF4-FFF2-40B4-BE49-F238E27FC236}">
                <a16:creationId xmlns:a16="http://schemas.microsoft.com/office/drawing/2014/main" id="{B7DF57D5-3BD1-4367-BFF4-94E6C9DCB602}"/>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4641F59F-5601-4F8A-A32D-2340B8B8DAED}"/>
              </a:ext>
            </a:extLst>
          </p:cNvPr>
          <p:cNvSpPr>
            <a:spLocks xmlns:a="http://schemas.openxmlformats.org/drawingml/2006/main" noGrp="1"/>
          </p:cNvSpPr>
          <p:nvPr/>
        </p:nvSpPr>
        <p:spPr>
          <a:xfrm xmlns:a="http://schemas.openxmlformats.org/drawingml/2006/main">
            <a:off x="742950" y="14668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3377B5"/>
                </a:solidFill>
                <a:latin typeface="Helvetica Neue"/>
                <a:ea typeface="Helvetica Neue"/>
                <a:cs typeface="Helvetica Neue"/>
              </a:defRPr>
            </a:pPr>
            <a:r>
              <a:rPr sz="1350" b="1">
                <a:solidFill>
                  <a:srgbClr val="3377B5"/>
                </a:solidFill>
                <a:latin typeface="Helvetica Neue"/>
                <a:ea typeface="Helvetica Neue"/>
                <a:cs typeface="Helvetica Neue"/>
              </a:rPr>
              <a:t>TRY 3</a:t>
            </a:r>
          </a:p>
        </p:txBody>
      </p:sp>
      <p:sp>
        <p:nvSpPr>
          <p:cNvPr id="7" name="">
            <a:extLst xmlns:a="http://schemas.openxmlformats.org/drawingml/2006/main">
              <a:ext uri="{FF2B5EF4-FFF2-40B4-BE49-F238E27FC236}">
                <a16:creationId xmlns:a16="http://schemas.microsoft.com/office/drawing/2014/main" id="{627C27ED-954F-4AE8-A842-A9EA3082D7A5}"/>
              </a:ext>
            </a:extLst>
          </p:cNvPr>
          <p:cNvSpPr>
            <a:spLocks xmlns:a="http://schemas.openxmlformats.org/drawingml/2006/main" noGrp="1"/>
          </p:cNvSpPr>
          <p:nvPr/>
        </p:nvSpPr>
        <p:spPr>
          <a:xfrm xmlns:a="http://schemas.openxmlformats.org/drawingml/2006/main">
            <a:off x="6667500" y="14668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168B85"/>
                </a:solidFill>
                <a:latin typeface="Helvetica Neue"/>
                <a:ea typeface="Helvetica Neue"/>
                <a:cs typeface="Helvetica Neue"/>
              </a:defRPr>
            </a:pPr>
            <a:r>
              <a:rPr sz="1350" b="1">
                <a:solidFill>
                  <a:srgbClr val="168B85"/>
                </a:solidFill>
                <a:latin typeface="Helvetica Neue"/>
                <a:ea typeface="Helvetica Neue"/>
                <a:cs typeface="Helvetica Neue"/>
              </a:rPr>
              <a:t>TRY 4</a:t>
            </a:r>
          </a:p>
        </p:txBody>
      </p:sp>
      <p:sp>
        <p:nvSpPr>
          <p:cNvPr id="8" name="">
            <a:extLst xmlns:a="http://schemas.openxmlformats.org/drawingml/2006/main">
              <a:ext uri="{FF2B5EF4-FFF2-40B4-BE49-F238E27FC236}">
                <a16:creationId xmlns:a16="http://schemas.microsoft.com/office/drawing/2014/main" id="{657BC121-5DB4-48B0-9590-9361B63791FF}"/>
              </a:ext>
            </a:extLst>
          </p:cNvPr>
          <p:cNvSpPr>
            <a:spLocks xmlns:a="http://schemas.openxmlformats.org/drawingml/2006/main" noGrp="1"/>
          </p:cNvSpPr>
          <p:nvPr/>
        </p:nvSpPr>
        <p:spPr>
          <a:xfrm xmlns:a="http://schemas.openxmlformats.org/drawingml/2006/main">
            <a:off x="742950" y="1885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Documents supplied as broad packets</a:t>
            </a:r>
          </a:p>
        </p:txBody>
      </p:sp>
      <p:sp>
        <p:nvSpPr>
          <p:cNvPr id="9" name="">
            <a:extLst xmlns:a="http://schemas.openxmlformats.org/drawingml/2006/main">
              <a:ext uri="{FF2B5EF4-FFF2-40B4-BE49-F238E27FC236}">
                <a16:creationId xmlns:a16="http://schemas.microsoft.com/office/drawing/2014/main" id="{51B013D1-0B4D-42A3-BB1A-E1E511F6E44A}"/>
              </a:ext>
            </a:extLst>
          </p:cNvPr>
          <p:cNvSpPr>
            <a:spLocks xmlns:a="http://schemas.openxmlformats.org/drawingml/2006/main" noGrp="1"/>
          </p:cNvSpPr>
          <p:nvPr/>
        </p:nvSpPr>
        <p:spPr>
          <a:xfrm xmlns:a="http://schemas.openxmlformats.org/drawingml/2006/main">
            <a:off x="5429250" y="19621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76BC0DB-8611-43CC-9E37-5496273375B5}"/>
              </a:ext>
            </a:extLst>
          </p:cNvPr>
          <p:cNvSpPr>
            <a:spLocks xmlns:a="http://schemas.openxmlformats.org/drawingml/2006/main" noGrp="1"/>
          </p:cNvSpPr>
          <p:nvPr/>
        </p:nvSpPr>
        <p:spPr>
          <a:xfrm xmlns:a="http://schemas.openxmlformats.org/drawingml/2006/main">
            <a:off x="6667500" y="18859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524"/>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Evidence split into individually identified segments</a:t>
            </a:r>
          </a:p>
        </p:txBody>
      </p:sp>
      <p:sp>
        <p:nvSpPr>
          <p:cNvPr id="11" name="">
            <a:extLst xmlns:a="http://schemas.openxmlformats.org/drawingml/2006/main">
              <a:ext uri="{FF2B5EF4-FFF2-40B4-BE49-F238E27FC236}">
                <a16:creationId xmlns:a16="http://schemas.microsoft.com/office/drawing/2014/main" id="{F25D4490-6493-4465-9230-EFBB69D3A4CF}"/>
              </a:ext>
            </a:extLst>
          </p:cNvPr>
          <p:cNvSpPr>
            <a:spLocks xmlns:a="http://schemas.openxmlformats.org/drawingml/2006/main" noGrp="1"/>
          </p:cNvSpPr>
          <p:nvPr/>
        </p:nvSpPr>
        <p:spPr>
          <a:xfrm xmlns:a="http://schemas.openxmlformats.org/drawingml/2006/main">
            <a:off x="742950" y="24384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5C66A25-8F2C-4DB0-96AE-391116A4BD90}"/>
              </a:ext>
            </a:extLst>
          </p:cNvPr>
          <p:cNvSpPr>
            <a:spLocks xmlns:a="http://schemas.openxmlformats.org/drawingml/2006/main" noGrp="1"/>
          </p:cNvSpPr>
          <p:nvPr/>
        </p:nvSpPr>
        <p:spPr>
          <a:xfrm xmlns:a="http://schemas.openxmlformats.org/drawingml/2006/main">
            <a:off x="742950" y="25717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Prompt asked for source discipline</a:t>
            </a:r>
          </a:p>
        </p:txBody>
      </p:sp>
      <p:sp>
        <p:nvSpPr>
          <p:cNvPr id="13" name="">
            <a:extLst xmlns:a="http://schemas.openxmlformats.org/drawingml/2006/main">
              <a:ext uri="{FF2B5EF4-FFF2-40B4-BE49-F238E27FC236}">
                <a16:creationId xmlns:a16="http://schemas.microsoft.com/office/drawing/2014/main" id="{46B7B5A3-5635-4470-BC90-4547FA5C87B7}"/>
              </a:ext>
            </a:extLst>
          </p:cNvPr>
          <p:cNvSpPr>
            <a:spLocks xmlns:a="http://schemas.openxmlformats.org/drawingml/2006/main" noGrp="1"/>
          </p:cNvSpPr>
          <p:nvPr/>
        </p:nvSpPr>
        <p:spPr>
          <a:xfrm xmlns:a="http://schemas.openxmlformats.org/drawingml/2006/main">
            <a:off x="5429250" y="26479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6632D12-1E6B-4100-B9A3-047D5CD0CAE7}"/>
              </a:ext>
            </a:extLst>
          </p:cNvPr>
          <p:cNvSpPr>
            <a:spLocks xmlns:a="http://schemas.openxmlformats.org/drawingml/2006/main" noGrp="1"/>
          </p:cNvSpPr>
          <p:nvPr/>
        </p:nvSpPr>
        <p:spPr>
          <a:xfrm xmlns:a="http://schemas.openxmlformats.org/drawingml/2006/main">
            <a:off x="6667500" y="25717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Dedicated source adjudication before specialists</a:t>
            </a:r>
          </a:p>
        </p:txBody>
      </p:sp>
      <p:sp>
        <p:nvSpPr>
          <p:cNvPr id="15" name="">
            <a:extLst xmlns:a="http://schemas.openxmlformats.org/drawingml/2006/main">
              <a:ext uri="{FF2B5EF4-FFF2-40B4-BE49-F238E27FC236}">
                <a16:creationId xmlns:a16="http://schemas.microsoft.com/office/drawing/2014/main" id="{597A6914-4A41-489B-9BE1-E4591A65DEB0}"/>
              </a:ext>
            </a:extLst>
          </p:cNvPr>
          <p:cNvSpPr>
            <a:spLocks xmlns:a="http://schemas.openxmlformats.org/drawingml/2006/main" noGrp="1"/>
          </p:cNvSpPr>
          <p:nvPr/>
        </p:nvSpPr>
        <p:spPr>
          <a:xfrm xmlns:a="http://schemas.openxmlformats.org/drawingml/2006/main">
            <a:off x="742950" y="31242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B4ACBA0-B46F-48AA-9697-9E367DF12A48}"/>
              </a:ext>
            </a:extLst>
          </p:cNvPr>
          <p:cNvSpPr>
            <a:spLocks xmlns:a="http://schemas.openxmlformats.org/drawingml/2006/main" noGrp="1"/>
          </p:cNvSpPr>
          <p:nvPr/>
        </p:nvSpPr>
        <p:spPr>
          <a:xfrm xmlns:a="http://schemas.openxmlformats.org/drawingml/2006/main">
            <a:off x="742950" y="32575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Broker mainly removed duplicates</a:t>
            </a:r>
          </a:p>
        </p:txBody>
      </p:sp>
      <p:sp>
        <p:nvSpPr>
          <p:cNvPr id="17" name="">
            <a:extLst xmlns:a="http://schemas.openxmlformats.org/drawingml/2006/main">
              <a:ext uri="{FF2B5EF4-FFF2-40B4-BE49-F238E27FC236}">
                <a16:creationId xmlns:a16="http://schemas.microsoft.com/office/drawing/2014/main" id="{0C1C0568-F389-4AA2-A1F1-FB4096C5364E}"/>
              </a:ext>
            </a:extLst>
          </p:cNvPr>
          <p:cNvSpPr>
            <a:spLocks xmlns:a="http://schemas.openxmlformats.org/drawingml/2006/main" noGrp="1"/>
          </p:cNvSpPr>
          <p:nvPr/>
        </p:nvSpPr>
        <p:spPr>
          <a:xfrm xmlns:a="http://schemas.openxmlformats.org/drawingml/2006/main">
            <a:off x="5429250" y="33337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BD3BAFD-C477-4ED7-98DD-C5E5EF0EAA45}"/>
              </a:ext>
            </a:extLst>
          </p:cNvPr>
          <p:cNvSpPr>
            <a:spLocks xmlns:a="http://schemas.openxmlformats.org/drawingml/2006/main" noGrp="1"/>
          </p:cNvSpPr>
          <p:nvPr/>
        </p:nvSpPr>
        <p:spPr>
          <a:xfrm xmlns:a="http://schemas.openxmlformats.org/drawingml/2006/main">
            <a:off x="6667500" y="32575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834"/>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Questions need a causal branch and decision unlocked</a:t>
            </a:r>
          </a:p>
        </p:txBody>
      </p:sp>
      <p:sp>
        <p:nvSpPr>
          <p:cNvPr id="19" name="">
            <a:extLst xmlns:a="http://schemas.openxmlformats.org/drawingml/2006/main">
              <a:ext uri="{FF2B5EF4-FFF2-40B4-BE49-F238E27FC236}">
                <a16:creationId xmlns:a16="http://schemas.microsoft.com/office/drawing/2014/main" id="{F3AB0E67-AAED-4D78-B5ED-C9BFDAC0CC20}"/>
              </a:ext>
            </a:extLst>
          </p:cNvPr>
          <p:cNvSpPr>
            <a:spLocks xmlns:a="http://schemas.openxmlformats.org/drawingml/2006/main" noGrp="1"/>
          </p:cNvSpPr>
          <p:nvPr/>
        </p:nvSpPr>
        <p:spPr>
          <a:xfrm xmlns:a="http://schemas.openxmlformats.org/drawingml/2006/main">
            <a:off x="742950" y="38100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6F60386-46EA-41B6-8781-CFAFB7C4941C}"/>
              </a:ext>
            </a:extLst>
          </p:cNvPr>
          <p:cNvSpPr>
            <a:spLocks xmlns:a="http://schemas.openxmlformats.org/drawingml/2006/main" noGrp="1"/>
          </p:cNvSpPr>
          <p:nvPr/>
        </p:nvSpPr>
        <p:spPr>
          <a:xfrm xmlns:a="http://schemas.openxmlformats.org/drawingml/2006/main">
            <a:off x="742950" y="39433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Causal links could remain weak</a:t>
            </a:r>
          </a:p>
        </p:txBody>
      </p:sp>
      <p:sp>
        <p:nvSpPr>
          <p:cNvPr id="21" name="">
            <a:extLst xmlns:a="http://schemas.openxmlformats.org/drawingml/2006/main">
              <a:ext uri="{FF2B5EF4-FFF2-40B4-BE49-F238E27FC236}">
                <a16:creationId xmlns:a16="http://schemas.microsoft.com/office/drawing/2014/main" id="{24F048C8-9F89-4111-80FB-A472FD3AD1F0}"/>
              </a:ext>
            </a:extLst>
          </p:cNvPr>
          <p:cNvSpPr>
            <a:spLocks xmlns:a="http://schemas.openxmlformats.org/drawingml/2006/main" noGrp="1"/>
          </p:cNvSpPr>
          <p:nvPr/>
        </p:nvSpPr>
        <p:spPr>
          <a:xfrm xmlns:a="http://schemas.openxmlformats.org/drawingml/2006/main">
            <a:off x="5429250" y="40195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56082E1-5EFF-4E16-9A5F-F0B83C49A57A}"/>
              </a:ext>
            </a:extLst>
          </p:cNvPr>
          <p:cNvSpPr>
            <a:spLocks xmlns:a="http://schemas.openxmlformats.org/drawingml/2006/main" noGrp="1"/>
          </p:cNvSpPr>
          <p:nvPr/>
        </p:nvSpPr>
        <p:spPr>
          <a:xfrm xmlns:a="http://schemas.openxmlformats.org/drawingml/2006/main">
            <a:off x="6667500" y="39433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211"/>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Every link needs support, a counterfactual, an alternative, and a gap</a:t>
            </a:r>
          </a:p>
        </p:txBody>
      </p:sp>
      <p:sp>
        <p:nvSpPr>
          <p:cNvPr id="23" name="">
            <a:extLst xmlns:a="http://schemas.openxmlformats.org/drawingml/2006/main">
              <a:ext uri="{FF2B5EF4-FFF2-40B4-BE49-F238E27FC236}">
                <a16:creationId xmlns:a16="http://schemas.microsoft.com/office/drawing/2014/main" id="{844879B8-7EE6-4860-9622-38873FB69D1B}"/>
              </a:ext>
            </a:extLst>
          </p:cNvPr>
          <p:cNvSpPr>
            <a:spLocks xmlns:a="http://schemas.openxmlformats.org/drawingml/2006/main" noGrp="1"/>
          </p:cNvSpPr>
          <p:nvPr/>
        </p:nvSpPr>
        <p:spPr>
          <a:xfrm xmlns:a="http://schemas.openxmlformats.org/drawingml/2006/main">
            <a:off x="742950" y="44958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9B31A40-40C6-42D0-89F1-C99F1FD5C43E}"/>
              </a:ext>
            </a:extLst>
          </p:cNvPr>
          <p:cNvSpPr>
            <a:spLocks xmlns:a="http://schemas.openxmlformats.org/drawingml/2006/main" noGrp="1"/>
          </p:cNvSpPr>
          <p:nvPr/>
        </p:nvSpPr>
        <p:spPr>
          <a:xfrm xmlns:a="http://schemas.openxmlformats.org/drawingml/2006/main">
            <a:off x="742950" y="46291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Actions could appear early</a:t>
            </a:r>
          </a:p>
        </p:txBody>
      </p:sp>
      <p:sp>
        <p:nvSpPr>
          <p:cNvPr id="25" name="">
            <a:extLst xmlns:a="http://schemas.openxmlformats.org/drawingml/2006/main">
              <a:ext uri="{FF2B5EF4-FFF2-40B4-BE49-F238E27FC236}">
                <a16:creationId xmlns:a16="http://schemas.microsoft.com/office/drawing/2014/main" id="{6FD8984A-BD52-4C8D-BC4C-8C1FB96C7E39}"/>
              </a:ext>
            </a:extLst>
          </p:cNvPr>
          <p:cNvSpPr>
            <a:spLocks xmlns:a="http://schemas.openxmlformats.org/drawingml/2006/main" noGrp="1"/>
          </p:cNvSpPr>
          <p:nvPr/>
        </p:nvSpPr>
        <p:spPr>
          <a:xfrm xmlns:a="http://schemas.openxmlformats.org/drawingml/2006/main">
            <a:off x="5429250" y="47053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34FF795-C695-4323-B036-C3D6C9138CF6}"/>
              </a:ext>
            </a:extLst>
          </p:cNvPr>
          <p:cNvSpPr>
            <a:spLocks xmlns:a="http://schemas.openxmlformats.org/drawingml/2006/main" noGrp="1"/>
          </p:cNvSpPr>
          <p:nvPr/>
        </p:nvSpPr>
        <p:spPr>
          <a:xfrm xmlns:a="http://schemas.openxmlformats.org/drawingml/2006/main">
            <a:off x="6667500" y="46291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Actions require a verified causal target</a:t>
            </a:r>
          </a:p>
        </p:txBody>
      </p:sp>
      <p:sp>
        <p:nvSpPr>
          <p:cNvPr id="27" name="">
            <a:extLst xmlns:a="http://schemas.openxmlformats.org/drawingml/2006/main">
              <a:ext uri="{FF2B5EF4-FFF2-40B4-BE49-F238E27FC236}">
                <a16:creationId xmlns:a16="http://schemas.microsoft.com/office/drawing/2014/main" id="{B6598882-8779-48B1-A6D5-CE1FA30E789C}"/>
              </a:ext>
            </a:extLst>
          </p:cNvPr>
          <p:cNvSpPr>
            <a:spLocks xmlns:a="http://schemas.openxmlformats.org/drawingml/2006/main" noGrp="1"/>
          </p:cNvSpPr>
          <p:nvPr/>
        </p:nvSpPr>
        <p:spPr>
          <a:xfrm xmlns:a="http://schemas.openxmlformats.org/drawingml/2006/main">
            <a:off x="742950" y="51816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568F868-9867-4447-A166-922C6A7689EB}"/>
              </a:ext>
            </a:extLst>
          </p:cNvPr>
          <p:cNvSpPr>
            <a:spLocks xmlns:a="http://schemas.openxmlformats.org/drawingml/2006/main" noGrp="1"/>
          </p:cNvSpPr>
          <p:nvPr/>
        </p:nvSpPr>
        <p:spPr>
          <a:xfrm xmlns:a="http://schemas.openxmlformats.org/drawingml/2006/main">
            <a:off x="742950" y="5314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425466"/>
                </a:solidFill>
                <a:latin typeface="Helvetica Neue"/>
                <a:ea typeface="Helvetica Neue"/>
                <a:cs typeface="Helvetica Neue"/>
              </a:defRPr>
            </a:pPr>
            <a:r>
              <a:rPr sz="1425" b="0">
                <a:solidFill>
                  <a:srgbClr val="425466"/>
                </a:solidFill>
                <a:latin typeface="Helvetica Neue"/>
                <a:ea typeface="Helvetica Neue"/>
                <a:cs typeface="Helvetica Neue"/>
              </a:rPr>
              <a:t>Final output carried most audit detail</a:t>
            </a:r>
          </a:p>
        </p:txBody>
      </p:sp>
      <p:sp>
        <p:nvSpPr>
          <p:cNvPr id="29" name="">
            <a:extLst xmlns:a="http://schemas.openxmlformats.org/drawingml/2006/main">
              <a:ext uri="{FF2B5EF4-FFF2-40B4-BE49-F238E27FC236}">
                <a16:creationId xmlns:a16="http://schemas.microsoft.com/office/drawing/2014/main" id="{DA5ECBEA-C1C7-4DC2-A514-BDAD59051B64}"/>
              </a:ext>
            </a:extLst>
          </p:cNvPr>
          <p:cNvSpPr>
            <a:spLocks xmlns:a="http://schemas.openxmlformats.org/drawingml/2006/main" noGrp="1"/>
          </p:cNvSpPr>
          <p:nvPr/>
        </p:nvSpPr>
        <p:spPr>
          <a:xfrm xmlns:a="http://schemas.openxmlformats.org/drawingml/2006/main">
            <a:off x="5429250" y="5391150"/>
            <a:ext cx="209550" cy="38100"/>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D0C017E-E366-4797-99DC-3C0168EF8C97}"/>
              </a:ext>
            </a:extLst>
          </p:cNvPr>
          <p:cNvSpPr>
            <a:spLocks xmlns:a="http://schemas.openxmlformats.org/drawingml/2006/main" noGrp="1"/>
          </p:cNvSpPr>
          <p:nvPr/>
        </p:nvSpPr>
        <p:spPr>
          <a:xfrm xmlns:a="http://schemas.openxmlformats.org/drawingml/2006/main">
            <a:off x="6667500" y="53149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1">
                <a:solidFill>
                  <a:srgbClr val="10263C"/>
                </a:solidFill>
                <a:latin typeface="Helvetica Neue"/>
                <a:ea typeface="Helvetica Neue"/>
                <a:cs typeface="Helvetica Neue"/>
              </a:defRPr>
            </a:pPr>
            <a:r>
              <a:rPr sz="1425" b="1">
                <a:solidFill>
                  <a:srgbClr val="10263C"/>
                </a:solidFill>
                <a:latin typeface="Helvetica Neue"/>
                <a:ea typeface="Helvetica Neue"/>
                <a:cs typeface="Helvetica Neue"/>
              </a:rPr>
              <a:t>Every stage persists a visible checkpoint</a:t>
            </a:r>
          </a:p>
        </p:txBody>
      </p:sp>
      <p:sp>
        <p:nvSpPr>
          <p:cNvPr id="31" name="">
            <a:extLst xmlns:a="http://schemas.openxmlformats.org/drawingml/2006/main">
              <a:ext uri="{FF2B5EF4-FFF2-40B4-BE49-F238E27FC236}">
                <a16:creationId xmlns:a16="http://schemas.microsoft.com/office/drawing/2014/main" id="{0142857A-3AB6-4F3D-A437-DE2B7745A7FB}"/>
              </a:ext>
            </a:extLst>
          </p:cNvPr>
          <p:cNvSpPr>
            <a:spLocks xmlns:a="http://schemas.openxmlformats.org/drawingml/2006/main" noGrp="1"/>
          </p:cNvSpPr>
          <p:nvPr/>
        </p:nvSpPr>
        <p:spPr>
          <a:xfrm xmlns:a="http://schemas.openxmlformats.org/drawingml/2006/main">
            <a:off x="742950" y="5867400"/>
            <a:ext cx="10401300" cy="9525"/>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Tree>
    <p:extLst>
      <p:ext uri="{BB962C8B-B14F-4D97-AF65-F5344CB8AC3E}">
        <p14:creationId xmlns:p14="http://schemas.microsoft.com/office/powerpoint/2010/main" val="1762895349"/>
      </p:ext>
    </p:extLst>
  </p:cSld>
</p:sld>
</file>

<file path=ppt/slides/slide11.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D91A368-0A08-43A6-B2A5-A56D50C5782B}"/>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4 qwen3.5 run</a:t>
            </a:r>
          </a:p>
        </p:txBody>
      </p:sp>
      <p:sp>
        <p:nvSpPr>
          <p:cNvPr id="2" name="">
            <a:extLst xmlns:a="http://schemas.openxmlformats.org/drawingml/2006/main">
              <a:ext uri="{FF2B5EF4-FFF2-40B4-BE49-F238E27FC236}">
                <a16:creationId xmlns:a16="http://schemas.microsoft.com/office/drawing/2014/main" id="{31E74418-2C02-4B31-9B75-1D2C2CD4D796}"/>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scored run completed every reasoning stage and blocked corrective actions at the final gate.</a:t>
            </a:r>
          </a:p>
        </p:txBody>
      </p:sp>
      <p:sp>
        <p:nvSpPr>
          <p:cNvPr id="3" name="">
            <a:extLst xmlns:a="http://schemas.openxmlformats.org/drawingml/2006/main">
              <a:ext uri="{FF2B5EF4-FFF2-40B4-BE49-F238E27FC236}">
                <a16:creationId xmlns:a16="http://schemas.microsoft.com/office/drawing/2014/main" id="{55BCBC70-FC50-482C-ACAD-8550F6AE1D7E}"/>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A124CA0-2D07-4839-BA86-0E0B1195E98F}"/>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4 stage checkpoints for incident e1325fa4-6198-4d26-a5eb-ae8d4a930ef8</a:t>
            </a:r>
          </a:p>
        </p:txBody>
      </p:sp>
      <p:sp>
        <p:nvSpPr>
          <p:cNvPr id="5" name="">
            <a:extLst xmlns:a="http://schemas.openxmlformats.org/drawingml/2006/main">
              <a:ext uri="{FF2B5EF4-FFF2-40B4-BE49-F238E27FC236}">
                <a16:creationId xmlns:a16="http://schemas.microsoft.com/office/drawing/2014/main" id="{2F8CA987-3067-45B8-9E82-16E2419FA77A}"/>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338A877E-932D-42A3-B8F5-51C05E1638D5}"/>
              </a:ext>
            </a:extLst>
          </p:cNvPr>
          <p:cNvSpPr>
            <a:spLocks xmlns:a="http://schemas.openxmlformats.org/drawingml/2006/main" noGrp="1"/>
          </p:cNvSpPr>
          <p:nvPr/>
        </p:nvSpPr>
        <p:spPr>
          <a:xfrm xmlns:a="http://schemas.openxmlformats.org/drawingml/2006/main">
            <a:off x="6667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Understand</a:t>
            </a:r>
          </a:p>
        </p:txBody>
      </p:sp>
      <p:sp>
        <p:nvSpPr>
          <p:cNvPr id="7" name="">
            <a:extLst xmlns:a="http://schemas.openxmlformats.org/drawingml/2006/main">
              <a:ext uri="{FF2B5EF4-FFF2-40B4-BE49-F238E27FC236}">
                <a16:creationId xmlns:a16="http://schemas.microsoft.com/office/drawing/2014/main" id="{B414BFAC-F6C8-471A-B3EE-C4876CBBB87F}"/>
              </a:ext>
            </a:extLst>
          </p:cNvPr>
          <p:cNvSpPr>
            <a:spLocks xmlns:a="http://schemas.openxmlformats.org/drawingml/2006/main" noGrp="1"/>
          </p:cNvSpPr>
          <p:nvPr/>
        </p:nvSpPr>
        <p:spPr>
          <a:xfrm xmlns:a="http://schemas.openxmlformats.org/drawingml/2006/main">
            <a:off x="23812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Structure</a:t>
            </a:r>
          </a:p>
        </p:txBody>
      </p:sp>
      <p:sp>
        <p:nvSpPr>
          <p:cNvPr id="8" name="">
            <a:extLst xmlns:a="http://schemas.openxmlformats.org/drawingml/2006/main">
              <a:ext uri="{FF2B5EF4-FFF2-40B4-BE49-F238E27FC236}">
                <a16:creationId xmlns:a16="http://schemas.microsoft.com/office/drawing/2014/main" id="{5FF5A71C-CDD6-4C3A-8B78-D59366A80ACD}"/>
              </a:ext>
            </a:extLst>
          </p:cNvPr>
          <p:cNvSpPr>
            <a:spLocks xmlns:a="http://schemas.openxmlformats.org/drawingml/2006/main" noGrp="1"/>
          </p:cNvSpPr>
          <p:nvPr/>
        </p:nvSpPr>
        <p:spPr>
          <a:xfrm xmlns:a="http://schemas.openxmlformats.org/drawingml/2006/main">
            <a:off x="40957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Tag</a:t>
            </a:r>
          </a:p>
        </p:txBody>
      </p:sp>
      <p:sp>
        <p:nvSpPr>
          <p:cNvPr id="9" name="">
            <a:extLst xmlns:a="http://schemas.openxmlformats.org/drawingml/2006/main">
              <a:ext uri="{FF2B5EF4-FFF2-40B4-BE49-F238E27FC236}">
                <a16:creationId xmlns:a16="http://schemas.microsoft.com/office/drawing/2014/main" id="{0AE5DCD2-EB45-4911-A1ED-AE46AEE4F45F}"/>
              </a:ext>
            </a:extLst>
          </p:cNvPr>
          <p:cNvSpPr>
            <a:spLocks xmlns:a="http://schemas.openxmlformats.org/drawingml/2006/main" noGrp="1"/>
          </p:cNvSpPr>
          <p:nvPr/>
        </p:nvSpPr>
        <p:spPr>
          <a:xfrm xmlns:a="http://schemas.openxmlformats.org/drawingml/2006/main">
            <a:off x="5810250" y="1752600"/>
            <a:ext cx="1352550" cy="685800"/>
          </a:xfrm>
          <a:prstGeom xmlns:a="http://schemas.openxmlformats.org/drawingml/2006/main" prst="roundRect">
            <a:avLst>
              <a:gd name="adj" fmla="val 11111"/>
            </a:avLst>
          </a:prstGeom>
          <a:solidFill xmlns:a="http://schemas.openxmlformats.org/drawingml/2006/main">
            <a:srgbClr val="F7E5BE"/>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Adjudicate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sources</a:t>
            </a:r>
          </a:p>
        </p:txBody>
      </p:sp>
      <p:sp>
        <p:nvSpPr>
          <p:cNvPr id="10" name="">
            <a:extLst xmlns:a="http://schemas.openxmlformats.org/drawingml/2006/main">
              <a:ext uri="{FF2B5EF4-FFF2-40B4-BE49-F238E27FC236}">
                <a16:creationId xmlns:a16="http://schemas.microsoft.com/office/drawing/2014/main" id="{6D6EE019-F55E-42B6-A311-E5874A89E40E}"/>
              </a:ext>
            </a:extLst>
          </p:cNvPr>
          <p:cNvSpPr>
            <a:spLocks xmlns:a="http://schemas.openxmlformats.org/drawingml/2006/main" noGrp="1"/>
          </p:cNvSpPr>
          <p:nvPr/>
        </p:nvSpPr>
        <p:spPr>
          <a:xfrm xmlns:a="http://schemas.openxmlformats.org/drawingml/2006/main">
            <a:off x="75247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Five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specialists</a:t>
            </a:r>
          </a:p>
        </p:txBody>
      </p:sp>
      <p:sp>
        <p:nvSpPr>
          <p:cNvPr id="11" name="">
            <a:extLst xmlns:a="http://schemas.openxmlformats.org/drawingml/2006/main">
              <a:ext uri="{FF2B5EF4-FFF2-40B4-BE49-F238E27FC236}">
                <a16:creationId xmlns:a16="http://schemas.microsoft.com/office/drawing/2014/main" id="{F2BCAB1A-D6A3-41FC-B3F5-61A27C989032}"/>
              </a:ext>
            </a:extLst>
          </p:cNvPr>
          <p:cNvSpPr>
            <a:spLocks xmlns:a="http://schemas.openxmlformats.org/drawingml/2006/main" noGrp="1"/>
          </p:cNvSpPr>
          <p:nvPr/>
        </p:nvSpPr>
        <p:spPr>
          <a:xfrm xmlns:a="http://schemas.openxmlformats.org/drawingml/2006/main">
            <a:off x="9239250" y="1752600"/>
            <a:ext cx="1352550" cy="685800"/>
          </a:xfrm>
          <a:prstGeom xmlns:a="http://schemas.openxmlformats.org/drawingml/2006/main" prst="roundRect">
            <a:avLst>
              <a:gd name="adj" fmla="val 11111"/>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Broker</a:t>
            </a:r>
          </a:p>
        </p:txBody>
      </p:sp>
      <p:cxnSp>
        <p:nvCxnSpPr>
          <p:cNvPr id="46" name=""/>
          <p:cNvCxnSpPr>
            <a:stCxn xmlns:a="http://schemas.openxmlformats.org/drawingml/2006/main" id="6" idx="3"/>
            <a:endCxn xmlns:a="http://schemas.openxmlformats.org/drawingml/2006/main" id="7" idx="1"/>
          </p:cNvCxnSpPr>
          <p:nvPr/>
        </p:nvCxnSpPr>
        <p:spPr>
          <a:xfrm xmlns:a="http://schemas.openxmlformats.org/drawingml/2006/main">
            <a:off x="2019300" y="2095500"/>
            <a:ext cx="361950" cy="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cxnSp>
        <p:nvCxnSpPr>
          <p:cNvPr id="47" name=""/>
          <p:cNvCxnSpPr>
            <a:stCxn xmlns:a="http://schemas.openxmlformats.org/drawingml/2006/main" id="7" idx="3"/>
            <a:endCxn xmlns:a="http://schemas.openxmlformats.org/drawingml/2006/main" id="8" idx="1"/>
          </p:cNvCxnSpPr>
          <p:nvPr/>
        </p:nvCxnSpPr>
        <p:spPr>
          <a:xfrm xmlns:a="http://schemas.openxmlformats.org/drawingml/2006/main">
            <a:off x="3733800" y="2095500"/>
            <a:ext cx="361950" cy="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cxnSp>
        <p:nvCxnSpPr>
          <p:cNvPr id="48" name=""/>
          <p:cNvCxnSpPr>
            <a:stCxn xmlns:a="http://schemas.openxmlformats.org/drawingml/2006/main" id="8" idx="3"/>
            <a:endCxn xmlns:a="http://schemas.openxmlformats.org/drawingml/2006/main" id="9" idx="1"/>
          </p:cNvCxnSpPr>
          <p:nvPr/>
        </p:nvCxnSpPr>
        <p:spPr>
          <a:xfrm xmlns:a="http://schemas.openxmlformats.org/drawingml/2006/main">
            <a:off x="5448300" y="2095500"/>
            <a:ext cx="361950" cy="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cxnSp>
        <p:nvCxnSpPr>
          <p:cNvPr id="49" name=""/>
          <p:cNvCxnSpPr>
            <a:stCxn xmlns:a="http://schemas.openxmlformats.org/drawingml/2006/main" id="9" idx="3"/>
            <a:endCxn xmlns:a="http://schemas.openxmlformats.org/drawingml/2006/main" id="10" idx="1"/>
          </p:cNvCxnSpPr>
          <p:nvPr/>
        </p:nvCxnSpPr>
        <p:spPr>
          <a:xfrm xmlns:a="http://schemas.openxmlformats.org/drawingml/2006/main">
            <a:off x="7162800" y="2095500"/>
            <a:ext cx="361950" cy="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cxnSp>
        <p:nvCxnSpPr>
          <p:cNvPr id="50" name=""/>
          <p:cNvCxnSpPr>
            <a:stCxn xmlns:a="http://schemas.openxmlformats.org/drawingml/2006/main" id="10" idx="3"/>
            <a:endCxn xmlns:a="http://schemas.openxmlformats.org/drawingml/2006/main" id="11" idx="1"/>
          </p:cNvCxnSpPr>
          <p:nvPr/>
        </p:nvCxnSpPr>
        <p:spPr>
          <a:xfrm xmlns:a="http://schemas.openxmlformats.org/drawingml/2006/main">
            <a:off x="8877300" y="2095500"/>
            <a:ext cx="361950" cy="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sp>
        <p:nvSpPr>
          <p:cNvPr id="17" name="">
            <a:extLst xmlns:a="http://schemas.openxmlformats.org/drawingml/2006/main">
              <a:ext uri="{FF2B5EF4-FFF2-40B4-BE49-F238E27FC236}">
                <a16:creationId xmlns:a16="http://schemas.microsoft.com/office/drawing/2014/main" id="{A6D21F75-40EE-4DA3-A6C6-0E5A555D6C7A}"/>
              </a:ext>
            </a:extLst>
          </p:cNvPr>
          <p:cNvSpPr>
            <a:spLocks xmlns:a="http://schemas.openxmlformats.org/drawingml/2006/main" noGrp="1"/>
          </p:cNvSpPr>
          <p:nvPr/>
        </p:nvSpPr>
        <p:spPr>
          <a:xfrm xmlns:a="http://schemas.openxmlformats.org/drawingml/2006/main">
            <a:off x="9239250" y="3714750"/>
            <a:ext cx="1352550" cy="685800"/>
          </a:xfrm>
          <a:prstGeom xmlns:a="http://schemas.openxmlformats.org/drawingml/2006/main" prst="roundRect">
            <a:avLst>
              <a:gd name="adj" fmla="val 11111"/>
            </a:avLst>
          </a:prstGeom>
          <a:solidFill xmlns:a="http://schemas.openxmlformats.org/drawingml/2006/main">
            <a:srgbClr val="F7E5BE"/>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11 answer</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fetches</a:t>
            </a:r>
          </a:p>
        </p:txBody>
      </p:sp>
      <p:sp>
        <p:nvSpPr>
          <p:cNvPr id="18" name="">
            <a:extLst xmlns:a="http://schemas.openxmlformats.org/drawingml/2006/main">
              <a:ext uri="{FF2B5EF4-FFF2-40B4-BE49-F238E27FC236}">
                <a16:creationId xmlns:a16="http://schemas.microsoft.com/office/drawing/2014/main" id="{675EF13A-4B12-4FA2-A47F-6F160E40F15F}"/>
              </a:ext>
            </a:extLst>
          </p:cNvPr>
          <p:cNvSpPr>
            <a:spLocks xmlns:a="http://schemas.openxmlformats.org/drawingml/2006/main" noGrp="1"/>
          </p:cNvSpPr>
          <p:nvPr/>
        </p:nvSpPr>
        <p:spPr>
          <a:xfrm xmlns:a="http://schemas.openxmlformats.org/drawingml/2006/main">
            <a:off x="75247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54 evidence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claims</a:t>
            </a:r>
          </a:p>
        </p:txBody>
      </p:sp>
      <p:sp>
        <p:nvSpPr>
          <p:cNvPr id="19" name="">
            <a:extLst xmlns:a="http://schemas.openxmlformats.org/drawingml/2006/main">
              <a:ext uri="{FF2B5EF4-FFF2-40B4-BE49-F238E27FC236}">
                <a16:creationId xmlns:a16="http://schemas.microsoft.com/office/drawing/2014/main" id="{E10529A4-4A76-4104-84BA-ECC20EAE1481}"/>
              </a:ext>
            </a:extLst>
          </p:cNvPr>
          <p:cNvSpPr>
            <a:spLocks xmlns:a="http://schemas.openxmlformats.org/drawingml/2006/main" noGrp="1"/>
          </p:cNvSpPr>
          <p:nvPr/>
        </p:nvSpPr>
        <p:spPr>
          <a:xfrm xmlns:a="http://schemas.openxmlformats.org/drawingml/2006/main">
            <a:off x="58102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13 causal</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nodes</a:t>
            </a:r>
          </a:p>
        </p:txBody>
      </p:sp>
      <p:sp>
        <p:nvSpPr>
          <p:cNvPr id="20" name="">
            <a:extLst xmlns:a="http://schemas.openxmlformats.org/drawingml/2006/main">
              <a:ext uri="{FF2B5EF4-FFF2-40B4-BE49-F238E27FC236}">
                <a16:creationId xmlns:a16="http://schemas.microsoft.com/office/drawing/2014/main" id="{D41BE633-2114-45D7-BE6F-04A873A21C60}"/>
              </a:ext>
            </a:extLst>
          </p:cNvPr>
          <p:cNvSpPr>
            <a:spLocks xmlns:a="http://schemas.openxmlformats.org/drawingml/2006/main" noGrp="1"/>
          </p:cNvSpPr>
          <p:nvPr/>
        </p:nvSpPr>
        <p:spPr>
          <a:xfrm xmlns:a="http://schemas.openxmlformats.org/drawingml/2006/main">
            <a:off x="40957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7 causal</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links</a:t>
            </a:r>
          </a:p>
        </p:txBody>
      </p:sp>
      <p:sp>
        <p:nvSpPr>
          <p:cNvPr id="21" name="">
            <a:extLst xmlns:a="http://schemas.openxmlformats.org/drawingml/2006/main">
              <a:ext uri="{FF2B5EF4-FFF2-40B4-BE49-F238E27FC236}">
                <a16:creationId xmlns:a16="http://schemas.microsoft.com/office/drawing/2014/main" id="{B290CC8F-FB19-4F1C-9312-BF81CB410445}"/>
              </a:ext>
            </a:extLst>
          </p:cNvPr>
          <p:cNvSpPr>
            <a:spLocks xmlns:a="http://schemas.openxmlformats.org/drawingml/2006/main" noGrp="1"/>
          </p:cNvSpPr>
          <p:nvPr/>
        </p:nvSpPr>
        <p:spPr>
          <a:xfrm xmlns:a="http://schemas.openxmlformats.org/drawingml/2006/main">
            <a:off x="2381250" y="3714750"/>
            <a:ext cx="13525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Verify</a:t>
            </a:r>
          </a:p>
        </p:txBody>
      </p:sp>
      <p:sp>
        <p:nvSpPr>
          <p:cNvPr id="22" name="">
            <a:extLst xmlns:a="http://schemas.openxmlformats.org/drawingml/2006/main">
              <a:ext uri="{FF2B5EF4-FFF2-40B4-BE49-F238E27FC236}">
                <a16:creationId xmlns:a16="http://schemas.microsoft.com/office/drawing/2014/main" id="{71677A47-031B-4E17-9DF5-C0D6D7DA775E}"/>
              </a:ext>
            </a:extLst>
          </p:cNvPr>
          <p:cNvSpPr>
            <a:spLocks xmlns:a="http://schemas.openxmlformats.org/drawingml/2006/main" noGrp="1"/>
          </p:cNvSpPr>
          <p:nvPr/>
        </p:nvSpPr>
        <p:spPr>
          <a:xfrm xmlns:a="http://schemas.openxmlformats.org/drawingml/2006/main">
            <a:off x="666750" y="3714750"/>
            <a:ext cx="1352550" cy="685800"/>
          </a:xfrm>
          <a:prstGeom xmlns:a="http://schemas.openxmlformats.org/drawingml/2006/main" prst="roundRect">
            <a:avLst>
              <a:gd name="adj" fmla="val 11111"/>
            </a:avLst>
          </a:prstGeom>
          <a:solidFill xmlns:a="http://schemas.openxmlformats.org/drawingml/2006/main">
            <a:srgbClr val="F3DAD7"/>
          </a:solidFill>
          <a:ln xmlns:a="http://schemas.openxmlformats.org/drawingml/2006/main" w="9525">
            <a:solidFill>
              <a:srgbClr val="C9564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Actions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blocked</a:t>
            </a:r>
          </a:p>
        </p:txBody>
      </p:sp>
      <p:cxnSp>
        <p:nvCxnSpPr>
          <p:cNvPr id="57" name=""/>
          <p:cNvCxnSpPr>
            <a:stCxn xmlns:a="http://schemas.openxmlformats.org/drawingml/2006/main" id="11" idx="2"/>
            <a:endCxn xmlns:a="http://schemas.openxmlformats.org/drawingml/2006/main" id="17" idx="0"/>
          </p:cNvCxnSpPr>
          <p:nvPr/>
        </p:nvCxnSpPr>
        <p:spPr>
          <a:xfrm xmlns:a="http://schemas.openxmlformats.org/drawingml/2006/main">
            <a:off x="9915525" y="2438400"/>
            <a:ext cx="0" cy="1276350"/>
          </a:xfrm>
          <a:prstGeom xmlns:a="http://schemas.openxmlformats.org/drawingml/2006/main" prst="straightConnector1">
            <a:avLst/>
          </a:prstGeom>
          <a:ln xmlns:a="http://schemas.openxmlformats.org/drawingml/2006/main" w="19050">
            <a:solidFill>
              <a:srgbClr val="168B85"/>
            </a:solidFill>
            <a:prstDash val="solid"/>
            <a:tailEnd type="arrow" w="med" len="med"/>
          </a:ln>
        </p:spPr>
      </p:cxnSp>
      <p:cxnSp>
        <p:nvCxnSpPr>
          <p:cNvPr id="58" name=""/>
          <p:cNvCxnSpPr>
            <a:stCxn xmlns:a="http://schemas.openxmlformats.org/drawingml/2006/main" id="17" idx="1"/>
            <a:endCxn xmlns:a="http://schemas.openxmlformats.org/drawingml/2006/main" id="18" idx="3"/>
          </p:cNvCxnSpPr>
          <p:nvPr/>
        </p:nvCxnSpPr>
        <p:spPr>
          <a:xfrm xmlns:a="http://schemas.openxmlformats.org/drawingml/2006/main" flipH="1">
            <a:off x="8877300" y="4057650"/>
            <a:ext cx="36195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59" name=""/>
          <p:cNvCxnSpPr>
            <a:stCxn xmlns:a="http://schemas.openxmlformats.org/drawingml/2006/main" id="18" idx="1"/>
            <a:endCxn xmlns:a="http://schemas.openxmlformats.org/drawingml/2006/main" id="19" idx="3"/>
          </p:cNvCxnSpPr>
          <p:nvPr/>
        </p:nvCxnSpPr>
        <p:spPr>
          <a:xfrm xmlns:a="http://schemas.openxmlformats.org/drawingml/2006/main" flipH="1">
            <a:off x="7162800" y="4057650"/>
            <a:ext cx="36195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60" name=""/>
          <p:cNvCxnSpPr>
            <a:stCxn xmlns:a="http://schemas.openxmlformats.org/drawingml/2006/main" id="19" idx="1"/>
            <a:endCxn xmlns:a="http://schemas.openxmlformats.org/drawingml/2006/main" id="20" idx="3"/>
          </p:cNvCxnSpPr>
          <p:nvPr/>
        </p:nvCxnSpPr>
        <p:spPr>
          <a:xfrm xmlns:a="http://schemas.openxmlformats.org/drawingml/2006/main" flipH="1">
            <a:off x="5448300" y="4057650"/>
            <a:ext cx="36195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61" name=""/>
          <p:cNvCxnSpPr>
            <a:stCxn xmlns:a="http://schemas.openxmlformats.org/drawingml/2006/main" id="20" idx="1"/>
            <a:endCxn xmlns:a="http://schemas.openxmlformats.org/drawingml/2006/main" id="21" idx="3"/>
          </p:cNvCxnSpPr>
          <p:nvPr/>
        </p:nvCxnSpPr>
        <p:spPr>
          <a:xfrm xmlns:a="http://schemas.openxmlformats.org/drawingml/2006/main" flipH="1">
            <a:off x="3733800" y="4057650"/>
            <a:ext cx="36195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62" name=""/>
          <p:cNvCxnSpPr>
            <a:stCxn xmlns:a="http://schemas.openxmlformats.org/drawingml/2006/main" id="21" idx="1"/>
            <a:endCxn xmlns:a="http://schemas.openxmlformats.org/drawingml/2006/main" id="22" idx="3"/>
          </p:cNvCxnSpPr>
          <p:nvPr/>
        </p:nvCxnSpPr>
        <p:spPr>
          <a:xfrm xmlns:a="http://schemas.openxmlformats.org/drawingml/2006/main" flipH="1">
            <a:off x="2019300" y="4057650"/>
            <a:ext cx="361950" cy="0"/>
          </a:xfrm>
          <a:prstGeom xmlns:a="http://schemas.openxmlformats.org/drawingml/2006/main" prst="straightConnector1">
            <a:avLst/>
          </a:prstGeom>
          <a:ln xmlns:a="http://schemas.openxmlformats.org/drawingml/2006/main" w="19050">
            <a:solidFill>
              <a:srgbClr val="C9564D"/>
            </a:solidFill>
            <a:prstDash val="solid"/>
            <a:tailEnd type="arrow" w="med" len="med"/>
          </a:ln>
        </p:spPr>
      </p:cxnSp>
      <p:sp>
        <p:nvSpPr>
          <p:cNvPr id="29" name="">
            <a:extLst xmlns:a="http://schemas.openxmlformats.org/drawingml/2006/main">
              <a:ext uri="{FF2B5EF4-FFF2-40B4-BE49-F238E27FC236}">
                <a16:creationId xmlns:a16="http://schemas.microsoft.com/office/drawing/2014/main" id="{108285F4-E21F-45F3-AB64-D0375CE06025}"/>
              </a:ext>
            </a:extLst>
          </p:cNvPr>
          <p:cNvSpPr>
            <a:spLocks xmlns:a="http://schemas.openxmlformats.org/drawingml/2006/main" noGrp="1"/>
          </p:cNvSpPr>
          <p:nvPr/>
        </p:nvSpPr>
        <p:spPr>
          <a:xfrm xmlns:a="http://schemas.openxmlformats.org/drawingml/2006/main">
            <a:off x="1676400" y="5095875"/>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159"/>
          </a:bodyPr>
          <a:lstStyle xmlns:a="http://schemas.openxmlformats.org/drawingml/2006/main"/>
          <a:p xmlns:a="http://schemas.openxmlformats.org/drawingml/2006/main">
            <a:pPr algn="ctr">
              <a:defRPr sz="3150" b="1">
                <a:solidFill>
                  <a:srgbClr val="168B85"/>
                </a:solidFill>
                <a:latin typeface="Helvetica Neue"/>
                <a:ea typeface="Helvetica Neue"/>
                <a:cs typeface="Helvetica Neue"/>
              </a:defRPr>
            </a:pPr>
            <a:r>
              <a:rPr sz="3150" b="1">
                <a:solidFill>
                  <a:srgbClr val="168B85"/>
                </a:solidFill>
                <a:latin typeface="Helvetica Neue"/>
                <a:ea typeface="Helvetica Neue"/>
                <a:cs typeface="Helvetica Neue"/>
              </a:rPr>
              <a:t>15</a:t>
            </a:r>
          </a:p>
        </p:txBody>
      </p:sp>
      <p:sp>
        <p:nvSpPr>
          <p:cNvPr id="30" name="">
            <a:extLst xmlns:a="http://schemas.openxmlformats.org/drawingml/2006/main">
              <a:ext uri="{FF2B5EF4-FFF2-40B4-BE49-F238E27FC236}">
                <a16:creationId xmlns:a16="http://schemas.microsoft.com/office/drawing/2014/main" id="{88EC0CE7-5876-43BE-B2FF-248B3AF3D12F}"/>
              </a:ext>
            </a:extLst>
          </p:cNvPr>
          <p:cNvSpPr>
            <a:spLocks xmlns:a="http://schemas.openxmlformats.org/drawingml/2006/main" noGrp="1"/>
          </p:cNvSpPr>
          <p:nvPr/>
        </p:nvSpPr>
        <p:spPr>
          <a:xfrm xmlns:a="http://schemas.openxmlformats.org/drawingml/2006/main">
            <a:off x="2524125" y="52006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successful checkpoints</a:t>
            </a:r>
          </a:p>
        </p:txBody>
      </p:sp>
      <p:sp>
        <p:nvSpPr>
          <p:cNvPr id="31" name="">
            <a:extLst xmlns:a="http://schemas.openxmlformats.org/drawingml/2006/main">
              <a:ext uri="{FF2B5EF4-FFF2-40B4-BE49-F238E27FC236}">
                <a16:creationId xmlns:a16="http://schemas.microsoft.com/office/drawing/2014/main" id="{77292A98-EC72-46A6-B42D-8DBD67A94680}"/>
              </a:ext>
            </a:extLst>
          </p:cNvPr>
          <p:cNvSpPr>
            <a:spLocks xmlns:a="http://schemas.openxmlformats.org/drawingml/2006/main" noGrp="1"/>
          </p:cNvSpPr>
          <p:nvPr/>
        </p:nvSpPr>
        <p:spPr>
          <a:xfrm xmlns:a="http://schemas.openxmlformats.org/drawingml/2006/main">
            <a:off x="5391150" y="5095875"/>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159"/>
          </a:bodyPr>
          <a:lstStyle xmlns:a="http://schemas.openxmlformats.org/drawingml/2006/main"/>
          <a:p xmlns:a="http://schemas.openxmlformats.org/drawingml/2006/main">
            <a:pPr algn="ctr">
              <a:defRPr sz="3150" b="1">
                <a:solidFill>
                  <a:srgbClr val="168B85"/>
                </a:solidFill>
                <a:latin typeface="Helvetica Neue"/>
                <a:ea typeface="Helvetica Neue"/>
                <a:cs typeface="Helvetica Neue"/>
              </a:defRPr>
            </a:pPr>
            <a:r>
              <a:rPr sz="3150" b="1">
                <a:solidFill>
                  <a:srgbClr val="168B85"/>
                </a:solidFill>
                <a:latin typeface="Helvetica Neue"/>
                <a:ea typeface="Helvetica Neue"/>
                <a:cs typeface="Helvetica Neue"/>
              </a:rPr>
              <a:t>0</a:t>
            </a:r>
          </a:p>
        </p:txBody>
      </p:sp>
      <p:sp>
        <p:nvSpPr>
          <p:cNvPr id="32" name="">
            <a:extLst xmlns:a="http://schemas.openxmlformats.org/drawingml/2006/main">
              <a:ext uri="{FF2B5EF4-FFF2-40B4-BE49-F238E27FC236}">
                <a16:creationId xmlns:a16="http://schemas.microsoft.com/office/drawing/2014/main" id="{7B8F29F6-749D-4296-91B3-17BBC3FA5C74}"/>
              </a:ext>
            </a:extLst>
          </p:cNvPr>
          <p:cNvSpPr>
            <a:spLocks xmlns:a="http://schemas.openxmlformats.org/drawingml/2006/main" noGrp="1"/>
          </p:cNvSpPr>
          <p:nvPr/>
        </p:nvSpPr>
        <p:spPr>
          <a:xfrm xmlns:a="http://schemas.openxmlformats.org/drawingml/2006/main">
            <a:off x="6248400" y="52006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failed stages</a:t>
            </a:r>
          </a:p>
        </p:txBody>
      </p:sp>
      <p:sp>
        <p:nvSpPr>
          <p:cNvPr id="33" name="">
            <a:extLst xmlns:a="http://schemas.openxmlformats.org/drawingml/2006/main">
              <a:ext uri="{FF2B5EF4-FFF2-40B4-BE49-F238E27FC236}">
                <a16:creationId xmlns:a16="http://schemas.microsoft.com/office/drawing/2014/main" id="{7DCE4B2C-F2CC-4F75-BF02-B92ACFC94B43}"/>
              </a:ext>
            </a:extLst>
          </p:cNvPr>
          <p:cNvSpPr>
            <a:spLocks xmlns:a="http://schemas.openxmlformats.org/drawingml/2006/main" noGrp="1"/>
          </p:cNvSpPr>
          <p:nvPr/>
        </p:nvSpPr>
        <p:spPr>
          <a:xfrm xmlns:a="http://schemas.openxmlformats.org/drawingml/2006/main">
            <a:off x="8648700" y="5095875"/>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518"/>
          </a:bodyPr>
          <a:lstStyle xmlns:a="http://schemas.openxmlformats.org/drawingml/2006/main"/>
          <a:p xmlns:a="http://schemas.openxmlformats.org/drawingml/2006/main">
            <a:pPr algn="ctr">
              <a:defRPr sz="2700" b="1">
                <a:solidFill>
                  <a:srgbClr val="10263C"/>
                </a:solidFill>
                <a:latin typeface="Helvetica Neue"/>
                <a:ea typeface="Helvetica Neue"/>
                <a:cs typeface="Helvetica Neue"/>
              </a:defRPr>
            </a:pPr>
            <a:r>
              <a:rPr sz="2700" b="1">
                <a:solidFill>
                  <a:srgbClr val="10263C"/>
                </a:solidFill>
                <a:latin typeface="Helvetica Neue"/>
                <a:ea typeface="Helvetica Neue"/>
                <a:cs typeface="Helvetica Neue"/>
              </a:rPr>
              <a:t>23 min</a:t>
            </a:r>
          </a:p>
        </p:txBody>
      </p:sp>
      <p:sp>
        <p:nvSpPr>
          <p:cNvPr id="34" name="">
            <a:extLst xmlns:a="http://schemas.openxmlformats.org/drawingml/2006/main">
              <a:ext uri="{FF2B5EF4-FFF2-40B4-BE49-F238E27FC236}">
                <a16:creationId xmlns:a16="http://schemas.microsoft.com/office/drawing/2014/main" id="{ACDCECC6-A62F-4757-B90D-C178262483BB}"/>
              </a:ext>
            </a:extLst>
          </p:cNvPr>
          <p:cNvSpPr>
            <a:spLocks xmlns:a="http://schemas.openxmlformats.org/drawingml/2006/main" noGrp="1"/>
          </p:cNvSpPr>
          <p:nvPr/>
        </p:nvSpPr>
        <p:spPr>
          <a:xfrm xmlns:a="http://schemas.openxmlformats.org/drawingml/2006/main">
            <a:off x="9944100" y="52006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185"/>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runtime</a:t>
            </a:r>
          </a:p>
        </p:txBody>
      </p:sp>
    </p:spTree>
    <p:extLst>
      <p:ext uri="{BB962C8B-B14F-4D97-AF65-F5344CB8AC3E}">
        <p14:creationId xmlns:p14="http://schemas.microsoft.com/office/powerpoint/2010/main" val="1830219088"/>
      </p:ext>
    </p:extLst>
  </p:cSld>
</p:sld>
</file>

<file path=ppt/slides/slide1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06F151-4541-47F8-9D55-FBB6CEE05DFF}"/>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Qwen3.5 improved most in causal reasoning</a:t>
            </a:r>
          </a:p>
        </p:txBody>
      </p:sp>
      <p:sp>
        <p:nvSpPr>
          <p:cNvPr id="2" name="">
            <a:extLst xmlns:a="http://schemas.openxmlformats.org/drawingml/2006/main">
              <a:ext uri="{FF2B5EF4-FFF2-40B4-BE49-F238E27FC236}">
                <a16:creationId xmlns:a16="http://schemas.microsoft.com/office/drawing/2014/main" id="{2C7369C5-AD50-4661-81D0-52EE849DB04F}"/>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Try 4 gained evidence and causal discipline but lost action points because the verifier blocked premature actions.</a:t>
            </a:r>
          </a:p>
        </p:txBody>
      </p:sp>
      <p:sp>
        <p:nvSpPr>
          <p:cNvPr id="3" name="">
            <a:extLst xmlns:a="http://schemas.openxmlformats.org/drawingml/2006/main">
              <a:ext uri="{FF2B5EF4-FFF2-40B4-BE49-F238E27FC236}">
                <a16:creationId xmlns:a16="http://schemas.microsoft.com/office/drawing/2014/main" id="{1E1E3328-18E2-4358-A6D7-D44376A74C19}"/>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2980B9D-DD62-4AF0-AF30-A39DD10EDDD4}"/>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Sources: Try 3 qwen score 64; Try 4 qwen score 68</a:t>
            </a:r>
          </a:p>
        </p:txBody>
      </p:sp>
      <p:sp>
        <p:nvSpPr>
          <p:cNvPr id="5" name="">
            <a:extLst xmlns:a="http://schemas.openxmlformats.org/drawingml/2006/main">
              <a:ext uri="{FF2B5EF4-FFF2-40B4-BE49-F238E27FC236}">
                <a16:creationId xmlns:a16="http://schemas.microsoft.com/office/drawing/2014/main" id="{68286841-3874-46BB-B65F-C0BA893243E1}"/>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12</a:t>
            </a:r>
          </a:p>
        </p:txBody>
      </p:sp>
      <p:graphicFrame>
        <p:nvGraphicFramePr>
          <p:cNvPr id="18" name="Chart"/>
          <p:cNvGraphicFramePr/>
          <p:nvPr/>
        </p:nvGraphicFramePr>
        <p:xfrm>
          <a:off xmlns:a="http://schemas.openxmlformats.org/drawingml/2006/main" x="666750" y="1466850"/>
          <a:ext xmlns:a="http://schemas.openxmlformats.org/drawingml/2006/main" cx="8620125" cy="4610100"/>
        </p:xfrm>
        <a:graphic xmlns:a="http://schemas.openxmlformats.org/drawingml/2006/main">
          <a:graphicData uri="http://schemas.openxmlformats.org/drawingml/2006/chart">
            <c:chart xmlns:r="http://schemas.openxmlformats.org/officeDocument/2006/relationships" xmlns:c="http://schemas.openxmlformats.org/drawingml/2006/chart" r:id="Rcaff52f255774fb5"/>
          </a:graphicData>
        </a:graphic>
      </p:graphicFrame>
      <p:sp>
        <p:nvSpPr>
          <p:cNvPr id="7" name="">
            <a:extLst xmlns:a="http://schemas.openxmlformats.org/drawingml/2006/main">
              <a:ext uri="{FF2B5EF4-FFF2-40B4-BE49-F238E27FC236}">
                <a16:creationId xmlns:a16="http://schemas.microsoft.com/office/drawing/2014/main" id="{E638DC6C-702C-4C9A-B33F-DCECC3B16222}"/>
              </a:ext>
            </a:extLst>
          </p:cNvPr>
          <p:cNvSpPr>
            <a:spLocks xmlns:a="http://schemas.openxmlformats.org/drawingml/2006/main" noGrp="1"/>
          </p:cNvSpPr>
          <p:nvPr/>
        </p:nvSpPr>
        <p:spPr>
          <a:xfrm xmlns:a="http://schemas.openxmlformats.org/drawingml/2006/main">
            <a:off x="9620250" y="203835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881"/>
          </a:bodyPr>
          <a:lstStyle xmlns:a="http://schemas.openxmlformats.org/drawingml/2006/main"/>
          <a:p xmlns:a="http://schemas.openxmlformats.org/drawingml/2006/main">
            <a:pPr algn="ctr">
              <a:defRPr sz="4200" b="1">
                <a:solidFill>
                  <a:srgbClr val="3377B5"/>
                </a:solidFill>
                <a:latin typeface="Helvetica Neue"/>
                <a:ea typeface="Helvetica Neue"/>
                <a:cs typeface="Helvetica Neue"/>
              </a:defRPr>
            </a:pPr>
            <a:r>
              <a:rPr sz="4200" b="1">
                <a:solidFill>
                  <a:srgbClr val="3377B5"/>
                </a:solidFill>
                <a:latin typeface="Helvetica Neue"/>
                <a:ea typeface="Helvetica Neue"/>
                <a:cs typeface="Helvetica Neue"/>
              </a:rPr>
              <a:t>64</a:t>
            </a:r>
          </a:p>
        </p:txBody>
      </p:sp>
      <p:sp>
        <p:nvSpPr>
          <p:cNvPr id="8" name="">
            <a:extLst xmlns:a="http://schemas.openxmlformats.org/drawingml/2006/main">
              <a:ext uri="{FF2B5EF4-FFF2-40B4-BE49-F238E27FC236}">
                <a16:creationId xmlns:a16="http://schemas.microsoft.com/office/drawing/2014/main" id="{5AD24C16-A770-473D-AA1F-9F8E2BD9FFDD}"/>
              </a:ext>
            </a:extLst>
          </p:cNvPr>
          <p:cNvSpPr>
            <a:spLocks xmlns:a="http://schemas.openxmlformats.org/drawingml/2006/main" noGrp="1"/>
          </p:cNvSpPr>
          <p:nvPr/>
        </p:nvSpPr>
        <p:spPr>
          <a:xfrm xmlns:a="http://schemas.openxmlformats.org/drawingml/2006/main">
            <a:off x="9620250" y="26860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ctr">
              <a:defRPr sz="1200" b="1">
                <a:solidFill>
                  <a:srgbClr val="6B7B8C"/>
                </a:solidFill>
                <a:latin typeface="Helvetica Neue"/>
                <a:ea typeface="Helvetica Neue"/>
                <a:cs typeface="Helvetica Neue"/>
              </a:defRPr>
            </a:pPr>
            <a:r>
              <a:rPr sz="1200" b="1">
                <a:solidFill>
                  <a:srgbClr val="6B7B8C"/>
                </a:solidFill>
                <a:latin typeface="Helvetica Neue"/>
                <a:ea typeface="Helvetica Neue"/>
                <a:cs typeface="Helvetica Neue"/>
              </a:rPr>
              <a:t>TRY 3</a:t>
            </a:r>
          </a:p>
        </p:txBody>
      </p:sp>
      <p:sp>
        <p:nvSpPr>
          <p:cNvPr id="9" name="">
            <a:extLst xmlns:a="http://schemas.openxmlformats.org/drawingml/2006/main">
              <a:ext uri="{FF2B5EF4-FFF2-40B4-BE49-F238E27FC236}">
                <a16:creationId xmlns:a16="http://schemas.microsoft.com/office/drawing/2014/main" id="{011D01B5-30A0-4337-AFD7-36DDADCFF608}"/>
              </a:ext>
            </a:extLst>
          </p:cNvPr>
          <p:cNvSpPr>
            <a:spLocks xmlns:a="http://schemas.openxmlformats.org/drawingml/2006/main" noGrp="1"/>
          </p:cNvSpPr>
          <p:nvPr/>
        </p:nvSpPr>
        <p:spPr>
          <a:xfrm xmlns:a="http://schemas.openxmlformats.org/drawingml/2006/main">
            <a:off x="9791700" y="3162300"/>
            <a:ext cx="1085850" cy="19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AE3A810-8ABB-4EEB-B441-B4B49AF008CF}"/>
              </a:ext>
            </a:extLst>
          </p:cNvPr>
          <p:cNvSpPr>
            <a:spLocks xmlns:a="http://schemas.openxmlformats.org/drawingml/2006/main" noGrp="1"/>
          </p:cNvSpPr>
          <p:nvPr/>
        </p:nvSpPr>
        <p:spPr>
          <a:xfrm xmlns:a="http://schemas.openxmlformats.org/drawingml/2006/main">
            <a:off x="9620250" y="350520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881"/>
          </a:bodyPr>
          <a:lstStyle xmlns:a="http://schemas.openxmlformats.org/drawingml/2006/main"/>
          <a:p xmlns:a="http://schemas.openxmlformats.org/drawingml/2006/main">
            <a:pPr algn="ctr">
              <a:defRPr sz="4200" b="1">
                <a:solidFill>
                  <a:srgbClr val="168B85"/>
                </a:solidFill>
                <a:latin typeface="Helvetica Neue"/>
                <a:ea typeface="Helvetica Neue"/>
                <a:cs typeface="Helvetica Neue"/>
              </a:defRPr>
            </a:pPr>
            <a:r>
              <a:rPr sz="4200" b="1">
                <a:solidFill>
                  <a:srgbClr val="168B85"/>
                </a:solidFill>
                <a:latin typeface="Helvetica Neue"/>
                <a:ea typeface="Helvetica Neue"/>
                <a:cs typeface="Helvetica Neue"/>
              </a:rPr>
              <a:t>68</a:t>
            </a:r>
          </a:p>
        </p:txBody>
      </p:sp>
      <p:sp>
        <p:nvSpPr>
          <p:cNvPr id="11" name="">
            <a:extLst xmlns:a="http://schemas.openxmlformats.org/drawingml/2006/main">
              <a:ext uri="{FF2B5EF4-FFF2-40B4-BE49-F238E27FC236}">
                <a16:creationId xmlns:a16="http://schemas.microsoft.com/office/drawing/2014/main" id="{5E4FA07A-3AD2-4DF9-A2C0-2BDDCF24D838}"/>
              </a:ext>
            </a:extLst>
          </p:cNvPr>
          <p:cNvSpPr>
            <a:spLocks xmlns:a="http://schemas.openxmlformats.org/drawingml/2006/main" noGrp="1"/>
          </p:cNvSpPr>
          <p:nvPr/>
        </p:nvSpPr>
        <p:spPr>
          <a:xfrm xmlns:a="http://schemas.openxmlformats.org/drawingml/2006/main">
            <a:off x="9620250" y="41529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417"/>
          </a:bodyPr>
          <a:lstStyle xmlns:a="http://schemas.openxmlformats.org/drawingml/2006/main"/>
          <a:p xmlns:a="http://schemas.openxmlformats.org/drawingml/2006/main">
            <a:pPr algn="ctr">
              <a:defRPr sz="1200" b="1">
                <a:solidFill>
                  <a:srgbClr val="6B7B8C"/>
                </a:solidFill>
                <a:latin typeface="Helvetica Neue"/>
                <a:ea typeface="Helvetica Neue"/>
                <a:cs typeface="Helvetica Neue"/>
              </a:defRPr>
            </a:pPr>
            <a:r>
              <a:rPr sz="1200" b="1">
                <a:solidFill>
                  <a:srgbClr val="6B7B8C"/>
                </a:solidFill>
                <a:latin typeface="Helvetica Neue"/>
                <a:ea typeface="Helvetica Neue"/>
                <a:cs typeface="Helvetica Neue"/>
              </a:rPr>
              <a:t>TRY 4</a:t>
            </a:r>
          </a:p>
        </p:txBody>
      </p:sp>
      <p:sp>
        <p:nvSpPr>
          <p:cNvPr id="12" name="">
            <a:extLst xmlns:a="http://schemas.openxmlformats.org/drawingml/2006/main">
              <a:ext uri="{FF2B5EF4-FFF2-40B4-BE49-F238E27FC236}">
                <a16:creationId xmlns:a16="http://schemas.microsoft.com/office/drawing/2014/main" id="{22BB6D07-D60E-4408-8DD4-67FB08EEED78}"/>
              </a:ext>
            </a:extLst>
          </p:cNvPr>
          <p:cNvSpPr>
            <a:spLocks xmlns:a="http://schemas.openxmlformats.org/drawingml/2006/main" noGrp="1"/>
          </p:cNvSpPr>
          <p:nvPr/>
        </p:nvSpPr>
        <p:spPr>
          <a:xfrm xmlns:a="http://schemas.openxmlformats.org/drawingml/2006/main">
            <a:off x="9477375" y="4838700"/>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947"/>
          </a:bodyPr>
          <a:lstStyle xmlns:a="http://schemas.openxmlformats.org/drawingml/2006/main"/>
          <a:p xmlns:a="http://schemas.openxmlformats.org/drawingml/2006/main">
            <a:pPr algn="ctr">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Safer restraint lowered the action score while improving the investigation's integrity.</a:t>
            </a:r>
          </a:p>
        </p:txBody>
      </p:sp>
    </p:spTree>
    <p:extLst>
      <p:ext uri="{BB962C8B-B14F-4D97-AF65-F5344CB8AC3E}">
        <p14:creationId xmlns:p14="http://schemas.microsoft.com/office/powerpoint/2010/main" val="235853587"/>
      </p:ext>
    </p:extLst>
  </p:cSld>
</p:sld>
</file>

<file path=ppt/slides/slide1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AE0C6A5-5175-4E86-8EDE-90DBD204AC94}"/>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Try 4 produced a developing causal board</a:t>
            </a:r>
          </a:p>
        </p:txBody>
      </p:sp>
      <p:sp>
        <p:nvSpPr>
          <p:cNvPr id="2" name="">
            <a:extLst xmlns:a="http://schemas.openxmlformats.org/drawingml/2006/main">
              <a:ext uri="{FF2B5EF4-FFF2-40B4-BE49-F238E27FC236}">
                <a16:creationId xmlns:a16="http://schemas.microsoft.com/office/drawing/2014/main" id="{732B4CE0-709C-41F5-BA27-8DD13494AEC3}"/>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model proposed forward hypotheses. Verification kept the board at initial maturity.</a:t>
            </a:r>
          </a:p>
        </p:txBody>
      </p:sp>
      <p:sp>
        <p:nvSpPr>
          <p:cNvPr id="3" name="">
            <a:extLst xmlns:a="http://schemas.openxmlformats.org/drawingml/2006/main">
              <a:ext uri="{FF2B5EF4-FFF2-40B4-BE49-F238E27FC236}">
                <a16:creationId xmlns:a16="http://schemas.microsoft.com/office/drawing/2014/main" id="{1FFEEADD-7A31-4321-BECB-F205D499746F}"/>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BC52E31-2B42-4423-B394-B5EB5587559B}"/>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 Try 4 qwen causal board and verification findings</a:t>
            </a:r>
          </a:p>
        </p:txBody>
      </p:sp>
      <p:sp>
        <p:nvSpPr>
          <p:cNvPr id="5" name="">
            <a:extLst xmlns:a="http://schemas.openxmlformats.org/drawingml/2006/main">
              <a:ext uri="{FF2B5EF4-FFF2-40B4-BE49-F238E27FC236}">
                <a16:creationId xmlns:a16="http://schemas.microsoft.com/office/drawing/2014/main" id="{291A5B7E-68C5-418D-BF83-57118378D338}"/>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2791271F-1590-4CD0-BF22-3FA16189A766}"/>
              </a:ext>
            </a:extLst>
          </p:cNvPr>
          <p:cNvSpPr>
            <a:spLocks xmlns:a="http://schemas.openxmlformats.org/drawingml/2006/main" noGrp="1"/>
          </p:cNvSpPr>
          <p:nvPr/>
        </p:nvSpPr>
        <p:spPr>
          <a:xfrm xmlns:a="http://schemas.openxmlformats.org/drawingml/2006/main">
            <a:off x="590550" y="1809750"/>
            <a:ext cx="1924050" cy="723900"/>
          </a:xfrm>
          <a:prstGeom xmlns:a="http://schemas.openxmlformats.org/drawingml/2006/main" prst="roundRect">
            <a:avLst>
              <a:gd name="adj" fmla="val 10526"/>
            </a:avLst>
          </a:prstGeom>
          <a:solidFill xmlns:a="http://schemas.openxmlformats.org/drawingml/2006/main">
            <a:srgbClr val="DCE9F4"/>
          </a:solidFill>
          <a:ln xmlns:a="http://schemas.openxmlformats.org/drawingml/2006/main" w="9525">
            <a:solidFill>
              <a:srgbClr val="3377B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Balance left raised</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with rolls removed</a:t>
            </a:r>
          </a:p>
        </p:txBody>
      </p:sp>
      <p:sp>
        <p:nvSpPr>
          <p:cNvPr id="7" name="">
            <a:extLst xmlns:a="http://schemas.openxmlformats.org/drawingml/2006/main">
              <a:ext uri="{FF2B5EF4-FFF2-40B4-BE49-F238E27FC236}">
                <a16:creationId xmlns:a16="http://schemas.microsoft.com/office/drawing/2014/main" id="{7E94EA6B-8A0A-4434-9D45-822D322FD43D}"/>
              </a:ext>
            </a:extLst>
          </p:cNvPr>
          <p:cNvSpPr>
            <a:spLocks xmlns:a="http://schemas.openxmlformats.org/drawingml/2006/main" noGrp="1"/>
          </p:cNvSpPr>
          <p:nvPr/>
        </p:nvSpPr>
        <p:spPr>
          <a:xfrm xmlns:a="http://schemas.openxmlformats.org/drawingml/2006/main">
            <a:off x="590550" y="2990850"/>
            <a:ext cx="1924050" cy="723900"/>
          </a:xfrm>
          <a:prstGeom xmlns:a="http://schemas.openxmlformats.org/drawingml/2006/main" prst="roundRect">
            <a:avLst>
              <a:gd name="adj" fmla="val 10526"/>
            </a:avLst>
          </a:prstGeom>
          <a:solidFill xmlns:a="http://schemas.openxmlformats.org/drawingml/2006/main">
            <a:srgbClr val="DCE9F4"/>
          </a:solidFill>
          <a:ln xmlns:a="http://schemas.openxmlformats.org/drawingml/2006/main" w="9525">
            <a:solidFill>
              <a:srgbClr val="3377B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B hydraulics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isolated and bled</a:t>
            </a:r>
          </a:p>
        </p:txBody>
      </p:sp>
      <p:sp>
        <p:nvSpPr>
          <p:cNvPr id="8" name="">
            <a:extLst xmlns:a="http://schemas.openxmlformats.org/drawingml/2006/main">
              <a:ext uri="{FF2B5EF4-FFF2-40B4-BE49-F238E27FC236}">
                <a16:creationId xmlns:a16="http://schemas.microsoft.com/office/drawing/2014/main" id="{2AEADB9A-FFEC-4BF6-ACAD-089DE4B2BD12}"/>
              </a:ext>
            </a:extLst>
          </p:cNvPr>
          <p:cNvSpPr>
            <a:spLocks xmlns:a="http://schemas.openxmlformats.org/drawingml/2006/main" noGrp="1"/>
          </p:cNvSpPr>
          <p:nvPr/>
        </p:nvSpPr>
        <p:spPr>
          <a:xfrm xmlns:a="http://schemas.openxmlformats.org/drawingml/2006/main">
            <a:off x="590550" y="4171950"/>
            <a:ext cx="1924050" cy="819150"/>
          </a:xfrm>
          <a:prstGeom xmlns:a="http://schemas.openxmlformats.org/drawingml/2006/main" prst="roundRect">
            <a:avLst>
              <a:gd name="adj" fmla="val 9302"/>
            </a:avLst>
          </a:prstGeom>
          <a:solidFill xmlns:a="http://schemas.openxmlformats.org/drawingml/2006/main">
            <a:srgbClr val="F7E5BE"/>
          </a:solidFill>
          <a:ln xmlns:a="http://schemas.openxmlformats.org/drawingml/2006/main" w="9525">
            <a:solidFill>
              <a:srgbClr val="E5A32D"/>
            </a:solidFill>
            <a:prstDash val="solid"/>
          </a:ln>
        </p:spPr>
        <p:txBody>
          <a:bodyPr xmlns:a="http://schemas.openxmlformats.org/drawingml/2006/main">
            <a:normAutofit fontScale="83002"/>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Gravity-control field blank</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No independent signature</a:t>
            </a:r>
          </a:p>
        </p:txBody>
      </p:sp>
      <p:sp>
        <p:nvSpPr>
          <p:cNvPr id="9" name="">
            <a:extLst xmlns:a="http://schemas.openxmlformats.org/drawingml/2006/main">
              <a:ext uri="{FF2B5EF4-FFF2-40B4-BE49-F238E27FC236}">
                <a16:creationId xmlns:a16="http://schemas.microsoft.com/office/drawing/2014/main" id="{17F8255A-01A8-4513-A596-C4B457B9B7BF}"/>
              </a:ext>
            </a:extLst>
          </p:cNvPr>
          <p:cNvSpPr>
            <a:spLocks xmlns:a="http://schemas.openxmlformats.org/drawingml/2006/main" noGrp="1"/>
          </p:cNvSpPr>
          <p:nvPr/>
        </p:nvSpPr>
        <p:spPr>
          <a:xfrm xmlns:a="http://schemas.openxmlformats.org/drawingml/2006/main">
            <a:off x="3714750" y="2667000"/>
            <a:ext cx="2324100" cy="895350"/>
          </a:xfrm>
          <a:prstGeom xmlns:a="http://schemas.openxmlformats.org/drawingml/2006/main" prst="roundRect">
            <a:avLst>
              <a:gd name="adj" fmla="val 8511"/>
            </a:avLst>
          </a:prstGeom>
          <a:solidFill xmlns:a="http://schemas.openxmlformats.org/drawingml/2006/main">
            <a:srgbClr val="F7E5BE"/>
          </a:solidFill>
          <a:ln xmlns:a="http://schemas.openxmlformats.org/drawingml/2006/main" w="9525">
            <a:solidFill>
              <a:srgbClr val="E5A32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Suspected loss of positive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mechanical restraint</a:t>
            </a:r>
          </a:p>
        </p:txBody>
      </p:sp>
      <p:sp>
        <p:nvSpPr>
          <p:cNvPr id="10" name="">
            <a:extLst xmlns:a="http://schemas.openxmlformats.org/drawingml/2006/main">
              <a:ext uri="{FF2B5EF4-FFF2-40B4-BE49-F238E27FC236}">
                <a16:creationId xmlns:a16="http://schemas.microsoft.com/office/drawing/2014/main" id="{CA513C64-E5D7-40F9-9079-CB9A53B6E6C5}"/>
              </a:ext>
            </a:extLst>
          </p:cNvPr>
          <p:cNvSpPr>
            <a:spLocks xmlns:a="http://schemas.openxmlformats.org/drawingml/2006/main" noGrp="1"/>
          </p:cNvSpPr>
          <p:nvPr/>
        </p:nvSpPr>
        <p:spPr>
          <a:xfrm xmlns:a="http://schemas.openxmlformats.org/drawingml/2006/main">
            <a:off x="7219950" y="2667000"/>
            <a:ext cx="2133600" cy="895350"/>
          </a:xfrm>
          <a:prstGeom xmlns:a="http://schemas.openxmlformats.org/drawingml/2006/main" prst="roundRect">
            <a:avLst>
              <a:gd name="adj" fmla="val 8511"/>
            </a:avLst>
          </a:prstGeom>
          <a:solidFill xmlns:a="http://schemas.openxmlformats.org/drawingml/2006/main">
            <a:srgbClr val="F3DAD7"/>
          </a:solidFill>
          <a:ln xmlns:a="http://schemas.openxmlformats.org/drawingml/2006/main" w="9525">
            <a:solidFill>
              <a:srgbClr val="C9564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Carrier beam falls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into R3 mill pit</a:t>
            </a:r>
          </a:p>
        </p:txBody>
      </p:sp>
      <p:cxnSp>
        <p:nvCxnSpPr>
          <p:cNvPr id="30" name=""/>
          <p:cNvCxnSpPr>
            <a:stCxn xmlns:a="http://schemas.openxmlformats.org/drawingml/2006/main" id="6" idx="3"/>
            <a:endCxn xmlns:a="http://schemas.openxmlformats.org/drawingml/2006/main" id="9" idx="1"/>
          </p:cNvCxnSpPr>
          <p:nvPr/>
        </p:nvCxnSpPr>
        <p:spPr>
          <a:xfrm xmlns:a="http://schemas.openxmlformats.org/drawingml/2006/main">
            <a:off x="2514600" y="2171700"/>
            <a:ext cx="1200150" cy="942975"/>
          </a:xfrm>
          <a:prstGeom xmlns:a="http://schemas.openxmlformats.org/drawingml/2006/main" prst="bentConnector3">
            <a:avLst>
              <a:gd name="adj1" fmla="val 50000"/>
            </a:avLst>
          </a:prstGeom>
          <a:ln xmlns:a="http://schemas.openxmlformats.org/drawingml/2006/main" w="19050">
            <a:solidFill>
              <a:srgbClr val="425466"/>
            </a:solidFill>
            <a:prstDash val="dash"/>
            <a:tailEnd type="arrow" w="med" len="med"/>
          </a:ln>
        </p:spPr>
      </p:cxnSp>
      <p:cxnSp>
        <p:nvCxnSpPr>
          <p:cNvPr id="31" name=""/>
          <p:cNvCxnSpPr>
            <a:stCxn xmlns:a="http://schemas.openxmlformats.org/drawingml/2006/main" id="7" idx="3"/>
            <a:endCxn xmlns:a="http://schemas.openxmlformats.org/drawingml/2006/main" id="9" idx="1"/>
          </p:cNvCxnSpPr>
          <p:nvPr/>
        </p:nvCxnSpPr>
        <p:spPr>
          <a:xfrm xmlns:a="http://schemas.openxmlformats.org/drawingml/2006/main" flipV="1">
            <a:off x="2514600" y="3114675"/>
            <a:ext cx="1200150" cy="238125"/>
          </a:xfrm>
          <a:prstGeom xmlns:a="http://schemas.openxmlformats.org/drawingml/2006/main" prst="bentConnector3">
            <a:avLst>
              <a:gd name="adj1" fmla="val 50000"/>
            </a:avLst>
          </a:prstGeom>
          <a:ln xmlns:a="http://schemas.openxmlformats.org/drawingml/2006/main" w="19050">
            <a:solidFill>
              <a:srgbClr val="425466"/>
            </a:solidFill>
            <a:prstDash val="dash"/>
            <a:tailEnd type="arrow" w="med" len="med"/>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flipV="1">
            <a:off x="2514600" y="3114675"/>
            <a:ext cx="1200150" cy="1466850"/>
          </a:xfrm>
          <a:prstGeom xmlns:a="http://schemas.openxmlformats.org/drawingml/2006/main" prst="bentConnector3">
            <a:avLst>
              <a:gd name="adj1" fmla="val 50000"/>
            </a:avLst>
          </a:prstGeom>
          <a:ln xmlns:a="http://schemas.openxmlformats.org/drawingml/2006/main" w="19050">
            <a:solidFill>
              <a:srgbClr val="425466"/>
            </a:solidFill>
            <a:prstDash val="dash"/>
            <a:tailEnd type="arrow" w="med" len="med"/>
          </a:ln>
        </p:spPr>
      </p:cxnSp>
      <p:cxnSp>
        <p:nvCxnSpPr>
          <p:cNvPr id="33" name=""/>
          <p:cNvCxnSpPr>
            <a:stCxn xmlns:a="http://schemas.openxmlformats.org/drawingml/2006/main" id="9" idx="3"/>
            <a:endCxn xmlns:a="http://schemas.openxmlformats.org/drawingml/2006/main" id="10" idx="1"/>
          </p:cNvCxnSpPr>
          <p:nvPr/>
        </p:nvCxnSpPr>
        <p:spPr>
          <a:xfrm xmlns:a="http://schemas.openxmlformats.org/drawingml/2006/main">
            <a:off x="6038850" y="3114675"/>
            <a:ext cx="1181100" cy="0"/>
          </a:xfrm>
          <a:prstGeom xmlns:a="http://schemas.openxmlformats.org/drawingml/2006/main" prst="straightConnector1">
            <a:avLst/>
          </a:prstGeom>
          <a:ln xmlns:a="http://schemas.openxmlformats.org/drawingml/2006/main" w="19050">
            <a:solidFill>
              <a:srgbClr val="C9564D"/>
            </a:solidFill>
            <a:prstDash val="dash"/>
            <a:tailEnd type="arrow" w="med" len="med"/>
          </a:ln>
        </p:spPr>
      </p:cxnSp>
      <p:sp>
        <p:nvSpPr>
          <p:cNvPr id="15" name="">
            <a:extLst xmlns:a="http://schemas.openxmlformats.org/drawingml/2006/main">
              <a:ext uri="{FF2B5EF4-FFF2-40B4-BE49-F238E27FC236}">
                <a16:creationId xmlns:a16="http://schemas.microsoft.com/office/drawing/2014/main" id="{B104D2BE-8CB5-4672-BDF5-7EE3EAF60C63}"/>
              </a:ext>
            </a:extLst>
          </p:cNvPr>
          <p:cNvSpPr>
            <a:spLocks xmlns:a="http://schemas.openxmlformats.org/drawingml/2006/main" noGrp="1"/>
          </p:cNvSpPr>
          <p:nvPr/>
        </p:nvSpPr>
        <p:spPr>
          <a:xfrm xmlns:a="http://schemas.openxmlformats.org/drawingml/2006/main">
            <a:off x="9620250" y="1714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2107"/>
          </a:bodyPr>
          <a:lstStyle xmlns:a="http://schemas.openxmlformats.org/drawingml/2006/main"/>
          <a:p xmlns:a="http://schemas.openxmlformats.org/drawingml/2006/main">
            <a:pPr algn="l">
              <a:defRPr sz="1575" b="1">
                <a:solidFill>
                  <a:srgbClr val="C9564D"/>
                </a:solidFill>
                <a:latin typeface="Helvetica Neue"/>
                <a:ea typeface="Helvetica Neue"/>
                <a:cs typeface="Helvetica Neue"/>
              </a:defRPr>
            </a:pPr>
            <a:r>
              <a:rPr sz="1575" b="1">
                <a:solidFill>
                  <a:srgbClr val="C9564D"/>
                </a:solidFill>
                <a:latin typeface="Helvetica Neue"/>
                <a:ea typeface="Helvetica Neue"/>
                <a:cs typeface="Helvetica Neue"/>
              </a:rPr>
              <a:t>Six blocking findings</a:t>
            </a:r>
          </a:p>
        </p:txBody>
      </p:sp>
      <p:sp>
        <p:nvSpPr>
          <p:cNvPr id="16" name="">
            <a:extLst xmlns:a="http://schemas.openxmlformats.org/drawingml/2006/main">
              <a:ext uri="{FF2B5EF4-FFF2-40B4-BE49-F238E27FC236}">
                <a16:creationId xmlns:a16="http://schemas.microsoft.com/office/drawing/2014/main" id="{479D41BE-D66E-41C7-AA51-8C248EEC43F6}"/>
              </a:ext>
            </a:extLst>
          </p:cNvPr>
          <p:cNvSpPr>
            <a:spLocks xmlns:a="http://schemas.openxmlformats.org/drawingml/2006/main" noGrp="1"/>
          </p:cNvSpPr>
          <p:nvPr/>
        </p:nvSpPr>
        <p:spPr>
          <a:xfrm xmlns:a="http://schemas.openxmlformats.org/drawingml/2006/main">
            <a:off x="9620250" y="2171700"/>
            <a:ext cx="1885950" cy="2876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08"/>
          </a:bodyPr>
          <a:lstStyle xmlns:a="http://schemas.openxmlformats.org/drawingml/2006/main"/>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Keeper function</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Required restraint design</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Temporary supports</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Pre-event configuration</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Anonymous note provenance</a:t>
            </a:r>
          </a:p>
          <a:p xmlns:a="http://schemas.openxmlformats.org/drawingml/2006/main">
            <a:r>
              <a:t/>
            </a:r>
          </a:p>
          <a:p xmlns:a="http://schemas.openxmlformats.org/drawingml/2006/main">
            <a:pPr algn="l">
              <a:defRPr sz="1350" b="0">
                <a:solidFill>
                  <a:srgbClr val="425466"/>
                </a:solidFill>
                <a:latin typeface="Helvetica Neue"/>
                <a:ea typeface="Helvetica Neue"/>
                <a:cs typeface="Helvetica Neue"/>
              </a:defRPr>
            </a:pPr>
            <a:r>
              <a:rPr sz="1350" b="0">
                <a:solidFill>
                  <a:srgbClr val="425466"/>
                </a:solidFill>
                <a:latin typeface="Helvetica Neue"/>
                <a:ea typeface="Helvetica Neue"/>
                <a:cs typeface="Helvetica Neue"/>
              </a:rPr>
              <a:t>R3 versus other stands</a:t>
            </a:r>
          </a:p>
        </p:txBody>
      </p:sp>
      <p:sp>
        <p:nvSpPr>
          <p:cNvPr id="17" name="">
            <a:extLst xmlns:a="http://schemas.openxmlformats.org/drawingml/2006/main">
              <a:ext uri="{FF2B5EF4-FFF2-40B4-BE49-F238E27FC236}">
                <a16:creationId xmlns:a16="http://schemas.microsoft.com/office/drawing/2014/main" id="{603A5010-7134-46CA-836B-1BBC75FF0BFC}"/>
              </a:ext>
            </a:extLst>
          </p:cNvPr>
          <p:cNvSpPr>
            <a:spLocks xmlns:a="http://schemas.openxmlformats.org/drawingml/2006/main" noGrp="1"/>
          </p:cNvSpPr>
          <p:nvPr/>
        </p:nvSpPr>
        <p:spPr>
          <a:xfrm xmlns:a="http://schemas.openxmlformats.org/drawingml/2006/main">
            <a:off x="3714750" y="4000500"/>
            <a:ext cx="5638800" cy="19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6477DE7-F76F-4522-A0E4-3591F28656B2}"/>
              </a:ext>
            </a:extLst>
          </p:cNvPr>
          <p:cNvSpPr>
            <a:spLocks xmlns:a="http://schemas.openxmlformats.org/drawingml/2006/main" noGrp="1"/>
          </p:cNvSpPr>
          <p:nvPr/>
        </p:nvSpPr>
        <p:spPr>
          <a:xfrm xmlns:a="http://schemas.openxmlformats.org/drawingml/2006/main">
            <a:off x="3714750" y="4248150"/>
            <a:ext cx="5638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10263C"/>
                </a:solidFill>
                <a:latin typeface="Helvetica Neue"/>
                <a:ea typeface="Helvetica Neue"/>
                <a:cs typeface="Helvetica Neue"/>
              </a:defRPr>
            </a:pPr>
            <a:r>
              <a:rPr sz="1650" b="1">
                <a:solidFill>
                  <a:srgbClr val="10263C"/>
                </a:solidFill>
                <a:latin typeface="Helvetica Neue"/>
                <a:ea typeface="Helvetica Neue"/>
                <a:cs typeface="Helvetica Neue"/>
              </a:rPr>
              <a:t>Every displayed connection remains a hypothesis until the missing design and execution evidence discriminates it from alternatives.</a:t>
            </a:r>
          </a:p>
        </p:txBody>
      </p:sp>
      <p:sp>
        <p:nvSpPr>
          <p:cNvPr id="19" name="">
            <a:extLst xmlns:a="http://schemas.openxmlformats.org/drawingml/2006/main">
              <a:ext uri="{FF2B5EF4-FFF2-40B4-BE49-F238E27FC236}">
                <a16:creationId xmlns:a16="http://schemas.microsoft.com/office/drawing/2014/main" id="{C382C05E-E61F-4A91-93E1-6784CC2FFD3E}"/>
              </a:ext>
            </a:extLst>
          </p:cNvPr>
          <p:cNvSpPr>
            <a:spLocks xmlns:a="http://schemas.openxmlformats.org/drawingml/2006/main" noGrp="1"/>
          </p:cNvSpPr>
          <p:nvPr/>
        </p:nvSpPr>
        <p:spPr>
          <a:xfrm xmlns:a="http://schemas.openxmlformats.org/drawingml/2006/main">
            <a:off x="4171950" y="5505450"/>
            <a:ext cx="4714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436"/>
          </a:bodyPr>
          <a:lstStyle xmlns:a="http://schemas.openxmlformats.org/drawingml/2006/main"/>
          <a:p xmlns:a="http://schemas.openxmlformats.org/drawingml/2006/main">
            <a:pPr algn="ctr">
              <a:defRPr sz="1950" b="1">
                <a:solidFill>
                  <a:srgbClr val="C9564D"/>
                </a:solidFill>
                <a:latin typeface="Helvetica Neue"/>
                <a:ea typeface="Helvetica Neue"/>
                <a:cs typeface="Helvetica Neue"/>
              </a:defRPr>
            </a:pPr>
            <a:r>
              <a:rPr sz="1950" b="1">
                <a:solidFill>
                  <a:srgbClr val="C9564D"/>
                </a:solidFill>
                <a:latin typeface="Helvetica Neue"/>
                <a:ea typeface="Helvetica Neue"/>
                <a:cs typeface="Helvetica Neue"/>
              </a:rPr>
              <a:t>Corrective actions stayed blocked</a:t>
            </a:r>
          </a:p>
        </p:txBody>
      </p:sp>
    </p:spTree>
    <p:extLst>
      <p:ext uri="{BB962C8B-B14F-4D97-AF65-F5344CB8AC3E}">
        <p14:creationId xmlns:p14="http://schemas.microsoft.com/office/powerpoint/2010/main" val="1035939772"/>
      </p:ext>
    </p:extLst>
  </p:cSld>
</p:sld>
</file>

<file path=ppt/slides/slide1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35C4427-A974-4420-9BEC-F5D9784E0A55}"/>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The current test cannot establish a final root cause</a:t>
            </a:r>
          </a:p>
        </p:txBody>
      </p:sp>
      <p:sp>
        <p:nvSpPr>
          <p:cNvPr id="2" name="">
            <a:extLst xmlns:a="http://schemas.openxmlformats.org/drawingml/2006/main">
              <a:ext uri="{FF2B5EF4-FFF2-40B4-BE49-F238E27FC236}">
                <a16:creationId xmlns:a16="http://schemas.microsoft.com/office/drawing/2014/main" id="{640D7D66-B48B-4D60-A72C-5D8755585D4A}"/>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method can find good questions and hypotheses, but the evidence package cannot prove the physical mechanism.</a:t>
            </a:r>
          </a:p>
        </p:txBody>
      </p:sp>
      <p:sp>
        <p:nvSpPr>
          <p:cNvPr id="3" name="">
            <a:extLst xmlns:a="http://schemas.openxmlformats.org/drawingml/2006/main">
              <a:ext uri="{FF2B5EF4-FFF2-40B4-BE49-F238E27FC236}">
                <a16:creationId xmlns:a16="http://schemas.microsoft.com/office/drawing/2014/main" id="{00B3F11F-11AC-4451-B7EB-B7FAF771C814}"/>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0AA7E14-56FB-4D9A-869D-2380F2AA6955}"/>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Sources: Try 4 qwen verification findings and post-run evaluation</a:t>
            </a:r>
          </a:p>
        </p:txBody>
      </p:sp>
      <p:sp>
        <p:nvSpPr>
          <p:cNvPr id="5" name="">
            <a:extLst xmlns:a="http://schemas.openxmlformats.org/drawingml/2006/main">
              <a:ext uri="{FF2B5EF4-FFF2-40B4-BE49-F238E27FC236}">
                <a16:creationId xmlns:a16="http://schemas.microsoft.com/office/drawing/2014/main" id="{AD83C957-205E-418F-BB1C-F0E3972C3AEA}"/>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14</a:t>
            </a:r>
          </a:p>
        </p:txBody>
      </p:sp>
      <p:sp>
        <p:nvSpPr>
          <p:cNvPr id="6" name="">
            <a:extLst xmlns:a="http://schemas.openxmlformats.org/drawingml/2006/main">
              <a:ext uri="{FF2B5EF4-FFF2-40B4-BE49-F238E27FC236}">
                <a16:creationId xmlns:a16="http://schemas.microsoft.com/office/drawing/2014/main" id="{F2DBC831-EF03-4FF5-AF7E-3B26F1953178}"/>
              </a:ext>
            </a:extLst>
          </p:cNvPr>
          <p:cNvSpPr>
            <a:spLocks xmlns:a="http://schemas.openxmlformats.org/drawingml/2006/main" noGrp="1"/>
          </p:cNvSpPr>
          <p:nvPr/>
        </p:nvSpPr>
        <p:spPr>
          <a:xfrm xmlns:a="http://schemas.openxmlformats.org/drawingml/2006/main">
            <a:off x="723900" y="1638300"/>
            <a:ext cx="76200" cy="209550"/>
          </a:xfrm>
          <a:prstGeom xmlns:a="http://schemas.openxmlformats.org/drawingml/2006/main" prst="rect">
            <a:avLst/>
          </a:prstGeom>
          <a:solidFill xmlns:a="http://schemas.openxmlformats.org/drawingml/2006/main">
            <a:srgbClr val="168B8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5E4630E-FB5D-447A-8620-DA870E8ED4A7}"/>
              </a:ext>
            </a:extLst>
          </p:cNvPr>
          <p:cNvSpPr>
            <a:spLocks xmlns:a="http://schemas.openxmlformats.org/drawingml/2006/main" noGrp="1"/>
          </p:cNvSpPr>
          <p:nvPr/>
        </p:nvSpPr>
        <p:spPr>
          <a:xfrm xmlns:a="http://schemas.openxmlformats.org/drawingml/2006/main">
            <a:off x="895350" y="1600200"/>
            <a:ext cx="430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WHAT THE PACKAGE ESTABLISHES</a:t>
            </a:r>
          </a:p>
        </p:txBody>
      </p:sp>
      <p:sp>
        <p:nvSpPr>
          <p:cNvPr id="8" name="">
            <a:extLst xmlns:a="http://schemas.openxmlformats.org/drawingml/2006/main">
              <a:ext uri="{FF2B5EF4-FFF2-40B4-BE49-F238E27FC236}">
                <a16:creationId xmlns:a16="http://schemas.microsoft.com/office/drawing/2014/main" id="{3FAF62AB-CD31-4C2B-B204-CC86661A4FCD}"/>
              </a:ext>
            </a:extLst>
          </p:cNvPr>
          <p:cNvSpPr>
            <a:spLocks xmlns:a="http://schemas.openxmlformats.org/drawingml/2006/main" noGrp="1"/>
          </p:cNvSpPr>
          <p:nvPr/>
        </p:nvSpPr>
        <p:spPr>
          <a:xfrm xmlns:a="http://schemas.openxmlformats.org/drawingml/2006/main">
            <a:off x="781050" y="2076450"/>
            <a:ext cx="43815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beam fell with the keeper present.</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rolls had been removed.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balance remained raised.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B hydraulics had been isolated and bled.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gravity-control record had gaps.</a:t>
            </a:r>
          </a:p>
        </p:txBody>
      </p:sp>
      <p:sp>
        <p:nvSpPr>
          <p:cNvPr id="9" name="">
            <a:extLst xmlns:a="http://schemas.openxmlformats.org/drawingml/2006/main">
              <a:ext uri="{FF2B5EF4-FFF2-40B4-BE49-F238E27FC236}">
                <a16:creationId xmlns:a16="http://schemas.microsoft.com/office/drawing/2014/main" id="{4DC8B861-74AA-49A5-AC32-2CDDC4CCDF2A}"/>
              </a:ext>
            </a:extLst>
          </p:cNvPr>
          <p:cNvSpPr>
            <a:spLocks xmlns:a="http://schemas.openxmlformats.org/drawingml/2006/main" noGrp="1"/>
          </p:cNvSpPr>
          <p:nvPr/>
        </p:nvSpPr>
        <p:spPr>
          <a:xfrm xmlns:a="http://schemas.openxmlformats.org/drawingml/2006/main">
            <a:off x="5619750" y="1581150"/>
            <a:ext cx="19050" cy="426720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FFC690A-303F-4C72-8A29-982FCF535164}"/>
              </a:ext>
            </a:extLst>
          </p:cNvPr>
          <p:cNvSpPr>
            <a:spLocks xmlns:a="http://schemas.openxmlformats.org/drawingml/2006/main" noGrp="1"/>
          </p:cNvSpPr>
          <p:nvPr/>
        </p:nvSpPr>
        <p:spPr>
          <a:xfrm xmlns:a="http://schemas.openxmlformats.org/drawingml/2006/main">
            <a:off x="6229350" y="1638300"/>
            <a:ext cx="76200" cy="209550"/>
          </a:xfrm>
          <a:prstGeom xmlns:a="http://schemas.openxmlformats.org/drawingml/2006/main" prst="rect">
            <a:avLst/>
          </a:prstGeom>
          <a:solidFill xmlns:a="http://schemas.openxmlformats.org/drawingml/2006/main">
            <a:srgbClr val="C9564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D3953DE-40CD-4376-AE99-3B17DD02719C}"/>
              </a:ext>
            </a:extLst>
          </p:cNvPr>
          <p:cNvSpPr>
            <a:spLocks xmlns:a="http://schemas.openxmlformats.org/drawingml/2006/main" noGrp="1"/>
          </p:cNvSpPr>
          <p:nvPr/>
        </p:nvSpPr>
        <p:spPr>
          <a:xfrm xmlns:a="http://schemas.openxmlformats.org/drawingml/2006/main">
            <a:off x="6400800" y="1600200"/>
            <a:ext cx="449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125" b="1">
                <a:solidFill>
                  <a:srgbClr val="425466"/>
                </a:solidFill>
                <a:latin typeface="Helvetica Neue"/>
                <a:ea typeface="Helvetica Neue"/>
                <a:cs typeface="Helvetica Neue"/>
              </a:defRPr>
            </a:pPr>
            <a:r>
              <a:rPr sz="1125" b="1">
                <a:solidFill>
                  <a:srgbClr val="425466"/>
                </a:solidFill>
                <a:latin typeface="Helvetica Neue"/>
                <a:ea typeface="Helvetica Neue"/>
                <a:cs typeface="Helvetica Neue"/>
              </a:rPr>
              <a:t>WHAT THE PACKAGE DOES NOT PROVE</a:t>
            </a:r>
          </a:p>
        </p:txBody>
      </p:sp>
      <p:sp>
        <p:nvSpPr>
          <p:cNvPr id="12" name="">
            <a:extLst xmlns:a="http://schemas.openxmlformats.org/drawingml/2006/main">
              <a:ext uri="{FF2B5EF4-FFF2-40B4-BE49-F238E27FC236}">
                <a16:creationId xmlns:a16="http://schemas.microsoft.com/office/drawing/2014/main" id="{36078D2A-D229-4854-86EC-FBCC08677BC2}"/>
              </a:ext>
            </a:extLst>
          </p:cNvPr>
          <p:cNvSpPr>
            <a:spLocks xmlns:a="http://schemas.openxmlformats.org/drawingml/2006/main" noGrp="1"/>
          </p:cNvSpPr>
          <p:nvPr/>
        </p:nvSpPr>
        <p:spPr>
          <a:xfrm xmlns:a="http://schemas.openxmlformats.org/drawingml/2006/main">
            <a:off x="6286500" y="2076450"/>
            <a:ext cx="47625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keeper's load-bearing function.</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required support or stopper arrangement.</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Whether supports were installed, removed, or failed.</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The exact release mechanism.</a:t>
            </a:r>
          </a:p>
          <a:p xmlns:a="http://schemas.openxmlformats.org/drawingml/2006/main">
            <a:r>
              <a:t/>
            </a:r>
          </a:p>
          <a:p xmlns:a="http://schemas.openxmlformats.org/drawingml/2006/main">
            <a:pPr algn="l">
              <a:defRPr sz="1725" b="0">
                <a:solidFill>
                  <a:srgbClr val="17212B"/>
                </a:solidFill>
                <a:latin typeface="Helvetica Neue"/>
                <a:ea typeface="Helvetica Neue"/>
                <a:cs typeface="Helvetica Neue"/>
              </a:defRPr>
            </a:pPr>
            <a:r>
              <a:rPr sz="1725" b="0">
                <a:solidFill>
                  <a:srgbClr val="17212B"/>
                </a:solidFill>
                <a:latin typeface="Helvetica Neue"/>
                <a:ea typeface="Helvetica Neue"/>
                <a:cs typeface="Helvetica Neue"/>
              </a:rPr>
              <a:t>Which procedural gap caused the physical failure.</a:t>
            </a:r>
          </a:p>
        </p:txBody>
      </p:sp>
      <p:sp>
        <p:nvSpPr>
          <p:cNvPr id="13" name="">
            <a:extLst xmlns:a="http://schemas.openxmlformats.org/drawingml/2006/main">
              <a:ext uri="{FF2B5EF4-FFF2-40B4-BE49-F238E27FC236}">
                <a16:creationId xmlns:a16="http://schemas.microsoft.com/office/drawing/2014/main" id="{1F05FD99-918A-4529-BE67-ADF511B4BE3A}"/>
              </a:ext>
            </a:extLst>
          </p:cNvPr>
          <p:cNvSpPr>
            <a:spLocks xmlns:a="http://schemas.openxmlformats.org/drawingml/2006/main" noGrp="1"/>
          </p:cNvSpPr>
          <p:nvPr/>
        </p:nvSpPr>
        <p:spPr>
          <a:xfrm xmlns:a="http://schemas.openxmlformats.org/drawingml/2006/main">
            <a:off x="2171700" y="5524500"/>
            <a:ext cx="784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948"/>
          </a:bodyPr>
          <a:lstStyle xmlns:a="http://schemas.openxmlformats.org/drawingml/2006/main"/>
          <a:p xmlns:a="http://schemas.openxmlformats.org/drawingml/2006/main">
            <a:pPr algn="ctr">
              <a:defRPr sz="2250" b="1">
                <a:solidFill>
                  <a:srgbClr val="10263C"/>
                </a:solidFill>
                <a:latin typeface="Helvetica Neue"/>
                <a:ea typeface="Helvetica Neue"/>
                <a:cs typeface="Helvetica Neue"/>
              </a:defRPr>
            </a:pPr>
            <a:r>
              <a:rPr sz="2250" b="1">
                <a:solidFill>
                  <a:srgbClr val="10263C"/>
                </a:solidFill>
                <a:latin typeface="Helvetica Neue"/>
                <a:ea typeface="Helvetica Neue"/>
                <a:cs typeface="Helvetica Neue"/>
              </a:rPr>
              <a:t>The test mixes model limitations with missing ground truth</a:t>
            </a:r>
          </a:p>
        </p:txBody>
      </p:sp>
    </p:spTree>
    <p:extLst>
      <p:ext uri="{BB962C8B-B14F-4D97-AF65-F5344CB8AC3E}">
        <p14:creationId xmlns:p14="http://schemas.microsoft.com/office/powerpoint/2010/main" val="1095877349"/>
      </p:ext>
    </p:extLst>
  </p:cSld>
</p:sld>
</file>

<file path=ppt/slides/slide1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B3EF570-F79A-48BF-B2DF-84FA58222198}"/>
              </a:ext>
            </a:extLst>
          </p:cNvPr>
          <p:cNvSpPr>
            <a:spLocks xmlns:a="http://schemas.openxmlformats.org/drawingml/2006/main" noGrp="1"/>
          </p:cNvSpPr>
          <p:nvPr/>
        </p:nvSpPr>
        <p:spPr>
          <a:xfrm xmlns:a="http://schemas.openxmlformats.org/drawingml/2006/main">
            <a:off x="609600" y="342900"/>
            <a:ext cx="1095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7368"/>
          </a:bodyPr>
          <a:lstStyle xmlns:a="http://schemas.openxmlformats.org/drawingml/2006/main"/>
          <a:p xmlns:a="http://schemas.openxmlformats.org/drawingml/2006/main">
            <a:pPr algn="l">
              <a:defRPr sz="2850" b="1">
                <a:solidFill>
                  <a:srgbClr val="10263C"/>
                </a:solidFill>
                <a:latin typeface="Helvetica Neue"/>
                <a:ea typeface="Helvetica Neue"/>
                <a:cs typeface="Helvetica Neue"/>
              </a:defRPr>
            </a:pPr>
            <a:r>
              <a:rPr sz="2850" b="1">
                <a:solidFill>
                  <a:srgbClr val="10263C"/>
                </a:solidFill>
                <a:latin typeface="Helvetica Neue"/>
                <a:ea typeface="Helvetica Neue"/>
                <a:cs typeface="Helvetica Neue"/>
              </a:rPr>
              <a:t>A partner RCA can create a valid ground-truth test</a:t>
            </a:r>
          </a:p>
        </p:txBody>
      </p:sp>
      <p:sp>
        <p:nvSpPr>
          <p:cNvPr id="2" name="">
            <a:extLst xmlns:a="http://schemas.openxmlformats.org/drawingml/2006/main">
              <a:ext uri="{FF2B5EF4-FFF2-40B4-BE49-F238E27FC236}">
                <a16:creationId xmlns:a16="http://schemas.microsoft.com/office/drawing/2014/main" id="{E749BB94-CD03-4032-B14E-433233602381}"/>
              </a:ext>
            </a:extLst>
          </p:cNvPr>
          <p:cNvSpPr>
            <a:spLocks xmlns:a="http://schemas.openxmlformats.org/drawingml/2006/main" noGrp="1"/>
          </p:cNvSpPr>
          <p:nvPr/>
        </p:nvSpPr>
        <p:spPr>
          <a:xfrm xmlns:a="http://schemas.openxmlformats.org/drawingml/2006/main">
            <a:off x="62865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lgn="l">
              <a:defRPr sz="1425" b="0">
                <a:solidFill>
                  <a:srgbClr val="6B7B8C"/>
                </a:solidFill>
                <a:latin typeface="Helvetica Neue"/>
                <a:ea typeface="Helvetica Neue"/>
                <a:cs typeface="Helvetica Neue"/>
              </a:defRPr>
            </a:pPr>
            <a:r>
              <a:rPr sz="1425" b="0">
                <a:solidFill>
                  <a:srgbClr val="6B7B8C"/>
                </a:solidFill>
                <a:latin typeface="Helvetica Neue"/>
                <a:ea typeface="Helvetica Neue"/>
                <a:cs typeface="Helvetica Neue"/>
              </a:rPr>
              <a:t>The completed RCA provides the answer key. Its underlying evidence provides the fair model input.</a:t>
            </a:r>
          </a:p>
        </p:txBody>
      </p:sp>
      <p:sp>
        <p:nvSpPr>
          <p:cNvPr id="3" name="">
            <a:extLst xmlns:a="http://schemas.openxmlformats.org/drawingml/2006/main">
              <a:ext uri="{FF2B5EF4-FFF2-40B4-BE49-F238E27FC236}">
                <a16:creationId xmlns:a16="http://schemas.microsoft.com/office/drawing/2014/main" id="{E90A236C-003D-4512-B338-270F17A31D4D}"/>
              </a:ext>
            </a:extLst>
          </p:cNvPr>
          <p:cNvSpPr>
            <a:spLocks xmlns:a="http://schemas.openxmlformats.org/drawingml/2006/main" noGrp="1"/>
          </p:cNvSpPr>
          <p:nvPr/>
        </p:nvSpPr>
        <p:spPr>
          <a:xfrm xmlns:a="http://schemas.openxmlformats.org/drawingml/2006/main">
            <a:off x="609600" y="1257300"/>
            <a:ext cx="10972800" cy="28575"/>
          </a:xfrm>
          <a:prstGeom xmlns:a="http://schemas.openxmlformats.org/drawingml/2006/main" prst="rect">
            <a:avLst/>
          </a:prstGeom>
          <a:solidFill xmlns:a="http://schemas.openxmlformats.org/drawingml/2006/main">
            <a:srgbClr val="E5A3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DBD6020-5471-49E7-87ED-305B2DA4D045}"/>
              </a:ext>
            </a:extLst>
          </p:cNvPr>
          <p:cNvSpPr>
            <a:spLocks xmlns:a="http://schemas.openxmlformats.org/drawingml/2006/main" noGrp="1"/>
          </p:cNvSpPr>
          <p:nvPr/>
        </p:nvSpPr>
        <p:spPr>
          <a:xfrm xmlns:a="http://schemas.openxmlformats.org/drawingml/2006/main">
            <a:off x="628650" y="6496050"/>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p xmlns:a="http://schemas.openxmlformats.org/drawingml/2006/main">
            <a:pPr algn="l">
              <a:defRPr sz="900" b="0">
                <a:solidFill>
                  <a:srgbClr val="6B7B8C"/>
                </a:solidFill>
                <a:latin typeface="Helvetica Neue"/>
                <a:ea typeface="Helvetica Neue"/>
                <a:cs typeface="Helvetica Neue"/>
              </a:defRPr>
            </a:pPr>
            <a:r>
              <a:rPr sz="900" b="0">
                <a:solidFill>
                  <a:srgbClr val="6B7B8C"/>
                </a:solidFill>
                <a:latin typeface="Helvetica Neue"/>
                <a:ea typeface="Helvetica Neue"/>
                <a:cs typeface="Helvetica Neue"/>
              </a:rPr>
              <a:t>Recommended validation design based on the current benchmark limitation</a:t>
            </a:r>
          </a:p>
        </p:txBody>
      </p:sp>
      <p:sp>
        <p:nvSpPr>
          <p:cNvPr id="5" name="">
            <a:extLst xmlns:a="http://schemas.openxmlformats.org/drawingml/2006/main">
              <a:ext uri="{FF2B5EF4-FFF2-40B4-BE49-F238E27FC236}">
                <a16:creationId xmlns:a16="http://schemas.microsoft.com/office/drawing/2014/main" id="{733A1A89-875E-4159-AC59-4F8E8783CE0D}"/>
              </a:ext>
            </a:extLst>
          </p:cNvPr>
          <p:cNvSpPr>
            <a:spLocks xmlns:a="http://schemas.openxmlformats.org/drawingml/2006/main" noGrp="1"/>
          </p:cNvSpPr>
          <p:nvPr/>
        </p:nvSpPr>
        <p:spPr>
          <a:xfrm xmlns:a="http://schemas.openxmlformats.org/drawingml/2006/main">
            <a:off x="11049000" y="6477000"/>
            <a:ext cx="53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p xmlns:a="http://schemas.openxmlformats.org/drawingml/2006/main">
            <a:pPr algn="r">
              <a:defRPr sz="1050" b="1">
                <a:solidFill>
                  <a:srgbClr val="425466"/>
                </a:solidFill>
                <a:latin typeface="Helvetica Neue"/>
                <a:ea typeface="Helvetica Neue"/>
                <a:cs typeface="Helvetica Neue"/>
              </a:defRPr>
            </a:pPr>
            <a:r>
              <a:rPr sz="1050" b="1">
                <a:solidFill>
                  <a:srgbClr val="425466"/>
                </a:solidFill>
                <a:latin typeface="Helvetica Neue"/>
                <a:ea typeface="Helvetica Neue"/>
                <a:cs typeface="Helvetica Neue"/>
              </a:rPr>
              <a:t>15</a:t>
            </a:r>
          </a:p>
        </p:txBody>
      </p:sp>
      <p:sp>
        <p:nvSpPr>
          <p:cNvPr id="6" name="">
            <a:extLst xmlns:a="http://schemas.openxmlformats.org/drawingml/2006/main">
              <a:ext uri="{FF2B5EF4-FFF2-40B4-BE49-F238E27FC236}">
                <a16:creationId xmlns:a16="http://schemas.microsoft.com/office/drawing/2014/main" id="{E346B9C5-D5D1-4084-9626-4071FE9F4B83}"/>
              </a:ext>
            </a:extLst>
          </p:cNvPr>
          <p:cNvSpPr>
            <a:spLocks xmlns:a="http://schemas.openxmlformats.org/drawingml/2006/main" noGrp="1"/>
          </p:cNvSpPr>
          <p:nvPr/>
        </p:nvSpPr>
        <p:spPr>
          <a:xfrm xmlns:a="http://schemas.openxmlformats.org/drawingml/2006/main">
            <a:off x="666750" y="1924050"/>
            <a:ext cx="2095500" cy="781050"/>
          </a:xfrm>
          <a:prstGeom xmlns:a="http://schemas.openxmlformats.org/drawingml/2006/main" prst="roundRect">
            <a:avLst>
              <a:gd name="adj" fmla="val 9756"/>
            </a:avLst>
          </a:prstGeom>
          <a:solidFill xmlns:a="http://schemas.openxmlformats.org/drawingml/2006/main">
            <a:srgbClr val="F7E5BE"/>
          </a:solidFill>
          <a:ln xmlns:a="http://schemas.openxmlformats.org/drawingml/2006/main" w="9525">
            <a:solidFill>
              <a:srgbClr val="E5A32D"/>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Partner's completed RCA</a:t>
            </a:r>
          </a:p>
        </p:txBody>
      </p:sp>
      <p:sp>
        <p:nvSpPr>
          <p:cNvPr id="7" name="">
            <a:extLst xmlns:a="http://schemas.openxmlformats.org/drawingml/2006/main">
              <a:ext uri="{FF2B5EF4-FFF2-40B4-BE49-F238E27FC236}">
                <a16:creationId xmlns:a16="http://schemas.microsoft.com/office/drawing/2014/main" id="{E0E96B91-F9E1-4BA6-AAEF-8C856D054C77}"/>
              </a:ext>
            </a:extLst>
          </p:cNvPr>
          <p:cNvSpPr>
            <a:spLocks xmlns:a="http://schemas.openxmlformats.org/drawingml/2006/main" noGrp="1"/>
          </p:cNvSpPr>
          <p:nvPr/>
        </p:nvSpPr>
        <p:spPr>
          <a:xfrm xmlns:a="http://schemas.openxmlformats.org/drawingml/2006/main">
            <a:off x="3524250" y="1924050"/>
            <a:ext cx="2381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93153"/>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Identify accepted sequence,</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mechanism, barriers, and causes</a:t>
            </a:r>
          </a:p>
        </p:txBody>
      </p:sp>
      <p:sp>
        <p:nvSpPr>
          <p:cNvPr id="8" name="">
            <a:extLst xmlns:a="http://schemas.openxmlformats.org/drawingml/2006/main">
              <a:ext uri="{FF2B5EF4-FFF2-40B4-BE49-F238E27FC236}">
                <a16:creationId xmlns:a16="http://schemas.microsoft.com/office/drawing/2014/main" id="{DCEFD512-1B14-4EE4-9806-F06A8996470F}"/>
              </a:ext>
            </a:extLst>
          </p:cNvPr>
          <p:cNvSpPr>
            <a:spLocks xmlns:a="http://schemas.openxmlformats.org/drawingml/2006/main" noGrp="1"/>
          </p:cNvSpPr>
          <p:nvPr/>
        </p:nvSpPr>
        <p:spPr>
          <a:xfrm xmlns:a="http://schemas.openxmlformats.org/drawingml/2006/main">
            <a:off x="6667500" y="1924050"/>
            <a:ext cx="2381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CD3D9"/>
            </a:solidFill>
            <a:prstDash val="solid"/>
          </a:ln>
        </p:spPr>
        <p:txBody>
          <a:bodyPr xmlns:a="http://schemas.openxmlformats.org/drawingml/2006/main">
            <a:normAutofit fontScale="9918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Assemble only the records</a:t>
            </a:r>
          </a:p>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used to reach those findings</a:t>
            </a:r>
          </a:p>
        </p:txBody>
      </p:sp>
      <p:sp>
        <p:nvSpPr>
          <p:cNvPr id="9" name="">
            <a:extLst xmlns:a="http://schemas.openxmlformats.org/drawingml/2006/main">
              <a:ext uri="{FF2B5EF4-FFF2-40B4-BE49-F238E27FC236}">
                <a16:creationId xmlns:a16="http://schemas.microsoft.com/office/drawing/2014/main" id="{B9EA4D73-2FCB-4413-B766-472FFC6A2E27}"/>
              </a:ext>
            </a:extLst>
          </p:cNvPr>
          <p:cNvSpPr>
            <a:spLocks xmlns:a="http://schemas.openxmlformats.org/drawingml/2006/main" noGrp="1"/>
          </p:cNvSpPr>
          <p:nvPr/>
        </p:nvSpPr>
        <p:spPr>
          <a:xfrm xmlns:a="http://schemas.openxmlformats.org/drawingml/2006/main">
            <a:off x="9810750" y="1924050"/>
            <a:ext cx="1714500" cy="781050"/>
          </a:xfrm>
          <a:prstGeom xmlns:a="http://schemas.openxmlformats.org/drawingml/2006/main" prst="roundRect">
            <a:avLst>
              <a:gd name="adj" fmla="val 9756"/>
            </a:avLst>
          </a:prstGeom>
          <a:solidFill xmlns:a="http://schemas.openxmlformats.org/drawingml/2006/main">
            <a:srgbClr val="D9EFEC"/>
          </a:solidFill>
          <a:ln xmlns:a="http://schemas.openxmlformats.org/drawingml/2006/main" w="9525">
            <a:solidFill>
              <a:srgbClr val="168B85"/>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17212B"/>
                </a:solidFill>
                <a:latin typeface="Helvetica Neue"/>
                <a:ea typeface="Helvetica Neue"/>
                <a:cs typeface="Helvetica Neue"/>
              </a:defRPr>
            </a:pPr>
            <a:r>
              <a:rPr sz="1350" b="1">
                <a:solidFill>
                  <a:srgbClr val="17212B"/>
                </a:solidFill>
                <a:latin typeface="Helvetica Neue"/>
                <a:ea typeface="Helvetica Neue"/>
                <a:cs typeface="Helvetica Neue"/>
              </a:rPr>
              <a:t>Run blind model tests</a:t>
            </a:r>
          </a:p>
        </p:txBody>
      </p: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2762250" y="2314575"/>
            <a:ext cx="76200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5905500" y="2314575"/>
            <a:ext cx="76200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a:off x="9048750" y="2314575"/>
            <a:ext cx="762000" cy="0"/>
          </a:xfrm>
          <a:prstGeom xmlns:a="http://schemas.openxmlformats.org/drawingml/2006/main" prst="straightConnector1">
            <a:avLst/>
          </a:prstGeom>
          <a:ln xmlns:a="http://schemas.openxmlformats.org/drawingml/2006/main" w="19050">
            <a:solidFill>
              <a:srgbClr val="425466"/>
            </a:solidFill>
            <a:prstDash val="solid"/>
            <a:tailEnd type="arrow" w="med" len="med"/>
          </a:ln>
        </p:spPr>
      </p:cxnSp>
      <p:sp>
        <p:nvSpPr>
          <p:cNvPr id="13" name="">
            <a:extLst xmlns:a="http://schemas.openxmlformats.org/drawingml/2006/main">
              <a:ext uri="{FF2B5EF4-FFF2-40B4-BE49-F238E27FC236}">
                <a16:creationId xmlns:a16="http://schemas.microsoft.com/office/drawing/2014/main" id="{E69A0B13-C5E6-4612-BC62-A5339125F1B9}"/>
              </a:ext>
            </a:extLst>
          </p:cNvPr>
          <p:cNvSpPr>
            <a:spLocks xmlns:a="http://schemas.openxmlformats.org/drawingml/2006/main" noGrp="1"/>
          </p:cNvSpPr>
          <p:nvPr/>
        </p:nvSpPr>
        <p:spPr>
          <a:xfrm xmlns:a="http://schemas.openxmlformats.org/drawingml/2006/main">
            <a:off x="1524000" y="3619500"/>
            <a:ext cx="9144000" cy="19050"/>
          </a:xfrm>
          <a:prstGeom xmlns:a="http://schemas.openxmlformats.org/drawingml/2006/main" prst="rect">
            <a:avLst/>
          </a:prstGeom>
          <a:solidFill xmlns:a="http://schemas.openxmlformats.org/drawingml/2006/main">
            <a:srgbClr val="CCD3D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E2E7B72-CAB5-4AF4-9727-8F7DD46C1FC6}"/>
              </a:ext>
            </a:extLst>
          </p:cNvPr>
          <p:cNvSpPr>
            <a:spLocks xmlns:a="http://schemas.openxmlformats.org/drawingml/2006/main" noGrp="1"/>
          </p:cNvSpPr>
          <p:nvPr/>
        </p:nvSpPr>
        <p:spPr>
          <a:xfrm xmlns:a="http://schemas.openxmlformats.org/drawingml/2006/main">
            <a:off x="1619250" y="39624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722"/>
          </a:bodyPr>
          <a:lstStyle xmlns:a="http://schemas.openxmlformats.org/drawingml/2006/main"/>
          <a:p xmlns:a="http://schemas.openxmlformats.org/drawingml/2006/main">
            <a:pPr algn="l">
              <a:defRPr sz="1800" b="1">
                <a:solidFill>
                  <a:srgbClr val="168B85"/>
                </a:solidFill>
                <a:latin typeface="Helvetica Neue"/>
                <a:ea typeface="Helvetica Neue"/>
                <a:cs typeface="Helvetica Neue"/>
              </a:defRPr>
            </a:pPr>
            <a:r>
              <a:rPr sz="1800" b="1">
                <a:solidFill>
                  <a:srgbClr val="168B85"/>
                </a:solidFill>
                <a:latin typeface="Helvetica Neue"/>
                <a:ea typeface="Helvetica Neue"/>
                <a:cs typeface="Helvetica Neue"/>
              </a:rPr>
              <a:t>Fair test</a:t>
            </a:r>
          </a:p>
        </p:txBody>
      </p:sp>
      <p:sp>
        <p:nvSpPr>
          <p:cNvPr id="15" name="">
            <a:extLst xmlns:a="http://schemas.openxmlformats.org/drawingml/2006/main">
              <a:ext uri="{FF2B5EF4-FFF2-40B4-BE49-F238E27FC236}">
                <a16:creationId xmlns:a16="http://schemas.microsoft.com/office/drawing/2014/main" id="{7619993E-FEBF-4EBD-AE52-0D1B275ECA2F}"/>
              </a:ext>
            </a:extLst>
          </p:cNvPr>
          <p:cNvSpPr>
            <a:spLocks xmlns:a="http://schemas.openxmlformats.org/drawingml/2006/main" noGrp="1"/>
          </p:cNvSpPr>
          <p:nvPr/>
        </p:nvSpPr>
        <p:spPr>
          <a:xfrm xmlns:a="http://schemas.openxmlformats.org/drawingml/2006/main">
            <a:off x="1619250" y="4400550"/>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588"/>
          </a:bodyPr>
          <a:lstStyle xmlns:a="http://schemas.openxmlformats.org/drawingml/2006/main"/>
          <a:p xmlns:a="http://schemas.openxmlformats.org/drawingml/2006/main">
            <a:pPr algn="l">
              <a:defRPr sz="1575" b="0">
                <a:solidFill>
                  <a:srgbClr val="425466"/>
                </a:solidFill>
                <a:latin typeface="Helvetica Neue"/>
                <a:ea typeface="Helvetica Neue"/>
                <a:cs typeface="Helvetica Neue"/>
              </a:defRPr>
            </a:pPr>
            <a:r>
              <a:rPr sz="1575" b="0">
                <a:solidFill>
                  <a:srgbClr val="425466"/>
                </a:solidFill>
                <a:latin typeface="Helvetica Neue"/>
                <a:ea typeface="Helvetica Neue"/>
                <a:cs typeface="Helvetica Neue"/>
              </a:rPr>
              <a:t>Models receive the underlying documents without the completed RCA.</a:t>
            </a:r>
          </a:p>
        </p:txBody>
      </p:sp>
      <p:sp>
        <p:nvSpPr>
          <p:cNvPr id="16" name="">
            <a:extLst xmlns:a="http://schemas.openxmlformats.org/drawingml/2006/main">
              <a:ext uri="{FF2B5EF4-FFF2-40B4-BE49-F238E27FC236}">
                <a16:creationId xmlns:a16="http://schemas.microsoft.com/office/drawing/2014/main" id="{C885BB53-7502-444B-90B1-BFFCD9C898F8}"/>
              </a:ext>
            </a:extLst>
          </p:cNvPr>
          <p:cNvSpPr>
            <a:spLocks xmlns:a="http://schemas.openxmlformats.org/drawingml/2006/main" noGrp="1"/>
          </p:cNvSpPr>
          <p:nvPr/>
        </p:nvSpPr>
        <p:spPr>
          <a:xfrm xmlns:a="http://schemas.openxmlformats.org/drawingml/2006/main">
            <a:off x="5524500" y="39624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722"/>
          </a:bodyPr>
          <a:lstStyle xmlns:a="http://schemas.openxmlformats.org/drawingml/2006/main"/>
          <a:p xmlns:a="http://schemas.openxmlformats.org/drawingml/2006/main">
            <a:pPr algn="l">
              <a:defRPr sz="1800" b="1">
                <a:solidFill>
                  <a:srgbClr val="E5A32D"/>
                </a:solidFill>
                <a:latin typeface="Helvetica Neue"/>
                <a:ea typeface="Helvetica Neue"/>
                <a:cs typeface="Helvetica Neue"/>
              </a:defRPr>
            </a:pPr>
            <a:r>
              <a:rPr sz="1800" b="1">
                <a:solidFill>
                  <a:srgbClr val="E5A32D"/>
                </a:solidFill>
                <a:latin typeface="Helvetica Neue"/>
                <a:ea typeface="Helvetica Neue"/>
                <a:cs typeface="Helvetica Neue"/>
              </a:rPr>
              <a:t>Ground truth</a:t>
            </a:r>
          </a:p>
        </p:txBody>
      </p:sp>
      <p:sp>
        <p:nvSpPr>
          <p:cNvPr id="17" name="">
            <a:extLst xmlns:a="http://schemas.openxmlformats.org/drawingml/2006/main">
              <a:ext uri="{FF2B5EF4-FFF2-40B4-BE49-F238E27FC236}">
                <a16:creationId xmlns:a16="http://schemas.microsoft.com/office/drawing/2014/main" id="{18A59277-1AC0-4C94-B5C6-CC9DADBEBD5A}"/>
              </a:ext>
            </a:extLst>
          </p:cNvPr>
          <p:cNvSpPr>
            <a:spLocks xmlns:a="http://schemas.openxmlformats.org/drawingml/2006/main" noGrp="1"/>
          </p:cNvSpPr>
          <p:nvPr/>
        </p:nvSpPr>
        <p:spPr>
          <a:xfrm xmlns:a="http://schemas.openxmlformats.org/drawingml/2006/main">
            <a:off x="5524500" y="4400550"/>
            <a:ext cx="352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p xmlns:a="http://schemas.openxmlformats.org/drawingml/2006/main">
            <a:pPr algn="l">
              <a:defRPr sz="1575" b="0">
                <a:solidFill>
                  <a:srgbClr val="425466"/>
                </a:solidFill>
                <a:latin typeface="Helvetica Neue"/>
                <a:ea typeface="Helvetica Neue"/>
                <a:cs typeface="Helvetica Neue"/>
              </a:defRPr>
            </a:pPr>
            <a:r>
              <a:rPr sz="1575" b="0">
                <a:solidFill>
                  <a:srgbClr val="425466"/>
                </a:solidFill>
                <a:latin typeface="Helvetica Neue"/>
                <a:ea typeface="Helvetica Neue"/>
                <a:cs typeface="Helvetica Neue"/>
              </a:rPr>
              <a:t>Reviewers compare each model's causal chain with the partner's accepted findings.</a:t>
            </a:r>
          </a:p>
        </p:txBody>
      </p:sp>
      <p:sp>
        <p:nvSpPr>
          <p:cNvPr id="18" name="">
            <a:extLst xmlns:a="http://schemas.openxmlformats.org/drawingml/2006/main">
              <a:ext uri="{FF2B5EF4-FFF2-40B4-BE49-F238E27FC236}">
                <a16:creationId xmlns:a16="http://schemas.microsoft.com/office/drawing/2014/main" id="{4E5C0805-C67F-4D70-B145-CEEDC9BDD765}"/>
              </a:ext>
            </a:extLst>
          </p:cNvPr>
          <p:cNvSpPr>
            <a:spLocks xmlns:a="http://schemas.openxmlformats.org/drawingml/2006/main" noGrp="1"/>
          </p:cNvSpPr>
          <p:nvPr/>
        </p:nvSpPr>
        <p:spPr>
          <a:xfrm xmlns:a="http://schemas.openxmlformats.org/drawingml/2006/main">
            <a:off x="9239250" y="39624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722"/>
          </a:bodyPr>
          <a:lstStyle xmlns:a="http://schemas.openxmlformats.org/drawingml/2006/main"/>
          <a:p xmlns:a="http://schemas.openxmlformats.org/drawingml/2006/main">
            <a:pPr algn="l">
              <a:defRPr sz="1800" b="1">
                <a:solidFill>
                  <a:srgbClr val="3377B5"/>
                </a:solidFill>
                <a:latin typeface="Helvetica Neue"/>
                <a:ea typeface="Helvetica Neue"/>
                <a:cs typeface="Helvetica Neue"/>
              </a:defRPr>
            </a:pPr>
            <a:r>
              <a:rPr sz="1800" b="1">
                <a:solidFill>
                  <a:srgbClr val="3377B5"/>
                </a:solidFill>
                <a:latin typeface="Helvetica Neue"/>
                <a:ea typeface="Helvetica Neue"/>
                <a:cs typeface="Helvetica Neue"/>
              </a:rPr>
              <a:t>What improves</a:t>
            </a:r>
          </a:p>
        </p:txBody>
      </p:sp>
      <p:sp>
        <p:nvSpPr>
          <p:cNvPr id="19" name="">
            <a:extLst xmlns:a="http://schemas.openxmlformats.org/drawingml/2006/main">
              <a:ext uri="{FF2B5EF4-FFF2-40B4-BE49-F238E27FC236}">
                <a16:creationId xmlns:a16="http://schemas.microsoft.com/office/drawing/2014/main" id="{856158A2-AA27-47A8-A383-E52FE3615DF6}"/>
              </a:ext>
            </a:extLst>
          </p:cNvPr>
          <p:cNvSpPr>
            <a:spLocks xmlns:a="http://schemas.openxmlformats.org/drawingml/2006/main" noGrp="1"/>
          </p:cNvSpPr>
          <p:nvPr/>
        </p:nvSpPr>
        <p:spPr>
          <a:xfrm xmlns:a="http://schemas.openxmlformats.org/drawingml/2006/main">
            <a:off x="9239250" y="44005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3488"/>
          </a:bodyPr>
          <a:lstStyle xmlns:a="http://schemas.openxmlformats.org/drawingml/2006/main"/>
          <a:p xmlns:a="http://schemas.openxmlformats.org/drawingml/2006/main">
            <a:pPr algn="l">
              <a:defRPr sz="1575" b="0">
                <a:solidFill>
                  <a:srgbClr val="425466"/>
                </a:solidFill>
                <a:latin typeface="Helvetica Neue"/>
                <a:ea typeface="Helvetica Neue"/>
                <a:cs typeface="Helvetica Neue"/>
              </a:defRPr>
            </a:pPr>
            <a:r>
              <a:rPr sz="1575" b="0">
                <a:solidFill>
                  <a:srgbClr val="425466"/>
                </a:solidFill>
                <a:latin typeface="Helvetica Neue"/>
                <a:ea typeface="Helvetica Neue"/>
                <a:cs typeface="Helvetica Neue"/>
              </a:rPr>
              <a:t>The test can separate missing data from failures in the method or model.</a:t>
            </a:r>
          </a:p>
        </p:txBody>
      </p:sp>
      <p:sp>
        <p:nvSpPr>
          <p:cNvPr id="20" name="">
            <a:extLst xmlns:a="http://schemas.openxmlformats.org/drawingml/2006/main">
              <a:ext uri="{FF2B5EF4-FFF2-40B4-BE49-F238E27FC236}">
                <a16:creationId xmlns:a16="http://schemas.microsoft.com/office/drawing/2014/main" id="{2BDA87D6-99B8-4CDB-96F9-C323E7EFAD05}"/>
              </a:ext>
            </a:extLst>
          </p:cNvPr>
          <p:cNvSpPr>
            <a:spLocks xmlns:a="http://schemas.openxmlformats.org/drawingml/2006/main" noGrp="1"/>
          </p:cNvSpPr>
          <p:nvPr/>
        </p:nvSpPr>
        <p:spPr>
          <a:xfrm xmlns:a="http://schemas.openxmlformats.org/drawingml/2006/main">
            <a:off x="1943100" y="5638800"/>
            <a:ext cx="830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834"/>
          </a:bodyPr>
          <a:lstStyle xmlns:a="http://schemas.openxmlformats.org/drawingml/2006/main"/>
          <a:p xmlns:a="http://schemas.openxmlformats.org/drawingml/2006/main">
            <a:pPr algn="ctr">
              <a:defRPr sz="2100" b="1">
                <a:solidFill>
                  <a:srgbClr val="10263C"/>
                </a:solidFill>
                <a:latin typeface="Helvetica Neue"/>
                <a:ea typeface="Helvetica Neue"/>
                <a:cs typeface="Helvetica Neue"/>
              </a:defRPr>
            </a:pPr>
            <a:r>
              <a:rPr sz="2100" b="1">
                <a:solidFill>
                  <a:srgbClr val="10263C"/>
                </a:solidFill>
                <a:latin typeface="Helvetica Neue"/>
                <a:ea typeface="Helvetica Neue"/>
                <a:cs typeface="Helvetica Neue"/>
              </a:rPr>
              <a:t>Best next input: the partner RCA plus every source record it relied on</a:t>
            </a:r>
          </a:p>
        </p:txBody>
      </p:sp>
    </p:spTree>
    <p:extLst>
      <p:ext uri="{BB962C8B-B14F-4D97-AF65-F5344CB8AC3E}">
        <p14:creationId xmlns:p14="http://schemas.microsoft.com/office/powerpoint/2010/main" val="13002187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2026-09-08T13:38:28.3050000Z</dcterms:created>
  <dcterms:modified xsi:type="dcterms:W3CDTF">2026-09-08T13:38:28.3050000Z</dcterms:modified>
</coreProperties>
</file>