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1b7a66420b4290" /><Relationship Type="http://schemas.openxmlformats.org/officeDocument/2006/relationships/extended-properties" Target="/docProps/app.xml" Id="R6d25fffa95ac4541" /><Relationship Type="http://schemas.openxmlformats.org/officeDocument/2006/relationships/officeDocument" Target="/ppt/presentation.xml" Id="Rbf6201040bc14b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08ee51ee994dce"/>
  </p:sldMasterIdLst>
  <p:notesMasterIdLst>
    <p:notesMasterId xmlns:r="http://schemas.openxmlformats.org/officeDocument/2006/relationships" r:id="R7bcc676e4e394d69"/>
  </p:notesMasterIdLst>
  <p:sldIdLst>
    <p:sldId xmlns:r="http://schemas.openxmlformats.org/officeDocument/2006/relationships" id="256" r:id="Radf4c064d5714f1a"/>
    <p:sldId xmlns:r="http://schemas.openxmlformats.org/officeDocument/2006/relationships" id="257" r:id="R1c31c95a80954f97"/>
    <p:sldId xmlns:r="http://schemas.openxmlformats.org/officeDocument/2006/relationships" id="258" r:id="Rc64bc595f87f44f3"/>
    <p:sldId xmlns:r="http://schemas.openxmlformats.org/officeDocument/2006/relationships" id="259" r:id="Rdb42359f62244036"/>
    <p:sldId xmlns:r="http://schemas.openxmlformats.org/officeDocument/2006/relationships" id="260" r:id="Rb54e3cf28cbb4972"/>
    <p:sldId xmlns:r="http://schemas.openxmlformats.org/officeDocument/2006/relationships" id="261" r:id="R17f87009e5034271"/>
    <p:sldId xmlns:r="http://schemas.openxmlformats.org/officeDocument/2006/relationships" id="262" r:id="R7ad13083fc98489b"/>
    <p:sldId xmlns:r="http://schemas.openxmlformats.org/officeDocument/2006/relationships" id="263" r:id="R4983ed7e94a44e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182b6cb6c9405b" /><Relationship Type="http://schemas.openxmlformats.org/officeDocument/2006/relationships/slideMaster" Target="/ppt/slideMasters/slideMaster1.xml" Id="R0308ee51ee994dce" /><Relationship Type="http://schemas.openxmlformats.org/officeDocument/2006/relationships/notesMaster" Target="/ppt/notesMasters/notesMaster1.xml" Id="R7bcc676e4e394d69" /><Relationship Type="http://schemas.openxmlformats.org/officeDocument/2006/relationships/presProps" Target="/ppt/presProps.xml" Id="Rfbe717f2a1e543a5" /><Relationship Type="http://schemas.openxmlformats.org/officeDocument/2006/relationships/tableStyles" Target="/ppt/tableStyles.xml" Id="R9806044c371d4170" /><Relationship Type="http://schemas.openxmlformats.org/officeDocument/2006/relationships/slide" Target="/ppt/slides/slide1.xml" Id="Radf4c064d5714f1a" /><Relationship Type="http://schemas.openxmlformats.org/officeDocument/2006/relationships/slide" Target="/ppt/slides/slide2.xml" Id="R1c31c95a80954f97" /><Relationship Type="http://schemas.openxmlformats.org/officeDocument/2006/relationships/slide" Target="/ppt/slides/slide3.xml" Id="Rc64bc595f87f44f3" /><Relationship Type="http://schemas.openxmlformats.org/officeDocument/2006/relationships/slide" Target="/ppt/slides/slide4.xml" Id="Rdb42359f62244036" /><Relationship Type="http://schemas.openxmlformats.org/officeDocument/2006/relationships/slide" Target="/ppt/slides/slide5.xml" Id="Rb54e3cf28cbb4972" /><Relationship Type="http://schemas.openxmlformats.org/officeDocument/2006/relationships/slide" Target="/ppt/slides/slide6.xml" Id="R17f87009e5034271" /><Relationship Type="http://schemas.openxmlformats.org/officeDocument/2006/relationships/slide" Target="/ppt/slides/slide7.xml" Id="R7ad13083fc98489b" /><Relationship Type="http://schemas.openxmlformats.org/officeDocument/2006/relationships/slide" Target="/ppt/slides/slide8.xml" Id="R4983ed7e94a44e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dd52637e1b45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cc6693892d4344" /><Relationship Type="http://schemas.openxmlformats.org/officeDocument/2006/relationships/notesMaster" Target="/ppt/notesMasters/notesMaster1.xml" Id="Rfa7cf259bd5a49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59b0668cdf44f3" /><Relationship Type="http://schemas.openxmlformats.org/officeDocument/2006/relationships/notesMaster" Target="/ppt/notesMasters/notesMaster1.xml" Id="Rb032f0aeb4ca47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84db9c1db14ad8" /><Relationship Type="http://schemas.openxmlformats.org/officeDocument/2006/relationships/notesMaster" Target="/ppt/notesMasters/notesMaster1.xml" Id="Raf61d23461364c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4377619b854093" /><Relationship Type="http://schemas.openxmlformats.org/officeDocument/2006/relationships/notesMaster" Target="/ppt/notesMasters/notesMaster1.xml" Id="R79f65844daab49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243a26684e4c8b" /><Relationship Type="http://schemas.openxmlformats.org/officeDocument/2006/relationships/notesMaster" Target="/ppt/notesMasters/notesMaster1.xml" Id="R18eabb3c6dfb47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44b0678681490c" /><Relationship Type="http://schemas.openxmlformats.org/officeDocument/2006/relationships/notesMaster" Target="/ppt/notesMasters/notesMaster1.xml" Id="R90c550b5f99348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a5de6b3a814ac5" /><Relationship Type="http://schemas.openxmlformats.org/officeDocument/2006/relationships/notesMaster" Target="/ppt/notesMasters/notesMaster1.xml" Id="R3dc2c225bff245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69a493085f4a8f" /><Relationship Type="http://schemas.openxmlformats.org/officeDocument/2006/relationships/notesMaster" Target="/ppt/notesMasters/notesMaster1.xml" Id="R63d689ad195440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Progress update based on project records available through 22 September 2026. Standalone RCA scope only. Source: /Users/dhwanilchauhan/Downloads/S&amp;T_PTC_July2026Presentation.pptx, slides 7–13; /Users/dhwanilchauhan/Desktop/RCA Try 1/Try 7/TRY7_EXECUTIVE_PLAN.md, section 10 implementation receipt and smoke outcome; /Users/dhwanilchauhan/Desktop/RCA Try 1/Synthetic Evidence Packages 2026-09-22/README_OPERATOR_ONLY.md. The date is the evidence cutoff, not a confirmed meeting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July baseline: /Users/dhwanilchauhan/Downloads/S&amp;T_PTC_July2026Presentation.pptx, slides 7–13. Current evidence: /Users/dhwanilchauhan/Desktop/RCA Try 1/RCA_RESEARCH_OVERVIEW_AND_PLAN.md, sections 5 and 8; /Users/dhwanilchauhan/Desktop/RCA Try 1/Try 7/TRY7_EXECUTIVE_PLAN.md, section 10 implementation receipt and smoke outcome; /Users/dhwanilchauhan/Desktop/RCA Try 1/Synthetic Evidence Packages 2026-09-22/README_OPERATOR_ONLY.md. July already described a prototype and methodology. Do not imply the project began from zero after July.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/Users/dhwanilchauhan/Desktop/RCA Try 1/RCA_RESEARCH_OVERVIEW_AND_PLAN.md, sections 5 and 8; /Users/dhwanilchauhan/Desktop/RCA Try 1/Try 7/TRY7_EXECUTIVE_PLAN.md, section 10 implementation receipt and smoke outcome. These are implemented workflow capabilities, not claims of consistently correct reasoning. A specialist is selected for relevant uncertainty. Application versions (Try 4–7) differ from investigation snapshots (V1–V3).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/Users/dhwanilchauhan/Desktop/RCA Try 1/RCA_SYSTEM_REVIEW_2026-09-18.md, sections 2–3; /Users/dhwanilchauhan/Desktop/RCA Try 1/RCA_RESEARCH_OVERVIEW_AND_PLAN.md, sections 5 and 8. These experiments used changing inputs and configurations. They are development observations, not a controlled ranking of versions. Try 4 includes saved R3 versions and IA runs; Try 5 comparison snapshots were diagnostic; Try 6 published a partial IA V1/V2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/Users/dhwanilchauhan/Desktop/RCA Try 1/Try 7/TRY7_EXECUTIVE_PLAN.md, section 10 implementation receipt and smoke outcome. The implementation receipt documents these changes and 97 deterministic checks (20 engine, 24 Try 7, 37 regression, 16 capacity), plus build/type checks. These are recorded checks, not checks rerun for this presentation. Full-plan acceptance remains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/Users/dhwanilchauhan/Desktop/RCA Try 1/Try 7/TRY7_EXECUTIVE_PLAN.md, section 10 implementation receipt and smoke outcome, Observed smoke outcome. Published 20 September 2026 at 8:17:54 PM America/Chicago. Real provider run on a short pneumatic-carriage incident, not the historical benchmark. 21 tasks completed, zero failed/blocked whole tasks. V1 contained 5 selected observations plus a focal event and zero causal links. 20 rejected output items remained preserved; one delivery receipt was pending in the saved snapshot. Configuration changes and a checkpoint repair occurred during the run. Post-run fixes passed scripted tests but await a fresh frozen-config model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/Users/dhwanilchauhan/Desktop/RCA Try 1/Synthetic Evidence Packages 2026-09-22/README_OPERATOR_ONLY.md. Packages generated 22 September 2026. Both are historically anchored synthetic reconstructions, not recovered company records. They are derivatives of development incidents already used and are not independent held-out cases. No RCA or storyteller jobs had been launched for these packages in the source record. R3 requires technical review; IA is prepared for pilot and is not independently expert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/Users/dhwanilchauhan/Desktop/RCA Try 1/RCA_IMPLEMENTATION_AND_PAPER_CHECKLIST.md, sections C–E; /Users/dhwanilchauhan/Desktop/RCA Try 1/Try 7/TRY7_EXECUTIVE_PLAN.md, section 10 implementation receipt and smoke outcome; /Users/dhwanilchauhan/Desktop/RCA Try 1/Synthetic Evidence Packages 2026-09-22/README_OPERATOR_ONLY.md. Proposed next steps, not completed results or dated commitments. Begin with the instrument-air package prepared for pilot. Review R3 mechanics before scored use. Freeze the independent assessment protocol before held-out evaluation. Proposed partner input: technical review of scenario realism and causal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d1560eb9c43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c6d5297f714477" /><Relationship Type="http://schemas.openxmlformats.org/officeDocument/2006/relationships/slideLayout" Target="/ppt/slideLayouts/slideLayout1.xml" Id="R45469d02753647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469d02753647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8451a77fd4117" /><Relationship Type="http://schemas.openxmlformats.org/officeDocument/2006/relationships/notesSlide" Target="/ppt/notesSlides/notesSlide1.xml" Id="R7c9fcbceba074d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9e22f66cb476d" /><Relationship Type="http://schemas.openxmlformats.org/officeDocument/2006/relationships/notesSlide" Target="/ppt/notesSlides/notesSlide2.xml" Id="Ra0c60998aebb4b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a510c4a064fd4" /><Relationship Type="http://schemas.openxmlformats.org/officeDocument/2006/relationships/notesSlide" Target="/ppt/notesSlides/notesSlide3.xml" Id="R38536b1d16864f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fe5e8f240424a" /><Relationship Type="http://schemas.openxmlformats.org/officeDocument/2006/relationships/notesSlide" Target="/ppt/notesSlides/notesSlide4.xml" Id="Rca5a10f07bcf44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20c7328df417f" /><Relationship Type="http://schemas.openxmlformats.org/officeDocument/2006/relationships/notesSlide" Target="/ppt/notesSlides/notesSlide5.xml" Id="R1bce654cd7d84d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4fde08cb34527" /><Relationship Type="http://schemas.openxmlformats.org/officeDocument/2006/relationships/notesSlide" Target="/ppt/notesSlides/notesSlide6.xml" Id="R7b4a17240fc646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1236e44e74ecd" /><Relationship Type="http://schemas.openxmlformats.org/officeDocument/2006/relationships/notesSlide" Target="/ppt/notesSlides/notesSlide7.xml" Id="R18ed9a8022cf44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34676b2e440c1" /><Relationship Type="http://schemas.openxmlformats.org/officeDocument/2006/relationships/notesSlide" Target="/ppt/notesSlides/notesSlide8.xml" Id="R4568ba8bf62646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31225-8FBC-471A-BDD9-E2356FD9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rPr>
              <a:t>Standalone Root Cause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3EA62-3521-41C6-A1A9-D3F3E745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9496C-B82E-4CFD-8420-CAF247B8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rPr>
              <a:t>Progress since July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82E00-D2B8-4BB4-AF13-BBEE748E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An investigation prototype, recorded model experiments,</a:t>
            </a:r>
          </a:p>
          <a:p xmlns:a="http://schemas.openxmlformats.org/drawingml/2006/main">
            <a:pPr>
              <a:defRPr sz="24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and a staged evaluation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1C869-A732-4486-82D8-6EB5CEEF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19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rPr>
              <a:t>Project #19  /  AI-Assisted Accident Investigation</a:t>
            </a:r>
          </a:p>
          <a:p xmlns:a="http://schemas.openxmlformats.org/drawingml/2006/main">
            <a:pPr>
              <a:defRPr sz="16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rPr>
              <a:t>Progress through 22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9654818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CB5A9-831F-499D-B02F-DAEFCEC3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rPr>
              <a:t>Progress against the July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AA9F9-ED3F-4E87-B2EF-35A6BF11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A8B0D-480A-466D-B4B4-17996F54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Step-by-step RCA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258ED-BAD3-43F0-AA7F-17EEF975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62125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Built iterative investigations with specialist questions, evidence references and preserved investigation versions.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25827-F917-41E5-9C67-27EB00B0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Validate incident RCA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5FE06-56EF-4133-9E2C-6D581695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43250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Ran development experiments on the R3 beam and instrument-air cases. Prepared staged synthetic evidence packages.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0AB7C-E215-405E-95C3-48BD6B8C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Test open-source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C6E8F-B881-49BE-B3EA-B6DEDDC6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24375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Ran Qwen through real investigation workflows. Reliability and causal accuracy remain under evaluation.</a:t>
            </a:r>
          </a:p>
        </p:txBody>
      </p:sp>
    </p:spTree>
    <p:extLst>
      <p:ext uri="{BB962C8B-B14F-4D97-AF65-F5344CB8AC3E}">
        <p14:creationId xmlns:p14="http://schemas.microsoft.com/office/powerpoint/2010/main" val="1169630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4A080-484E-43B3-BAD1-D93FF317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rPr>
              <a:t>The prototype supports iterative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122F4-BF10-4259-9A06-8850B9E9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21633-6AAC-4CE0-9ADA-743536F8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Establish the incident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C1727-8261-474E-B5F2-F32F6A0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52600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Register the narrative and documents, identify relevant entities, and form preliminary explanations.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80CC9-7FBA-4CFA-B5BE-51964882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Investigate open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75251-947C-4F94-9867-B3BBF19F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33725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Consult relevant specialists, combine overlapping requests, and route source-backed answers to their owners.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16E0B-C4B8-4BFA-9700-0DC9D166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Review and revise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987FF-3D15-44DA-8F64-6581C0B4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14850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Assess factual support, causal roles and connections separately. Save the current board and unresolved questions.</a:t>
            </a:r>
          </a:p>
        </p:txBody>
      </p:sp>
    </p:spTree>
    <p:extLst>
      <p:ext uri="{BB962C8B-B14F-4D97-AF65-F5344CB8AC3E}">
        <p14:creationId xmlns:p14="http://schemas.microsoft.com/office/powerpoint/2010/main" val="1004700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1AC1F-8F8D-4990-BE97-F72A647E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rPr>
              <a:t>Development runs exposed specific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16D84-9618-4E90-8CE1-DF2A31CD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F894E-9B2D-42AB-BAE2-85E7879F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Earlier causal pipelines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8DFC1-C27B-4CCC-BE8E-45540F6B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43075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Produced visible boards, but expanding context and candidate links could block completion or create excessive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F8B4B-15B3-4B1E-AD5C-BB1690D2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Persistent task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130BE-0B3F-43B9-9874-1B1EB84C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43250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Improved recovery and inspection. Completing the workflow still did not guarantee a useful causal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6AB05-383C-4E41-8B94-754E4958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Evidence revisions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91730-3A43-4225-9285-D7B4DFD8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43425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Published V1 and V2, but some corrections failed to reach board wording and some questions remained stale.</a:t>
            </a:r>
          </a:p>
        </p:txBody>
      </p:sp>
    </p:spTree>
    <p:extLst>
      <p:ext uri="{BB962C8B-B14F-4D97-AF65-F5344CB8AC3E}">
        <p14:creationId xmlns:p14="http://schemas.microsoft.com/office/powerpoint/2010/main" val="2034239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B02E7-1E6C-4865-A046-7A9BF311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rPr>
              <a:t>Recent changes address those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97477-D7E5-4019-B130-AC1B540B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FBEB7-D48F-4DD2-AB7A-524360E2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Evidence and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76233-5BFF-4780-923E-3186D573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24025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Track partial answers and subscriber delivery. Preserve different question purposes and expose reviewer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5547A-7D2A-4B3B-8A16-AB6AFC54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Corrections and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11802-50E0-4756-855E-8CC66FFF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05150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Apply source-bound revisions with history. Separate factual support from causal-role and relationship judgments.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11483-3CC9-4069-80FA-AC2F6B04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Reproducible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9C1DC-9070-475E-8D37-9F33DDCF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86275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Preserve snapshots, controlled-release receipts and experiment exports. The receipt reports 97 software checks passed.</a:t>
            </a:r>
          </a:p>
        </p:txBody>
      </p:sp>
    </p:spTree>
    <p:extLst>
      <p:ext uri="{BB962C8B-B14F-4D97-AF65-F5344CB8AC3E}">
        <p14:creationId xmlns:p14="http://schemas.microsoft.com/office/powerpoint/2010/main" val="577241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31A43-CA1A-43FC-B559-4621FC4F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rPr>
              <a:t>The latest live Qwen run remained partial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9C51B-31A4-4FC8-A2AD-902D6E46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2B336-AD27-4AA9-8C9C-DC39D1E3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00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21 tasks completed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F8524-9846-48AA-B88A-AD32BEDD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Partial V1 published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6A33B-3586-4503-9F27-EF1177E5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5 selected observations and the focal event</a:t>
            </a:r>
          </a:p>
          <a:p xmlns:a="http://schemas.openxmlformats.org/drawingml/2006/main">
            <a:pPr>
              <a:defRPr sz="24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0 causal links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5B99E-8CA3-416E-8398-0A12CF0E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The run exposed answer-routing and revision issues.</a:t>
            </a:r>
          </a:p>
          <a:p xmlns:a="http://schemas.openxmlformats.org/drawingml/2006/main">
            <a:pPr>
              <a:defRPr sz="2175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The team implemented fixes and added regression checks.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E6F03-BA3C-4B35-A207-56CBE457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A4D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8A4D23"/>
                </a:solidFill>
                <a:latin typeface="Helvetica Neue"/>
                <a:ea typeface="Helvetica Neue"/>
                <a:cs typeface="Helvetica Neue"/>
              </a:rPr>
              <a:t>Execution-inconclusive: a fresh run with a frozen configuration is still required.</a:t>
            </a:r>
          </a:p>
        </p:txBody>
      </p:sp>
    </p:spTree>
    <p:extLst>
      <p:ext uri="{BB962C8B-B14F-4D97-AF65-F5344CB8AC3E}">
        <p14:creationId xmlns:p14="http://schemas.microsoft.com/office/powerpoint/2010/main" val="1512246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4B252-63F9-4E45-A7FB-0065C313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rPr>
              <a:t>Two staged evidence packages are prepared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F5631-9B55-42DA-B597-65CAA584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D03DA-D4E6-4A83-8CA8-CCDAFA01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R3 carrier-beam fall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0CBB2-2C34-4B78-A983-90917F54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14500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Staged reconstruction prepared. Load-path and circuit details require independent technical review before scoring.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67F88-21C2-4C8E-9D58-957005F6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Instrument-air loss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657A9-DC59-42EE-8C88-7AF3BDFB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05150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Package prepared for a pilot, with configuration, pressure observations and operating chronology across documents.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1C7CC-153F-4AB0-B0B8-4DF4D49B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Three evidence releases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C6193-4308-4F26-B62C-420BEC68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95800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Starter evidence supports V1. Later documents test whether V2 and V3 revise explanations for justified reasons.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13DD4-3206-4FFD-8C6A-FF4B2009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A4D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8A4D23"/>
                </a:solidFill>
                <a:latin typeface="Helvetica Neue"/>
                <a:ea typeface="Helvetica Neue"/>
                <a:cs typeface="Helvetica Neue"/>
              </a:rPr>
              <a:t>Synthetic reconstructions of development cases. Independent validation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14215194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92E04-B34A-439B-96DC-E55AEAC3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23E3A"/>
                </a:solidFill>
                <a:latin typeface="Helvetica Neue"/>
                <a:ea typeface="Helvetica Neue"/>
                <a:cs typeface="Helvetica Neue"/>
              </a:rPr>
              <a:t>Next milestone: a controlled V1–V3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C37F6-13FA-400F-9A43-3798691F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56E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C4DAB-F082-48FD-961F-43F8853D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Freeze and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C9B2C-AFF7-44EF-B0E0-FA0EE233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14500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Fix the model, prompts and evidence schedule. Preserve each version and the inputs that produced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66A10-C51F-46EE-90BF-2F4A9253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Assess the changes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75F3E-A95E-472D-B0CE-CE939531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05150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Check factual accuracy, causal support, uncertainty and correction quality. Report software failures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2A510-C56B-4745-AEB4-840E0762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66A57"/>
                </a:solidFill>
                <a:latin typeface="Helvetica Neue"/>
                <a:ea typeface="Helvetica Neue"/>
                <a:cs typeface="Helvetica Neue"/>
              </a:rPr>
              <a:t>Compare and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7B0E7-1642-416E-B166-46816DD6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95800"/>
            <a:ext cx="752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33F45"/>
                </a:solidFill>
                <a:latin typeface="Helvetica Neue"/>
                <a:ea typeface="Helvetica Neue"/>
                <a:cs typeface="Helvetica Neue"/>
              </a:rPr>
              <a:t>Run a simpler baseline on the same evidence. Seek technical review of case realism and causal interpretations.</a:t>
            </a:r>
          </a:p>
        </p:txBody>
      </p:sp>
    </p:spTree>
    <p:extLst>
      <p:ext uri="{BB962C8B-B14F-4D97-AF65-F5344CB8AC3E}">
        <p14:creationId xmlns:p14="http://schemas.microsoft.com/office/powerpoint/2010/main" val="391982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2026-09-22T18:29:08.8850000Z</dcterms:created>
  <dcterms:modified xsi:type="dcterms:W3CDTF">2026-09-22T18:29:08.8850000Z</dcterms:modified>
</coreProperties>
</file>