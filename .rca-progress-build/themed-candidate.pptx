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authors.xml" ContentType="application/vnd.ms-powerpoint.author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d88617928f49a0" /><Relationship Type="http://schemas.openxmlformats.org/officeDocument/2006/relationships/extended-properties" Target="/docProps/app.xml" Id="R8b3b9bbe8b0b41ef" /><Relationship Type="http://schemas.openxmlformats.org/officeDocument/2006/relationships/officeDocument" Target="/ppt/presentation.xml" Id="R1dd3510088084b0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5059e9a491440b"/>
  </p:sldMasterIdLst>
  <p:notesMasterIdLst>
    <p:notesMasterId xmlns:r="http://schemas.openxmlformats.org/officeDocument/2006/relationships" r:id="R60e311c593b64fcf"/>
  </p:notesMasterIdLst>
  <p:sldIdLst>
    <p:sldId xmlns:r="http://schemas.openxmlformats.org/officeDocument/2006/relationships" id="256" r:id="Rcf472178dd184d9b"/>
    <p:sldId xmlns:r="http://schemas.openxmlformats.org/officeDocument/2006/relationships" id="257" r:id="Rc3c2c1a89ab84171"/>
    <p:sldId xmlns:r="http://schemas.openxmlformats.org/officeDocument/2006/relationships" id="258" r:id="Ref0de09749444398"/>
    <p:sldId xmlns:r="http://schemas.openxmlformats.org/officeDocument/2006/relationships" id="259" r:id="R3c6d18afabef443b"/>
    <p:sldId xmlns:r="http://schemas.openxmlformats.org/officeDocument/2006/relationships" id="260" r:id="R22981b435e8c4f48"/>
    <p:sldId xmlns:r="http://schemas.openxmlformats.org/officeDocument/2006/relationships" id="261" r:id="R38b7f74425274957"/>
    <p:sldId xmlns:r="http://schemas.openxmlformats.org/officeDocument/2006/relationships" id="262" r:id="R1a2661db6a2845fe"/>
    <p:sldId xmlns:r="http://schemas.openxmlformats.org/officeDocument/2006/relationships" id="263" r:id="R93ef2bce92d8484d"/>
  </p:sldIdLst>
  <p:sldSz cx="12192000" cy="6858000"/>
  <p:notesSz cx="6858000" cy="9144000"/>
</p:presentation>
</file>

<file path=ppt/authors.xml><?xml version="1.0" encoding="utf-8"?>
<p188:authorLst xmlns:p188="http://schemas.microsoft.com/office/powerpoint/2018/8/main">
  <p188:author id="{3E511963-6A01-3019-C86E-C7C5608E28C6}" name="Jay Vijaybhai Polra" initials="JP" userId="S::jpolra@purdue.edu::05471d6c-1458-4835-8f42-0e212e6c3b7b" providerId="AD"/>
  <p188:author id="{A976A666-D41E-E542-5D96-05EE091D0C89}" name="Kyle A Toth" initials="KT" userId="S::katoth@purdue.edu::117f5a3d-1d9b-42ce-99cd-a650340272b4" providerId="AD"/>
  <p188:author id="{EDD3F994-07E7-0840-10F1-D70CDED6DDDF}" name="Dhwanil Radharaman Chauhan" initials="DC" userId="S::chauha56@purdue.edu::b32d1ec2-e1d8-4f74-85f0-a3f9ef37bfdf" providerId="AD"/>
</p188:authorLst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1b34d9ab7864f86" /><Relationship Type="http://schemas.openxmlformats.org/officeDocument/2006/relationships/slideMaster" Target="/ppt/slideMasters/slideMaster1.xml" Id="R7e5059e9a491440b" /><Relationship Type="http://schemas.openxmlformats.org/officeDocument/2006/relationships/notesMaster" Target="/ppt/notesMasters/notesMaster1.xml" Id="R60e311c593b64fcf" /><Relationship Type="http://schemas.openxmlformats.org/officeDocument/2006/relationships/presProps" Target="/ppt/presProps.xml" Id="R301ba0b9121941be" /><Relationship Type="http://schemas.openxmlformats.org/officeDocument/2006/relationships/viewProps" Target="/ppt/viewProps.xml" Id="R47376a9aa5614103" /><Relationship Type="http://schemas.openxmlformats.org/officeDocument/2006/relationships/tableStyles" Target="/ppt/tableStyles.xml" Id="Rfd0132302a264ae3" /><Relationship Type="http://schemas.microsoft.com/office/2018/10/relationships/authors" Target="/ppt/authors.xml" Id="R5c32fea6db26472d" /><Relationship Type="http://schemas.openxmlformats.org/officeDocument/2006/relationships/slide" Target="/ppt/slides/slide1.xml" Id="Rcf472178dd184d9b" /><Relationship Type="http://schemas.openxmlformats.org/officeDocument/2006/relationships/slide" Target="/ppt/slides/slide2.xml" Id="Rc3c2c1a89ab84171" /><Relationship Type="http://schemas.openxmlformats.org/officeDocument/2006/relationships/slide" Target="/ppt/slides/slide3.xml" Id="Ref0de09749444398" /><Relationship Type="http://schemas.openxmlformats.org/officeDocument/2006/relationships/slide" Target="/ppt/slides/slide4.xml" Id="R3c6d18afabef443b" /><Relationship Type="http://schemas.openxmlformats.org/officeDocument/2006/relationships/slide" Target="/ppt/slides/slide5.xml" Id="R22981b435e8c4f48" /><Relationship Type="http://schemas.openxmlformats.org/officeDocument/2006/relationships/slide" Target="/ppt/slides/slide6.xml" Id="R38b7f74425274957" /><Relationship Type="http://schemas.openxmlformats.org/officeDocument/2006/relationships/slide" Target="/ppt/slides/slide7.xml" Id="R1a2661db6a2845fe" /><Relationship Type="http://schemas.openxmlformats.org/officeDocument/2006/relationships/slide" Target="/ppt/slides/slide8.xml" Id="R93ef2bce92d8484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9eb11af46b24a2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8d09eed4c24192" /><Relationship Type="http://schemas.openxmlformats.org/officeDocument/2006/relationships/notesMaster" Target="/ppt/notesMasters/notesMaster1.xml" Id="R6d730e5be3d94b8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b713fc8ea9454a" /><Relationship Type="http://schemas.openxmlformats.org/officeDocument/2006/relationships/notesMaster" Target="/ppt/notesMasters/notesMaster1.xml" Id="R95806080315640e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6d54ff27a54fd7" /><Relationship Type="http://schemas.openxmlformats.org/officeDocument/2006/relationships/notesMaster" Target="/ppt/notesMasters/notesMaster1.xml" Id="Ra38428a0d82647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cd3a24ddce146a9" /><Relationship Type="http://schemas.openxmlformats.org/officeDocument/2006/relationships/notesMaster" Target="/ppt/notesMasters/notesMaster1.xml" Id="Rc44fa310d63947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1ffdeeadf844ef4" /><Relationship Type="http://schemas.openxmlformats.org/officeDocument/2006/relationships/notesMaster" Target="/ppt/notesMasters/notesMaster1.xml" Id="Re0ffe7ccfecc43d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4a6491423e4085" /><Relationship Type="http://schemas.openxmlformats.org/officeDocument/2006/relationships/notesMaster" Target="/ppt/notesMasters/notesMaster1.xml" Id="Rd70c9a8dbede492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6023da0a1f949af" /><Relationship Type="http://schemas.openxmlformats.org/officeDocument/2006/relationships/notesMaster" Target="/ppt/notesMasters/notesMaster1.xml" Id="R55ce29f2fac2416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ee73609b8904b91" /><Relationship Type="http://schemas.openxmlformats.org/officeDocument/2006/relationships/notesMaster" Target="/ppt/notesMasters/notesMaster1.xml" Id="R3755ee6a4fdd48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Progress update based on project records available through 22 September 2026. Standalone RCA scope only. Source: /Users/dhwanilchauhan/Downloads/S&amp;T_PTC_July2026Presentation.pptx, slides 7–13; /Users/dhwanilchauhan/Desktop/RCA Try 1/Try 7/TRY7_EXECUTIVE_PLAN.md, section 10 implementation receipt and smoke outcome; /Users/dhwanilchauhan/Desktop/RCA Try 1/Synthetic Evidence Packages 2026-09-22/README_OPERATOR_ONLY.md. The date is the evidence cutoff, not a confirmed meeting 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July baseline: /Users/dhwanilchauhan/Downloads/S&amp;T_PTC_July2026Presentation.pptx, slides 7–13. Current evidence: /Users/dhwanilchauhan/Desktop/RCA Try 1/RCA_RESEARCH_OVERVIEW_AND_PLAN.md, sections 5 and 8; /Users/dhwanilchauhan/Desktop/RCA Try 1/Try 7/TRY7_EXECUTIVE_PLAN.md, section 10 implementation receipt and smoke outcome; /Users/dhwanilchauhan/Desktop/RCA Try 1/Synthetic Evidence Packages 2026-09-22/README_OPERATOR_ONLY.md. July already described a prototype and methodology. Do not imply the project began from zero after July.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/Users/dhwanilchauhan/Desktop/RCA Try 1/RCA_RESEARCH_OVERVIEW_AND_PLAN.md, sections 5 and 8; /Users/dhwanilchauhan/Desktop/RCA Try 1/Try 7/TRY7_EXECUTIVE_PLAN.md, section 10 implementation receipt and smoke outcome. These are implemented workflow capabilities, not claims of consistently correct reasoning. A specialist is selected for relevant uncertainty. Application versions (Try 4–7) differ from investigation snapshots (V1–V3).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/Users/dhwanilchauhan/Desktop/RCA Try 1/RCA_SYSTEM_REVIEW_2026-09-18.md, sections 2–3; /Users/dhwanilchauhan/Desktop/RCA Try 1/RCA_RESEARCH_OVERVIEW_AND_PLAN.md, sections 5 and 8. These experiments used changing inputs and configurations. They are development observations, not a controlled ranking of versions. Try 4 includes saved R3 versions and IA runs; Try 5 comparison snapshots were diagnostic; Try 6 published a partial IA V1/V2 pair.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/Users/dhwanilchauhan/Desktop/RCA Try 1/Try 7/TRY7_EXECUTIVE_PLAN.md, section 10 implementation receipt and smoke outcome. The implementation receipt documents these changes and 97 deterministic checks (20 engine, 24 Try 7, 37 regression, 16 capacity), plus build/type checks. These are recorded checks, not checks rerun for this presentation. Full-plan acceptance remains incomplete.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/Users/dhwanilchauhan/Desktop/RCA Try 1/Try 7/TRY7_EXECUTIVE_PLAN.md, section 10 implementation receipt and smoke outcome, Observed smoke outcome. Published 20 September 2026 at 8:17:54 PM America/Chicago. Real provider run on a short pneumatic-carriage incident, not the historical benchmark. 21 tasks completed, zero failed/blocked whole tasks. V1 contained 5 selected observations plus a focal event and zero causal links. 20 rejected output items remained preserved; one delivery receipt was pending in the saved snapshot. Configuration changes and a checkpoint repair occurred during the run. Post-run fixes passed scripted tests but await a fresh frozen-config model run.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/Users/dhwanilchauhan/Desktop/RCA Try 1/Synthetic Evidence Packages 2026-09-22/README_OPERATOR_ONLY.md. Packages generated 22 September 2026. Both are historically anchored synthetic reconstructions, not recovered company records. They are derivatives of development incidents already used and are not independent held-out cases. No RCA or storyteller jobs had been launched for these packages in the source record. R3 requires technical review; IA is prepared for pilot and is not independently expert validated.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/Users/dhwanilchauhan/Desktop/RCA Try 1/RCA_IMPLEMENTATION_AND_PAPER_CHECKLIST.md, sections C–E; /Users/dhwanilchauhan/Desktop/RCA Try 1/Try 7/TRY7_EXECUTIVE_PLAN.md, section 10 implementation receipt and smoke outcome; /Users/dhwanilchauhan/Desktop/RCA Try 1/Synthetic Evidence Packages 2026-09-22/README_OPERATOR_ONLY.md. Proposed next steps, not completed results or dated commitments. Begin with the instrument-air package prepared for pilot. Review R3 mechanics before scored use. Freeze the independent assessment protocol before held-out evaluation. Proposed partner input: technical review of scenario realism and causal interpretation.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0da4047dfe41c7" /><Relationship Type="http://schemas.openxmlformats.org/officeDocument/2006/relationships/image" Target="/ppt/media/image.png" Id="R550106cac3504632" /><Relationship Type="http://schemas.openxmlformats.org/officeDocument/2006/relationships/image" Target="/ppt/media/image.jpeg" Id="R4baee966f4ab4cb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033c30527f480a" /><Relationship Type="http://schemas.openxmlformats.org/officeDocument/2006/relationships/image" Target="/ppt/media/image2.png" Id="R57852f4908fa4092" /><Relationship Type="http://schemas.openxmlformats.org/officeDocument/2006/relationships/image" Target="/ppt/media/image3.png" Id="R2fbc7be10a42471d" /><Relationship Type="http://schemas.openxmlformats.org/officeDocument/2006/relationships/image" Target="/ppt/media/image4.png" Id="R3c9b30bb16ee467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4b8f70327d4c84" /><Relationship Type="http://schemas.openxmlformats.org/officeDocument/2006/relationships/image" Target="/ppt/media/image2.png" Id="Rf47353a8d6884a02" /><Relationship Type="http://schemas.openxmlformats.org/officeDocument/2006/relationships/image" Target="/ppt/media/image3.png" Id="R98db73f172ea48b7" /><Relationship Type="http://schemas.openxmlformats.org/officeDocument/2006/relationships/image" Target="/ppt/media/image4.png" Id="Ra70daeebc3ce440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e3673c80954dcf" /><Relationship Type="http://schemas.openxmlformats.org/officeDocument/2006/relationships/image" Target="/ppt/media/image.png" Id="R7535f893d8484aca" /><Relationship Type="http://schemas.openxmlformats.org/officeDocument/2006/relationships/image" Target="/ppt/media/image.jpeg" Id="R65345cdd02414579" /><Relationship Type="http://schemas.openxmlformats.org/officeDocument/2006/relationships/image" Target="/ppt/media/image2.png" Id="Rb8e0c3fecf2648f4" /><Relationship Type="http://schemas.openxmlformats.org/officeDocument/2006/relationships/image" Target="/ppt/media/image3.png" Id="R22a330409c034d9d" /><Relationship Type="http://schemas.openxmlformats.org/officeDocument/2006/relationships/image" Target="/ppt/media/image4.png" Id="Rb465a0de7c9e4f8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d892f6c89e4a14" /><Relationship Type="http://schemas.openxmlformats.org/officeDocument/2006/relationships/image" Target="/ppt/media/image2.png" Id="Rdaa1b51926674e08" /><Relationship Type="http://schemas.openxmlformats.org/officeDocument/2006/relationships/image" Target="/ppt/media/image5.png" Id="R32c097529d5f441e" /><Relationship Type="http://schemas.openxmlformats.org/officeDocument/2006/relationships/image" Target="/ppt/media/image6.png" Id="R99b6e2214f4241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fa88fe1b7a04988" /><Relationship Type="http://schemas.openxmlformats.org/officeDocument/2006/relationships/image" Target="/ppt/media/image7.png" Id="Rea195e8ff9a44751" /><Relationship Type="http://schemas.openxmlformats.org/officeDocument/2006/relationships/image" Target="/ppt/media/image8.png" Id="R2ba97c7dd9844a95" /><Relationship Type="http://schemas.openxmlformats.org/officeDocument/2006/relationships/image" Target="/ppt/media/image6.png" Id="Rdd5b852d83fe4fe0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480cf020944843" /><Relationship Type="http://schemas.openxmlformats.org/officeDocument/2006/relationships/image" Target="/ppt/media/image2.png" Id="R0284530270504c5e" /><Relationship Type="http://schemas.openxmlformats.org/officeDocument/2006/relationships/image" Target="/ppt/media/image5.png" Id="R5cde9f9786104e7e" /><Relationship Type="http://schemas.openxmlformats.org/officeDocument/2006/relationships/image" Target="/ppt/media/image6.png" Id="R724a450b39cb4fa8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3" name="Picture 5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50106cac3504632"/>
          <a:srcRect xmlns:a="http://schemas.openxmlformats.org/drawingml/2006/main" l="0" t="0" r="28542" b="0"/>
          <a:stretch xmlns:a="http://schemas.openxmlformats.org/drawingml/2006/main"/>
        </p:blipFill>
        <p:spPr>
          <a:xfrm xmlns:a="http://schemas.openxmlformats.org/drawingml/2006/main">
            <a:off x="8305801" y="3275239"/>
            <a:ext cx="3886200" cy="3592923"/>
          </a:xfrm>
          <a:prstGeom xmlns:a="http://schemas.openxmlformats.org/drawingml/2006/main" prst="rect">
            <a:avLst/>
          </a:prstGeom>
        </p:spPr>
      </p:pic>
      <p:pic>
        <p:nvPicPr>
          <p:cNvPr id="54" name="Picture 5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baee966f4ab4cbd"/>
          <a:srcRect xmlns:a="http://schemas.openxmlformats.org/drawingml/2006/main" l="8578" t="2647" r="52326" b="52819"/>
          <a:stretch xmlns:a="http://schemas.openxmlformats.org/drawingml/2006/main"/>
        </p:blipFill>
        <p:spPr>
          <a:xfrm xmlns:a="http://schemas.openxmlformats.org/drawingml/2006/main">
            <a:off x="0" y="-44112"/>
            <a:ext cx="4213097" cy="3276514"/>
          </a:xfrm>
          <a:prstGeom xmlns:a="http://schemas.openxmlformats.org/drawingml/2006/main" prst="rect">
            <a:avLst/>
          </a:prstGeom>
        </p:spPr>
      </p:pic>
      <p:sp>
        <p:nvSpPr>
          <p:cNvPr id="50" name="Snip Diagonal Corner Rectangle 49">
            <a:extLst xmlns:a="http://schemas.openxmlformats.org/drawingml/2006/main">
              <a:ext uri="{FF2B5EF4-FFF2-40B4-BE49-F238E27FC236}">
                <a16:creationId xmlns:a16="http://schemas.microsoft.com/office/drawing/2014/main" id="{C613BD0C-777D-4E9D-822E-6C80763E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1717" y="-2683974"/>
            <a:ext cx="6908563" cy="12191998"/>
          </a:xfrm>
          <a:prstGeom xmlns:a="http://schemas.openxmlformats.org/drawingml/2006/main" prst="snip2DiagRect">
            <a:avLst>
              <a:gd name="adj1" fmla="val 0"/>
              <a:gd name="adj2" fmla="val 4117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22225">
            <a:solidFill>
              <a:schemeClr val="bg1"/>
            </a:solidFill>
          </a:ln>
          <a:effectLst xmlns:a="http://schemas.openxmlformats.org/drawingml/2006/main"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0C53664-7DA2-4629-804A-C1424851D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1B829C-E906-4347-A2CD-D28EFBE0935E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339596" y="349543"/>
            <a:ext cx="9480804" cy="37211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5" name="Text Placeholder 34">
            <a:extLst xmlns:a="http://schemas.openxmlformats.org/drawingml/2006/main">
              <a:ext uri="{FF2B5EF4-FFF2-40B4-BE49-F238E27FC236}">
                <a16:creationId xmlns:a16="http://schemas.microsoft.com/office/drawing/2014/main" id="{79E2842E-701C-4E74-B5D2-4AF5578C11E5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7315200" y="95070"/>
            <a:ext cx="4668652" cy="50523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r">
              <a:buNone/>
              <a:defRPr sz="24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Date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SMSVC_Title_and_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D79E52E-1D45-4339-96B2-A46EF4D4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5" name="Right Triangle 64">
            <a:extLst xmlns:a="http://schemas.openxmlformats.org/drawingml/2006/main">
              <a:ext uri="{FF2B5EF4-FFF2-40B4-BE49-F238E27FC236}">
                <a16:creationId xmlns:a16="http://schemas.microsoft.com/office/drawing/2014/main" id="{48AAC7C0-08B0-4B34-99E7-77D7BA43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437" y="-7284"/>
            <a:ext cx="914538" cy="914539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6" name="Right Triangle 65">
            <a:extLst xmlns:a="http://schemas.openxmlformats.org/drawingml/2006/main">
              <a:ext uri="{FF2B5EF4-FFF2-40B4-BE49-F238E27FC236}">
                <a16:creationId xmlns:a16="http://schemas.microsoft.com/office/drawing/2014/main" id="{48ABE9F8-FC76-477E-A9D6-CBF6BB5D7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435" y="-7284"/>
            <a:ext cx="800237" cy="80023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7" name="Right Triangle 66">
            <a:extLst xmlns:a="http://schemas.openxmlformats.org/drawingml/2006/main">
              <a:ext uri="{FF2B5EF4-FFF2-40B4-BE49-F238E27FC236}">
                <a16:creationId xmlns:a16="http://schemas.microsoft.com/office/drawing/2014/main" id="{66835AB3-2664-4727-961B-5400869C9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1885" y="-13510"/>
            <a:ext cx="679451" cy="6810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4" name="Right Triangle 13">
            <a:extLst xmlns:a="http://schemas.openxmlformats.org/drawingml/2006/main">
              <a:ext uri="{FF2B5EF4-FFF2-40B4-BE49-F238E27FC236}">
                <a16:creationId xmlns:a16="http://schemas.microsoft.com/office/drawing/2014/main" id="{5B0BC8F8-7BE6-429C-A5DD-F31FE21DD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1399" y="5872387"/>
            <a:ext cx="996447" cy="9964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1" name="Right Triangle 60">
            <a:extLst xmlns:a="http://schemas.openxmlformats.org/drawingml/2006/main">
              <a:ext uri="{FF2B5EF4-FFF2-40B4-BE49-F238E27FC236}">
                <a16:creationId xmlns:a16="http://schemas.microsoft.com/office/drawing/2014/main" id="{CC3B5AB6-DFA6-44CB-80E2-84E0DAC67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1401" y="5872387"/>
            <a:ext cx="830368" cy="830368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62" name="Right Triangle 61">
            <a:extLst xmlns:a="http://schemas.openxmlformats.org/drawingml/2006/main">
              <a:ext uri="{FF2B5EF4-FFF2-40B4-BE49-F238E27FC236}">
                <a16:creationId xmlns:a16="http://schemas.microsoft.com/office/drawing/2014/main" id="{823F98FA-4462-4797-9E1F-7A9D334C5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1205873" y="5876864"/>
            <a:ext cx="668998" cy="670595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itle 11">
            <a:extLst xmlns:a="http://schemas.openxmlformats.org/drawingml/2006/main">
              <a:ext uri="{FF2B5EF4-FFF2-40B4-BE49-F238E27FC236}">
                <a16:creationId xmlns:a16="http://schemas.microsoft.com/office/drawing/2014/main" id="{32ADA82B-CFA7-469F-84D2-1C16680A3188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22211" y="142874"/>
            <a:ext cx="9271895" cy="676863"/>
          </a:xfrm>
          <a:prstGeom xmlns:a="http://schemas.openxmlformats.org/drawingml/2006/main" prst="roundRect">
            <a:avLst>
              <a:gd name="adj" fmla="val 12434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3600">
                <a:ln w="3175">
                  <a:noFill/>
                </a:ln>
                <a:solidFill>
                  <a:srgbClr val="DDAB18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1471FF52-2762-4A60-B309-AD9DB19B72A4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139985" y="942531"/>
            <a:ext cx="11877187" cy="5596608"/>
          </a:xfrm>
        </p:spPr>
        <p:txBody>
          <a:bodyPr xmlns:a="http://schemas.openxmlformats.org/drawingml/2006/main"/>
          <a:lstStyle xmlns:a="http://schemas.openxmlformats.org/drawingml/2006/main">
            <a:lvl1pPr marL="342900" indent="-342900">
              <a:buClr>
                <a:srgbClr val="CC9900"/>
              </a:buClr>
              <a:buFont typeface="Wingdings"/>
              <a:buChar char="Ø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Clr>
                <a:srgbClr val="CC9900"/>
              </a:buClr>
              <a:buFont typeface="Arial"/>
              <a:buChar char="•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Clr>
                <a:srgbClr val="CC9900"/>
              </a:buClr>
              <a:buFont typeface="Wingdings"/>
              <a:buChar char="§"/>
              <a:defRPr sz="2800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</a:lstStyle>
          <a:p xmlns:a="http://schemas.openxmlformats.org/drawingml/2006/main">
            <a:pPr lvl="0">
              <a:buNone/>
            </a:pPr>
            <a:r>
              <a:t>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77559C-A164-4035-BD7D-AB648029C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27518" y="6525500"/>
            <a:ext cx="476979" cy="3385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fld id="{1400A495-A80B-49F4-9B3C-48CB464754E0}" type="slidenum">
              <a:rPr sz="1600">
                <a:solidFill>
                  <a:schemeClr val="tx1">
                    <a:lumMod val="85000"/>
                    <a:lumOff val="15000"/>
                  </a:schemeClr>
                </a:solidFill>
              </a:rPr>
              <a:t>‹#›</a:t>
            </a:fld>
            <a:endParaRPr sz="16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90" name="Picture 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7852f4908fa4092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11391827" y="102382"/>
            <a:ext cx="752547" cy="380077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EC791FE0-2BCA-46BF-AB9A-CEFF6914B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3175" y="517735"/>
            <a:ext cx="2002246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900" b="0">
                <a:solidFill>
                  <a:schemeClr val="tx1"/>
                </a:solidFill>
              </a:rPr>
              <a:t>pnw.edu/civs    </a:t>
            </a:r>
            <a:r>
              <a:rPr sz="900" b="0">
                <a:solidFill>
                  <a:schemeClr val="tx1"/>
                </a:solidFill>
              </a:rPr>
              <a:t> </a:t>
            </a:r>
            <a:r>
              <a:rPr sz="900" b="0">
                <a:solidFill>
                  <a:schemeClr val="tx1"/>
                </a:solidFill>
              </a:rPr>
              <a:t>steelconsortium.org</a:t>
            </a:r>
          </a:p>
        </p:txBody>
      </p:sp>
      <p:pic>
        <p:nvPicPr>
          <p:cNvPr id="92" name="Picture 6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bc7be10a42471d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3136" y="166218"/>
            <a:ext cx="643358" cy="275489"/>
          </a:xfrm>
          <a:prstGeom xmlns:a="http://schemas.openxmlformats.org/drawingml/2006/main" prst="rect">
            <a:avLst/>
          </a:prstGeom>
        </p:spPr>
      </p:pic>
      <p:sp>
        <p:nvSpPr>
          <p:cNvPr id="70" name="Straight Connector 69">
            <a:extLst xmlns:a="http://schemas.openxmlformats.org/drawingml/2006/main">
              <a:ext uri="{FF2B5EF4-FFF2-40B4-BE49-F238E27FC236}">
                <a16:creationId xmlns:a16="http://schemas.microsoft.com/office/drawing/2014/main" id="{006B9109-51B9-4AC8-ADF5-592715AF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94108" y="517735"/>
            <a:ext cx="192169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2" name="Straight Connector 71">
            <a:extLst xmlns:a="http://schemas.openxmlformats.org/drawingml/2006/main">
              <a:ext uri="{FF2B5EF4-FFF2-40B4-BE49-F238E27FC236}">
                <a16:creationId xmlns:a16="http://schemas.microsoft.com/office/drawing/2014/main" id="{3C40DD5F-7655-4B5E-9FE3-2E8810B3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94107" y="761477"/>
            <a:ext cx="1921693" cy="52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0EECA15C-4333-43BD-8584-D7D2C21E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0419" y="107156"/>
            <a:ext cx="381000" cy="367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96" name="Picture 7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9b30bb16ee467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959381" y="85856"/>
            <a:ext cx="419718" cy="4023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preserve="1" userDrawn="1">
  <p:cSld name="2_SMSVC_Sec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0371DC0B-75B5-4DC3-830C-215CD5963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8" name="Title 11">
            <a:extLst xmlns:a="http://schemas.openxmlformats.org/drawingml/2006/main">
              <a:ext uri="{FF2B5EF4-FFF2-40B4-BE49-F238E27FC236}">
                <a16:creationId xmlns:a16="http://schemas.microsoft.com/office/drawing/2014/main" id="{8E9DA480-C29B-4BFB-9082-2336F703029F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352803" y="2745581"/>
            <a:ext cx="9474199" cy="1366837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ctr">
              <a:spcBef>
                <a:spcPct val="0"/>
              </a:spcBef>
              <a:spcAft>
                <a:spcPct val="0"/>
              </a:spcAft>
              <a:buNone/>
              <a:defRPr sz="4800" b="1" kern="1200">
                <a:ln w="3175">
                  <a:noFill/>
                </a:ln>
                <a:solidFill>
                  <a:srgbClr val="DDAB18"/>
                </a:solidFill>
                <a:latin typeface="Arial"/>
                <a:ea typeface="Arial"/>
                <a:cs typeface="Arial"/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6" name="Right Triangle 35">
            <a:extLst xmlns:a="http://schemas.openxmlformats.org/drawingml/2006/main">
              <a:ext uri="{FF2B5EF4-FFF2-40B4-BE49-F238E27FC236}">
                <a16:creationId xmlns:a16="http://schemas.microsoft.com/office/drawing/2014/main" id="{04D783C7-0450-44B3-AA47-F5F67B3A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207" y="2356"/>
            <a:ext cx="3192910" cy="319291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8" name="Right Triangle 37">
            <a:extLst xmlns:a="http://schemas.openxmlformats.org/drawingml/2006/main">
              <a:ext uri="{FF2B5EF4-FFF2-40B4-BE49-F238E27FC236}">
                <a16:creationId xmlns:a16="http://schemas.microsoft.com/office/drawing/2014/main" id="{25972847-38A9-4ADF-89E1-0EA9B684E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5200" y="2356"/>
            <a:ext cx="2660747" cy="26607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Right Triangle 38">
            <a:extLst xmlns:a="http://schemas.openxmlformats.org/drawingml/2006/main">
              <a:ext uri="{FF2B5EF4-FFF2-40B4-BE49-F238E27FC236}">
                <a16:creationId xmlns:a16="http://schemas.microsoft.com/office/drawing/2014/main" id="{3C62F731-5F71-4F37-9514-6AB7591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-10137" y="-15263"/>
            <a:ext cx="2143668" cy="21487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1" name="Right Triangle 40">
            <a:extLst xmlns:a="http://schemas.openxmlformats.org/drawingml/2006/main">
              <a:ext uri="{FF2B5EF4-FFF2-40B4-BE49-F238E27FC236}">
                <a16:creationId xmlns:a16="http://schemas.microsoft.com/office/drawing/2014/main" id="{8F5A1457-5062-475A-AD5C-4481BA7DB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04299" y="3665090"/>
            <a:ext cx="3192911" cy="319291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F6EACA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2" name="Right Triangle 41">
            <a:extLst xmlns:a="http://schemas.openxmlformats.org/drawingml/2006/main">
              <a:ext uri="{FF2B5EF4-FFF2-40B4-BE49-F238E27FC236}">
                <a16:creationId xmlns:a16="http://schemas.microsoft.com/office/drawing/2014/main" id="{E19899B0-026D-4592-BDB8-BC7EDECAB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04306" y="3665096"/>
            <a:ext cx="2660747" cy="266074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DD48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3" name="Right Triangle 42">
            <a:extLst xmlns:a="http://schemas.openxmlformats.org/drawingml/2006/main">
              <a:ext uri="{FF2B5EF4-FFF2-40B4-BE49-F238E27FC236}">
                <a16:creationId xmlns:a16="http://schemas.microsoft.com/office/drawing/2014/main" id="{01594197-1C44-40DD-A202-9B0E3984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9012072" y="3660174"/>
            <a:ext cx="2143668" cy="214878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E0B53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69" name="Picture 5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7353a8d6884a02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11391827" y="102382"/>
            <a:ext cx="752547" cy="380077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73E78D2E-CCF3-4FDD-861D-CA7CF3F30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6350" y="517735"/>
            <a:ext cx="1999071" cy="2308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900" b="0">
                <a:solidFill>
                  <a:schemeClr val="tx1"/>
                </a:solidFill>
              </a:rPr>
              <a:t>pnw.edu/civs    </a:t>
            </a:r>
            <a:r>
              <a:rPr sz="900" b="0">
                <a:solidFill>
                  <a:schemeClr val="tx1"/>
                </a:solidFill>
              </a:rPr>
              <a:t> </a:t>
            </a:r>
            <a:r>
              <a:rPr sz="900" b="0">
                <a:solidFill>
                  <a:schemeClr val="tx1"/>
                </a:solidFill>
              </a:rPr>
              <a:t>steelconsortium.org</a:t>
            </a:r>
          </a:p>
        </p:txBody>
      </p:sp>
      <p:pic>
        <p:nvPicPr>
          <p:cNvPr id="71" name="Picture 5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db73f172ea48b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223136" y="166218"/>
            <a:ext cx="643358" cy="275489"/>
          </a:xfrm>
          <a:prstGeom xmlns:a="http://schemas.openxmlformats.org/drawingml/2006/main" prst="rect">
            <a:avLst/>
          </a:prstGeom>
        </p:spPr>
      </p:pic>
      <p:sp>
        <p:nvSpPr>
          <p:cNvPr id="54" name="Straight Connector 53">
            <a:extLst xmlns:a="http://schemas.openxmlformats.org/drawingml/2006/main">
              <a:ext uri="{FF2B5EF4-FFF2-40B4-BE49-F238E27FC236}">
                <a16:creationId xmlns:a16="http://schemas.microsoft.com/office/drawing/2014/main" id="{5089A7A7-4BD2-4455-B42A-F80CBB691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194108" y="517735"/>
            <a:ext cx="1921692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ADBA7584-C6B1-42CD-A7AA-BBD37206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194107" y="761477"/>
            <a:ext cx="1921693" cy="523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D5A61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749CAF8C-3D0C-4C7D-A20C-11C57A80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70419" y="107156"/>
            <a:ext cx="381000" cy="3677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75" name="Picture 5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0daeebc3ce440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959381" y="85856"/>
            <a:ext cx="419718" cy="402302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preserve="1" userDrawn="1">
  <p:cSld name="3_SMSVC_Conclusion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5" name="Picture 3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35f893d8484aca"/>
          <a:srcRect xmlns:a="http://schemas.openxmlformats.org/drawingml/2006/main" l="0" t="0" r="30193" b="0"/>
          <a:stretch xmlns:a="http://schemas.openxmlformats.org/drawingml/2006/main"/>
        </p:blipFill>
        <p:spPr>
          <a:xfrm xmlns:a="http://schemas.openxmlformats.org/drawingml/2006/main">
            <a:off x="8394040" y="3276399"/>
            <a:ext cx="3796425" cy="3592923"/>
          </a:xfrm>
          <a:prstGeom xmlns:a="http://schemas.openxmlformats.org/drawingml/2006/main" prst="rect">
            <a:avLst/>
          </a:prstGeom>
        </p:spPr>
      </p:pic>
      <p:pic>
        <p:nvPicPr>
          <p:cNvPr id="46" name="Picture 3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5345cdd02414579"/>
          <a:srcRect xmlns:a="http://schemas.openxmlformats.org/drawingml/2006/main" l="8727" t="0" r="52326" b="52820"/>
          <a:stretch xmlns:a="http://schemas.openxmlformats.org/drawingml/2006/main"/>
        </p:blipFill>
        <p:spPr>
          <a:xfrm xmlns:a="http://schemas.openxmlformats.org/drawingml/2006/main">
            <a:off x="0" y="-42257"/>
            <a:ext cx="4197020" cy="3471257"/>
          </a:xfrm>
          <a:prstGeom xmlns:a="http://schemas.openxmlformats.org/drawingml/2006/main" prst="rect">
            <a:avLst/>
          </a:prstGeom>
        </p:spPr>
      </p:pic>
      <p:sp>
        <p:nvSpPr>
          <p:cNvPr id="33" name="Snip Diagonal Corner Rectangle 32">
            <a:extLst xmlns:a="http://schemas.openxmlformats.org/drawingml/2006/main">
              <a:ext uri="{FF2B5EF4-FFF2-40B4-BE49-F238E27FC236}">
                <a16:creationId xmlns:a16="http://schemas.microsoft.com/office/drawing/2014/main" id="{7BF54951-0F86-490D-8105-7190A1065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641717" y="-2683974"/>
            <a:ext cx="6908563" cy="12191998"/>
          </a:xfrm>
          <a:prstGeom xmlns:a="http://schemas.openxmlformats.org/drawingml/2006/main" prst="snip2DiagRect">
            <a:avLst>
              <a:gd name="adj1" fmla="val 0"/>
              <a:gd name="adj2" fmla="val 50000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22225">
            <a:solidFill>
              <a:schemeClr val="bg1"/>
            </a:solidFill>
          </a:ln>
          <a:effectLst xmlns:a="http://schemas.openxmlformats.org/drawingml/2006/main">
            <a:outerShdw blurRad="63500" sx="101000" sy="101000" algn="ctr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5618CF3-FCB2-4E7C-ACE3-FFECFCB3B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040" y="1781563"/>
            <a:ext cx="3043164" cy="425840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>
              <a:solidFill>
                <a:sysClr val="windowText" lastClr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9" name="Picture 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8e0c3fecf2648f4"/>
          <a:srcRect xmlns:a="http://schemas.openxmlformats.org/drawingml/2006/main" l="-4648" t="-3839" r="-3463" b="-5785"/>
          <a:stretch xmlns:a="http://schemas.openxmlformats.org/drawingml/2006/main"/>
        </p:blipFill>
        <p:spPr>
          <a:xfrm xmlns:a="http://schemas.openxmlformats.org/drawingml/2006/main">
            <a:off x="5300092" y="5353249"/>
            <a:ext cx="1677936" cy="856090"/>
          </a:xfrm>
          <a:prstGeom xmlns:a="http://schemas.openxmlformats.org/drawingml/2006/main" prst="roundRect">
            <a:avLst>
              <a:gd name="adj" fmla="val 8594"/>
            </a:avLst>
          </a:prstGeom>
          <a:ln xmlns:a="http://schemas.openxmlformats.org/drawingml/2006/main" w="12700" cap="rnd">
            <a:solidFill>
              <a:schemeClr val="bg1"/>
            </a:solidFill>
          </a:ln>
        </p:spPr>
      </p:pic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F82ADC8C-B0C8-40FD-98A3-45EDE34A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6100273"/>
            <a:ext cx="3059344" cy="425840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000">
              <a:solidFill>
                <a:sysClr val="windowText" lastClr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94A6CA7-84DB-4900-A509-D852EAB41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218544" y="3965839"/>
            <a:ext cx="3373256" cy="1320652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u="sng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More Information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pnw.edu/civs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steelconsortium.org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B9E1B46F-03FB-460C-AECC-A714A9607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83590" y="2244680"/>
            <a:ext cx="3043164" cy="1680127"/>
          </a:xfrm>
          <a:prstGeom xmlns:a="http://schemas.openxmlformats.org/drawingml/2006/main" prst="roundRect">
            <a:avLst>
              <a:gd name="adj" fmla="val 8667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u="sng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Contact Us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civs@pnw.edu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24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219.989.2765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24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977C8BB-BFA7-463D-AEDA-BE39E498A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4498" y="3552346"/>
            <a:ext cx="184731" cy="76944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endParaRPr sz="4400" b="1" kern="1200">
              <a:solidFill>
                <a:schemeClr val="tx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6DD8288-04BC-47DF-A0B9-F4590D70F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3504" y="2694707"/>
            <a:ext cx="2951449" cy="19389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40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Questions?</a:t>
            </a: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4000" b="0" kern="1200" cap="none">
              <a:ln w="0">
                <a:solidFill>
                  <a:schemeClr val="bg1">
                    <a:lumMod val="75000"/>
                    <a:alpha val="47000"/>
                  </a:schemeClr>
                </a:solidFill>
              </a:ln>
              <a:solidFill>
                <a:schemeClr val="tx1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4000" b="0" cap="none">
                <a:ln w="0">
                  <a:solidFill>
                    <a:schemeClr val="bg1">
                      <a:lumMod val="75000"/>
                      <a:alpha val="47000"/>
                    </a:schemeClr>
                  </a:solidFill>
                </a:ln>
                <a:solidFill>
                  <a:schemeClr val="tx1"/>
                </a:solidFill>
                <a:latin typeface="Arial"/>
                <a:ea typeface="Arial"/>
                <a:cs typeface="Arial"/>
              </a:rPr>
              <a:t>Comments?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EB11F673-006C-4A82-A85C-47B33E13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406" y="646459"/>
            <a:ext cx="4437882" cy="11079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6600" b="1">
                <a:solidFill>
                  <a:srgbClr val="CC9900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pic>
        <p:nvPicPr>
          <p:cNvPr id="56" name="Picture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330409c034d9d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7460" y="2339763"/>
            <a:ext cx="1739774" cy="744981"/>
          </a:xfrm>
          <a:prstGeom xmlns:a="http://schemas.openxmlformats.org/drawingml/2006/main" prst="rect">
            <a:avLst/>
          </a:prstGeom>
        </p:spPr>
      </p:pic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7653B2D-C146-442F-8D9F-3743E880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104177" y="4625962"/>
            <a:ext cx="2069766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 i="1">
                <a:solidFill>
                  <a:srgbClr val="D6A616"/>
                </a:solidFill>
                <a:latin typeface="Monotype Corsiva"/>
                <a:ea typeface="Monotype Corsiva"/>
                <a:cs typeface="Monotype Corsiva"/>
              </a:rPr>
              <a:t>“Where Ideas Become Reality”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79FA37C5-AD59-4B58-B76F-15E7B3ED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687891" y="3701648"/>
            <a:ext cx="914120" cy="88233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6A51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59" name="Picture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5a0de7c9e4f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5661408" y="3650544"/>
            <a:ext cx="1007015" cy="96522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userDrawn="1">
  <p:cSld name="SMSVC_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475DC50-102E-4AD1-BF5E-E9F5ADC81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85000">
                <a:srgbClr val="E3D38D"/>
              </a:gs>
              <a:gs pos="0">
                <a:srgbClr val="DAC56C"/>
              </a:gs>
              <a:gs pos="100000">
                <a:srgbClr val="D0B646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BFB9876-0C33-4E54-B803-DF150D9B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6637572"/>
            <a:ext cx="3394402" cy="229872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4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C706BC0-60DE-4E97-B5BF-95F2D5C1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635388"/>
            <a:ext cx="3213101" cy="238739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85000">
                <a:srgbClr val="454545"/>
              </a:gs>
              <a:gs pos="0">
                <a:schemeClr val="tx1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7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B5BA4E3A-C847-41D6-BD83-FA4AC88D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1360"/>
            <a:ext cx="1006247" cy="233901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4345"/>
              <a:gd name="connsiteY0" fmla="*/ 220012 h 230334"/>
              <a:gd name="connsiteX1" fmla="*/ 0 w 644345"/>
              <a:gd name="connsiteY1" fmla="*/ 2246 h 230334"/>
              <a:gd name="connsiteX2" fmla="*/ 304985 w 644345"/>
              <a:gd name="connsiteY2" fmla="*/ 80655 h 230334"/>
              <a:gd name="connsiteX3" fmla="*/ 638732 w 644345"/>
              <a:gd name="connsiteY3" fmla="*/ 220012 h 230334"/>
              <a:gd name="connsiteX4" fmla="*/ 0 w 644345"/>
              <a:gd name="connsiteY4" fmla="*/ 220012 h 230334"/>
              <a:gd name="connsiteX0" fmla="*/ 0 w 644752"/>
              <a:gd name="connsiteY0" fmla="*/ 219520 h 229842"/>
              <a:gd name="connsiteX1" fmla="*/ 0 w 644752"/>
              <a:gd name="connsiteY1" fmla="*/ 1754 h 229842"/>
              <a:gd name="connsiteX2" fmla="*/ 304985 w 644752"/>
              <a:gd name="connsiteY2" fmla="*/ 80163 h 229842"/>
              <a:gd name="connsiteX3" fmla="*/ 638732 w 644752"/>
              <a:gd name="connsiteY3" fmla="*/ 219520 h 229842"/>
              <a:gd name="connsiteX4" fmla="*/ 0 w 644752"/>
              <a:gd name="connsiteY4" fmla="*/ 219520 h 229842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51187"/>
              <a:gd name="connsiteY0" fmla="*/ 219082 h 227777"/>
              <a:gd name="connsiteX1" fmla="*/ 0 w 651187"/>
              <a:gd name="connsiteY1" fmla="*/ 1316 h 227777"/>
              <a:gd name="connsiteX2" fmla="*/ 278635 w 651187"/>
              <a:gd name="connsiteY2" fmla="*/ 101695 h 227777"/>
              <a:gd name="connsiteX3" fmla="*/ 638732 w 651187"/>
              <a:gd name="connsiteY3" fmla="*/ 219082 h 227777"/>
              <a:gd name="connsiteX4" fmla="*/ 0 w 651187"/>
              <a:gd name="connsiteY4" fmla="*/ 219082 h 227777"/>
              <a:gd name="connsiteX0" fmla="*/ 0 w 651187"/>
              <a:gd name="connsiteY0" fmla="*/ 219082 h 222144"/>
              <a:gd name="connsiteX1" fmla="*/ 0 w 651187"/>
              <a:gd name="connsiteY1" fmla="*/ 1316 h 222144"/>
              <a:gd name="connsiteX2" fmla="*/ 278635 w 651187"/>
              <a:gd name="connsiteY2" fmla="*/ 101695 h 222144"/>
              <a:gd name="connsiteX3" fmla="*/ 638732 w 651187"/>
              <a:gd name="connsiteY3" fmla="*/ 219082 h 222144"/>
              <a:gd name="connsiteX4" fmla="*/ 0 w 651187"/>
              <a:gd name="connsiteY4" fmla="*/ 219082 h 222144"/>
              <a:gd name="connsiteX0" fmla="*/ 0 w 650309"/>
              <a:gd name="connsiteY0" fmla="*/ 219019 h 222196"/>
              <a:gd name="connsiteX1" fmla="*/ 0 w 650309"/>
              <a:gd name="connsiteY1" fmla="*/ 1253 h 222196"/>
              <a:gd name="connsiteX2" fmla="*/ 247894 w 650309"/>
              <a:gd name="connsiteY2" fmla="*/ 106026 h 222196"/>
              <a:gd name="connsiteX3" fmla="*/ 638732 w 650309"/>
              <a:gd name="connsiteY3" fmla="*/ 219019 h 222196"/>
              <a:gd name="connsiteX4" fmla="*/ 0 w 650309"/>
              <a:gd name="connsiteY4" fmla="*/ 219019 h 222196"/>
              <a:gd name="connsiteX0" fmla="*/ 0 w 650197"/>
              <a:gd name="connsiteY0" fmla="*/ 219183 h 222672"/>
              <a:gd name="connsiteX1" fmla="*/ 0 w 650197"/>
              <a:gd name="connsiteY1" fmla="*/ 1417 h 222672"/>
              <a:gd name="connsiteX2" fmla="*/ 247894 w 650197"/>
              <a:gd name="connsiteY2" fmla="*/ 106190 h 222672"/>
              <a:gd name="connsiteX3" fmla="*/ 638732 w 650197"/>
              <a:gd name="connsiteY3" fmla="*/ 219183 h 222672"/>
              <a:gd name="connsiteX4" fmla="*/ 0 w 650197"/>
              <a:gd name="connsiteY4" fmla="*/ 219183 h 222672"/>
              <a:gd name="connsiteX0" fmla="*/ 0 w 650486"/>
              <a:gd name="connsiteY0" fmla="*/ 219034 h 222239"/>
              <a:gd name="connsiteX1" fmla="*/ 0 w 650486"/>
              <a:gd name="connsiteY1" fmla="*/ 1268 h 222239"/>
              <a:gd name="connsiteX2" fmla="*/ 247894 w 650486"/>
              <a:gd name="connsiteY2" fmla="*/ 106041 h 222239"/>
              <a:gd name="connsiteX3" fmla="*/ 638732 w 650486"/>
              <a:gd name="connsiteY3" fmla="*/ 219034 h 222239"/>
              <a:gd name="connsiteX4" fmla="*/ 0 w 650486"/>
              <a:gd name="connsiteY4" fmla="*/ 219034 h 222239"/>
              <a:gd name="connsiteX0" fmla="*/ 76853 w 715584"/>
              <a:gd name="connsiteY0" fmla="*/ 214693 h 214693"/>
              <a:gd name="connsiteX1" fmla="*/ 0 w 715584"/>
              <a:gd name="connsiteY1" fmla="*/ 1321 h 214693"/>
              <a:gd name="connsiteX2" fmla="*/ 324747 w 715584"/>
              <a:gd name="connsiteY2" fmla="*/ 101700 h 214693"/>
              <a:gd name="connsiteX3" fmla="*/ 715585 w 715584"/>
              <a:gd name="connsiteY3" fmla="*/ 214693 h 214693"/>
              <a:gd name="connsiteX4" fmla="*/ 76853 w 715584"/>
              <a:gd name="connsiteY4" fmla="*/ 214693 h 214693"/>
              <a:gd name="connsiteX0" fmla="*/ 0 w 715587"/>
              <a:gd name="connsiteY0" fmla="*/ 214693 h 214693"/>
              <a:gd name="connsiteX1" fmla="*/ 2 w 715587"/>
              <a:gd name="connsiteY1" fmla="*/ 1321 h 214693"/>
              <a:gd name="connsiteX2" fmla="*/ 324749 w 715587"/>
              <a:gd name="connsiteY2" fmla="*/ 101700 h 214693"/>
              <a:gd name="connsiteX3" fmla="*/ 715587 w 715587"/>
              <a:gd name="connsiteY3" fmla="*/ 214693 h 214693"/>
              <a:gd name="connsiteX4" fmla="*/ 0 w 715587"/>
              <a:gd name="connsiteY4" fmla="*/ 214693 h 214693"/>
              <a:gd name="connsiteX0" fmla="*/ 0 w 715587"/>
              <a:gd name="connsiteY0" fmla="*/ 214387 h 214387"/>
              <a:gd name="connsiteX1" fmla="*/ 2 w 715587"/>
              <a:gd name="connsiteY1" fmla="*/ 1015 h 214387"/>
              <a:gd name="connsiteX2" fmla="*/ 368666 w 715587"/>
              <a:gd name="connsiteY2" fmla="*/ 127757 h 214387"/>
              <a:gd name="connsiteX3" fmla="*/ 715587 w 715587"/>
              <a:gd name="connsiteY3" fmla="*/ 214387 h 214387"/>
              <a:gd name="connsiteX4" fmla="*/ 0 w 715587"/>
              <a:gd name="connsiteY4" fmla="*/ 214387 h 214387"/>
              <a:gd name="connsiteX0" fmla="*/ 0 w 715587"/>
              <a:gd name="connsiteY0" fmla="*/ 214783 h 214783"/>
              <a:gd name="connsiteX1" fmla="*/ 2 w 715587"/>
              <a:gd name="connsiteY1" fmla="*/ 1411 h 214783"/>
              <a:gd name="connsiteX2" fmla="*/ 368666 w 715587"/>
              <a:gd name="connsiteY2" fmla="*/ 128153 h 214783"/>
              <a:gd name="connsiteX3" fmla="*/ 715587 w 715587"/>
              <a:gd name="connsiteY3" fmla="*/ 214783 h 214783"/>
              <a:gd name="connsiteX4" fmla="*/ 0 w 715587"/>
              <a:gd name="connsiteY4" fmla="*/ 214783 h 214783"/>
              <a:gd name="connsiteX0" fmla="*/ 0 w 715587"/>
              <a:gd name="connsiteY0" fmla="*/ 214298 h 214298"/>
              <a:gd name="connsiteX1" fmla="*/ 2 w 715587"/>
              <a:gd name="connsiteY1" fmla="*/ 926 h 214298"/>
              <a:gd name="connsiteX2" fmla="*/ 368666 w 715587"/>
              <a:gd name="connsiteY2" fmla="*/ 127668 h 214298"/>
              <a:gd name="connsiteX3" fmla="*/ 715587 w 715587"/>
              <a:gd name="connsiteY3" fmla="*/ 214298 h 214298"/>
              <a:gd name="connsiteX4" fmla="*/ 0 w 715587"/>
              <a:gd name="connsiteY4" fmla="*/ 214298 h 214298"/>
              <a:gd name="connsiteX0" fmla="*/ 0 w 715587"/>
              <a:gd name="connsiteY0" fmla="*/ 214407 h 214407"/>
              <a:gd name="connsiteX1" fmla="*/ 2 w 715587"/>
              <a:gd name="connsiteY1" fmla="*/ 1035 h 214407"/>
              <a:gd name="connsiteX2" fmla="*/ 408190 w 715587"/>
              <a:gd name="connsiteY2" fmla="*/ 114596 h 214407"/>
              <a:gd name="connsiteX3" fmla="*/ 715587 w 715587"/>
              <a:gd name="connsiteY3" fmla="*/ 214407 h 214407"/>
              <a:gd name="connsiteX4" fmla="*/ 0 w 715587"/>
              <a:gd name="connsiteY4" fmla="*/ 214407 h 214407"/>
              <a:gd name="connsiteX0" fmla="*/ 0 w 715587"/>
              <a:gd name="connsiteY0" fmla="*/ 214730 h 214730"/>
              <a:gd name="connsiteX1" fmla="*/ 2 w 715587"/>
              <a:gd name="connsiteY1" fmla="*/ 1358 h 214730"/>
              <a:gd name="connsiteX2" fmla="*/ 381840 w 715587"/>
              <a:gd name="connsiteY2" fmla="*/ 88556 h 214730"/>
              <a:gd name="connsiteX3" fmla="*/ 715587 w 715587"/>
              <a:gd name="connsiteY3" fmla="*/ 214730 h 214730"/>
              <a:gd name="connsiteX4" fmla="*/ 0 w 715587"/>
              <a:gd name="connsiteY4" fmla="*/ 214730 h 214730"/>
              <a:gd name="connsiteX0" fmla="*/ 0 w 715587"/>
              <a:gd name="connsiteY0" fmla="*/ 215799 h 215799"/>
              <a:gd name="connsiteX1" fmla="*/ 2 w 715587"/>
              <a:gd name="connsiteY1" fmla="*/ 2427 h 215799"/>
              <a:gd name="connsiteX2" fmla="*/ 381840 w 715587"/>
              <a:gd name="connsiteY2" fmla="*/ 89625 h 215799"/>
              <a:gd name="connsiteX3" fmla="*/ 715587 w 715587"/>
              <a:gd name="connsiteY3" fmla="*/ 215799 h 215799"/>
              <a:gd name="connsiteX4" fmla="*/ 0 w 715587"/>
              <a:gd name="connsiteY4" fmla="*/ 215799 h 215799"/>
            </a:gdLst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7972F4F9-BC7B-465F-8EF8-55849CC39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</a:rPr>
              <a:t>pnw.edu/</a:t>
            </a:r>
            <a:r>
              <a:rPr sz="1000">
                <a:solidFill>
                  <a:schemeClr val="tx1"/>
                </a:solidFill>
              </a:rPr>
              <a:t>civs</a:t>
            </a:r>
            <a:endParaRPr sz="1000">
              <a:solidFill>
                <a:schemeClr val="tx1"/>
              </a:solidFill>
            </a:endParaR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CCF3210-EFF3-4B68-AAB4-46C42FEEC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343" y="6627907"/>
            <a:ext cx="2465551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>
                    <a:lumMod val="95000"/>
                  </a:schemeClr>
                </a:solidFill>
              </a:rPr>
              <a:t>civs@pnw.edu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F18069F-CFAC-4162-858E-1816481A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6" y="-1285"/>
            <a:ext cx="12196064" cy="60179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CEB23A"/>
              </a:gs>
              <a:gs pos="24000">
                <a:srgbClr val="DBC671"/>
              </a:gs>
              <a:gs pos="100000">
                <a:srgbClr val="D9C368"/>
              </a:gs>
              <a:gs pos="11000">
                <a:srgbClr val="E6D89A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1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35B242B-873A-45BB-8FFE-5FA99DCEB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-1285"/>
            <a:ext cx="3381702" cy="623077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F878945-BD20-47D2-9A81-5E3A765E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120" y="-7009"/>
            <a:ext cx="3207881" cy="623077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7429 w 2464238"/>
              <a:gd name="connsiteY0" fmla="*/ 0 h 539269"/>
              <a:gd name="connsiteX1" fmla="*/ 2464238 w 2464238"/>
              <a:gd name="connsiteY1" fmla="*/ 7010 h 539269"/>
              <a:gd name="connsiteX2" fmla="*/ 2464238 w 2464238"/>
              <a:gd name="connsiteY2" fmla="*/ 525394 h 539269"/>
              <a:gd name="connsiteX3" fmla="*/ 0 w 2464238"/>
              <a:gd name="connsiteY3" fmla="*/ 539269 h 539269"/>
              <a:gd name="connsiteX4" fmla="*/ 637429 w 2464238"/>
              <a:gd name="connsiteY4" fmla="*/ 0 h 539269"/>
            </a:gdLst>
            <a:rect l="l" t="t" r="r" b="b"/>
            <a:pathLst>
              <a:path w="2464238" h="539269">
                <a:moveTo>
                  <a:pt x="637429" y="0"/>
                </a:moveTo>
                <a:lnTo>
                  <a:pt x="2464238" y="7010"/>
                </a:lnTo>
                <a:lnTo>
                  <a:pt x="2464238" y="525394"/>
                </a:lnTo>
                <a:lnTo>
                  <a:pt x="0" y="539269"/>
                </a:lnTo>
                <a:cubicBezTo>
                  <a:pt x="397459" y="363714"/>
                  <a:pt x="234849" y="224444"/>
                  <a:pt x="63742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tx1"/>
              </a:gs>
              <a:gs pos="16000">
                <a:schemeClr val="tx1">
                  <a:lumMod val="65000"/>
                  <a:lumOff val="35000"/>
                </a:schemeClr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6" name="Title 11">
            <a:extLst xmlns:a="http://schemas.openxmlformats.org/drawingml/2006/main">
              <a:ext uri="{FF2B5EF4-FFF2-40B4-BE49-F238E27FC236}">
                <a16:creationId xmlns:a16="http://schemas.microsoft.com/office/drawing/2014/main" id="{90F4D64A-FE0A-4D99-A6DB-D1154FCEF05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941" y="16065"/>
            <a:ext cx="8423857" cy="529494"/>
          </a:xfrm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26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15AA71B6-5D6C-4A86-A6BA-E3EB3554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92107" y="6643701"/>
            <a:ext cx="809419" cy="223826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7034"/>
              <a:gd name="connsiteY0" fmla="*/ 219120 h 226893"/>
              <a:gd name="connsiteX1" fmla="*/ 0 w 647034"/>
              <a:gd name="connsiteY1" fmla="*/ 1354 h 226893"/>
              <a:gd name="connsiteX2" fmla="*/ 352425 w 647034"/>
              <a:gd name="connsiteY2" fmla="*/ 114177 h 226893"/>
              <a:gd name="connsiteX3" fmla="*/ 638732 w 647034"/>
              <a:gd name="connsiteY3" fmla="*/ 219120 h 226893"/>
              <a:gd name="connsiteX4" fmla="*/ 0 w 647034"/>
              <a:gd name="connsiteY4" fmla="*/ 219120 h 226893"/>
              <a:gd name="connsiteX0" fmla="*/ 0 w 647480"/>
              <a:gd name="connsiteY0" fmla="*/ 221370 h 229143"/>
              <a:gd name="connsiteX1" fmla="*/ 0 w 647480"/>
              <a:gd name="connsiteY1" fmla="*/ 3604 h 229143"/>
              <a:gd name="connsiteX2" fmla="*/ 352425 w 647480"/>
              <a:gd name="connsiteY2" fmla="*/ 116427 h 229143"/>
              <a:gd name="connsiteX3" fmla="*/ 638732 w 647480"/>
              <a:gd name="connsiteY3" fmla="*/ 221370 h 229143"/>
              <a:gd name="connsiteX4" fmla="*/ 0 w 647480"/>
              <a:gd name="connsiteY4" fmla="*/ 221370 h 229143"/>
              <a:gd name="connsiteX0" fmla="*/ 0 w 658220"/>
              <a:gd name="connsiteY0" fmla="*/ 219457 h 224552"/>
              <a:gd name="connsiteX1" fmla="*/ 0 w 658220"/>
              <a:gd name="connsiteY1" fmla="*/ 1691 h 224552"/>
              <a:gd name="connsiteX2" fmla="*/ 457200 w 658220"/>
              <a:gd name="connsiteY2" fmla="*/ 154995 h 224552"/>
              <a:gd name="connsiteX3" fmla="*/ 638732 w 658220"/>
              <a:gd name="connsiteY3" fmla="*/ 219457 h 224552"/>
              <a:gd name="connsiteX4" fmla="*/ 0 w 658220"/>
              <a:gd name="connsiteY4" fmla="*/ 219457 h 224552"/>
              <a:gd name="connsiteX0" fmla="*/ 0 w 659607"/>
              <a:gd name="connsiteY0" fmla="*/ 218759 h 223534"/>
              <a:gd name="connsiteX1" fmla="*/ 0 w 659607"/>
              <a:gd name="connsiteY1" fmla="*/ 993 h 223534"/>
              <a:gd name="connsiteX2" fmla="*/ 457200 w 659607"/>
              <a:gd name="connsiteY2" fmla="*/ 154297 h 223534"/>
              <a:gd name="connsiteX3" fmla="*/ 638732 w 659607"/>
              <a:gd name="connsiteY3" fmla="*/ 218759 h 223534"/>
              <a:gd name="connsiteX4" fmla="*/ 0 w 659607"/>
              <a:gd name="connsiteY4" fmla="*/ 218759 h 223534"/>
              <a:gd name="connsiteX0" fmla="*/ 0 w 659889"/>
              <a:gd name="connsiteY0" fmla="*/ 218759 h 218759"/>
              <a:gd name="connsiteX1" fmla="*/ 0 w 659889"/>
              <a:gd name="connsiteY1" fmla="*/ 993 h 218759"/>
              <a:gd name="connsiteX2" fmla="*/ 457200 w 659889"/>
              <a:gd name="connsiteY2" fmla="*/ 154297 h 218759"/>
              <a:gd name="connsiteX3" fmla="*/ 638732 w 659889"/>
              <a:gd name="connsiteY3" fmla="*/ 218759 h 218759"/>
              <a:gd name="connsiteX4" fmla="*/ 0 w 659889"/>
              <a:gd name="connsiteY4" fmla="*/ 218759 h 218759"/>
              <a:gd name="connsiteX0" fmla="*/ 0 w 651257"/>
              <a:gd name="connsiteY0" fmla="*/ 218823 h 224127"/>
              <a:gd name="connsiteX1" fmla="*/ 0 w 651257"/>
              <a:gd name="connsiteY1" fmla="*/ 1057 h 224127"/>
              <a:gd name="connsiteX2" fmla="*/ 390525 w 651257"/>
              <a:gd name="connsiteY2" fmla="*/ 147217 h 224127"/>
              <a:gd name="connsiteX3" fmla="*/ 638732 w 651257"/>
              <a:gd name="connsiteY3" fmla="*/ 218823 h 224127"/>
              <a:gd name="connsiteX4" fmla="*/ 0 w 651257"/>
              <a:gd name="connsiteY4" fmla="*/ 218823 h 224127"/>
              <a:gd name="connsiteX0" fmla="*/ 0 w 610260"/>
              <a:gd name="connsiteY0" fmla="*/ 218642 h 227704"/>
              <a:gd name="connsiteX1" fmla="*/ 0 w 610260"/>
              <a:gd name="connsiteY1" fmla="*/ 876 h 227704"/>
              <a:gd name="connsiteX2" fmla="*/ 390525 w 610260"/>
              <a:gd name="connsiteY2" fmla="*/ 147036 h 227704"/>
              <a:gd name="connsiteX3" fmla="*/ 595870 w 610260"/>
              <a:gd name="connsiteY3" fmla="*/ 223405 h 227704"/>
              <a:gd name="connsiteX4" fmla="*/ 0 w 610260"/>
              <a:gd name="connsiteY4" fmla="*/ 218642 h 227704"/>
              <a:gd name="connsiteX0" fmla="*/ 0 w 610618"/>
              <a:gd name="connsiteY0" fmla="*/ 218642 h 223406"/>
              <a:gd name="connsiteX1" fmla="*/ 0 w 610618"/>
              <a:gd name="connsiteY1" fmla="*/ 876 h 223406"/>
              <a:gd name="connsiteX2" fmla="*/ 390525 w 610618"/>
              <a:gd name="connsiteY2" fmla="*/ 147036 h 223406"/>
              <a:gd name="connsiteX3" fmla="*/ 595870 w 610618"/>
              <a:gd name="connsiteY3" fmla="*/ 223405 h 223406"/>
              <a:gd name="connsiteX4" fmla="*/ 0 w 610618"/>
              <a:gd name="connsiteY4" fmla="*/ 218642 h 223406"/>
              <a:gd name="connsiteX0" fmla="*/ 0 w 607455"/>
              <a:gd name="connsiteY0" fmla="*/ 218999 h 231097"/>
              <a:gd name="connsiteX1" fmla="*/ 0 w 607455"/>
              <a:gd name="connsiteY1" fmla="*/ 1233 h 231097"/>
              <a:gd name="connsiteX2" fmla="*/ 364332 w 607455"/>
              <a:gd name="connsiteY2" fmla="*/ 109293 h 231097"/>
              <a:gd name="connsiteX3" fmla="*/ 595870 w 607455"/>
              <a:gd name="connsiteY3" fmla="*/ 223762 h 231097"/>
              <a:gd name="connsiteX4" fmla="*/ 0 w 607455"/>
              <a:gd name="connsiteY4" fmla="*/ 218999 h 231097"/>
              <a:gd name="connsiteX0" fmla="*/ 0 w 604957"/>
              <a:gd name="connsiteY0" fmla="*/ 218692 h 228528"/>
              <a:gd name="connsiteX1" fmla="*/ 0 w 604957"/>
              <a:gd name="connsiteY1" fmla="*/ 926 h 228528"/>
              <a:gd name="connsiteX2" fmla="*/ 335757 w 604957"/>
              <a:gd name="connsiteY2" fmla="*/ 139943 h 228528"/>
              <a:gd name="connsiteX3" fmla="*/ 595870 w 604957"/>
              <a:gd name="connsiteY3" fmla="*/ 223455 h 228528"/>
              <a:gd name="connsiteX4" fmla="*/ 0 w 604957"/>
              <a:gd name="connsiteY4" fmla="*/ 218692 h 228528"/>
              <a:gd name="connsiteX0" fmla="*/ 0 w 611126"/>
              <a:gd name="connsiteY0" fmla="*/ 218675 h 228338"/>
              <a:gd name="connsiteX1" fmla="*/ 0 w 611126"/>
              <a:gd name="connsiteY1" fmla="*/ 909 h 228338"/>
              <a:gd name="connsiteX2" fmla="*/ 397669 w 611126"/>
              <a:gd name="connsiteY2" fmla="*/ 142308 h 228338"/>
              <a:gd name="connsiteX3" fmla="*/ 595870 w 611126"/>
              <a:gd name="connsiteY3" fmla="*/ 223438 h 228338"/>
              <a:gd name="connsiteX4" fmla="*/ 0 w 611126"/>
              <a:gd name="connsiteY4" fmla="*/ 218675 h 228338"/>
              <a:gd name="connsiteX0" fmla="*/ 0 w 610256"/>
              <a:gd name="connsiteY0" fmla="*/ 218787 h 228450"/>
              <a:gd name="connsiteX1" fmla="*/ 0 w 610256"/>
              <a:gd name="connsiteY1" fmla="*/ 1021 h 228450"/>
              <a:gd name="connsiteX2" fmla="*/ 397669 w 610256"/>
              <a:gd name="connsiteY2" fmla="*/ 142420 h 228450"/>
              <a:gd name="connsiteX3" fmla="*/ 595870 w 610256"/>
              <a:gd name="connsiteY3" fmla="*/ 223550 h 228450"/>
              <a:gd name="connsiteX4" fmla="*/ 0 w 610256"/>
              <a:gd name="connsiteY4" fmla="*/ 218787 h 228450"/>
              <a:gd name="connsiteX0" fmla="*/ 0 w 606418"/>
              <a:gd name="connsiteY0" fmla="*/ 219060 h 230460"/>
              <a:gd name="connsiteX1" fmla="*/ 0 w 606418"/>
              <a:gd name="connsiteY1" fmla="*/ 1294 h 230460"/>
              <a:gd name="connsiteX2" fmla="*/ 359569 w 606418"/>
              <a:gd name="connsiteY2" fmla="*/ 118881 h 230460"/>
              <a:gd name="connsiteX3" fmla="*/ 595870 w 606418"/>
              <a:gd name="connsiteY3" fmla="*/ 223823 h 230460"/>
              <a:gd name="connsiteX4" fmla="*/ 0 w 606418"/>
              <a:gd name="connsiteY4" fmla="*/ 219060 h 230460"/>
              <a:gd name="connsiteX0" fmla="*/ 0 w 607064"/>
              <a:gd name="connsiteY0" fmla="*/ 219060 h 223826"/>
              <a:gd name="connsiteX1" fmla="*/ 0 w 607064"/>
              <a:gd name="connsiteY1" fmla="*/ 1294 h 223826"/>
              <a:gd name="connsiteX2" fmla="*/ 359569 w 607064"/>
              <a:gd name="connsiteY2" fmla="*/ 118881 h 223826"/>
              <a:gd name="connsiteX3" fmla="*/ 595870 w 607064"/>
              <a:gd name="connsiteY3" fmla="*/ 223823 h 223826"/>
              <a:gd name="connsiteX4" fmla="*/ 0 w 607064"/>
              <a:gd name="connsiteY4" fmla="*/ 219060 h 223826"/>
            </a:gdLst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0381F9-1320-4B1B-A6FC-654DF0B230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2748"/>
            <a:ext cx="546100" cy="23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9E0DF7C0-E924-49C9-9FE7-DFCD8B4EE6AD}" type="slidenum">
              <a:t>‹#›</a:t>
            </a:fld>
            <a:endParaRPr/>
          </a:p>
        </p:txBody>
      </p:sp>
      <p:pic>
        <p:nvPicPr>
          <p:cNvPr id="42" name="Picture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a1b51926674e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45532" y="83704"/>
            <a:ext cx="844867" cy="411320"/>
          </a:xfrm>
          <a:prstGeom xmlns:a="http://schemas.openxmlformats.org/drawingml/2006/main" prst="rect">
            <a:avLst/>
          </a:prstGeom>
        </p:spPr>
      </p:pic>
      <p:pic>
        <p:nvPicPr>
          <p:cNvPr id="43" name="Picture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c097529d5f441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714367" y="77442"/>
            <a:ext cx="447344" cy="428610"/>
          </a:xfrm>
          <a:prstGeom xmlns:a="http://schemas.openxmlformats.org/drawingml/2006/main" prst="rect">
            <a:avLst/>
          </a:prstGeom>
        </p:spPr>
      </p:pic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C574039-43B8-4A22-9CD4-72FAEA7B1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" y="585365"/>
            <a:ext cx="12173305" cy="6042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B8B849F-7E70-458F-B590-5A4FA17C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“</a:t>
            </a:r>
            <a:r>
              <a:rPr sz="1200" b="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/>
                <a:ea typeface="Monotype Corsiva"/>
                <a:cs typeface="Monotype Corsiva"/>
              </a:rPr>
              <a:t>Where Ideas Become Reality</a:t>
            </a: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”</a:t>
            </a:r>
          </a:p>
        </p:txBody>
      </p:sp>
      <p:pic>
        <p:nvPicPr>
          <p:cNvPr id="4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b6e2214f42414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45193" y="76691"/>
            <a:ext cx="993075" cy="430698"/>
          </a:xfrm>
          <a:prstGeom xmlns:a="http://schemas.openxmlformats.org/drawingml/2006/main" prst="rect">
            <a:avLst/>
          </a:prstGeom>
        </p:spPr>
      </p:pic>
    </p:spTree>
  </p:cSld>
  <p:hf hdr="0" ftr="0" dt="0"/>
</p:sldLayout>
</file>

<file path=ppt/slideLayouts/slideLayout6.xml><?xml version="1.0" encoding="utf-8"?>
<p:sldLayout xmlns:p="http://schemas.openxmlformats.org/presentationml/2006/main" userDrawn="1">
  <p:cSld name="3_SMSVC_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8887BA42-34C2-4F04-9F01-DDCD09AB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85000">
                <a:srgbClr val="E3D38D"/>
              </a:gs>
              <a:gs pos="0">
                <a:srgbClr val="DAC56C"/>
              </a:gs>
              <a:gs pos="100000">
                <a:srgbClr val="D0B646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0A09905F-3A79-43A0-BDB8-4551C779A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00">
                <a:solidFill>
                  <a:schemeClr val="tx1"/>
                </a:solidFill>
              </a:rPr>
              <a:t>centers.pnw.edu/civs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96932C5D-5C9C-4661-8587-563DA3ADE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“</a:t>
            </a:r>
            <a:r>
              <a:rPr sz="1200" b="0" i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/>
                <a:ea typeface="Monotype Corsiva"/>
                <a:cs typeface="Monotype Corsiva"/>
              </a:rPr>
              <a:t>Where Ideas Become Reality</a:t>
            </a:r>
            <a:r>
              <a:rPr sz="1200" b="0" i="1">
                <a:solidFill>
                  <a:schemeClr val="tx1"/>
                </a:solidFill>
                <a:latin typeface="Monotype Corsiva"/>
                <a:ea typeface="Monotype Corsiva"/>
                <a:cs typeface="Monotype Corsiva"/>
              </a:rPr>
              <a:t>”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6189254B-C00A-4C8E-A4CE-A37022A6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7" y="-1286"/>
            <a:ext cx="12226644" cy="839486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rgbClr val="DBC671"/>
              </a:gs>
              <a:gs pos="100000">
                <a:srgbClr val="D9C368"/>
              </a:gs>
            </a:gsLst>
            <a:lin ang="162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5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993CD45-C5C8-4F50-9E9D-0F0BD160B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412" y="-1285"/>
            <a:ext cx="3609587" cy="856626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377794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377794 w 2459318"/>
              <a:gd name="connsiteY4" fmla="*/ 0 h 539269"/>
              <a:gd name="connsiteX0" fmla="*/ 456844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456844 w 2538368"/>
              <a:gd name="connsiteY4" fmla="*/ 0 h 539269"/>
              <a:gd name="connsiteX0" fmla="*/ 394999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394999 w 2538368"/>
              <a:gd name="connsiteY4" fmla="*/ 0 h 539269"/>
            </a:gdLst>
            <a:rect l="l" t="t" r="r" b="b"/>
            <a:pathLst>
              <a:path w="2538368" h="539269">
                <a:moveTo>
                  <a:pt x="394999" y="0"/>
                </a:moveTo>
                <a:lnTo>
                  <a:pt x="2538368" y="7010"/>
                </a:lnTo>
                <a:lnTo>
                  <a:pt x="2538368" y="525394"/>
                </a:lnTo>
                <a:lnTo>
                  <a:pt x="0" y="539269"/>
                </a:lnTo>
                <a:cubicBezTo>
                  <a:pt x="397459" y="363714"/>
                  <a:pt x="-7581" y="224444"/>
                  <a:pt x="39499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>
                  <a:lumMod val="85000"/>
                </a:schemeClr>
              </a:gs>
              <a:gs pos="100000">
                <a:schemeClr val="bg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4F77296-C0DF-46A0-9A52-4DFEB9E4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9498" y="-10906"/>
            <a:ext cx="3531516" cy="867985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377794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377794 w 2459318"/>
              <a:gd name="connsiteY4" fmla="*/ 0 h 539269"/>
              <a:gd name="connsiteX0" fmla="*/ 456844 w 2538368"/>
              <a:gd name="connsiteY0" fmla="*/ 0 h 539269"/>
              <a:gd name="connsiteX1" fmla="*/ 2538368 w 2538368"/>
              <a:gd name="connsiteY1" fmla="*/ 7010 h 539269"/>
              <a:gd name="connsiteX2" fmla="*/ 2538368 w 2538368"/>
              <a:gd name="connsiteY2" fmla="*/ 525394 h 539269"/>
              <a:gd name="connsiteX3" fmla="*/ 0 w 2538368"/>
              <a:gd name="connsiteY3" fmla="*/ 539269 h 539269"/>
              <a:gd name="connsiteX4" fmla="*/ 456844 w 2538368"/>
              <a:gd name="connsiteY4" fmla="*/ 0 h 539269"/>
              <a:gd name="connsiteX0" fmla="*/ 456844 w 2538368"/>
              <a:gd name="connsiteY0" fmla="*/ 7151 h 546420"/>
              <a:gd name="connsiteX1" fmla="*/ 2538368 w 2538368"/>
              <a:gd name="connsiteY1" fmla="*/ 0 h 546420"/>
              <a:gd name="connsiteX2" fmla="*/ 2538368 w 2538368"/>
              <a:gd name="connsiteY2" fmla="*/ 532545 h 546420"/>
              <a:gd name="connsiteX3" fmla="*/ 0 w 2538368"/>
              <a:gd name="connsiteY3" fmla="*/ 546420 h 546420"/>
              <a:gd name="connsiteX4" fmla="*/ 456844 w 2538368"/>
              <a:gd name="connsiteY4" fmla="*/ 7151 h 546420"/>
              <a:gd name="connsiteX0" fmla="*/ 420451 w 2538368"/>
              <a:gd name="connsiteY0" fmla="*/ 1155 h 546420"/>
              <a:gd name="connsiteX1" fmla="*/ 2538368 w 2538368"/>
              <a:gd name="connsiteY1" fmla="*/ 0 h 546420"/>
              <a:gd name="connsiteX2" fmla="*/ 2538368 w 2538368"/>
              <a:gd name="connsiteY2" fmla="*/ 532545 h 546420"/>
              <a:gd name="connsiteX3" fmla="*/ 0 w 2538368"/>
              <a:gd name="connsiteY3" fmla="*/ 546420 h 546420"/>
              <a:gd name="connsiteX4" fmla="*/ 420451 w 2538368"/>
              <a:gd name="connsiteY4" fmla="*/ 1155 h 546420"/>
            </a:gdLst>
            <a:rect l="l" t="t" r="r" b="b"/>
            <a:pathLst>
              <a:path w="2538368" h="546420">
                <a:moveTo>
                  <a:pt x="420451" y="1155"/>
                </a:moveTo>
                <a:lnTo>
                  <a:pt x="2538368" y="0"/>
                </a:lnTo>
                <a:lnTo>
                  <a:pt x="2538368" y="532545"/>
                </a:lnTo>
                <a:lnTo>
                  <a:pt x="0" y="546420"/>
                </a:lnTo>
                <a:cubicBezTo>
                  <a:pt x="397459" y="370865"/>
                  <a:pt x="17871" y="225599"/>
                  <a:pt x="420451" y="1155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tx1">
                  <a:lumMod val="65000"/>
                  <a:lumOff val="35000"/>
                </a:schemeClr>
              </a:gs>
              <a:gs pos="100000">
                <a:schemeClr val="tx1"/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9BAC3881-025E-462B-BA1B-83AB3E94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1" y="-1286"/>
            <a:ext cx="12222073" cy="839486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0">
                <a:schemeClr val="tx1">
                  <a:alpha val="10000"/>
                </a:schemeClr>
              </a:gs>
              <a:gs pos="23000">
                <a:srgbClr val="F5F0DA">
                  <a:alpha val="0"/>
                </a:srgbClr>
              </a:gs>
              <a:gs pos="11000">
                <a:srgbClr val="F8F5E5">
                  <a:alpha val="20000"/>
                </a:srgbClr>
              </a:gs>
              <a:gs pos="100000">
                <a:schemeClr val="tx1">
                  <a:alpha val="15000"/>
                </a:schemeClr>
              </a:gs>
            </a:gsLst>
            <a:lin ang="5400000" scaled="0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8" name="Title 11">
            <a:extLst xmlns:a="http://schemas.openxmlformats.org/drawingml/2006/main">
              <a:ext uri="{FF2B5EF4-FFF2-40B4-BE49-F238E27FC236}">
                <a16:creationId xmlns:a16="http://schemas.microsoft.com/office/drawing/2014/main" id="{ADC4A94F-239D-401B-B21E-C882D6EFB79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8940" y="35115"/>
            <a:ext cx="8944144" cy="736411"/>
          </a:xfrm>
        </p:spPr>
        <p:txBody>
          <a:bodyPr xmlns:a="http://schemas.openxmlformats.org/drawingml/2006/main" wrap="square" tIns="182880" bIns="182880">
            <a:noAutofit/>
          </a:bodyPr>
          <a:lstStyle xmlns:a="http://schemas.openxmlformats.org/drawingml/2006/main">
            <a:lvl1pPr algn="l">
              <a:buNone/>
              <a:defRPr sz="2800">
                <a:solidFill>
                  <a:schemeClr val="tx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pic>
        <p:nvPicPr>
          <p:cNvPr id="69" name="Picture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195e8ff9a447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027431" y="225739"/>
            <a:ext cx="1101069" cy="411320"/>
          </a:xfrm>
          <a:prstGeom xmlns:a="http://schemas.openxmlformats.org/drawingml/2006/main" prst="rect">
            <a:avLst/>
          </a:prstGeom>
        </p:spPr>
      </p:pic>
      <p:pic>
        <p:nvPicPr>
          <p:cNvPr id="70" name="Picture 4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a97c7dd9844a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373850" y="218421"/>
            <a:ext cx="582999" cy="428610"/>
          </a:xfrm>
          <a:prstGeom xmlns:a="http://schemas.openxmlformats.org/drawingml/2006/main" prst="rect">
            <a:avLst/>
          </a:prstGeom>
        </p:spPr>
      </p:pic>
      <p:pic>
        <p:nvPicPr>
          <p:cNvPr id="71" name="Picture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5b852d83fe4f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23667" y="209952"/>
            <a:ext cx="1294220" cy="430698"/>
          </a:xfrm>
          <a:prstGeom xmlns:a="http://schemas.openxmlformats.org/drawingml/2006/main" prst="rect">
            <a:avLst/>
          </a:prstGeom>
        </p:spPr>
      </p:pic>
      <p:sp>
        <p:nvSpPr>
          <p:cNvPr id="52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D0ABEC5-4BF0-4B66-882D-BFCF90C9D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1055" y="6637572"/>
            <a:ext cx="4383645" cy="229872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0">
                <a:schemeClr val="bg1"/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0BEE490-3A82-42C5-9476-96BF0EA19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680" y="6635388"/>
            <a:ext cx="4150021" cy="238739"/>
          </a:xfrm>
          <a:custGeom xmlns:a="http://schemas.openxmlformats.org/drawingml/2006/main">
            <a:gdLst>
              <a:gd name="connsiteX0" fmla="*/ 0 w 2743200"/>
              <a:gd name="connsiteY0" fmla="*/ 0 h 512034"/>
              <a:gd name="connsiteX1" fmla="*/ 2743200 w 2743200"/>
              <a:gd name="connsiteY1" fmla="*/ 0 h 512034"/>
              <a:gd name="connsiteX2" fmla="*/ 2743200 w 2743200"/>
              <a:gd name="connsiteY2" fmla="*/ 512034 h 512034"/>
              <a:gd name="connsiteX3" fmla="*/ 0 w 2743200"/>
              <a:gd name="connsiteY3" fmla="*/ 512034 h 512034"/>
              <a:gd name="connsiteX4" fmla="*/ 0 w 2743200"/>
              <a:gd name="connsiteY4" fmla="*/ 0 h 51203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192378 w 2743200"/>
              <a:gd name="connsiteY0" fmla="*/ 0 h 526664"/>
              <a:gd name="connsiteX1" fmla="*/ 2743200 w 2743200"/>
              <a:gd name="connsiteY1" fmla="*/ 14630 h 526664"/>
              <a:gd name="connsiteX2" fmla="*/ 2743200 w 2743200"/>
              <a:gd name="connsiteY2" fmla="*/ 526664 h 526664"/>
              <a:gd name="connsiteX3" fmla="*/ 0 w 2743200"/>
              <a:gd name="connsiteY3" fmla="*/ 526664 h 526664"/>
              <a:gd name="connsiteX4" fmla="*/ 1192378 w 2743200"/>
              <a:gd name="connsiteY4" fmla="*/ 0 h 526664"/>
              <a:gd name="connsiteX0" fmla="*/ 1209046 w 2759868"/>
              <a:gd name="connsiteY0" fmla="*/ 0 h 533808"/>
              <a:gd name="connsiteX1" fmla="*/ 2759868 w 2759868"/>
              <a:gd name="connsiteY1" fmla="*/ 14630 h 533808"/>
              <a:gd name="connsiteX2" fmla="*/ 2759868 w 2759868"/>
              <a:gd name="connsiteY2" fmla="*/ 526664 h 533808"/>
              <a:gd name="connsiteX3" fmla="*/ 0 w 2759868"/>
              <a:gd name="connsiteY3" fmla="*/ 533808 h 533808"/>
              <a:gd name="connsiteX4" fmla="*/ 1209046 w 2759868"/>
              <a:gd name="connsiteY4" fmla="*/ 0 h 53380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1904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33059 w 2759868"/>
              <a:gd name="connsiteY0" fmla="*/ 0 h 526188"/>
              <a:gd name="connsiteX1" fmla="*/ 2759868 w 2759868"/>
              <a:gd name="connsiteY1" fmla="*/ 7010 h 526188"/>
              <a:gd name="connsiteX2" fmla="*/ 2759868 w 2759868"/>
              <a:gd name="connsiteY2" fmla="*/ 525394 h 526188"/>
              <a:gd name="connsiteX3" fmla="*/ 0 w 2759868"/>
              <a:gd name="connsiteY3" fmla="*/ 526188 h 526188"/>
              <a:gd name="connsiteX4" fmla="*/ 933059 w 2759868"/>
              <a:gd name="connsiteY4" fmla="*/ 0 h 526188"/>
              <a:gd name="connsiteX0" fmla="*/ 927710 w 2754519"/>
              <a:gd name="connsiteY0" fmla="*/ 0 h 532538"/>
              <a:gd name="connsiteX1" fmla="*/ 2754519 w 2754519"/>
              <a:gd name="connsiteY1" fmla="*/ 7010 h 532538"/>
              <a:gd name="connsiteX2" fmla="*/ 2754519 w 2754519"/>
              <a:gd name="connsiteY2" fmla="*/ 525394 h 532538"/>
              <a:gd name="connsiteX3" fmla="*/ 0 w 2754519"/>
              <a:gd name="connsiteY3" fmla="*/ 532538 h 532538"/>
              <a:gd name="connsiteX4" fmla="*/ 927710 w 2754519"/>
              <a:gd name="connsiteY4" fmla="*/ 0 h 532538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  <a:gd name="connsiteX0" fmla="*/ 632509 w 2459318"/>
              <a:gd name="connsiteY0" fmla="*/ 0 h 539269"/>
              <a:gd name="connsiteX1" fmla="*/ 2459318 w 2459318"/>
              <a:gd name="connsiteY1" fmla="*/ 7010 h 539269"/>
              <a:gd name="connsiteX2" fmla="*/ 2459318 w 2459318"/>
              <a:gd name="connsiteY2" fmla="*/ 525394 h 539269"/>
              <a:gd name="connsiteX3" fmla="*/ 0 w 2459318"/>
              <a:gd name="connsiteY3" fmla="*/ 539269 h 539269"/>
              <a:gd name="connsiteX4" fmla="*/ 632509 w 2459318"/>
              <a:gd name="connsiteY4" fmla="*/ 0 h 539269"/>
            </a:gdLst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 rotWithShape="1">
            <a:gsLst>
              <a:gs pos="85000">
                <a:srgbClr val="454545"/>
              </a:gs>
              <a:gs pos="0">
                <a:schemeClr val="tx1"/>
              </a:gs>
              <a:gs pos="100000">
                <a:schemeClr val="tx1">
                  <a:lumMod val="75000"/>
                  <a:lumOff val="25000"/>
                </a:schemeClr>
              </a:gs>
            </a:gsLst>
            <a:lin ang="5400000" scaled="1"/>
            <a:tileRect/>
          </a:gra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4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35337ADA-E97D-45D8-B750-14063429C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7710"/>
            <a:ext cx="1006247" cy="233901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4345"/>
              <a:gd name="connsiteY0" fmla="*/ 220012 h 230334"/>
              <a:gd name="connsiteX1" fmla="*/ 0 w 644345"/>
              <a:gd name="connsiteY1" fmla="*/ 2246 h 230334"/>
              <a:gd name="connsiteX2" fmla="*/ 304985 w 644345"/>
              <a:gd name="connsiteY2" fmla="*/ 80655 h 230334"/>
              <a:gd name="connsiteX3" fmla="*/ 638732 w 644345"/>
              <a:gd name="connsiteY3" fmla="*/ 220012 h 230334"/>
              <a:gd name="connsiteX4" fmla="*/ 0 w 644345"/>
              <a:gd name="connsiteY4" fmla="*/ 220012 h 230334"/>
              <a:gd name="connsiteX0" fmla="*/ 0 w 644752"/>
              <a:gd name="connsiteY0" fmla="*/ 219520 h 229842"/>
              <a:gd name="connsiteX1" fmla="*/ 0 w 644752"/>
              <a:gd name="connsiteY1" fmla="*/ 1754 h 229842"/>
              <a:gd name="connsiteX2" fmla="*/ 304985 w 644752"/>
              <a:gd name="connsiteY2" fmla="*/ 80163 h 229842"/>
              <a:gd name="connsiteX3" fmla="*/ 638732 w 644752"/>
              <a:gd name="connsiteY3" fmla="*/ 219520 h 229842"/>
              <a:gd name="connsiteX4" fmla="*/ 0 w 644752"/>
              <a:gd name="connsiteY4" fmla="*/ 219520 h 229842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43482"/>
              <a:gd name="connsiteY0" fmla="*/ 219082 h 227777"/>
              <a:gd name="connsiteX1" fmla="*/ 0 w 643482"/>
              <a:gd name="connsiteY1" fmla="*/ 1316 h 227777"/>
              <a:gd name="connsiteX2" fmla="*/ 278635 w 643482"/>
              <a:gd name="connsiteY2" fmla="*/ 101695 h 227777"/>
              <a:gd name="connsiteX3" fmla="*/ 638732 w 643482"/>
              <a:gd name="connsiteY3" fmla="*/ 219082 h 227777"/>
              <a:gd name="connsiteX4" fmla="*/ 0 w 643482"/>
              <a:gd name="connsiteY4" fmla="*/ 219082 h 227777"/>
              <a:gd name="connsiteX0" fmla="*/ 0 w 651187"/>
              <a:gd name="connsiteY0" fmla="*/ 219082 h 227777"/>
              <a:gd name="connsiteX1" fmla="*/ 0 w 651187"/>
              <a:gd name="connsiteY1" fmla="*/ 1316 h 227777"/>
              <a:gd name="connsiteX2" fmla="*/ 278635 w 651187"/>
              <a:gd name="connsiteY2" fmla="*/ 101695 h 227777"/>
              <a:gd name="connsiteX3" fmla="*/ 638732 w 651187"/>
              <a:gd name="connsiteY3" fmla="*/ 219082 h 227777"/>
              <a:gd name="connsiteX4" fmla="*/ 0 w 651187"/>
              <a:gd name="connsiteY4" fmla="*/ 219082 h 227777"/>
              <a:gd name="connsiteX0" fmla="*/ 0 w 651187"/>
              <a:gd name="connsiteY0" fmla="*/ 219082 h 222144"/>
              <a:gd name="connsiteX1" fmla="*/ 0 w 651187"/>
              <a:gd name="connsiteY1" fmla="*/ 1316 h 222144"/>
              <a:gd name="connsiteX2" fmla="*/ 278635 w 651187"/>
              <a:gd name="connsiteY2" fmla="*/ 101695 h 222144"/>
              <a:gd name="connsiteX3" fmla="*/ 638732 w 651187"/>
              <a:gd name="connsiteY3" fmla="*/ 219082 h 222144"/>
              <a:gd name="connsiteX4" fmla="*/ 0 w 651187"/>
              <a:gd name="connsiteY4" fmla="*/ 219082 h 222144"/>
              <a:gd name="connsiteX0" fmla="*/ 0 w 650309"/>
              <a:gd name="connsiteY0" fmla="*/ 219019 h 222196"/>
              <a:gd name="connsiteX1" fmla="*/ 0 w 650309"/>
              <a:gd name="connsiteY1" fmla="*/ 1253 h 222196"/>
              <a:gd name="connsiteX2" fmla="*/ 247894 w 650309"/>
              <a:gd name="connsiteY2" fmla="*/ 106026 h 222196"/>
              <a:gd name="connsiteX3" fmla="*/ 638732 w 650309"/>
              <a:gd name="connsiteY3" fmla="*/ 219019 h 222196"/>
              <a:gd name="connsiteX4" fmla="*/ 0 w 650309"/>
              <a:gd name="connsiteY4" fmla="*/ 219019 h 222196"/>
              <a:gd name="connsiteX0" fmla="*/ 0 w 650197"/>
              <a:gd name="connsiteY0" fmla="*/ 219183 h 222672"/>
              <a:gd name="connsiteX1" fmla="*/ 0 w 650197"/>
              <a:gd name="connsiteY1" fmla="*/ 1417 h 222672"/>
              <a:gd name="connsiteX2" fmla="*/ 247894 w 650197"/>
              <a:gd name="connsiteY2" fmla="*/ 106190 h 222672"/>
              <a:gd name="connsiteX3" fmla="*/ 638732 w 650197"/>
              <a:gd name="connsiteY3" fmla="*/ 219183 h 222672"/>
              <a:gd name="connsiteX4" fmla="*/ 0 w 650197"/>
              <a:gd name="connsiteY4" fmla="*/ 219183 h 222672"/>
              <a:gd name="connsiteX0" fmla="*/ 0 w 650486"/>
              <a:gd name="connsiteY0" fmla="*/ 219034 h 222239"/>
              <a:gd name="connsiteX1" fmla="*/ 0 w 650486"/>
              <a:gd name="connsiteY1" fmla="*/ 1268 h 222239"/>
              <a:gd name="connsiteX2" fmla="*/ 247894 w 650486"/>
              <a:gd name="connsiteY2" fmla="*/ 106041 h 222239"/>
              <a:gd name="connsiteX3" fmla="*/ 638732 w 650486"/>
              <a:gd name="connsiteY3" fmla="*/ 219034 h 222239"/>
              <a:gd name="connsiteX4" fmla="*/ 0 w 650486"/>
              <a:gd name="connsiteY4" fmla="*/ 219034 h 222239"/>
              <a:gd name="connsiteX0" fmla="*/ 76853 w 715584"/>
              <a:gd name="connsiteY0" fmla="*/ 214693 h 214693"/>
              <a:gd name="connsiteX1" fmla="*/ 0 w 715584"/>
              <a:gd name="connsiteY1" fmla="*/ 1321 h 214693"/>
              <a:gd name="connsiteX2" fmla="*/ 324747 w 715584"/>
              <a:gd name="connsiteY2" fmla="*/ 101700 h 214693"/>
              <a:gd name="connsiteX3" fmla="*/ 715585 w 715584"/>
              <a:gd name="connsiteY3" fmla="*/ 214693 h 214693"/>
              <a:gd name="connsiteX4" fmla="*/ 76853 w 715584"/>
              <a:gd name="connsiteY4" fmla="*/ 214693 h 214693"/>
              <a:gd name="connsiteX0" fmla="*/ 0 w 715587"/>
              <a:gd name="connsiteY0" fmla="*/ 214693 h 214693"/>
              <a:gd name="connsiteX1" fmla="*/ 2 w 715587"/>
              <a:gd name="connsiteY1" fmla="*/ 1321 h 214693"/>
              <a:gd name="connsiteX2" fmla="*/ 324749 w 715587"/>
              <a:gd name="connsiteY2" fmla="*/ 101700 h 214693"/>
              <a:gd name="connsiteX3" fmla="*/ 715587 w 715587"/>
              <a:gd name="connsiteY3" fmla="*/ 214693 h 214693"/>
              <a:gd name="connsiteX4" fmla="*/ 0 w 715587"/>
              <a:gd name="connsiteY4" fmla="*/ 214693 h 214693"/>
              <a:gd name="connsiteX0" fmla="*/ 0 w 715587"/>
              <a:gd name="connsiteY0" fmla="*/ 214387 h 214387"/>
              <a:gd name="connsiteX1" fmla="*/ 2 w 715587"/>
              <a:gd name="connsiteY1" fmla="*/ 1015 h 214387"/>
              <a:gd name="connsiteX2" fmla="*/ 368666 w 715587"/>
              <a:gd name="connsiteY2" fmla="*/ 127757 h 214387"/>
              <a:gd name="connsiteX3" fmla="*/ 715587 w 715587"/>
              <a:gd name="connsiteY3" fmla="*/ 214387 h 214387"/>
              <a:gd name="connsiteX4" fmla="*/ 0 w 715587"/>
              <a:gd name="connsiteY4" fmla="*/ 214387 h 214387"/>
              <a:gd name="connsiteX0" fmla="*/ 0 w 715587"/>
              <a:gd name="connsiteY0" fmla="*/ 214783 h 214783"/>
              <a:gd name="connsiteX1" fmla="*/ 2 w 715587"/>
              <a:gd name="connsiteY1" fmla="*/ 1411 h 214783"/>
              <a:gd name="connsiteX2" fmla="*/ 368666 w 715587"/>
              <a:gd name="connsiteY2" fmla="*/ 128153 h 214783"/>
              <a:gd name="connsiteX3" fmla="*/ 715587 w 715587"/>
              <a:gd name="connsiteY3" fmla="*/ 214783 h 214783"/>
              <a:gd name="connsiteX4" fmla="*/ 0 w 715587"/>
              <a:gd name="connsiteY4" fmla="*/ 214783 h 214783"/>
              <a:gd name="connsiteX0" fmla="*/ 0 w 715587"/>
              <a:gd name="connsiteY0" fmla="*/ 214298 h 214298"/>
              <a:gd name="connsiteX1" fmla="*/ 2 w 715587"/>
              <a:gd name="connsiteY1" fmla="*/ 926 h 214298"/>
              <a:gd name="connsiteX2" fmla="*/ 368666 w 715587"/>
              <a:gd name="connsiteY2" fmla="*/ 127668 h 214298"/>
              <a:gd name="connsiteX3" fmla="*/ 715587 w 715587"/>
              <a:gd name="connsiteY3" fmla="*/ 214298 h 214298"/>
              <a:gd name="connsiteX4" fmla="*/ 0 w 715587"/>
              <a:gd name="connsiteY4" fmla="*/ 214298 h 214298"/>
              <a:gd name="connsiteX0" fmla="*/ 0 w 715587"/>
              <a:gd name="connsiteY0" fmla="*/ 214407 h 214407"/>
              <a:gd name="connsiteX1" fmla="*/ 2 w 715587"/>
              <a:gd name="connsiteY1" fmla="*/ 1035 h 214407"/>
              <a:gd name="connsiteX2" fmla="*/ 408190 w 715587"/>
              <a:gd name="connsiteY2" fmla="*/ 114596 h 214407"/>
              <a:gd name="connsiteX3" fmla="*/ 715587 w 715587"/>
              <a:gd name="connsiteY3" fmla="*/ 214407 h 214407"/>
              <a:gd name="connsiteX4" fmla="*/ 0 w 715587"/>
              <a:gd name="connsiteY4" fmla="*/ 214407 h 214407"/>
              <a:gd name="connsiteX0" fmla="*/ 0 w 715587"/>
              <a:gd name="connsiteY0" fmla="*/ 214730 h 214730"/>
              <a:gd name="connsiteX1" fmla="*/ 2 w 715587"/>
              <a:gd name="connsiteY1" fmla="*/ 1358 h 214730"/>
              <a:gd name="connsiteX2" fmla="*/ 381840 w 715587"/>
              <a:gd name="connsiteY2" fmla="*/ 88556 h 214730"/>
              <a:gd name="connsiteX3" fmla="*/ 715587 w 715587"/>
              <a:gd name="connsiteY3" fmla="*/ 214730 h 214730"/>
              <a:gd name="connsiteX4" fmla="*/ 0 w 715587"/>
              <a:gd name="connsiteY4" fmla="*/ 214730 h 214730"/>
              <a:gd name="connsiteX0" fmla="*/ 0 w 715587"/>
              <a:gd name="connsiteY0" fmla="*/ 215799 h 215799"/>
              <a:gd name="connsiteX1" fmla="*/ 2 w 715587"/>
              <a:gd name="connsiteY1" fmla="*/ 2427 h 215799"/>
              <a:gd name="connsiteX2" fmla="*/ 381840 w 715587"/>
              <a:gd name="connsiteY2" fmla="*/ 89625 h 215799"/>
              <a:gd name="connsiteX3" fmla="*/ 715587 w 715587"/>
              <a:gd name="connsiteY3" fmla="*/ 215799 h 215799"/>
              <a:gd name="connsiteX4" fmla="*/ 0 w 715587"/>
              <a:gd name="connsiteY4" fmla="*/ 215799 h 215799"/>
            </a:gdLst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DDC3269C-B6D8-4AC1-939D-69B5F261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799" y="6627907"/>
            <a:ext cx="3184095" cy="2462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>
                <a:solidFill>
                  <a:schemeClr val="bg1">
                    <a:lumMod val="95000"/>
                  </a:schemeClr>
                </a:solidFill>
              </a:rPr>
              <a:t>civs@pnw.edu</a:t>
            </a:r>
          </a:p>
        </p:txBody>
      </p:sp>
      <p:sp>
        <p:nvSpPr>
          <p:cNvPr id="56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6C0CA494-4DF8-4D1C-B98A-B5CFC6A8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85754" y="6634175"/>
            <a:ext cx="822119" cy="238113"/>
          </a:xfrm>
          <a:custGeom xmlns:a="http://schemas.openxmlformats.org/drawingml/2006/main">
            <a:gdLst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638732 w 638732"/>
              <a:gd name="connsiteY2" fmla="*/ 217766 h 217766"/>
              <a:gd name="connsiteX3" fmla="*/ 0 w 638732"/>
              <a:gd name="connsiteY3" fmla="*/ 217766 h 217766"/>
              <a:gd name="connsiteX0" fmla="*/ 0 w 638732"/>
              <a:gd name="connsiteY0" fmla="*/ 217766 h 217766"/>
              <a:gd name="connsiteX1" fmla="*/ 0 w 638732"/>
              <a:gd name="connsiteY1" fmla="*/ 0 h 217766"/>
              <a:gd name="connsiteX2" fmla="*/ 414337 w 638732"/>
              <a:gd name="connsiteY2" fmla="*/ 143779 h 217766"/>
              <a:gd name="connsiteX3" fmla="*/ 638732 w 638732"/>
              <a:gd name="connsiteY3" fmla="*/ 217766 h 217766"/>
              <a:gd name="connsiteX4" fmla="*/ 0 w 638732"/>
              <a:gd name="connsiteY4" fmla="*/ 217766 h 217766"/>
              <a:gd name="connsiteX0" fmla="*/ 0 w 653659"/>
              <a:gd name="connsiteY0" fmla="*/ 218652 h 218652"/>
              <a:gd name="connsiteX1" fmla="*/ 0 w 653659"/>
              <a:gd name="connsiteY1" fmla="*/ 886 h 218652"/>
              <a:gd name="connsiteX2" fmla="*/ 414337 w 653659"/>
              <a:gd name="connsiteY2" fmla="*/ 144665 h 218652"/>
              <a:gd name="connsiteX3" fmla="*/ 638732 w 653659"/>
              <a:gd name="connsiteY3" fmla="*/ 218652 h 218652"/>
              <a:gd name="connsiteX4" fmla="*/ 0 w 653659"/>
              <a:gd name="connsiteY4" fmla="*/ 218652 h 218652"/>
              <a:gd name="connsiteX0" fmla="*/ 0 w 654015"/>
              <a:gd name="connsiteY0" fmla="*/ 218652 h 218652"/>
              <a:gd name="connsiteX1" fmla="*/ 0 w 654015"/>
              <a:gd name="connsiteY1" fmla="*/ 886 h 218652"/>
              <a:gd name="connsiteX2" fmla="*/ 414337 w 654015"/>
              <a:gd name="connsiteY2" fmla="*/ 144665 h 218652"/>
              <a:gd name="connsiteX3" fmla="*/ 638732 w 654015"/>
              <a:gd name="connsiteY3" fmla="*/ 218652 h 218652"/>
              <a:gd name="connsiteX4" fmla="*/ 0 w 654015"/>
              <a:gd name="connsiteY4" fmla="*/ 218652 h 218652"/>
              <a:gd name="connsiteX0" fmla="*/ 0 w 644996"/>
              <a:gd name="connsiteY0" fmla="*/ 218828 h 225896"/>
              <a:gd name="connsiteX1" fmla="*/ 0 w 644996"/>
              <a:gd name="connsiteY1" fmla="*/ 1062 h 225896"/>
              <a:gd name="connsiteX2" fmla="*/ 307181 w 644996"/>
              <a:gd name="connsiteY2" fmla="*/ 123410 h 225896"/>
              <a:gd name="connsiteX3" fmla="*/ 638732 w 644996"/>
              <a:gd name="connsiteY3" fmla="*/ 218828 h 225896"/>
              <a:gd name="connsiteX4" fmla="*/ 0 w 644996"/>
              <a:gd name="connsiteY4" fmla="*/ 218828 h 225896"/>
              <a:gd name="connsiteX0" fmla="*/ 0 w 644452"/>
              <a:gd name="connsiteY0" fmla="*/ 218985 h 226053"/>
              <a:gd name="connsiteX1" fmla="*/ 0 w 644452"/>
              <a:gd name="connsiteY1" fmla="*/ 1219 h 226053"/>
              <a:gd name="connsiteX2" fmla="*/ 307181 w 644452"/>
              <a:gd name="connsiteY2" fmla="*/ 123567 h 226053"/>
              <a:gd name="connsiteX3" fmla="*/ 638732 w 644452"/>
              <a:gd name="connsiteY3" fmla="*/ 218985 h 226053"/>
              <a:gd name="connsiteX4" fmla="*/ 0 w 644452"/>
              <a:gd name="connsiteY4" fmla="*/ 218985 h 226053"/>
              <a:gd name="connsiteX0" fmla="*/ 0 w 646938"/>
              <a:gd name="connsiteY0" fmla="*/ 218985 h 219594"/>
              <a:gd name="connsiteX1" fmla="*/ 0 w 646938"/>
              <a:gd name="connsiteY1" fmla="*/ 1219 h 219594"/>
              <a:gd name="connsiteX2" fmla="*/ 307181 w 646938"/>
              <a:gd name="connsiteY2" fmla="*/ 123567 h 219594"/>
              <a:gd name="connsiteX3" fmla="*/ 638732 w 646938"/>
              <a:gd name="connsiteY3" fmla="*/ 218985 h 219594"/>
              <a:gd name="connsiteX4" fmla="*/ 0 w 646938"/>
              <a:gd name="connsiteY4" fmla="*/ 218985 h 219594"/>
              <a:gd name="connsiteX0" fmla="*/ 0 w 647034"/>
              <a:gd name="connsiteY0" fmla="*/ 219120 h 226893"/>
              <a:gd name="connsiteX1" fmla="*/ 0 w 647034"/>
              <a:gd name="connsiteY1" fmla="*/ 1354 h 226893"/>
              <a:gd name="connsiteX2" fmla="*/ 352425 w 647034"/>
              <a:gd name="connsiteY2" fmla="*/ 114177 h 226893"/>
              <a:gd name="connsiteX3" fmla="*/ 638732 w 647034"/>
              <a:gd name="connsiteY3" fmla="*/ 219120 h 226893"/>
              <a:gd name="connsiteX4" fmla="*/ 0 w 647034"/>
              <a:gd name="connsiteY4" fmla="*/ 219120 h 226893"/>
              <a:gd name="connsiteX0" fmla="*/ 0 w 647480"/>
              <a:gd name="connsiteY0" fmla="*/ 221370 h 229143"/>
              <a:gd name="connsiteX1" fmla="*/ 0 w 647480"/>
              <a:gd name="connsiteY1" fmla="*/ 3604 h 229143"/>
              <a:gd name="connsiteX2" fmla="*/ 352425 w 647480"/>
              <a:gd name="connsiteY2" fmla="*/ 116427 h 229143"/>
              <a:gd name="connsiteX3" fmla="*/ 638732 w 647480"/>
              <a:gd name="connsiteY3" fmla="*/ 221370 h 229143"/>
              <a:gd name="connsiteX4" fmla="*/ 0 w 647480"/>
              <a:gd name="connsiteY4" fmla="*/ 221370 h 229143"/>
              <a:gd name="connsiteX0" fmla="*/ 0 w 658220"/>
              <a:gd name="connsiteY0" fmla="*/ 219457 h 224552"/>
              <a:gd name="connsiteX1" fmla="*/ 0 w 658220"/>
              <a:gd name="connsiteY1" fmla="*/ 1691 h 224552"/>
              <a:gd name="connsiteX2" fmla="*/ 457200 w 658220"/>
              <a:gd name="connsiteY2" fmla="*/ 154995 h 224552"/>
              <a:gd name="connsiteX3" fmla="*/ 638732 w 658220"/>
              <a:gd name="connsiteY3" fmla="*/ 219457 h 224552"/>
              <a:gd name="connsiteX4" fmla="*/ 0 w 658220"/>
              <a:gd name="connsiteY4" fmla="*/ 219457 h 224552"/>
              <a:gd name="connsiteX0" fmla="*/ 0 w 659607"/>
              <a:gd name="connsiteY0" fmla="*/ 218759 h 223534"/>
              <a:gd name="connsiteX1" fmla="*/ 0 w 659607"/>
              <a:gd name="connsiteY1" fmla="*/ 993 h 223534"/>
              <a:gd name="connsiteX2" fmla="*/ 457200 w 659607"/>
              <a:gd name="connsiteY2" fmla="*/ 154297 h 223534"/>
              <a:gd name="connsiteX3" fmla="*/ 638732 w 659607"/>
              <a:gd name="connsiteY3" fmla="*/ 218759 h 223534"/>
              <a:gd name="connsiteX4" fmla="*/ 0 w 659607"/>
              <a:gd name="connsiteY4" fmla="*/ 218759 h 223534"/>
              <a:gd name="connsiteX0" fmla="*/ 0 w 659889"/>
              <a:gd name="connsiteY0" fmla="*/ 218759 h 218759"/>
              <a:gd name="connsiteX1" fmla="*/ 0 w 659889"/>
              <a:gd name="connsiteY1" fmla="*/ 993 h 218759"/>
              <a:gd name="connsiteX2" fmla="*/ 457200 w 659889"/>
              <a:gd name="connsiteY2" fmla="*/ 154297 h 218759"/>
              <a:gd name="connsiteX3" fmla="*/ 638732 w 659889"/>
              <a:gd name="connsiteY3" fmla="*/ 218759 h 218759"/>
              <a:gd name="connsiteX4" fmla="*/ 0 w 659889"/>
              <a:gd name="connsiteY4" fmla="*/ 218759 h 218759"/>
              <a:gd name="connsiteX0" fmla="*/ 0 w 651257"/>
              <a:gd name="connsiteY0" fmla="*/ 218823 h 224127"/>
              <a:gd name="connsiteX1" fmla="*/ 0 w 651257"/>
              <a:gd name="connsiteY1" fmla="*/ 1057 h 224127"/>
              <a:gd name="connsiteX2" fmla="*/ 390525 w 651257"/>
              <a:gd name="connsiteY2" fmla="*/ 147217 h 224127"/>
              <a:gd name="connsiteX3" fmla="*/ 638732 w 651257"/>
              <a:gd name="connsiteY3" fmla="*/ 218823 h 224127"/>
              <a:gd name="connsiteX4" fmla="*/ 0 w 651257"/>
              <a:gd name="connsiteY4" fmla="*/ 218823 h 224127"/>
              <a:gd name="connsiteX0" fmla="*/ 0 w 610260"/>
              <a:gd name="connsiteY0" fmla="*/ 218642 h 227704"/>
              <a:gd name="connsiteX1" fmla="*/ 0 w 610260"/>
              <a:gd name="connsiteY1" fmla="*/ 876 h 227704"/>
              <a:gd name="connsiteX2" fmla="*/ 390525 w 610260"/>
              <a:gd name="connsiteY2" fmla="*/ 147036 h 227704"/>
              <a:gd name="connsiteX3" fmla="*/ 595870 w 610260"/>
              <a:gd name="connsiteY3" fmla="*/ 223405 h 227704"/>
              <a:gd name="connsiteX4" fmla="*/ 0 w 610260"/>
              <a:gd name="connsiteY4" fmla="*/ 218642 h 227704"/>
              <a:gd name="connsiteX0" fmla="*/ 0 w 610618"/>
              <a:gd name="connsiteY0" fmla="*/ 218642 h 223406"/>
              <a:gd name="connsiteX1" fmla="*/ 0 w 610618"/>
              <a:gd name="connsiteY1" fmla="*/ 876 h 223406"/>
              <a:gd name="connsiteX2" fmla="*/ 390525 w 610618"/>
              <a:gd name="connsiteY2" fmla="*/ 147036 h 223406"/>
              <a:gd name="connsiteX3" fmla="*/ 595870 w 610618"/>
              <a:gd name="connsiteY3" fmla="*/ 223405 h 223406"/>
              <a:gd name="connsiteX4" fmla="*/ 0 w 610618"/>
              <a:gd name="connsiteY4" fmla="*/ 218642 h 223406"/>
              <a:gd name="connsiteX0" fmla="*/ 0 w 607455"/>
              <a:gd name="connsiteY0" fmla="*/ 218999 h 231097"/>
              <a:gd name="connsiteX1" fmla="*/ 0 w 607455"/>
              <a:gd name="connsiteY1" fmla="*/ 1233 h 231097"/>
              <a:gd name="connsiteX2" fmla="*/ 364332 w 607455"/>
              <a:gd name="connsiteY2" fmla="*/ 109293 h 231097"/>
              <a:gd name="connsiteX3" fmla="*/ 595870 w 607455"/>
              <a:gd name="connsiteY3" fmla="*/ 223762 h 231097"/>
              <a:gd name="connsiteX4" fmla="*/ 0 w 607455"/>
              <a:gd name="connsiteY4" fmla="*/ 218999 h 231097"/>
              <a:gd name="connsiteX0" fmla="*/ 0 w 604957"/>
              <a:gd name="connsiteY0" fmla="*/ 218692 h 228528"/>
              <a:gd name="connsiteX1" fmla="*/ 0 w 604957"/>
              <a:gd name="connsiteY1" fmla="*/ 926 h 228528"/>
              <a:gd name="connsiteX2" fmla="*/ 335757 w 604957"/>
              <a:gd name="connsiteY2" fmla="*/ 139943 h 228528"/>
              <a:gd name="connsiteX3" fmla="*/ 595870 w 604957"/>
              <a:gd name="connsiteY3" fmla="*/ 223455 h 228528"/>
              <a:gd name="connsiteX4" fmla="*/ 0 w 604957"/>
              <a:gd name="connsiteY4" fmla="*/ 218692 h 228528"/>
              <a:gd name="connsiteX0" fmla="*/ 0 w 611126"/>
              <a:gd name="connsiteY0" fmla="*/ 218675 h 228338"/>
              <a:gd name="connsiteX1" fmla="*/ 0 w 611126"/>
              <a:gd name="connsiteY1" fmla="*/ 909 h 228338"/>
              <a:gd name="connsiteX2" fmla="*/ 397669 w 611126"/>
              <a:gd name="connsiteY2" fmla="*/ 142308 h 228338"/>
              <a:gd name="connsiteX3" fmla="*/ 595870 w 611126"/>
              <a:gd name="connsiteY3" fmla="*/ 223438 h 228338"/>
              <a:gd name="connsiteX4" fmla="*/ 0 w 611126"/>
              <a:gd name="connsiteY4" fmla="*/ 218675 h 228338"/>
              <a:gd name="connsiteX0" fmla="*/ 0 w 610256"/>
              <a:gd name="connsiteY0" fmla="*/ 218787 h 228450"/>
              <a:gd name="connsiteX1" fmla="*/ 0 w 610256"/>
              <a:gd name="connsiteY1" fmla="*/ 1021 h 228450"/>
              <a:gd name="connsiteX2" fmla="*/ 397669 w 610256"/>
              <a:gd name="connsiteY2" fmla="*/ 142420 h 228450"/>
              <a:gd name="connsiteX3" fmla="*/ 595870 w 610256"/>
              <a:gd name="connsiteY3" fmla="*/ 223550 h 228450"/>
              <a:gd name="connsiteX4" fmla="*/ 0 w 610256"/>
              <a:gd name="connsiteY4" fmla="*/ 218787 h 228450"/>
              <a:gd name="connsiteX0" fmla="*/ 0 w 606418"/>
              <a:gd name="connsiteY0" fmla="*/ 219060 h 230460"/>
              <a:gd name="connsiteX1" fmla="*/ 0 w 606418"/>
              <a:gd name="connsiteY1" fmla="*/ 1294 h 230460"/>
              <a:gd name="connsiteX2" fmla="*/ 359569 w 606418"/>
              <a:gd name="connsiteY2" fmla="*/ 118881 h 230460"/>
              <a:gd name="connsiteX3" fmla="*/ 595870 w 606418"/>
              <a:gd name="connsiteY3" fmla="*/ 223823 h 230460"/>
              <a:gd name="connsiteX4" fmla="*/ 0 w 606418"/>
              <a:gd name="connsiteY4" fmla="*/ 219060 h 230460"/>
              <a:gd name="connsiteX0" fmla="*/ 0 w 607064"/>
              <a:gd name="connsiteY0" fmla="*/ 219060 h 223826"/>
              <a:gd name="connsiteX1" fmla="*/ 0 w 607064"/>
              <a:gd name="connsiteY1" fmla="*/ 1294 h 223826"/>
              <a:gd name="connsiteX2" fmla="*/ 359569 w 607064"/>
              <a:gd name="connsiteY2" fmla="*/ 118881 h 223826"/>
              <a:gd name="connsiteX3" fmla="*/ 595870 w 607064"/>
              <a:gd name="connsiteY3" fmla="*/ 223823 h 223826"/>
              <a:gd name="connsiteX4" fmla="*/ 0 w 607064"/>
              <a:gd name="connsiteY4" fmla="*/ 219060 h 223826"/>
            </a:gdLst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E3B3AA-42BF-42FF-BC47-899A190428F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9098"/>
            <a:ext cx="546100" cy="234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algn="r">
              <a:buNone/>
              <a:defRPr sz="1200">
                <a:solidFill>
                  <a:schemeClr val="tx1"/>
                </a:solidFill>
              </a:defRPr>
            </a:lvl1pPr>
          </a:lstStyle>
          <a:p xmlns:a="http://schemas.openxmlformats.org/drawingml/2006/main">
            <a:fld id="{9E0DF7C0-E924-49C9-9FE7-DFCD8B4EE6AD}" type="slidenum">
              <a:t>‹#›</a:t>
            </a:fld>
            <a:endParaRPr/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6016F45-0333-487B-8E95-1F64624E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828675"/>
            <a:ext cx="12182247" cy="579923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hf hdr="0" ftr="0" dt="0"/>
</p:sldLayout>
</file>

<file path=ppt/slideLayouts/slideLayout7.xml><?xml version="1.0" encoding="utf-8"?>
<p:sldLayout xmlns:p="http://schemas.openxmlformats.org/presentationml/2006/main" matchingName="1_SMSVC_Title_and_Content">
  <p:cSld name="2_SMSVC_Title_and_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Google Shape;23;p10">
            <a:extLst xmlns:a="http://schemas.openxmlformats.org/drawingml/2006/main">
              <a:ext uri="{FF2B5EF4-FFF2-40B4-BE49-F238E27FC236}">
                <a16:creationId xmlns:a16="http://schemas.microsoft.com/office/drawing/2014/main" id="{9361C8F1-27E3-46D3-A713-FD5BE3753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117" y="6637571"/>
            <a:ext cx="12213945" cy="22965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DAC56C"/>
              </a:gs>
              <a:gs pos="85000">
                <a:srgbClr val="E3D38D"/>
              </a:gs>
              <a:gs pos="100000">
                <a:srgbClr val="D0B646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Google Shape;24;p10">
            <a:extLst xmlns:a="http://schemas.openxmlformats.org/drawingml/2006/main">
              <a:ext uri="{FF2B5EF4-FFF2-40B4-BE49-F238E27FC236}">
                <a16:creationId xmlns:a16="http://schemas.microsoft.com/office/drawing/2014/main" id="{2B6EF8C5-B46E-4D0E-A331-D5E80F45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6637572"/>
            <a:ext cx="3394402" cy="229872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lt1"/>
              </a:gs>
              <a:gs pos="100000">
                <a:srgbClr val="D8D8D8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Google Shape;25;p10">
            <a:extLst xmlns:a="http://schemas.openxmlformats.org/drawingml/2006/main">
              <a:ext uri="{FF2B5EF4-FFF2-40B4-BE49-F238E27FC236}">
                <a16:creationId xmlns:a16="http://schemas.microsoft.com/office/drawing/2014/main" id="{ACEAB00B-F150-4194-8176-08809B51A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6635388"/>
            <a:ext cx="3213101" cy="238739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dk1"/>
              </a:gs>
              <a:gs pos="85000">
                <a:srgbClr val="454545"/>
              </a:gs>
              <a:gs pos="100000">
                <a:srgbClr val="3F3F3F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Google Shape;26;p10">
            <a:extLst xmlns:a="http://schemas.openxmlformats.org/drawingml/2006/main">
              <a:ext uri="{FF2B5EF4-FFF2-40B4-BE49-F238E27FC236}">
                <a16:creationId xmlns:a16="http://schemas.microsoft.com/office/drawing/2014/main" id="{CA86C562-CCC3-4E19-AA50-B6F0960C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175999" y="6631360"/>
            <a:ext cx="1006247" cy="233901"/>
          </a:xfrm>
          <a:custGeom xmlns:a="http://schemas.openxmlformats.org/drawingml/2006/main">
            <a:rect l="l" t="t" r="r" b="b"/>
            <a:pathLst>
              <a:path w="715587" h="215799">
                <a:moveTo>
                  <a:pt x="0" y="215799"/>
                </a:moveTo>
                <a:cubicBezTo>
                  <a:pt x="1" y="144675"/>
                  <a:pt x="1" y="73551"/>
                  <a:pt x="2" y="2427"/>
                </a:cubicBezTo>
                <a:cubicBezTo>
                  <a:pt x="69058" y="-9904"/>
                  <a:pt x="250828" y="25598"/>
                  <a:pt x="381840" y="89625"/>
                </a:cubicBezTo>
                <a:cubicBezTo>
                  <a:pt x="512852" y="153652"/>
                  <a:pt x="599947" y="186922"/>
                  <a:pt x="715587" y="215799"/>
                </a:cubicBezTo>
                <a:lnTo>
                  <a:pt x="0" y="215799"/>
                </a:lnTo>
                <a:close/>
              </a:path>
            </a:pathLst>
          </a:custGeom>
          <a:solidFill xmlns:a="http://schemas.openxmlformats.org/drawingml/2006/main">
            <a:srgbClr val="D7C05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cap="none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Google Shape;27;p10">
            <a:extLst xmlns:a="http://schemas.openxmlformats.org/drawingml/2006/main">
              <a:ext uri="{FF2B5EF4-FFF2-40B4-BE49-F238E27FC236}">
                <a16:creationId xmlns:a16="http://schemas.microsoft.com/office/drawing/2014/main" id="{A3196595-5D66-4BA7-9541-F1B0D6CD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" y="6627908"/>
            <a:ext cx="2133600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000" b="0" i="0" u="none" cap="none">
                <a:solidFill>
                  <a:schemeClr val="dk1"/>
                </a:solidFill>
                <a:latin typeface="Arial"/>
                <a:ea typeface="Arial"/>
                <a:cs typeface="Arial"/>
              </a:rPr>
              <a:t>pnw.edu/civs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Google Shape;28;p10">
            <a:extLst xmlns:a="http://schemas.openxmlformats.org/drawingml/2006/main">
              <a:ext uri="{FF2B5EF4-FFF2-40B4-BE49-F238E27FC236}">
                <a16:creationId xmlns:a16="http://schemas.microsoft.com/office/drawing/2014/main" id="{08E3270D-69F4-4E6E-B1B9-9F5331F9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1343" y="6627907"/>
            <a:ext cx="2465551" cy="2462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00">
                <a:solidFill>
                  <a:srgbClr val="F2F2F2"/>
                </a:solidFill>
                <a:latin typeface="Arial"/>
                <a:ea typeface="Arial"/>
                <a:cs typeface="Arial"/>
              </a:rPr>
              <a:t>civs@pnw.edu</a:t>
            </a:r>
            <a:endParaRPr/>
          </a:p>
        </p:txBody>
      </p:sp>
      <p:sp>
        <p:nvSpPr>
          <p:cNvPr id="29" name="Google Shape;29;p10">
            <a:extLst xmlns:a="http://schemas.openxmlformats.org/drawingml/2006/main">
              <a:ext uri="{FF2B5EF4-FFF2-40B4-BE49-F238E27FC236}">
                <a16:creationId xmlns:a16="http://schemas.microsoft.com/office/drawing/2014/main" id="{A52DBB54-9607-4E88-98AA-214D7966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816" y="-1285"/>
            <a:ext cx="12196064" cy="601792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CEB23A"/>
              </a:gs>
              <a:gs pos="11000">
                <a:srgbClr val="E6D89A"/>
              </a:gs>
              <a:gs pos="24000">
                <a:srgbClr val="DBC671"/>
              </a:gs>
              <a:gs pos="100000">
                <a:srgbClr val="D9C368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Google Shape;30;p10">
            <a:extLst xmlns:a="http://schemas.openxmlformats.org/drawingml/2006/main">
              <a:ext uri="{FF2B5EF4-FFF2-40B4-BE49-F238E27FC236}">
                <a16:creationId xmlns:a16="http://schemas.microsoft.com/office/drawing/2014/main" id="{57841B8E-67D9-40B7-9A7D-26786F78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98" y="-1285"/>
            <a:ext cx="3381702" cy="623077"/>
          </a:xfrm>
          <a:custGeom xmlns:a="http://schemas.openxmlformats.org/drawingml/2006/main">
            <a:rect l="l" t="t" r="r" b="b"/>
            <a:pathLst>
              <a:path w="2459318" h="539269">
                <a:moveTo>
                  <a:pt x="632509" y="0"/>
                </a:moveTo>
                <a:lnTo>
                  <a:pt x="2459318" y="7010"/>
                </a:lnTo>
                <a:lnTo>
                  <a:pt x="2459318" y="525394"/>
                </a:lnTo>
                <a:lnTo>
                  <a:pt x="0" y="539269"/>
                </a:lnTo>
                <a:cubicBezTo>
                  <a:pt x="397459" y="363714"/>
                  <a:pt x="229929" y="224444"/>
                  <a:pt x="63250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rgbClr val="D8D8D8"/>
              </a:gs>
              <a:gs pos="100000">
                <a:schemeClr val="lt1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Google Shape;31;p10">
            <a:extLst xmlns:a="http://schemas.openxmlformats.org/drawingml/2006/main">
              <a:ext uri="{FF2B5EF4-FFF2-40B4-BE49-F238E27FC236}">
                <a16:creationId xmlns:a16="http://schemas.microsoft.com/office/drawing/2014/main" id="{C873D166-8547-414F-8727-60AA723B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4120" y="-7009"/>
            <a:ext cx="3207881" cy="623077"/>
          </a:xfrm>
          <a:custGeom xmlns:a="http://schemas.openxmlformats.org/drawingml/2006/main">
            <a:rect l="l" t="t" r="r" b="b"/>
            <a:pathLst>
              <a:path w="2464238" h="539269">
                <a:moveTo>
                  <a:pt x="637429" y="0"/>
                </a:moveTo>
                <a:lnTo>
                  <a:pt x="2464238" y="7010"/>
                </a:lnTo>
                <a:lnTo>
                  <a:pt x="2464238" y="525394"/>
                </a:lnTo>
                <a:lnTo>
                  <a:pt x="0" y="539269"/>
                </a:lnTo>
                <a:cubicBezTo>
                  <a:pt x="397459" y="363714"/>
                  <a:pt x="234849" y="224444"/>
                  <a:pt x="637429" y="0"/>
                </a:cubicBezTo>
                <a:close/>
              </a:path>
            </a:pathLst>
          </a:custGeom>
          <a:gradFill xmlns:a="http://schemas.openxmlformats.org/drawingml/2006/main">
            <a:gsLst>
              <a:gs pos="0">
                <a:schemeClr val="dk1"/>
              </a:gs>
              <a:gs pos="16000">
                <a:srgbClr val="595959"/>
              </a:gs>
              <a:gs pos="100000">
                <a:srgbClr val="3F3F3F"/>
              </a:gs>
            </a:gsLst>
            <a:lin ang="5400000" scaled="0"/>
          </a:gra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Google Shape;32;p10">
            <a:extLst xmlns:a="http://schemas.openxmlformats.org/drawingml/2006/main">
              <a:ext uri="{FF2B5EF4-FFF2-40B4-BE49-F238E27FC236}">
                <a16:creationId xmlns:a16="http://schemas.microsoft.com/office/drawing/2014/main" id="{71C2C07A-CDBC-4F96-8445-32B5A8AEEF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941" y="16065"/>
            <a:ext cx="8423857" cy="5294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182875" rIns="91425" bIns="182875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SzPts val="1400"/>
              <a:buNone/>
              <a:defRPr sz="2600">
                <a:solidFill>
                  <a:schemeClr val="dk1"/>
                </a:solidFill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10">
            <a:extLst xmlns:a="http://schemas.openxmlformats.org/drawingml/2006/main">
              <a:ext uri="{FF2B5EF4-FFF2-40B4-BE49-F238E27FC236}">
                <a16:creationId xmlns:a16="http://schemas.microsoft.com/office/drawing/2014/main" id="{121112F7-50C0-43F9-9C28-13AECCE16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1392107" y="6643701"/>
            <a:ext cx="809419" cy="223826"/>
          </a:xfrm>
          <a:custGeom xmlns:a="http://schemas.openxmlformats.org/drawingml/2006/main">
            <a:rect l="l" t="t" r="r" b="b"/>
            <a:pathLst>
              <a:path w="607064" h="223826">
                <a:moveTo>
                  <a:pt x="0" y="219060"/>
                </a:moveTo>
                <a:lnTo>
                  <a:pt x="0" y="1294"/>
                </a:lnTo>
                <a:cubicBezTo>
                  <a:pt x="69056" y="-11037"/>
                  <a:pt x="274544" y="67506"/>
                  <a:pt x="359569" y="118881"/>
                </a:cubicBezTo>
                <a:cubicBezTo>
                  <a:pt x="444594" y="170256"/>
                  <a:pt x="658078" y="224319"/>
                  <a:pt x="595870" y="223823"/>
                </a:cubicBezTo>
                <a:lnTo>
                  <a:pt x="0" y="219060"/>
                </a:lnTo>
                <a:close/>
              </a:path>
            </a:pathLst>
          </a:custGeom>
          <a:solidFill xmlns:a="http://schemas.openxmlformats.org/drawingml/2006/main">
            <a:schemeClr val="l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Google Shape;34;p10">
            <a:extLst xmlns:a="http://schemas.openxmlformats.org/drawingml/2006/main">
              <a:ext uri="{FF2B5EF4-FFF2-40B4-BE49-F238E27FC236}">
                <a16:creationId xmlns:a16="http://schemas.microsoft.com/office/drawing/2014/main" id="{112243DD-F1B4-431F-A009-7999602D96A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647477" y="6632748"/>
            <a:ext cx="546100" cy="23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spcBef>
                <a:spcPts val="0"/>
              </a:spcBef>
              <a:spcAft>
                <a:spcPts val="0"/>
              </a:spcAft>
              <a:buNone/>
              <a:defRPr sz="1200" b="0" u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pic>
        <p:nvPicPr>
          <p:cNvPr id="55" name="Google Shape;35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284530270504c5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245532" y="83704"/>
            <a:ext cx="844867" cy="41132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56" name="Google Shape;36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cde9f9786104e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14367" y="77442"/>
            <a:ext cx="447344" cy="4286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" name="Google Shape;37;p10">
            <a:extLst xmlns:a="http://schemas.openxmlformats.org/drawingml/2006/main">
              <a:ext uri="{FF2B5EF4-FFF2-40B4-BE49-F238E27FC236}">
                <a16:creationId xmlns:a16="http://schemas.microsoft.com/office/drawing/2014/main" id="{04271521-71B1-4F12-A324-B93E8EDA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" y="585365"/>
            <a:ext cx="12173305" cy="6042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1"/>
          </a:solidFill>
          <a:ln xmlns:a="http://schemas.openxmlformats.org/drawingml/2006/main" w="25400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Google Shape;38;p10">
            <a:extLst xmlns:a="http://schemas.openxmlformats.org/drawingml/2006/main">
              <a:ext uri="{FF2B5EF4-FFF2-40B4-BE49-F238E27FC236}">
                <a16:creationId xmlns:a16="http://schemas.microsoft.com/office/drawing/2014/main" id="{4193B5D9-A0B4-4DE9-B9E6-AD2874AE2B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03200" y="613230"/>
            <a:ext cx="11785600" cy="5939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⮚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2pPr>
            <a:lvl3pPr marL="13716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3pPr>
            <a:lvl4pPr marL="18288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4pPr>
            <a:lvl5pPr marL="2286000" indent="-406400" algn="l">
              <a:spcBef>
                <a:spcPts val="560"/>
              </a:spcBef>
              <a:spcAft>
                <a:spcPts val="0"/>
              </a:spcAft>
              <a:buClr>
                <a:srgbClr val="CC9900"/>
              </a:buClr>
              <a:buSzPts val="2800"/>
              <a:buFont typeface="Noto Sans Symbols"/>
              <a:buChar char="▪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</a:defRPr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10">
            <a:extLst xmlns:a="http://schemas.openxmlformats.org/drawingml/2006/main">
              <a:ext uri="{FF2B5EF4-FFF2-40B4-BE49-F238E27FC236}">
                <a16:creationId xmlns:a16="http://schemas.microsoft.com/office/drawing/2014/main" id="{3B3D0F8B-FCA0-4235-838D-568D2633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1" y="6620872"/>
            <a:ext cx="7611872" cy="27699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1">
                <a:solidFill>
                  <a:schemeClr val="dk1"/>
                </a:solidFill>
                <a:latin typeface="Corsiva"/>
                <a:ea typeface="Corsiva"/>
                <a:cs typeface="Corsiva"/>
              </a:rPr>
              <a:t>“Where Ideas Become Reality”</a:t>
            </a:r>
            <a:endParaRPr/>
          </a:p>
        </p:txBody>
      </p:sp>
      <p:pic>
        <p:nvPicPr>
          <p:cNvPr id="60" name="Google Shape;4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4a450b39cb4fa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45193" y="76691"/>
            <a:ext cx="993075" cy="4306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22281eb90334631" /><Relationship Type="http://schemas.openxmlformats.org/officeDocument/2006/relationships/slideLayout" Target="/ppt/slideLayouts/slideLayout1.xml" Id="Rddf74ee078f540b0" /><Relationship Type="http://schemas.openxmlformats.org/officeDocument/2006/relationships/slideLayout" Target="/ppt/slideLayouts/slideLayout2.xml" Id="R6782b3d8e8c24c3e" /><Relationship Type="http://schemas.openxmlformats.org/officeDocument/2006/relationships/slideLayout" Target="/ppt/slideLayouts/slideLayout3.xml" Id="R1429c7aaa40f4f42" /><Relationship Type="http://schemas.openxmlformats.org/officeDocument/2006/relationships/slideLayout" Target="/ppt/slideLayouts/slideLayout4.xml" Id="R1a4cb3f70f564398" /><Relationship Type="http://schemas.openxmlformats.org/officeDocument/2006/relationships/slideLayout" Target="/ppt/slideLayouts/slideLayout5.xml" Id="Rcd580df9b135404b" /><Relationship Type="http://schemas.openxmlformats.org/officeDocument/2006/relationships/slideLayout" Target="/ppt/slideLayouts/slideLayout6.xml" Id="R9c4bbd73d8bf4d6f" /><Relationship Type="http://schemas.openxmlformats.org/officeDocument/2006/relationships/slideLayout" Target="/ppt/slideLayouts/slideLayout7.xml" Id="Rbce5a8cb73694c1a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50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64C04345-32FA-49E5-9E9B-72210C94D8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274638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205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FC0519D-9FED-4EB7-B9D1-B5C93ACBE3D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600201"/>
            <a:ext cx="109728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55F2AAF-E1CF-4EAC-8102-DB1032687FD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1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EB78890-F70B-4572-8F6A-593B23289BF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1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30AB3D3-B2E8-4C33-9D71-25276C269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6172200"/>
            <a:ext cx="111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>
              <a:solidFill>
                <a:srgbClr val="FFFFFF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df74ee078f540b0"/>
    <p:sldLayoutId xmlns:r="http://schemas.openxmlformats.org/officeDocument/2006/relationships" id="2147483650" r:id="R6782b3d8e8c24c3e"/>
    <p:sldLayoutId xmlns:r="http://schemas.openxmlformats.org/officeDocument/2006/relationships" id="2147483651" r:id="R1429c7aaa40f4f42"/>
    <p:sldLayoutId xmlns:r="http://schemas.openxmlformats.org/officeDocument/2006/relationships" id="2147483652" r:id="R1a4cb3f70f564398"/>
    <p:sldLayoutId xmlns:r="http://schemas.openxmlformats.org/officeDocument/2006/relationships" id="2147483653" r:id="Rcd580df9b135404b"/>
    <p:sldLayoutId xmlns:r="http://schemas.openxmlformats.org/officeDocument/2006/relationships" id="2147483654" r:id="R9c4bbd73d8bf4d6f"/>
    <p:sldLayoutId xmlns:r="http://schemas.openxmlformats.org/officeDocument/2006/relationships" id="2147483655" r:id="Rbce5a8cb73694c1a"/>
  </p:sldLayoutIdLst>
  <p:hf hdr="0" ftr="0" dt="0"/>
  <p:txStyles>
    <p:titleStyle>
      <a:lvl1pPr xmlns:a="http://schemas.openxmlformats.org/drawingml/2006/main" algn="ctr">
        <a:spcBef>
          <a:spcPct val="0"/>
        </a:spcBef>
        <a:spcAft>
          <a:spcPct val="0"/>
        </a:spcAft>
        <a:buNone/>
        <a:defRPr sz="3200" b="1" kern="1200">
          <a:solidFill>
            <a:srgbClr val="CC9900"/>
          </a:solidFill>
          <a:latin typeface="Arial"/>
          <a:ea typeface="Arial"/>
          <a:cs typeface="Arial"/>
        </a:defRPr>
      </a:lvl1pPr>
      <a:lvl2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2pPr>
      <a:lvl3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3pPr>
      <a:lvl4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4pPr>
      <a:lvl5pPr xmlns:a="http://schemas.openxmlformats.org/drawingml/2006/main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5pPr>
      <a:lvl6pPr xmlns:a="http://schemas.openxmlformats.org/drawingml/2006/main" marL="4572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6pPr>
      <a:lvl7pPr xmlns:a="http://schemas.openxmlformats.org/drawingml/2006/main" marL="9144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7pPr>
      <a:lvl8pPr xmlns:a="http://schemas.openxmlformats.org/drawingml/2006/main" marL="13716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8pPr>
      <a:lvl9pPr xmlns:a="http://schemas.openxmlformats.org/drawingml/2006/main" marL="1828800" algn="ctr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Calibri"/>
          <a:ea typeface="Calibri"/>
          <a:cs typeface="Calibri"/>
        </a:defRPr>
      </a:lvl9pPr>
    </p:titleStyle>
    <p:bodyStyle>
      <a:lvl1pPr xmlns:a="http://schemas.openxmlformats.org/drawingml/2006/main" marL="342900" indent="-342900" algn="l">
        <a:spcBef>
          <a:spcPct val="20000"/>
        </a:spcBef>
        <a:spcAft>
          <a:spcPct val="0"/>
        </a:spcAft>
        <a:buFont typeface="Wingdings"/>
        <a:buChar char="Ø"/>
        <a:defRPr sz="3200" kern="1200">
          <a:solidFill>
            <a:srgbClr val="D7C05F"/>
          </a:solidFill>
          <a:latin typeface="Arial"/>
          <a:ea typeface="Arial"/>
          <a:cs typeface="Arial"/>
        </a:defRPr>
      </a:lvl1pPr>
      <a:lvl2pPr xmlns:a="http://schemas.openxmlformats.org/drawingml/2006/main" marL="742950" indent="-285750" algn="l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3a28bb2d0e74135" /><Relationship Type="http://schemas.openxmlformats.org/officeDocument/2006/relationships/notesSlide" Target="/ppt/notesSlides/notesSlide1.xml" Id="R8dfc1ba7662e4a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0a57f4b8f904a73" /><Relationship Type="http://schemas.openxmlformats.org/officeDocument/2006/relationships/notesSlide" Target="/ppt/notesSlides/notesSlide2.xml" Id="Rd3c89d0ca53b4fd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835694ec9784892" /><Relationship Type="http://schemas.openxmlformats.org/officeDocument/2006/relationships/notesSlide" Target="/ppt/notesSlides/notesSlide3.xml" Id="Rf1d8ca7582bb463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dd6a13cbd54c60" /><Relationship Type="http://schemas.openxmlformats.org/officeDocument/2006/relationships/notesSlide" Target="/ppt/notesSlides/notesSlide4.xml" Id="R5711bc52254e42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a1534ff91e147ad" /><Relationship Type="http://schemas.openxmlformats.org/officeDocument/2006/relationships/notesSlide" Target="/ppt/notesSlides/notesSlide5.xml" Id="Ra669fba692a54f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ed866fd36064ff6" /><Relationship Type="http://schemas.openxmlformats.org/officeDocument/2006/relationships/notesSlide" Target="/ppt/notesSlides/notesSlide6.xml" Id="R5c7df828a3fd453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e435e6c7dd44d6" /><Relationship Type="http://schemas.openxmlformats.org/officeDocument/2006/relationships/notesSlide" Target="/ppt/notesSlides/notesSlide7.xml" Id="Rf1f435c172cc47d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c67a0560b464e55" /><Relationship Type="http://schemas.openxmlformats.org/officeDocument/2006/relationships/notesSlide" Target="/ppt/notesSlides/notesSlide8.xml" Id="R569df39032ef44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E32D8-9B4C-4D3E-8321-7D4913E0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9144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Project #19</a:t>
            </a:r>
          </a:p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Standalone Root Cause Analysis</a:t>
            </a:r>
          </a:p>
          <a:p xmlns:a="http://schemas.openxmlformats.org/drawingml/2006/main">
            <a:pPr algn="ctr">
              <a:defRPr sz="405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Progress Since July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68D4E7-B952-4738-AA09-C4AE0DEC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5095875"/>
            <a:ext cx="6381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Progress through 22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67386617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42825C-96BA-4B5A-BE06-A911900F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Progress Since July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1BE7CB-6F30-497C-97D7-1CE0CD623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Step-by-step RCA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3A4D7B-3C50-45F7-8AAD-B5B02DA4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716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Built iterative investigations with specialist questions, evidence references and preserved investigation versions.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3B844-6092-4F0B-A37E-81E87102C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Validate incident RCA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A9767-3D71-494E-B775-33C74450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528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 development experiments on the R3 beam and instrument-air cases. Prepared staged synthetic evidence packages.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D8BAF7-C061-4137-AC58-74255009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386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Test open-source models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F6FC30-C2EE-464F-A517-D098CA483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339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Ran Qwen through real investigation workflows. Reliability and causal accuracy remain under evaluation.</a:t>
            </a:r>
          </a:p>
        </p:txBody>
      </p:sp>
    </p:spTree>
    <p:extLst>
      <p:ext uri="{BB962C8B-B14F-4D97-AF65-F5344CB8AC3E}">
        <p14:creationId xmlns:p14="http://schemas.microsoft.com/office/powerpoint/2010/main" val="90868301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3BC095-E867-4C9B-A33C-372CB0120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Iterative Investigation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8992CF-EE28-4E6E-BF57-44360C43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668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Establish the incident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B18CDF-E5C7-47F0-BEC3-059E5B042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621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Register the narrative and documents, identify relevant entities, and form preliminary explanations.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E723A2-876C-4473-9C60-127D6450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479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Investigate open questions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FF66B7-0084-48C1-B916-B38DB589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432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Consult relevant specialists, combine overlapping requests, and route source-backed answers to their owners.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F865CC-EC88-4448-AC60-39CA19C82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Review and revise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619640-34C8-435F-A83C-975647A4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244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Assess factual support, causal roles and connections separately. Save the current board and unresolved questions.</a:t>
            </a:r>
          </a:p>
        </p:txBody>
      </p:sp>
    </p:spTree>
    <p:extLst>
      <p:ext uri="{BB962C8B-B14F-4D97-AF65-F5344CB8AC3E}">
        <p14:creationId xmlns:p14="http://schemas.microsoft.com/office/powerpoint/2010/main" val="94443322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9070D-1CA9-41A4-AF81-37920156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Findings from Development Runs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76608E-35BD-4598-A7E9-7B25D991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573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Earlier causal pipelines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D9B87B-6C54-4FF2-8905-A64EC114C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526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Produced visible boards, but expanding context and candidate links could block completion or create excessive work.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22990-AFD6-45EB-9C9B-116B093A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575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Persistent task engine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2A9B99-844F-404D-958D-6BECD175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528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Improved recovery and inspection. Completing the workflow still did not guarantee a useful causal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45EA10-DBAC-41E3-B1C5-DC2FE6D6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576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revisions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6A7EC-9672-4EC2-8979-FD61CB2AA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529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Published V1 and V2, but some corrections failed to reach board wording and some questions remained stale.</a:t>
            </a:r>
          </a:p>
        </p:txBody>
      </p:sp>
    </p:spTree>
    <p:extLst>
      <p:ext uri="{BB962C8B-B14F-4D97-AF65-F5344CB8AC3E}">
        <p14:creationId xmlns:p14="http://schemas.microsoft.com/office/powerpoint/2010/main" val="16807789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62979-9083-4844-81D5-A1CABC24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Recent RCA System Improvements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486C4-7603-484B-888D-F1D5B950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3827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and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CCEB3-2DFC-4C59-92CC-0685AE020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3357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Track partial answers and subscriber delivery. Preserve different question purposes and expose reviewer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CC06DC-4CC4-4F66-96E7-D96DB88D3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Corrections and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60F8A6-2A61-445B-AB0B-B68C4EFF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Apply source-bound revisions with history. Separate factual support from causal-role and relationship judgments.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2EDC7B-CA40-4F34-BB95-F4DFD323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005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Reproducible records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3D239F-84B6-4DF8-AA92-2DA06D78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95825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Preserve snapshots, controlled-release receipts and experiment exports. The receipt reports 97 software checks passed.</a:t>
            </a:r>
          </a:p>
        </p:txBody>
      </p:sp>
    </p:spTree>
    <p:extLst>
      <p:ext uri="{BB962C8B-B14F-4D97-AF65-F5344CB8AC3E}">
        <p14:creationId xmlns:p14="http://schemas.microsoft.com/office/powerpoint/2010/main" val="4773866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043A36-20CB-40A9-891F-DC40F1A9A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Latest Qwen Run: Partial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DDB441-2E0E-4A0C-9A61-38ABF8CA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000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21 tasks completed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53416F-8205-4C17-930E-481AFAB5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5286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Partial V1 published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7E939-0C6E-40FB-8483-9AFBD0DD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10572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5 selected observations and the focal event</a:t>
            </a:r>
          </a:p>
          <a:p xmlns:a="http://schemas.openxmlformats.org/drawingml/2006/main">
            <a:pPr>
              <a:defRPr sz="24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 causal links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465B9-174F-4118-A5F1-8229A9C0C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52875"/>
            <a:ext cx="107632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run exposed answer-routing and revision issues.</a:t>
            </a:r>
          </a:p>
          <a:p xmlns:a="http://schemas.openxmlformats.org/drawingml/2006/main">
            <a:pPr>
              <a:defRPr sz="21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team implemented fixes and added regression checks.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BF4D7-A2D3-4395-9C08-5D1B42D30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9725"/>
            <a:ext cx="106203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Execution-inconclusive: a fresh run with a frozen configuration is still required.</a:t>
            </a:r>
          </a:p>
        </p:txBody>
      </p:sp>
    </p:spTree>
    <p:extLst>
      <p:ext uri="{BB962C8B-B14F-4D97-AF65-F5344CB8AC3E}">
        <p14:creationId xmlns:p14="http://schemas.microsoft.com/office/powerpoint/2010/main" val="70198928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C935EA-93DB-41F1-BDE0-A686CC254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Staged Evidence Packages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868FB-6171-402C-B28A-C3739D3F0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R3 carrier-beam fall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5C38E8-3F58-481F-BFF7-3A3D7244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240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Staged reconstruction prepared. Load-path and circuit details require independent technical review before scoring.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517745-E60F-4168-8DD2-741099918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Instrument-air loss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04C2C2-EEB8-471F-8B96-C80DB45F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Package prepared for a pilot, with configuration, pressure observations and operating chronology across documents.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4C004-B51B-4B03-BD03-C9FB311AF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evidence releases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495345-DAAF-4310-9DB8-0493EA2E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053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Starter evidence supports V1. Later documents test whether V2 and V3 revise explanations for justified reasons.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2E8B60-2A93-414D-AFD4-8B4B2B3C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38825"/>
            <a:ext cx="1057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Synthetic reconstructions of development cases. Independent validation remains pending.</a:t>
            </a:r>
          </a:p>
        </p:txBody>
      </p:sp>
    </p:spTree>
    <p:extLst>
      <p:ext uri="{BB962C8B-B14F-4D97-AF65-F5344CB8AC3E}">
        <p14:creationId xmlns:p14="http://schemas.microsoft.com/office/powerpoint/2010/main" val="831469831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10970A-6543-457D-9442-1AB35296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171450"/>
            <a:ext cx="923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DDAB1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DDAB18"/>
                </a:solidFill>
                <a:latin typeface="Arial"/>
                <a:ea typeface="Arial"/>
                <a:cs typeface="Arial"/>
              </a:rPr>
              <a:t>Next Steps: Controlled Investigation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132DC-710B-4EA5-AAD7-CFCFE3928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Freeze and run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F08038-7BC8-44CA-AB9B-9B3DAFC6D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9240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Fix the model, prompts and evidence schedule. Preserve each version and the inputs that produced it.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318B7-F6D6-4949-A01C-5A5FEFE0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194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Assess the changes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861FC-233B-4604-9118-C2C02962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31470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Check factual accuracy, causal support, uncertainty and correction quality. Report software failures separately.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A9886-E768-46F1-A551-B52E7C8CC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100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Compare and review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844F5A-5533-4F0B-8A2A-3D628BBD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053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0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Run a simpler baseline on the same evidence. Seek technical review of case realism and causal interpretations.</a:t>
            </a:r>
          </a:p>
        </p:txBody>
      </p:sp>
    </p:spTree>
    <p:extLst>
      <p:ext uri="{BB962C8B-B14F-4D97-AF65-F5344CB8AC3E}">
        <p14:creationId xmlns:p14="http://schemas.microsoft.com/office/powerpoint/2010/main" val="883599449"/>
      </p:ext>
    </p:extLst>
  </p:cSld>
</p:sld>
</file>

<file path=ppt/theme/theme1.xml><?xml version="1.0" encoding="utf-8"?>
<a:theme xmlns:a="http://schemas.openxmlformats.org/drawingml/2006/main" name="Office Theme">
  <a:themeElements>
    <a:clrScheme name="Civic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ivic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2026-09-22T18:34:25.1490000Z</dcterms:created>
  <dcterms:modified xsi:type="dcterms:W3CDTF">2026-09-22T18:34:25.1490000Z</dcterms:modified>
</coreProperties>
</file>