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c18b20da60415e" /><Relationship Type="http://schemas.openxmlformats.org/officeDocument/2006/relationships/extended-properties" Target="/docProps/app.xml" Id="Rf49ffbb2ab684432" /><Relationship Type="http://schemas.openxmlformats.org/officeDocument/2006/relationships/officeDocument" Target="/ppt/presentation.xml" Id="Rbf1697e88f2a41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92385fd5f14c6f"/>
  </p:sldMasterIdLst>
  <p:notesMasterIdLst>
    <p:notesMasterId xmlns:r="http://schemas.openxmlformats.org/officeDocument/2006/relationships" r:id="Rf09176e85e984cbc"/>
  </p:notesMasterIdLst>
  <p:sldIdLst>
    <p:sldId xmlns:r="http://schemas.openxmlformats.org/officeDocument/2006/relationships" id="256" r:id="R0357981c7bd04cde"/>
    <p:sldId xmlns:r="http://schemas.openxmlformats.org/officeDocument/2006/relationships" id="257" r:id="R409bc2c3b4cc40d1"/>
    <p:sldId xmlns:r="http://schemas.openxmlformats.org/officeDocument/2006/relationships" id="258" r:id="R6ac818d8033e4853"/>
    <p:sldId xmlns:r="http://schemas.openxmlformats.org/officeDocument/2006/relationships" id="259" r:id="R92ea9f503efa41f8"/>
    <p:sldId xmlns:r="http://schemas.openxmlformats.org/officeDocument/2006/relationships" id="260" r:id="Rdf725f3fe6144615"/>
    <p:sldId xmlns:r="http://schemas.openxmlformats.org/officeDocument/2006/relationships" id="261" r:id="Rfdefa78999914ffb"/>
    <p:sldId xmlns:r="http://schemas.openxmlformats.org/officeDocument/2006/relationships" id="262" r:id="R22955558c5fc4758"/>
    <p:sldId xmlns:r="http://schemas.openxmlformats.org/officeDocument/2006/relationships" id="263" r:id="R266c269027304570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3E511963-6A01-3019-C86E-C7C5608E28C6}" name="Jay Vijaybhai Polra" initials="JP" userId="S::jpolra@purdue.edu::05471d6c-1458-4835-8f42-0e212e6c3b7b" providerId="AD"/>
  <p188:author id="{A976A666-D41E-E542-5D96-05EE091D0C89}" name="Kyle A Toth" initials="KT" userId="S::katoth@purdue.edu::117f5a3d-1d9b-42ce-99cd-a650340272b4" providerId="AD"/>
  <p188:author id="{EDD3F994-07E7-0840-10F1-D70CDED6DDDF}" name="Dhwanil Radharaman Chauhan" initials="DC" userId="S::chauha56@purdue.edu::b32d1ec2-e1d8-4f74-85f0-a3f9ef37bfdf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5b61a3b6574446" /><Relationship Type="http://schemas.openxmlformats.org/officeDocument/2006/relationships/slideMaster" Target="/ppt/slideMasters/slideMaster1.xml" Id="Rd892385fd5f14c6f" /><Relationship Type="http://schemas.openxmlformats.org/officeDocument/2006/relationships/notesMaster" Target="/ppt/notesMasters/notesMaster1.xml" Id="Rf09176e85e984cbc" /><Relationship Type="http://schemas.openxmlformats.org/officeDocument/2006/relationships/presProps" Target="/ppt/presProps.xml" Id="R70c8c8d3d45f4527" /><Relationship Type="http://schemas.openxmlformats.org/officeDocument/2006/relationships/viewProps" Target="/ppt/viewProps.xml" Id="R24476ffb296345dd" /><Relationship Type="http://schemas.openxmlformats.org/officeDocument/2006/relationships/tableStyles" Target="/ppt/tableStyles.xml" Id="R8dee23ac005741df" /><Relationship Type="http://schemas.microsoft.com/office/2018/10/relationships/authors" Target="/ppt/authors.xml" Id="Rb3203e501a824c0c" /><Relationship Type="http://schemas.openxmlformats.org/officeDocument/2006/relationships/slide" Target="/ppt/slides/slide1.xml" Id="R0357981c7bd04cde" /><Relationship Type="http://schemas.openxmlformats.org/officeDocument/2006/relationships/slide" Target="/ppt/slides/slide2.xml" Id="R409bc2c3b4cc40d1" /><Relationship Type="http://schemas.openxmlformats.org/officeDocument/2006/relationships/slide" Target="/ppt/slides/slide3.xml" Id="R6ac818d8033e4853" /><Relationship Type="http://schemas.openxmlformats.org/officeDocument/2006/relationships/slide" Target="/ppt/slides/slide4.xml" Id="R92ea9f503efa41f8" /><Relationship Type="http://schemas.openxmlformats.org/officeDocument/2006/relationships/slide" Target="/ppt/slides/slide5.xml" Id="Rdf725f3fe6144615" /><Relationship Type="http://schemas.openxmlformats.org/officeDocument/2006/relationships/slide" Target="/ppt/slides/slide6.xml" Id="Rfdefa78999914ffb" /><Relationship Type="http://schemas.openxmlformats.org/officeDocument/2006/relationships/slide" Target="/ppt/slides/slide7.xml" Id="R22955558c5fc4758" /><Relationship Type="http://schemas.openxmlformats.org/officeDocument/2006/relationships/slide" Target="/ppt/slides/slide8.xml" Id="R266c2690273045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1bcb0661a647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e94350ce624fc2" /><Relationship Type="http://schemas.openxmlformats.org/officeDocument/2006/relationships/notesMaster" Target="/ppt/notesMasters/notesMaster1.xml" Id="R86af9325683a4a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f2ff909cee411e" /><Relationship Type="http://schemas.openxmlformats.org/officeDocument/2006/relationships/notesMaster" Target="/ppt/notesMasters/notesMaster1.xml" Id="R4a5466f1982544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f5586e170a43f7" /><Relationship Type="http://schemas.openxmlformats.org/officeDocument/2006/relationships/notesMaster" Target="/ppt/notesMasters/notesMaster1.xml" Id="Re3297774ff2942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a12fc860184d16" /><Relationship Type="http://schemas.openxmlformats.org/officeDocument/2006/relationships/notesMaster" Target="/ppt/notesMasters/notesMaster1.xml" Id="R8cc73ef0bef346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ecef1f451146ed" /><Relationship Type="http://schemas.openxmlformats.org/officeDocument/2006/relationships/notesMaster" Target="/ppt/notesMasters/notesMaster1.xml" Id="Rae9a0306f96b4c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df4959272e4ac1" /><Relationship Type="http://schemas.openxmlformats.org/officeDocument/2006/relationships/notesMaster" Target="/ppt/notesMasters/notesMaster1.xml" Id="R23be9795a3c94b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87029309c9495b" /><Relationship Type="http://schemas.openxmlformats.org/officeDocument/2006/relationships/notesMaster" Target="/ppt/notesMasters/notesMaster1.xml" Id="R31836805f2f841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f6165ac08d4af2" /><Relationship Type="http://schemas.openxmlformats.org/officeDocument/2006/relationships/notesMaster" Target="/ppt/notesMasters/notesMaster1.xml" Id="R95d56b0e88294a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/Users/dhwanilchauhan/Downloads/S&amp;T_PTC_July2026Presentation.pptx slides 7–13. Progress cutoff 22 September 2026, not a confirmed meeting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/Users/dhwanilchauhan/Downloads/S&amp;T_PTC_July2026Presentation.pptx slides 7–13. /Users/dhwanilchauhan/Desktop/RCA Try 1/Try 7/TRY7_EXECUTIVE_PLAN.md, section 10 implementation receipt and observed smoke outcome. Screenshot: current Try 7 local interface captured 22 September 2026. Workflow availability is not evidence of RCA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1/RCA_RESEARCH_OVERVIEW_AND_PLAN.md sections 5, 8; /Users/dhwanilchauhan/Desktop/RCA Try 1/Try 7/TRY7_EXECUTIVE_PLAN.md sections 4, 10. Simplified conceptual workflow. The diagram summarizes responsibilities, not separate fixed sequential API agents. Review outcomes and questions can reopen investigation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1/Try 6/evals/v1-v2-presentation-review/output/Try6_V1_V2_Evidence_Review.md sections 1–3; /Users/dhwanilchauhan/Desktop/RCA Try 1/Try 6/public/history/featured-causal-boards.json. One Try 6 development case, IA-16036, Qwen3.5. Counts include focal event. V1 5 nodes/4 active links/0 verified links; V2 9/6/0. No claim that greater size means greater accuracy. Diagram at right is an abbreviated excerpt of the two opposing preceded links present in saved V1, not a correct process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1/Try 7/TRY7_EXECUTIVE_PLAN.md, section 10 implementation receipt and observed smoke outcome. These functions are described in the implementation receipt; full-plan acceptance is incomplete. The 97 checks are recorded deterministic software checks, not model accuracy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1/Try 7/TRY7_EXECUTIVE_PLAN.md, section 10 implementation receipt and observed smoke outcome. Screenshot of the saved unscored Try 7 pneumatic-carriage smoke run. The screenshot shows the current app displaying the historical V1 snapshot. 21 tasks completed; partial version; 5 observations plus focal event, zero causal links; execution-inconclusive. Post-run fixes are not validated by a fresh frozen-config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1/Synthetic Evidence Packages 2026-09-22/README_OPERATOR_ONLY.md. Two historically anchored synthetic reconstructions, not recovered company records. Both are derivatives of previously used development cases, not independent held-out cases. B0/B1/B2 are cumulative releases corresponding to V1/V2/V3. No new RCA run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1/RCA_IMPLEMENTATION_AND_PAPER_CHECKLIST.md sections C–E. /Users/dhwanilchauhan/Desktop/RCA Try 1/Try 7/TRY7_EXECUTIVE_PLAN.md, section 10 implementation receipt and observed smoke outcome. Proposed milestones, not completed outcomes or dated commitments. Review R3 mechanics before scored use. Use equivalent evidence for baseline comparisons.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5bdf83b74a4ff3" /><Relationship Type="http://schemas.openxmlformats.org/officeDocument/2006/relationships/image" Target="/ppt/media/image.png" Id="Rdfedfe2042654e57" /><Relationship Type="http://schemas.openxmlformats.org/officeDocument/2006/relationships/image" Target="/ppt/media/image.jpeg" Id="R4f7861c5157343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a241a7c8c4c8b" /><Relationship Type="http://schemas.openxmlformats.org/officeDocument/2006/relationships/image" Target="/ppt/media/image2.png" Id="Re06cf7e29f8f4944" /><Relationship Type="http://schemas.openxmlformats.org/officeDocument/2006/relationships/image" Target="/ppt/media/image3.png" Id="R3f9bf084837e4c26" /><Relationship Type="http://schemas.openxmlformats.org/officeDocument/2006/relationships/image" Target="/ppt/media/image4.png" Id="R088776f348f14a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642fa075c4393" /><Relationship Type="http://schemas.openxmlformats.org/officeDocument/2006/relationships/image" Target="/ppt/media/image2.png" Id="Rdf69f0c72d7144ce" /><Relationship Type="http://schemas.openxmlformats.org/officeDocument/2006/relationships/image" Target="/ppt/media/image3.png" Id="R2f68ecb60b4b4d4a" /><Relationship Type="http://schemas.openxmlformats.org/officeDocument/2006/relationships/image" Target="/ppt/media/image4.png" Id="R1aee9bd0307f4e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99cb658dc4db0" /><Relationship Type="http://schemas.openxmlformats.org/officeDocument/2006/relationships/image" Target="/ppt/media/image.png" Id="R5d6007e37aca45e8" /><Relationship Type="http://schemas.openxmlformats.org/officeDocument/2006/relationships/image" Target="/ppt/media/image.jpeg" Id="R0eb6e6d11cd04b36" /><Relationship Type="http://schemas.openxmlformats.org/officeDocument/2006/relationships/image" Target="/ppt/media/image2.png" Id="Rbe111551154543e3" /><Relationship Type="http://schemas.openxmlformats.org/officeDocument/2006/relationships/image" Target="/ppt/media/image3.png" Id="R258304fbd13c4eab" /><Relationship Type="http://schemas.openxmlformats.org/officeDocument/2006/relationships/image" Target="/ppt/media/image4.png" Id="R12db4fb2c76542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53f51ca084740" /><Relationship Type="http://schemas.openxmlformats.org/officeDocument/2006/relationships/image" Target="/ppt/media/image2.png" Id="Rf9587bf2e8e6479a" /><Relationship Type="http://schemas.openxmlformats.org/officeDocument/2006/relationships/image" Target="/ppt/media/image5.png" Id="R3a699e9ec2b84a00" /><Relationship Type="http://schemas.openxmlformats.org/officeDocument/2006/relationships/image" Target="/ppt/media/image6.png" Id="R04da030d4fa447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ea404acca049ce" /><Relationship Type="http://schemas.openxmlformats.org/officeDocument/2006/relationships/image" Target="/ppt/media/image7.png" Id="Rb4175faae98e40d9" /><Relationship Type="http://schemas.openxmlformats.org/officeDocument/2006/relationships/image" Target="/ppt/media/image8.png" Id="Rf5d49cdb14d14d2d" /><Relationship Type="http://schemas.openxmlformats.org/officeDocument/2006/relationships/image" Target="/ppt/media/image6.png" Id="R5b5a9b90cd414c4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a4ccaa2ca4aa9" /><Relationship Type="http://schemas.openxmlformats.org/officeDocument/2006/relationships/image" Target="/ppt/media/image2.png" Id="R8224d7a6a62841fe" /><Relationship Type="http://schemas.openxmlformats.org/officeDocument/2006/relationships/image" Target="/ppt/media/image5.png" Id="R5da29f0f815e4803" /><Relationship Type="http://schemas.openxmlformats.org/officeDocument/2006/relationships/image" Target="/ppt/media/image6.png" Id="R0a32a67a540540c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" name="Picture 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edfe2042654e57"/>
          <a:srcRect xmlns:a="http://schemas.openxmlformats.org/drawingml/2006/main" l="0" t="0" r="28542" b="0"/>
          <a:stretch xmlns:a="http://schemas.openxmlformats.org/drawingml/2006/main"/>
        </p:blipFill>
        <p:spPr>
          <a:xfrm xmlns:a="http://schemas.openxmlformats.org/drawingml/2006/main">
            <a:off x="8305801" y="3275239"/>
            <a:ext cx="3886200" cy="3592923"/>
          </a:xfrm>
          <a:prstGeom xmlns:a="http://schemas.openxmlformats.org/drawingml/2006/main" prst="rect">
            <a:avLst/>
          </a:prstGeom>
        </p:spPr>
      </p:pic>
      <p:pic>
        <p:nvPicPr>
          <p:cNvPr id="54" name="Picture 5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7861c5157343c1"/>
          <a:srcRect xmlns:a="http://schemas.openxmlformats.org/drawingml/2006/main" l="8578" t="2647" r="52326" b="52819"/>
          <a:stretch xmlns:a="http://schemas.openxmlformats.org/drawingml/2006/main"/>
        </p:blipFill>
        <p:spPr>
          <a:xfrm xmlns:a="http://schemas.openxmlformats.org/drawingml/2006/main">
            <a:off x="0" y="-44112"/>
            <a:ext cx="4213097" cy="3276514"/>
          </a:xfrm>
          <a:prstGeom xmlns:a="http://schemas.openxmlformats.org/drawingml/2006/main" prst="rect">
            <a:avLst/>
          </a:prstGeom>
        </p:spPr>
      </p:pic>
      <p:sp>
        <p:nvSpPr>
          <p:cNvPr id="50" name="Snip Diagonal Corner Rectangle 49">
            <a:extLst xmlns:a="http://schemas.openxmlformats.org/drawingml/2006/main">
              <a:ext uri="{FF2B5EF4-FFF2-40B4-BE49-F238E27FC236}">
                <a16:creationId xmlns:a16="http://schemas.microsoft.com/office/drawing/2014/main" id="{F39BE79C-CF40-4FE8-B246-EF755943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1717" y="-2683974"/>
            <a:ext cx="6908563" cy="12191998"/>
          </a:xfrm>
          <a:prstGeom xmlns:a="http://schemas.openxmlformats.org/drawingml/2006/main" prst="snip2DiagRect">
            <a:avLst>
              <a:gd name="adj1" fmla="val 0"/>
              <a:gd name="adj2" fmla="val 4117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22225">
            <a:solidFill>
              <a:schemeClr val="bg1"/>
            </a:solidFill>
          </a:ln>
          <a:effectLst xmlns:a="http://schemas.openxmlformats.org/drawingml/2006/main"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B63E24C-167F-4FA3-9692-DCC915D6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D5EE1A-6966-4D41-A375-0DE8BBD75283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339596" y="349543"/>
            <a:ext cx="9480804" cy="37211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5" name="Text Placeholder 34">
            <a:extLst xmlns:a="http://schemas.openxmlformats.org/drawingml/2006/main">
              <a:ext uri="{FF2B5EF4-FFF2-40B4-BE49-F238E27FC236}">
                <a16:creationId xmlns:a16="http://schemas.microsoft.com/office/drawing/2014/main" id="{3AF58669-A845-4732-88F5-2A772C86761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315200" y="95070"/>
            <a:ext cx="4668652" cy="50523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Date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SMSVC_Title_and_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69500ED-78FE-43BB-B258-CAA05C3D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Right Triangle 64">
            <a:extLst xmlns:a="http://schemas.openxmlformats.org/drawingml/2006/main">
              <a:ext uri="{FF2B5EF4-FFF2-40B4-BE49-F238E27FC236}">
                <a16:creationId xmlns:a16="http://schemas.microsoft.com/office/drawing/2014/main" id="{BE89AB1B-CE4A-46EB-878C-A82F6FF2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437" y="-7284"/>
            <a:ext cx="914538" cy="914539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Right Triangle 65">
            <a:extLst xmlns:a="http://schemas.openxmlformats.org/drawingml/2006/main">
              <a:ext uri="{FF2B5EF4-FFF2-40B4-BE49-F238E27FC236}">
                <a16:creationId xmlns:a16="http://schemas.microsoft.com/office/drawing/2014/main" id="{622A13F3-67EE-4834-B086-FC8280AF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435" y="-7284"/>
            <a:ext cx="800237" cy="800238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Right Triangle 66">
            <a:extLst xmlns:a="http://schemas.openxmlformats.org/drawingml/2006/main">
              <a:ext uri="{FF2B5EF4-FFF2-40B4-BE49-F238E27FC236}">
                <a16:creationId xmlns:a16="http://schemas.microsoft.com/office/drawing/2014/main" id="{E9484091-E4D8-47EF-AFB1-672F7F7A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1885" y="-13510"/>
            <a:ext cx="679451" cy="6810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ight Triangle 13">
            <a:extLst xmlns:a="http://schemas.openxmlformats.org/drawingml/2006/main">
              <a:ext uri="{FF2B5EF4-FFF2-40B4-BE49-F238E27FC236}">
                <a16:creationId xmlns:a16="http://schemas.microsoft.com/office/drawing/2014/main" id="{FAF0782E-8E42-41DB-BA3F-0C4D5D86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201399" y="5872387"/>
            <a:ext cx="996447" cy="99644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Right Triangle 60">
            <a:extLst xmlns:a="http://schemas.openxmlformats.org/drawingml/2006/main">
              <a:ext uri="{FF2B5EF4-FFF2-40B4-BE49-F238E27FC236}">
                <a16:creationId xmlns:a16="http://schemas.microsoft.com/office/drawing/2014/main" id="{45C41F80-F71F-489D-837E-2F1F3147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201401" y="5872387"/>
            <a:ext cx="830368" cy="830368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Right Triangle 61">
            <a:extLst xmlns:a="http://schemas.openxmlformats.org/drawingml/2006/main">
              <a:ext uri="{FF2B5EF4-FFF2-40B4-BE49-F238E27FC236}">
                <a16:creationId xmlns:a16="http://schemas.microsoft.com/office/drawing/2014/main" id="{C48AAA09-EA51-41BD-939D-AAAE3E27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205873" y="5876864"/>
            <a:ext cx="668998" cy="67059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itle 11">
            <a:extLst xmlns:a="http://schemas.openxmlformats.org/drawingml/2006/main">
              <a:ext uri="{FF2B5EF4-FFF2-40B4-BE49-F238E27FC236}">
                <a16:creationId xmlns:a16="http://schemas.microsoft.com/office/drawing/2014/main" id="{9F615A79-6A25-49B4-BDF1-8B6CF2A05BC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22211" y="142874"/>
            <a:ext cx="9271895" cy="676863"/>
          </a:xfrm>
          <a:prstGeom xmlns:a="http://schemas.openxmlformats.org/drawingml/2006/main" prst="roundRect">
            <a:avLst>
              <a:gd name="adj" fmla="val 1243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l">
              <a:buNone/>
              <a:defRPr sz="3600">
                <a:ln w="3175">
                  <a:noFill/>
                </a:ln>
                <a:solidFill>
                  <a:srgbClr val="DDAB18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017A566-9C58-490E-AC37-8D4CDE3BDA99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139985" y="942531"/>
            <a:ext cx="11877187" cy="5596608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Clr>
                <a:srgbClr val="CC9900"/>
              </a:buClr>
              <a:buFont typeface="Wingdings"/>
              <a:buChar char="Ø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Clr>
                <a:srgbClr val="CC9900"/>
              </a:buClr>
              <a:buFont typeface="Wingdings"/>
              <a:buChar char="§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Clr>
                <a:srgbClr val="CC9900"/>
              </a:buClr>
              <a:buFont typeface="Arial"/>
              <a:buChar char="•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Clr>
                <a:srgbClr val="CC9900"/>
              </a:buClr>
              <a:buFont typeface="Wingdings"/>
              <a:buChar char="§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Clr>
                <a:srgbClr val="CC9900"/>
              </a:buClr>
              <a:buFont typeface="Wingdings"/>
              <a:buChar char="§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21A6523-FE33-4B5C-AA07-5E4FBCE9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518" y="6525500"/>
            <a:ext cx="476979" cy="338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1400A495-A80B-49F4-9B3C-48CB464754E0}" type="slidenum">
              <a:rPr sz="1600">
                <a:solidFill>
                  <a:schemeClr val="tx1">
                    <a:lumMod val="85000"/>
                    <a:lumOff val="15000"/>
                  </a:schemeClr>
                </a:solidFill>
              </a:rPr>
              <a:t>‹#›</a:t>
            </a:fld>
            <a:endParaRPr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0" name="Picture 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6cf7e29f8f4944"/>
          <a:srcRect xmlns:a="http://schemas.openxmlformats.org/drawingml/2006/main" l="-4648" t="-3839" r="-3463" b="-5785"/>
          <a:stretch xmlns:a="http://schemas.openxmlformats.org/drawingml/2006/main"/>
        </p:blipFill>
        <p:spPr>
          <a:xfrm xmlns:a="http://schemas.openxmlformats.org/drawingml/2006/main">
            <a:off x="11391827" y="102382"/>
            <a:ext cx="752547" cy="380077"/>
          </a:xfrm>
          <a:prstGeom xmlns:a="http://schemas.openxmlformats.org/drawingml/2006/main" prst="roundRect">
            <a:avLst>
              <a:gd name="adj" fmla="val 8594"/>
            </a:avLst>
          </a:prstGeom>
          <a:ln xmlns:a="http://schemas.openxmlformats.org/drawingml/2006/main" w="12700" cap="rnd">
            <a:solidFill>
              <a:schemeClr val="bg1"/>
            </a:solidFill>
          </a:ln>
        </p:spPr>
      </p:pic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5573A583-D9E1-49D5-AE9B-25C87BC1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517735"/>
            <a:ext cx="2002246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900" b="0">
                <a:solidFill>
                  <a:schemeClr val="tx1"/>
                </a:solidFill>
              </a:rPr>
              <a:t>pnw.edu/civs    </a:t>
            </a:r>
            <a:r>
              <a:rPr sz="900" b="0">
                <a:solidFill>
                  <a:schemeClr val="tx1"/>
                </a:solidFill>
              </a:rPr>
              <a:t> </a:t>
            </a:r>
            <a:r>
              <a:rPr sz="900" b="0">
                <a:solidFill>
                  <a:schemeClr val="tx1"/>
                </a:solidFill>
              </a:rPr>
              <a:t>steelconsortium.org</a:t>
            </a:r>
          </a:p>
        </p:txBody>
      </p:sp>
      <p:pic>
        <p:nvPicPr>
          <p:cNvPr id="92" name="Picture 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bf084837e4c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3136" y="166218"/>
            <a:ext cx="643358" cy="275489"/>
          </a:xfrm>
          <a:prstGeom xmlns:a="http://schemas.openxmlformats.org/drawingml/2006/main" prst="rect">
            <a:avLst/>
          </a:prstGeom>
        </p:spPr>
      </p:pic>
      <p:sp>
        <p:nvSpPr>
          <p:cNvPr id="70" name="Straight Connector 69">
            <a:extLst xmlns:a="http://schemas.openxmlformats.org/drawingml/2006/main">
              <a:ext uri="{FF2B5EF4-FFF2-40B4-BE49-F238E27FC236}">
                <a16:creationId xmlns:a16="http://schemas.microsoft.com/office/drawing/2014/main" id="{F9BFA4CF-46DB-4EE8-AA8B-86D8CA60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194108" y="517735"/>
            <a:ext cx="192169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2" name="Straight Connector 71">
            <a:extLst xmlns:a="http://schemas.openxmlformats.org/drawingml/2006/main">
              <a:ext uri="{FF2B5EF4-FFF2-40B4-BE49-F238E27FC236}">
                <a16:creationId xmlns:a16="http://schemas.microsoft.com/office/drawing/2014/main" id="{D9FD62E8-FD7E-4DB8-8CB5-02AA8A46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94107" y="761477"/>
            <a:ext cx="1921693" cy="52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D2F696DD-0FFB-46B2-B949-AB87C318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70419" y="107156"/>
            <a:ext cx="381000" cy="367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51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6" name="Picture 7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776f348f14a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959381" y="85856"/>
            <a:ext cx="419718" cy="40230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2_SMSVC_Se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62E2E75-975D-47DF-B464-95CF315B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itle 11">
            <a:extLst xmlns:a="http://schemas.openxmlformats.org/drawingml/2006/main">
              <a:ext uri="{FF2B5EF4-FFF2-40B4-BE49-F238E27FC236}">
                <a16:creationId xmlns:a16="http://schemas.microsoft.com/office/drawing/2014/main" id="{CD606F17-455B-4D68-9E53-FC564601DC2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352803" y="2745581"/>
            <a:ext cx="9474199" cy="136683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4800" b="1" kern="1200">
                <a:ln w="3175">
                  <a:noFill/>
                </a:ln>
                <a:solidFill>
                  <a:srgbClr val="DDAB1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6" name="Right Triangle 35">
            <a:extLst xmlns:a="http://schemas.openxmlformats.org/drawingml/2006/main">
              <a:ext uri="{FF2B5EF4-FFF2-40B4-BE49-F238E27FC236}">
                <a16:creationId xmlns:a16="http://schemas.microsoft.com/office/drawing/2014/main" id="{43D6E1CE-5B58-4E84-ACEC-31255541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207" y="2356"/>
            <a:ext cx="3192910" cy="319291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Right Triangle 37">
            <a:extLst xmlns:a="http://schemas.openxmlformats.org/drawingml/2006/main">
              <a:ext uri="{FF2B5EF4-FFF2-40B4-BE49-F238E27FC236}">
                <a16:creationId xmlns:a16="http://schemas.microsoft.com/office/drawing/2014/main" id="{AFC8D1E9-4CD6-4C55-A8F6-D43B4CC0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200" y="2356"/>
            <a:ext cx="2660747" cy="266074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Right Triangle 38">
            <a:extLst xmlns:a="http://schemas.openxmlformats.org/drawingml/2006/main">
              <a:ext uri="{FF2B5EF4-FFF2-40B4-BE49-F238E27FC236}">
                <a16:creationId xmlns:a16="http://schemas.microsoft.com/office/drawing/2014/main" id="{2A5273F7-D8E2-4E35-B99A-6861631E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0137" y="-15263"/>
            <a:ext cx="2143668" cy="21487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Right Triangle 40">
            <a:extLst xmlns:a="http://schemas.openxmlformats.org/drawingml/2006/main">
              <a:ext uri="{FF2B5EF4-FFF2-40B4-BE49-F238E27FC236}">
                <a16:creationId xmlns:a16="http://schemas.microsoft.com/office/drawing/2014/main" id="{E89B861D-3198-4DDB-AB10-79E2F04D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004299" y="3665090"/>
            <a:ext cx="3192911" cy="319291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Right Triangle 41">
            <a:extLst xmlns:a="http://schemas.openxmlformats.org/drawingml/2006/main">
              <a:ext uri="{FF2B5EF4-FFF2-40B4-BE49-F238E27FC236}">
                <a16:creationId xmlns:a16="http://schemas.microsoft.com/office/drawing/2014/main" id="{D7FCE4C4-F46D-47DC-A45D-A60CCF34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004306" y="3665096"/>
            <a:ext cx="2660747" cy="266074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Right Triangle 42">
            <a:extLst xmlns:a="http://schemas.openxmlformats.org/drawingml/2006/main">
              <a:ext uri="{FF2B5EF4-FFF2-40B4-BE49-F238E27FC236}">
                <a16:creationId xmlns:a16="http://schemas.microsoft.com/office/drawing/2014/main" id="{A6EF1236-8E26-4CB5-BB03-74AF2DA5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012072" y="3660174"/>
            <a:ext cx="2143668" cy="21487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9" name="Picture 5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69f0c72d7144ce"/>
          <a:srcRect xmlns:a="http://schemas.openxmlformats.org/drawingml/2006/main" l="-4648" t="-3839" r="-3463" b="-5785"/>
          <a:stretch xmlns:a="http://schemas.openxmlformats.org/drawingml/2006/main"/>
        </p:blipFill>
        <p:spPr>
          <a:xfrm xmlns:a="http://schemas.openxmlformats.org/drawingml/2006/main">
            <a:off x="11391827" y="102382"/>
            <a:ext cx="752547" cy="380077"/>
          </a:xfrm>
          <a:prstGeom xmlns:a="http://schemas.openxmlformats.org/drawingml/2006/main" prst="roundRect">
            <a:avLst>
              <a:gd name="adj" fmla="val 8594"/>
            </a:avLst>
          </a:prstGeom>
          <a:ln xmlns:a="http://schemas.openxmlformats.org/drawingml/2006/main" w="12700" cap="rnd">
            <a:solidFill>
              <a:schemeClr val="bg1"/>
            </a:solidFill>
          </a:ln>
        </p:spPr>
      </p:pic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608BCA7-6B94-4A1F-861A-E3EFBF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517735"/>
            <a:ext cx="1999071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900" b="0">
                <a:solidFill>
                  <a:schemeClr val="tx1"/>
                </a:solidFill>
              </a:rPr>
              <a:t>pnw.edu/civs    </a:t>
            </a:r>
            <a:r>
              <a:rPr sz="900" b="0">
                <a:solidFill>
                  <a:schemeClr val="tx1"/>
                </a:solidFill>
              </a:rPr>
              <a:t> </a:t>
            </a:r>
            <a:r>
              <a:rPr sz="900" b="0">
                <a:solidFill>
                  <a:schemeClr val="tx1"/>
                </a:solidFill>
              </a:rPr>
              <a:t>steelconsortium.org</a:t>
            </a:r>
          </a:p>
        </p:txBody>
      </p:sp>
      <p:pic>
        <p:nvPicPr>
          <p:cNvPr id="71" name="Picture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8ecb60b4b4d4a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3136" y="166218"/>
            <a:ext cx="643358" cy="275489"/>
          </a:xfrm>
          <a:prstGeom xmlns:a="http://schemas.openxmlformats.org/drawingml/2006/main" prst="rect">
            <a:avLst/>
          </a:prstGeom>
        </p:spPr>
      </p:pic>
      <p:sp>
        <p:nvSpPr>
          <p:cNvPr id="54" name="Straight Connector 53">
            <a:extLst xmlns:a="http://schemas.openxmlformats.org/drawingml/2006/main">
              <a:ext uri="{FF2B5EF4-FFF2-40B4-BE49-F238E27FC236}">
                <a16:creationId xmlns:a16="http://schemas.microsoft.com/office/drawing/2014/main" id="{C52894D1-039C-440B-8505-6870C351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194108" y="517735"/>
            <a:ext cx="192169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1964AED0-53EA-4EC9-BD16-17187F1B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94107" y="761477"/>
            <a:ext cx="1921693" cy="52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BB495496-1812-4694-B70E-69D16099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70419" y="107156"/>
            <a:ext cx="381000" cy="367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51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75" name="Picture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e9bd0307f4e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959381" y="85856"/>
            <a:ext cx="419718" cy="40230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3_SMSVC_Conclusi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Picture 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6007e37aca45e8"/>
          <a:srcRect xmlns:a="http://schemas.openxmlformats.org/drawingml/2006/main" l="0" t="0" r="30193" b="0"/>
          <a:stretch xmlns:a="http://schemas.openxmlformats.org/drawingml/2006/main"/>
        </p:blipFill>
        <p:spPr>
          <a:xfrm xmlns:a="http://schemas.openxmlformats.org/drawingml/2006/main">
            <a:off x="8394040" y="3276399"/>
            <a:ext cx="3796425" cy="3592923"/>
          </a:xfrm>
          <a:prstGeom xmlns:a="http://schemas.openxmlformats.org/drawingml/2006/main" prst="rect">
            <a:avLst/>
          </a:prstGeom>
        </p:spPr>
      </p:pic>
      <p:pic>
        <p:nvPicPr>
          <p:cNvPr id="46" name="Picture 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b6e6d11cd04b36"/>
          <a:srcRect xmlns:a="http://schemas.openxmlformats.org/drawingml/2006/main" l="8727" t="0" r="52326" b="52820"/>
          <a:stretch xmlns:a="http://schemas.openxmlformats.org/drawingml/2006/main"/>
        </p:blipFill>
        <p:spPr>
          <a:xfrm xmlns:a="http://schemas.openxmlformats.org/drawingml/2006/main">
            <a:off x="0" y="-42257"/>
            <a:ext cx="4197020" cy="3471257"/>
          </a:xfrm>
          <a:prstGeom xmlns:a="http://schemas.openxmlformats.org/drawingml/2006/main" prst="rect">
            <a:avLst/>
          </a:prstGeom>
        </p:spPr>
      </p:pic>
      <p:sp>
        <p:nvSpPr>
          <p:cNvPr id="33" name="Snip Diagonal Corner Rectangle 32">
            <a:extLst xmlns:a="http://schemas.openxmlformats.org/drawingml/2006/main">
              <a:ext uri="{FF2B5EF4-FFF2-40B4-BE49-F238E27FC236}">
                <a16:creationId xmlns:a16="http://schemas.microsoft.com/office/drawing/2014/main" id="{C540D6DB-AF32-4F59-A25A-F0BC195D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1717" y="-2683974"/>
            <a:ext cx="6908563" cy="12191998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22225">
            <a:solidFill>
              <a:schemeClr val="bg1"/>
            </a:solidFill>
          </a:ln>
          <a:effectLst xmlns:a="http://schemas.openxmlformats.org/drawingml/2006/main"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8385D68-3F99-4558-89AA-2B2BE7B8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040" y="1781563"/>
            <a:ext cx="3043164" cy="425840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>
              <a:solidFill>
                <a:sysClr val="windowText" lastClr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9" name="Picture 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111551154543e3"/>
          <a:srcRect xmlns:a="http://schemas.openxmlformats.org/drawingml/2006/main" l="-4648" t="-3839" r="-3463" b="-5785"/>
          <a:stretch xmlns:a="http://schemas.openxmlformats.org/drawingml/2006/main"/>
        </p:blipFill>
        <p:spPr>
          <a:xfrm xmlns:a="http://schemas.openxmlformats.org/drawingml/2006/main">
            <a:off x="5300092" y="5353249"/>
            <a:ext cx="1677936" cy="856090"/>
          </a:xfrm>
          <a:prstGeom xmlns:a="http://schemas.openxmlformats.org/drawingml/2006/main" prst="roundRect">
            <a:avLst>
              <a:gd name="adj" fmla="val 8594"/>
            </a:avLst>
          </a:prstGeom>
          <a:ln xmlns:a="http://schemas.openxmlformats.org/drawingml/2006/main" w="12700" cap="rnd">
            <a:solidFill>
              <a:schemeClr val="bg1"/>
            </a:solidFill>
          </a:ln>
        </p:spPr>
      </p:pic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4473D1F-D998-4A3F-B2DC-3F68701F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100273"/>
            <a:ext cx="3059344" cy="425840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solidFill>
                <a:sysClr val="windowText" lastClr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36DECFD-C467-416B-990F-D7B5E22F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18544" y="3965839"/>
            <a:ext cx="3373256" cy="1320652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u="sng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More Information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pnw.edu/civs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steelconsortium.org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kern="1200" cap="none">
              <a:ln w="0">
                <a:solidFill>
                  <a:schemeClr val="bg1">
                    <a:lumMod val="75000"/>
                    <a:alpha val="47000"/>
                  </a:schemeClr>
                </a:solidFill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834458B8-EEF2-422F-8783-59016059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3590" y="2244680"/>
            <a:ext cx="3043164" cy="1680127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u="sng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Contact Us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civs@pnw.edu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219.989.2765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kern="1200" cap="none">
              <a:ln w="0">
                <a:solidFill>
                  <a:schemeClr val="bg1">
                    <a:lumMod val="75000"/>
                    <a:alpha val="47000"/>
                  </a:schemeClr>
                </a:solidFill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F7C03C4-D469-4BC8-B85E-11CD55FB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498" y="3552346"/>
            <a:ext cx="184731" cy="7694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sz="4400" b="1" kern="120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AECBA8D-94F2-426D-8F22-2BD80CC4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04" y="2694707"/>
            <a:ext cx="2951449" cy="19389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40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Questions?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4000" b="0" kern="1200" cap="none">
              <a:ln w="0">
                <a:solidFill>
                  <a:schemeClr val="bg1">
                    <a:lumMod val="75000"/>
                    <a:alpha val="47000"/>
                  </a:schemeClr>
                </a:solidFill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40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Comments?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4ED3ECA-8F66-4739-9EC9-02D7C14C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406" y="646459"/>
            <a:ext cx="4437882" cy="110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6600" b="1">
                <a:solidFill>
                  <a:srgbClr val="CC9900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pic>
        <p:nvPicPr>
          <p:cNvPr id="56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304fbd13c4eab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7460" y="2339763"/>
            <a:ext cx="1739774" cy="744981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9629AFC-56BC-4C83-892F-96D2ED13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4177" y="4625962"/>
            <a:ext cx="206976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rgbClr val="D6A616"/>
                </a:solidFill>
                <a:latin typeface="Monotype Corsiva"/>
                <a:ea typeface="Monotype Corsiva"/>
                <a:cs typeface="Monotype Corsiva"/>
              </a:rPr>
              <a:t>“Where Ideas Become Reality”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3773EE77-555C-4D37-8200-ABB4FEEE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7891" y="3701648"/>
            <a:ext cx="914120" cy="88233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51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9" name="Pictur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b4fb2c76542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661408" y="3650544"/>
            <a:ext cx="1007015" cy="96522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userDrawn="1">
  <p:cSld name="SMSVC_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6EFFAC1-E6D1-4C0D-8298-387636CB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17" y="6637571"/>
            <a:ext cx="12213945" cy="2296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85000">
                <a:srgbClr val="E3D38D"/>
              </a:gs>
              <a:gs pos="0">
                <a:srgbClr val="DAC56C"/>
              </a:gs>
              <a:gs pos="100000">
                <a:srgbClr val="D0B646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F14B916-3A08-4B0A-AD67-8A0DE9E9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6637572"/>
            <a:ext cx="3394402" cy="229872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AB167F9-ED0F-4BEA-8F59-20C97A56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635388"/>
            <a:ext cx="3213101" cy="238739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85000">
                <a:srgbClr val="454545"/>
              </a:gs>
              <a:gs pos="0">
                <a:schemeClr val="tx1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3BC54FB5-3E2A-477A-AF97-59FAA13C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175999" y="6631360"/>
            <a:ext cx="1006247" cy="233901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4345"/>
              <a:gd name="connsiteY0" fmla="*/ 220012 h 230334"/>
              <a:gd name="connsiteX1" fmla="*/ 0 w 644345"/>
              <a:gd name="connsiteY1" fmla="*/ 2246 h 230334"/>
              <a:gd name="connsiteX2" fmla="*/ 304985 w 644345"/>
              <a:gd name="connsiteY2" fmla="*/ 80655 h 230334"/>
              <a:gd name="connsiteX3" fmla="*/ 638732 w 644345"/>
              <a:gd name="connsiteY3" fmla="*/ 220012 h 230334"/>
              <a:gd name="connsiteX4" fmla="*/ 0 w 644345"/>
              <a:gd name="connsiteY4" fmla="*/ 220012 h 230334"/>
              <a:gd name="connsiteX0" fmla="*/ 0 w 644752"/>
              <a:gd name="connsiteY0" fmla="*/ 219520 h 229842"/>
              <a:gd name="connsiteX1" fmla="*/ 0 w 644752"/>
              <a:gd name="connsiteY1" fmla="*/ 1754 h 229842"/>
              <a:gd name="connsiteX2" fmla="*/ 304985 w 644752"/>
              <a:gd name="connsiteY2" fmla="*/ 80163 h 229842"/>
              <a:gd name="connsiteX3" fmla="*/ 638732 w 644752"/>
              <a:gd name="connsiteY3" fmla="*/ 219520 h 229842"/>
              <a:gd name="connsiteX4" fmla="*/ 0 w 644752"/>
              <a:gd name="connsiteY4" fmla="*/ 219520 h 229842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51187"/>
              <a:gd name="connsiteY0" fmla="*/ 219082 h 227777"/>
              <a:gd name="connsiteX1" fmla="*/ 0 w 651187"/>
              <a:gd name="connsiteY1" fmla="*/ 1316 h 227777"/>
              <a:gd name="connsiteX2" fmla="*/ 278635 w 651187"/>
              <a:gd name="connsiteY2" fmla="*/ 101695 h 227777"/>
              <a:gd name="connsiteX3" fmla="*/ 638732 w 651187"/>
              <a:gd name="connsiteY3" fmla="*/ 219082 h 227777"/>
              <a:gd name="connsiteX4" fmla="*/ 0 w 651187"/>
              <a:gd name="connsiteY4" fmla="*/ 219082 h 227777"/>
              <a:gd name="connsiteX0" fmla="*/ 0 w 651187"/>
              <a:gd name="connsiteY0" fmla="*/ 219082 h 222144"/>
              <a:gd name="connsiteX1" fmla="*/ 0 w 651187"/>
              <a:gd name="connsiteY1" fmla="*/ 1316 h 222144"/>
              <a:gd name="connsiteX2" fmla="*/ 278635 w 651187"/>
              <a:gd name="connsiteY2" fmla="*/ 101695 h 222144"/>
              <a:gd name="connsiteX3" fmla="*/ 638732 w 651187"/>
              <a:gd name="connsiteY3" fmla="*/ 219082 h 222144"/>
              <a:gd name="connsiteX4" fmla="*/ 0 w 651187"/>
              <a:gd name="connsiteY4" fmla="*/ 219082 h 222144"/>
              <a:gd name="connsiteX0" fmla="*/ 0 w 650309"/>
              <a:gd name="connsiteY0" fmla="*/ 219019 h 222196"/>
              <a:gd name="connsiteX1" fmla="*/ 0 w 650309"/>
              <a:gd name="connsiteY1" fmla="*/ 1253 h 222196"/>
              <a:gd name="connsiteX2" fmla="*/ 247894 w 650309"/>
              <a:gd name="connsiteY2" fmla="*/ 106026 h 222196"/>
              <a:gd name="connsiteX3" fmla="*/ 638732 w 650309"/>
              <a:gd name="connsiteY3" fmla="*/ 219019 h 222196"/>
              <a:gd name="connsiteX4" fmla="*/ 0 w 650309"/>
              <a:gd name="connsiteY4" fmla="*/ 219019 h 222196"/>
              <a:gd name="connsiteX0" fmla="*/ 0 w 650197"/>
              <a:gd name="connsiteY0" fmla="*/ 219183 h 222672"/>
              <a:gd name="connsiteX1" fmla="*/ 0 w 650197"/>
              <a:gd name="connsiteY1" fmla="*/ 1417 h 222672"/>
              <a:gd name="connsiteX2" fmla="*/ 247894 w 650197"/>
              <a:gd name="connsiteY2" fmla="*/ 106190 h 222672"/>
              <a:gd name="connsiteX3" fmla="*/ 638732 w 650197"/>
              <a:gd name="connsiteY3" fmla="*/ 219183 h 222672"/>
              <a:gd name="connsiteX4" fmla="*/ 0 w 650197"/>
              <a:gd name="connsiteY4" fmla="*/ 219183 h 222672"/>
              <a:gd name="connsiteX0" fmla="*/ 0 w 650486"/>
              <a:gd name="connsiteY0" fmla="*/ 219034 h 222239"/>
              <a:gd name="connsiteX1" fmla="*/ 0 w 650486"/>
              <a:gd name="connsiteY1" fmla="*/ 1268 h 222239"/>
              <a:gd name="connsiteX2" fmla="*/ 247894 w 650486"/>
              <a:gd name="connsiteY2" fmla="*/ 106041 h 222239"/>
              <a:gd name="connsiteX3" fmla="*/ 638732 w 650486"/>
              <a:gd name="connsiteY3" fmla="*/ 219034 h 222239"/>
              <a:gd name="connsiteX4" fmla="*/ 0 w 650486"/>
              <a:gd name="connsiteY4" fmla="*/ 219034 h 222239"/>
              <a:gd name="connsiteX0" fmla="*/ 76853 w 715584"/>
              <a:gd name="connsiteY0" fmla="*/ 214693 h 214693"/>
              <a:gd name="connsiteX1" fmla="*/ 0 w 715584"/>
              <a:gd name="connsiteY1" fmla="*/ 1321 h 214693"/>
              <a:gd name="connsiteX2" fmla="*/ 324747 w 715584"/>
              <a:gd name="connsiteY2" fmla="*/ 101700 h 214693"/>
              <a:gd name="connsiteX3" fmla="*/ 715585 w 715584"/>
              <a:gd name="connsiteY3" fmla="*/ 214693 h 214693"/>
              <a:gd name="connsiteX4" fmla="*/ 76853 w 715584"/>
              <a:gd name="connsiteY4" fmla="*/ 214693 h 214693"/>
              <a:gd name="connsiteX0" fmla="*/ 0 w 715587"/>
              <a:gd name="connsiteY0" fmla="*/ 214693 h 214693"/>
              <a:gd name="connsiteX1" fmla="*/ 2 w 715587"/>
              <a:gd name="connsiteY1" fmla="*/ 1321 h 214693"/>
              <a:gd name="connsiteX2" fmla="*/ 324749 w 715587"/>
              <a:gd name="connsiteY2" fmla="*/ 101700 h 214693"/>
              <a:gd name="connsiteX3" fmla="*/ 715587 w 715587"/>
              <a:gd name="connsiteY3" fmla="*/ 214693 h 214693"/>
              <a:gd name="connsiteX4" fmla="*/ 0 w 715587"/>
              <a:gd name="connsiteY4" fmla="*/ 214693 h 214693"/>
              <a:gd name="connsiteX0" fmla="*/ 0 w 715587"/>
              <a:gd name="connsiteY0" fmla="*/ 214387 h 214387"/>
              <a:gd name="connsiteX1" fmla="*/ 2 w 715587"/>
              <a:gd name="connsiteY1" fmla="*/ 1015 h 214387"/>
              <a:gd name="connsiteX2" fmla="*/ 368666 w 715587"/>
              <a:gd name="connsiteY2" fmla="*/ 127757 h 214387"/>
              <a:gd name="connsiteX3" fmla="*/ 715587 w 715587"/>
              <a:gd name="connsiteY3" fmla="*/ 214387 h 214387"/>
              <a:gd name="connsiteX4" fmla="*/ 0 w 715587"/>
              <a:gd name="connsiteY4" fmla="*/ 214387 h 214387"/>
              <a:gd name="connsiteX0" fmla="*/ 0 w 715587"/>
              <a:gd name="connsiteY0" fmla="*/ 214783 h 214783"/>
              <a:gd name="connsiteX1" fmla="*/ 2 w 715587"/>
              <a:gd name="connsiteY1" fmla="*/ 1411 h 214783"/>
              <a:gd name="connsiteX2" fmla="*/ 368666 w 715587"/>
              <a:gd name="connsiteY2" fmla="*/ 128153 h 214783"/>
              <a:gd name="connsiteX3" fmla="*/ 715587 w 715587"/>
              <a:gd name="connsiteY3" fmla="*/ 214783 h 214783"/>
              <a:gd name="connsiteX4" fmla="*/ 0 w 715587"/>
              <a:gd name="connsiteY4" fmla="*/ 214783 h 214783"/>
              <a:gd name="connsiteX0" fmla="*/ 0 w 715587"/>
              <a:gd name="connsiteY0" fmla="*/ 214298 h 214298"/>
              <a:gd name="connsiteX1" fmla="*/ 2 w 715587"/>
              <a:gd name="connsiteY1" fmla="*/ 926 h 214298"/>
              <a:gd name="connsiteX2" fmla="*/ 368666 w 715587"/>
              <a:gd name="connsiteY2" fmla="*/ 127668 h 214298"/>
              <a:gd name="connsiteX3" fmla="*/ 715587 w 715587"/>
              <a:gd name="connsiteY3" fmla="*/ 214298 h 214298"/>
              <a:gd name="connsiteX4" fmla="*/ 0 w 715587"/>
              <a:gd name="connsiteY4" fmla="*/ 214298 h 214298"/>
              <a:gd name="connsiteX0" fmla="*/ 0 w 715587"/>
              <a:gd name="connsiteY0" fmla="*/ 214407 h 214407"/>
              <a:gd name="connsiteX1" fmla="*/ 2 w 715587"/>
              <a:gd name="connsiteY1" fmla="*/ 1035 h 214407"/>
              <a:gd name="connsiteX2" fmla="*/ 408190 w 715587"/>
              <a:gd name="connsiteY2" fmla="*/ 114596 h 214407"/>
              <a:gd name="connsiteX3" fmla="*/ 715587 w 715587"/>
              <a:gd name="connsiteY3" fmla="*/ 214407 h 214407"/>
              <a:gd name="connsiteX4" fmla="*/ 0 w 715587"/>
              <a:gd name="connsiteY4" fmla="*/ 214407 h 214407"/>
              <a:gd name="connsiteX0" fmla="*/ 0 w 715587"/>
              <a:gd name="connsiteY0" fmla="*/ 214730 h 214730"/>
              <a:gd name="connsiteX1" fmla="*/ 2 w 715587"/>
              <a:gd name="connsiteY1" fmla="*/ 1358 h 214730"/>
              <a:gd name="connsiteX2" fmla="*/ 381840 w 715587"/>
              <a:gd name="connsiteY2" fmla="*/ 88556 h 214730"/>
              <a:gd name="connsiteX3" fmla="*/ 715587 w 715587"/>
              <a:gd name="connsiteY3" fmla="*/ 214730 h 214730"/>
              <a:gd name="connsiteX4" fmla="*/ 0 w 715587"/>
              <a:gd name="connsiteY4" fmla="*/ 214730 h 214730"/>
              <a:gd name="connsiteX0" fmla="*/ 0 w 715587"/>
              <a:gd name="connsiteY0" fmla="*/ 215799 h 215799"/>
              <a:gd name="connsiteX1" fmla="*/ 2 w 715587"/>
              <a:gd name="connsiteY1" fmla="*/ 2427 h 215799"/>
              <a:gd name="connsiteX2" fmla="*/ 381840 w 715587"/>
              <a:gd name="connsiteY2" fmla="*/ 89625 h 215799"/>
              <a:gd name="connsiteX3" fmla="*/ 715587 w 715587"/>
              <a:gd name="connsiteY3" fmla="*/ 215799 h 215799"/>
              <a:gd name="connsiteX4" fmla="*/ 0 w 715587"/>
              <a:gd name="connsiteY4" fmla="*/ 215799 h 215799"/>
            </a:gdLst>
            <a:rect l="l" t="t" r="r" b="b"/>
            <a:pathLst>
              <a:path w="715587" h="215799">
                <a:moveTo>
                  <a:pt x="0" y="215799"/>
                </a:moveTo>
                <a:cubicBezTo>
                  <a:pt x="1" y="144675"/>
                  <a:pt x="1" y="73551"/>
                  <a:pt x="2" y="2427"/>
                </a:cubicBezTo>
                <a:cubicBezTo>
                  <a:pt x="69058" y="-9904"/>
                  <a:pt x="250828" y="25598"/>
                  <a:pt x="381840" y="89625"/>
                </a:cubicBezTo>
                <a:cubicBezTo>
                  <a:pt x="512852" y="153652"/>
                  <a:pt x="599947" y="186922"/>
                  <a:pt x="715587" y="215799"/>
                </a:cubicBezTo>
                <a:lnTo>
                  <a:pt x="0" y="215799"/>
                </a:lnTo>
                <a:close/>
              </a:path>
            </a:pathLst>
          </a:custGeom>
          <a:solidFill xmlns:a="http://schemas.openxmlformats.org/drawingml/2006/main">
            <a:srgbClr val="D7C0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B070E79-F347-44FE-B183-E43A1A1B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" y="6627908"/>
            <a:ext cx="21336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</a:rPr>
              <a:t>pnw.edu/</a:t>
            </a:r>
            <a:r>
              <a:rPr sz="1000">
                <a:solidFill>
                  <a:schemeClr val="tx1"/>
                </a:solidFill>
              </a:rPr>
              <a:t>civs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00EE377-D729-4738-B71E-CD862E06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343" y="6627907"/>
            <a:ext cx="2465551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>
                    <a:lumMod val="95000"/>
                  </a:schemeClr>
                </a:solidFill>
              </a:rPr>
              <a:t>civs@pnw.edu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FD0C810-5ACC-471C-B5A5-0349BE8B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816" y="-1285"/>
            <a:ext cx="12196064" cy="60179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CEB23A"/>
              </a:gs>
              <a:gs pos="24000">
                <a:srgbClr val="DBC671"/>
              </a:gs>
              <a:gs pos="100000">
                <a:srgbClr val="D9C368"/>
              </a:gs>
              <a:gs pos="11000">
                <a:srgbClr val="E6D89A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E6F669D-37D6-4FB1-9AAF-19D1ABD2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-1285"/>
            <a:ext cx="3381702" cy="623077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2125F60-33DB-432C-9518-1000C2C6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120" y="-7009"/>
            <a:ext cx="3207881" cy="623077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7429 w 2464238"/>
              <a:gd name="connsiteY0" fmla="*/ 0 h 539269"/>
              <a:gd name="connsiteX1" fmla="*/ 2464238 w 2464238"/>
              <a:gd name="connsiteY1" fmla="*/ 7010 h 539269"/>
              <a:gd name="connsiteX2" fmla="*/ 2464238 w 2464238"/>
              <a:gd name="connsiteY2" fmla="*/ 525394 h 539269"/>
              <a:gd name="connsiteX3" fmla="*/ 0 w 2464238"/>
              <a:gd name="connsiteY3" fmla="*/ 539269 h 539269"/>
              <a:gd name="connsiteX4" fmla="*/ 637429 w 2464238"/>
              <a:gd name="connsiteY4" fmla="*/ 0 h 539269"/>
            </a:gdLst>
            <a:rect l="l" t="t" r="r" b="b"/>
            <a:pathLst>
              <a:path w="2464238" h="539269">
                <a:moveTo>
                  <a:pt x="637429" y="0"/>
                </a:moveTo>
                <a:lnTo>
                  <a:pt x="2464238" y="7010"/>
                </a:lnTo>
                <a:lnTo>
                  <a:pt x="2464238" y="525394"/>
                </a:lnTo>
                <a:lnTo>
                  <a:pt x="0" y="539269"/>
                </a:lnTo>
                <a:cubicBezTo>
                  <a:pt x="397459" y="363714"/>
                  <a:pt x="234849" y="224444"/>
                  <a:pt x="63742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tx1"/>
              </a:gs>
              <a:gs pos="16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itle 11">
            <a:extLst xmlns:a="http://schemas.openxmlformats.org/drawingml/2006/main">
              <a:ext uri="{FF2B5EF4-FFF2-40B4-BE49-F238E27FC236}">
                <a16:creationId xmlns:a16="http://schemas.microsoft.com/office/drawing/2014/main" id="{FC9DDD36-806D-4A7F-9029-C242164CFA5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941" y="16065"/>
            <a:ext cx="8423857" cy="529494"/>
          </a:xfrm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l">
              <a:buNone/>
              <a:defRPr sz="2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EA26B494-0536-4A22-ADE6-D92655F1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392107" y="6643701"/>
            <a:ext cx="809419" cy="223826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7034"/>
              <a:gd name="connsiteY0" fmla="*/ 219120 h 226893"/>
              <a:gd name="connsiteX1" fmla="*/ 0 w 647034"/>
              <a:gd name="connsiteY1" fmla="*/ 1354 h 226893"/>
              <a:gd name="connsiteX2" fmla="*/ 352425 w 647034"/>
              <a:gd name="connsiteY2" fmla="*/ 114177 h 226893"/>
              <a:gd name="connsiteX3" fmla="*/ 638732 w 647034"/>
              <a:gd name="connsiteY3" fmla="*/ 219120 h 226893"/>
              <a:gd name="connsiteX4" fmla="*/ 0 w 647034"/>
              <a:gd name="connsiteY4" fmla="*/ 219120 h 226893"/>
              <a:gd name="connsiteX0" fmla="*/ 0 w 647480"/>
              <a:gd name="connsiteY0" fmla="*/ 221370 h 229143"/>
              <a:gd name="connsiteX1" fmla="*/ 0 w 647480"/>
              <a:gd name="connsiteY1" fmla="*/ 3604 h 229143"/>
              <a:gd name="connsiteX2" fmla="*/ 352425 w 647480"/>
              <a:gd name="connsiteY2" fmla="*/ 116427 h 229143"/>
              <a:gd name="connsiteX3" fmla="*/ 638732 w 647480"/>
              <a:gd name="connsiteY3" fmla="*/ 221370 h 229143"/>
              <a:gd name="connsiteX4" fmla="*/ 0 w 647480"/>
              <a:gd name="connsiteY4" fmla="*/ 221370 h 229143"/>
              <a:gd name="connsiteX0" fmla="*/ 0 w 658220"/>
              <a:gd name="connsiteY0" fmla="*/ 219457 h 224552"/>
              <a:gd name="connsiteX1" fmla="*/ 0 w 658220"/>
              <a:gd name="connsiteY1" fmla="*/ 1691 h 224552"/>
              <a:gd name="connsiteX2" fmla="*/ 457200 w 658220"/>
              <a:gd name="connsiteY2" fmla="*/ 154995 h 224552"/>
              <a:gd name="connsiteX3" fmla="*/ 638732 w 658220"/>
              <a:gd name="connsiteY3" fmla="*/ 219457 h 224552"/>
              <a:gd name="connsiteX4" fmla="*/ 0 w 658220"/>
              <a:gd name="connsiteY4" fmla="*/ 219457 h 224552"/>
              <a:gd name="connsiteX0" fmla="*/ 0 w 659607"/>
              <a:gd name="connsiteY0" fmla="*/ 218759 h 223534"/>
              <a:gd name="connsiteX1" fmla="*/ 0 w 659607"/>
              <a:gd name="connsiteY1" fmla="*/ 993 h 223534"/>
              <a:gd name="connsiteX2" fmla="*/ 457200 w 659607"/>
              <a:gd name="connsiteY2" fmla="*/ 154297 h 223534"/>
              <a:gd name="connsiteX3" fmla="*/ 638732 w 659607"/>
              <a:gd name="connsiteY3" fmla="*/ 218759 h 223534"/>
              <a:gd name="connsiteX4" fmla="*/ 0 w 659607"/>
              <a:gd name="connsiteY4" fmla="*/ 218759 h 223534"/>
              <a:gd name="connsiteX0" fmla="*/ 0 w 659889"/>
              <a:gd name="connsiteY0" fmla="*/ 218759 h 218759"/>
              <a:gd name="connsiteX1" fmla="*/ 0 w 659889"/>
              <a:gd name="connsiteY1" fmla="*/ 993 h 218759"/>
              <a:gd name="connsiteX2" fmla="*/ 457200 w 659889"/>
              <a:gd name="connsiteY2" fmla="*/ 154297 h 218759"/>
              <a:gd name="connsiteX3" fmla="*/ 638732 w 659889"/>
              <a:gd name="connsiteY3" fmla="*/ 218759 h 218759"/>
              <a:gd name="connsiteX4" fmla="*/ 0 w 659889"/>
              <a:gd name="connsiteY4" fmla="*/ 218759 h 218759"/>
              <a:gd name="connsiteX0" fmla="*/ 0 w 651257"/>
              <a:gd name="connsiteY0" fmla="*/ 218823 h 224127"/>
              <a:gd name="connsiteX1" fmla="*/ 0 w 651257"/>
              <a:gd name="connsiteY1" fmla="*/ 1057 h 224127"/>
              <a:gd name="connsiteX2" fmla="*/ 390525 w 651257"/>
              <a:gd name="connsiteY2" fmla="*/ 147217 h 224127"/>
              <a:gd name="connsiteX3" fmla="*/ 638732 w 651257"/>
              <a:gd name="connsiteY3" fmla="*/ 218823 h 224127"/>
              <a:gd name="connsiteX4" fmla="*/ 0 w 651257"/>
              <a:gd name="connsiteY4" fmla="*/ 218823 h 224127"/>
              <a:gd name="connsiteX0" fmla="*/ 0 w 610260"/>
              <a:gd name="connsiteY0" fmla="*/ 218642 h 227704"/>
              <a:gd name="connsiteX1" fmla="*/ 0 w 610260"/>
              <a:gd name="connsiteY1" fmla="*/ 876 h 227704"/>
              <a:gd name="connsiteX2" fmla="*/ 390525 w 610260"/>
              <a:gd name="connsiteY2" fmla="*/ 147036 h 227704"/>
              <a:gd name="connsiteX3" fmla="*/ 595870 w 610260"/>
              <a:gd name="connsiteY3" fmla="*/ 223405 h 227704"/>
              <a:gd name="connsiteX4" fmla="*/ 0 w 610260"/>
              <a:gd name="connsiteY4" fmla="*/ 218642 h 227704"/>
              <a:gd name="connsiteX0" fmla="*/ 0 w 610618"/>
              <a:gd name="connsiteY0" fmla="*/ 218642 h 223406"/>
              <a:gd name="connsiteX1" fmla="*/ 0 w 610618"/>
              <a:gd name="connsiteY1" fmla="*/ 876 h 223406"/>
              <a:gd name="connsiteX2" fmla="*/ 390525 w 610618"/>
              <a:gd name="connsiteY2" fmla="*/ 147036 h 223406"/>
              <a:gd name="connsiteX3" fmla="*/ 595870 w 610618"/>
              <a:gd name="connsiteY3" fmla="*/ 223405 h 223406"/>
              <a:gd name="connsiteX4" fmla="*/ 0 w 610618"/>
              <a:gd name="connsiteY4" fmla="*/ 218642 h 223406"/>
              <a:gd name="connsiteX0" fmla="*/ 0 w 607455"/>
              <a:gd name="connsiteY0" fmla="*/ 218999 h 231097"/>
              <a:gd name="connsiteX1" fmla="*/ 0 w 607455"/>
              <a:gd name="connsiteY1" fmla="*/ 1233 h 231097"/>
              <a:gd name="connsiteX2" fmla="*/ 364332 w 607455"/>
              <a:gd name="connsiteY2" fmla="*/ 109293 h 231097"/>
              <a:gd name="connsiteX3" fmla="*/ 595870 w 607455"/>
              <a:gd name="connsiteY3" fmla="*/ 223762 h 231097"/>
              <a:gd name="connsiteX4" fmla="*/ 0 w 607455"/>
              <a:gd name="connsiteY4" fmla="*/ 218999 h 231097"/>
              <a:gd name="connsiteX0" fmla="*/ 0 w 604957"/>
              <a:gd name="connsiteY0" fmla="*/ 218692 h 228528"/>
              <a:gd name="connsiteX1" fmla="*/ 0 w 604957"/>
              <a:gd name="connsiteY1" fmla="*/ 926 h 228528"/>
              <a:gd name="connsiteX2" fmla="*/ 335757 w 604957"/>
              <a:gd name="connsiteY2" fmla="*/ 139943 h 228528"/>
              <a:gd name="connsiteX3" fmla="*/ 595870 w 604957"/>
              <a:gd name="connsiteY3" fmla="*/ 223455 h 228528"/>
              <a:gd name="connsiteX4" fmla="*/ 0 w 604957"/>
              <a:gd name="connsiteY4" fmla="*/ 218692 h 228528"/>
              <a:gd name="connsiteX0" fmla="*/ 0 w 611126"/>
              <a:gd name="connsiteY0" fmla="*/ 218675 h 228338"/>
              <a:gd name="connsiteX1" fmla="*/ 0 w 611126"/>
              <a:gd name="connsiteY1" fmla="*/ 909 h 228338"/>
              <a:gd name="connsiteX2" fmla="*/ 397669 w 611126"/>
              <a:gd name="connsiteY2" fmla="*/ 142308 h 228338"/>
              <a:gd name="connsiteX3" fmla="*/ 595870 w 611126"/>
              <a:gd name="connsiteY3" fmla="*/ 223438 h 228338"/>
              <a:gd name="connsiteX4" fmla="*/ 0 w 611126"/>
              <a:gd name="connsiteY4" fmla="*/ 218675 h 228338"/>
              <a:gd name="connsiteX0" fmla="*/ 0 w 610256"/>
              <a:gd name="connsiteY0" fmla="*/ 218787 h 228450"/>
              <a:gd name="connsiteX1" fmla="*/ 0 w 610256"/>
              <a:gd name="connsiteY1" fmla="*/ 1021 h 228450"/>
              <a:gd name="connsiteX2" fmla="*/ 397669 w 610256"/>
              <a:gd name="connsiteY2" fmla="*/ 142420 h 228450"/>
              <a:gd name="connsiteX3" fmla="*/ 595870 w 610256"/>
              <a:gd name="connsiteY3" fmla="*/ 223550 h 228450"/>
              <a:gd name="connsiteX4" fmla="*/ 0 w 610256"/>
              <a:gd name="connsiteY4" fmla="*/ 218787 h 228450"/>
              <a:gd name="connsiteX0" fmla="*/ 0 w 606418"/>
              <a:gd name="connsiteY0" fmla="*/ 219060 h 230460"/>
              <a:gd name="connsiteX1" fmla="*/ 0 w 606418"/>
              <a:gd name="connsiteY1" fmla="*/ 1294 h 230460"/>
              <a:gd name="connsiteX2" fmla="*/ 359569 w 606418"/>
              <a:gd name="connsiteY2" fmla="*/ 118881 h 230460"/>
              <a:gd name="connsiteX3" fmla="*/ 595870 w 606418"/>
              <a:gd name="connsiteY3" fmla="*/ 223823 h 230460"/>
              <a:gd name="connsiteX4" fmla="*/ 0 w 606418"/>
              <a:gd name="connsiteY4" fmla="*/ 219060 h 230460"/>
              <a:gd name="connsiteX0" fmla="*/ 0 w 607064"/>
              <a:gd name="connsiteY0" fmla="*/ 219060 h 223826"/>
              <a:gd name="connsiteX1" fmla="*/ 0 w 607064"/>
              <a:gd name="connsiteY1" fmla="*/ 1294 h 223826"/>
              <a:gd name="connsiteX2" fmla="*/ 359569 w 607064"/>
              <a:gd name="connsiteY2" fmla="*/ 118881 h 223826"/>
              <a:gd name="connsiteX3" fmla="*/ 595870 w 607064"/>
              <a:gd name="connsiteY3" fmla="*/ 223823 h 223826"/>
              <a:gd name="connsiteX4" fmla="*/ 0 w 607064"/>
              <a:gd name="connsiteY4" fmla="*/ 219060 h 223826"/>
            </a:gdLst>
            <a:rect l="l" t="t" r="r" b="b"/>
            <a:pathLst>
              <a:path w="607064" h="223826">
                <a:moveTo>
                  <a:pt x="0" y="219060"/>
                </a:moveTo>
                <a:lnTo>
                  <a:pt x="0" y="1294"/>
                </a:lnTo>
                <a:cubicBezTo>
                  <a:pt x="69056" y="-11037"/>
                  <a:pt x="274544" y="67506"/>
                  <a:pt x="359569" y="118881"/>
                </a:cubicBezTo>
                <a:cubicBezTo>
                  <a:pt x="444594" y="170256"/>
                  <a:pt x="658078" y="224319"/>
                  <a:pt x="595870" y="223823"/>
                </a:cubicBezTo>
                <a:lnTo>
                  <a:pt x="0" y="2190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D8C185-2EB4-40A2-8146-0A6F5197F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47477" y="6632748"/>
            <a:ext cx="546100" cy="23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9E0DF7C0-E924-49C9-9FE7-DFCD8B4EE6AD}" type="slidenum">
              <a:t>‹#›</a:t>
            </a:fld>
            <a:endParaRPr/>
          </a:p>
        </p:txBody>
      </p:sp>
      <p:pic>
        <p:nvPicPr>
          <p:cNvPr id="42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87bf2e8e647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45532" y="83704"/>
            <a:ext cx="844867" cy="411320"/>
          </a:xfrm>
          <a:prstGeom xmlns:a="http://schemas.openxmlformats.org/drawingml/2006/main" prst="rect">
            <a:avLst/>
          </a:prstGeom>
        </p:spPr>
      </p:pic>
      <p:pic>
        <p:nvPicPr>
          <p:cNvPr id="43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99e9ec2b84a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14367" y="77442"/>
            <a:ext cx="447344" cy="428610"/>
          </a:xfrm>
          <a:prstGeom xmlns:a="http://schemas.openxmlformats.org/drawingml/2006/main" prst="rect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8D920C8-7AE4-4B39-899E-AD79B1E9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" y="585365"/>
            <a:ext cx="12173305" cy="6042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5059CD8-F1B2-4117-A313-0D773BB0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1" y="6620872"/>
            <a:ext cx="761187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“</a:t>
            </a:r>
            <a:r>
              <a:rPr sz="1200" b="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/>
                <a:ea typeface="Monotype Corsiva"/>
                <a:cs typeface="Monotype Corsiva"/>
              </a:rPr>
              <a:t>Where Ideas Become Reality</a:t>
            </a: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”</a:t>
            </a:r>
          </a:p>
        </p:txBody>
      </p:sp>
      <p:pic>
        <p:nvPicPr>
          <p:cNvPr id="4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a030d4fa4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45193" y="76691"/>
            <a:ext cx="993075" cy="43069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3_SMSVC_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7BD31EE-32A2-4FA6-AEED-20BEE1CB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17" y="6637571"/>
            <a:ext cx="12213945" cy="2296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85000">
                <a:srgbClr val="E3D38D"/>
              </a:gs>
              <a:gs pos="0">
                <a:srgbClr val="DAC56C"/>
              </a:gs>
              <a:gs pos="100000">
                <a:srgbClr val="D0B646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2713B74-BD68-4DCA-B6E1-69FC4DBF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" y="6627908"/>
            <a:ext cx="21336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</a:rPr>
              <a:t>centers.pnw.edu/civs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823E5B3-43AD-4D42-8BB6-8250954C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1" y="6620872"/>
            <a:ext cx="761187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“</a:t>
            </a:r>
            <a:r>
              <a:rPr sz="1200" b="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/>
                <a:ea typeface="Monotype Corsiva"/>
                <a:cs typeface="Monotype Corsiva"/>
              </a:rPr>
              <a:t>Where Ideas Become Reality</a:t>
            </a: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”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728B917A-DE6F-4504-8944-A37C407B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817" y="-1286"/>
            <a:ext cx="12226644" cy="839486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DBC671"/>
              </a:gs>
              <a:gs pos="100000">
                <a:srgbClr val="D9C368"/>
              </a:gs>
            </a:gsLst>
            <a:lin ang="162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EC15337-90C7-4A75-A5D7-6B093B4E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412" y="-1285"/>
            <a:ext cx="3609587" cy="856626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377794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377794 w 2459318"/>
              <a:gd name="connsiteY4" fmla="*/ 0 h 539269"/>
              <a:gd name="connsiteX0" fmla="*/ 456844 w 2538368"/>
              <a:gd name="connsiteY0" fmla="*/ 0 h 539269"/>
              <a:gd name="connsiteX1" fmla="*/ 2538368 w 2538368"/>
              <a:gd name="connsiteY1" fmla="*/ 7010 h 539269"/>
              <a:gd name="connsiteX2" fmla="*/ 2538368 w 2538368"/>
              <a:gd name="connsiteY2" fmla="*/ 525394 h 539269"/>
              <a:gd name="connsiteX3" fmla="*/ 0 w 2538368"/>
              <a:gd name="connsiteY3" fmla="*/ 539269 h 539269"/>
              <a:gd name="connsiteX4" fmla="*/ 456844 w 2538368"/>
              <a:gd name="connsiteY4" fmla="*/ 0 h 539269"/>
              <a:gd name="connsiteX0" fmla="*/ 394999 w 2538368"/>
              <a:gd name="connsiteY0" fmla="*/ 0 h 539269"/>
              <a:gd name="connsiteX1" fmla="*/ 2538368 w 2538368"/>
              <a:gd name="connsiteY1" fmla="*/ 7010 h 539269"/>
              <a:gd name="connsiteX2" fmla="*/ 2538368 w 2538368"/>
              <a:gd name="connsiteY2" fmla="*/ 525394 h 539269"/>
              <a:gd name="connsiteX3" fmla="*/ 0 w 2538368"/>
              <a:gd name="connsiteY3" fmla="*/ 539269 h 539269"/>
              <a:gd name="connsiteX4" fmla="*/ 394999 w 2538368"/>
              <a:gd name="connsiteY4" fmla="*/ 0 h 539269"/>
            </a:gdLst>
            <a:rect l="l" t="t" r="r" b="b"/>
            <a:pathLst>
              <a:path w="2538368" h="539269">
                <a:moveTo>
                  <a:pt x="394999" y="0"/>
                </a:moveTo>
                <a:lnTo>
                  <a:pt x="2538368" y="7010"/>
                </a:lnTo>
                <a:lnTo>
                  <a:pt x="2538368" y="525394"/>
                </a:lnTo>
                <a:lnTo>
                  <a:pt x="0" y="539269"/>
                </a:lnTo>
                <a:cubicBezTo>
                  <a:pt x="397459" y="363714"/>
                  <a:pt x="-7581" y="224444"/>
                  <a:pt x="39499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D6F32D-232C-4537-99F7-61158455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498" y="-10906"/>
            <a:ext cx="3531516" cy="867985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377794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377794 w 2459318"/>
              <a:gd name="connsiteY4" fmla="*/ 0 h 539269"/>
              <a:gd name="connsiteX0" fmla="*/ 456844 w 2538368"/>
              <a:gd name="connsiteY0" fmla="*/ 0 h 539269"/>
              <a:gd name="connsiteX1" fmla="*/ 2538368 w 2538368"/>
              <a:gd name="connsiteY1" fmla="*/ 7010 h 539269"/>
              <a:gd name="connsiteX2" fmla="*/ 2538368 w 2538368"/>
              <a:gd name="connsiteY2" fmla="*/ 525394 h 539269"/>
              <a:gd name="connsiteX3" fmla="*/ 0 w 2538368"/>
              <a:gd name="connsiteY3" fmla="*/ 539269 h 539269"/>
              <a:gd name="connsiteX4" fmla="*/ 456844 w 2538368"/>
              <a:gd name="connsiteY4" fmla="*/ 0 h 539269"/>
              <a:gd name="connsiteX0" fmla="*/ 456844 w 2538368"/>
              <a:gd name="connsiteY0" fmla="*/ 7151 h 546420"/>
              <a:gd name="connsiteX1" fmla="*/ 2538368 w 2538368"/>
              <a:gd name="connsiteY1" fmla="*/ 0 h 546420"/>
              <a:gd name="connsiteX2" fmla="*/ 2538368 w 2538368"/>
              <a:gd name="connsiteY2" fmla="*/ 532545 h 546420"/>
              <a:gd name="connsiteX3" fmla="*/ 0 w 2538368"/>
              <a:gd name="connsiteY3" fmla="*/ 546420 h 546420"/>
              <a:gd name="connsiteX4" fmla="*/ 456844 w 2538368"/>
              <a:gd name="connsiteY4" fmla="*/ 7151 h 546420"/>
              <a:gd name="connsiteX0" fmla="*/ 420451 w 2538368"/>
              <a:gd name="connsiteY0" fmla="*/ 1155 h 546420"/>
              <a:gd name="connsiteX1" fmla="*/ 2538368 w 2538368"/>
              <a:gd name="connsiteY1" fmla="*/ 0 h 546420"/>
              <a:gd name="connsiteX2" fmla="*/ 2538368 w 2538368"/>
              <a:gd name="connsiteY2" fmla="*/ 532545 h 546420"/>
              <a:gd name="connsiteX3" fmla="*/ 0 w 2538368"/>
              <a:gd name="connsiteY3" fmla="*/ 546420 h 546420"/>
              <a:gd name="connsiteX4" fmla="*/ 420451 w 2538368"/>
              <a:gd name="connsiteY4" fmla="*/ 1155 h 546420"/>
            </a:gdLst>
            <a:rect l="l" t="t" r="r" b="b"/>
            <a:pathLst>
              <a:path w="2538368" h="546420">
                <a:moveTo>
                  <a:pt x="420451" y="1155"/>
                </a:moveTo>
                <a:lnTo>
                  <a:pt x="2538368" y="0"/>
                </a:lnTo>
                <a:lnTo>
                  <a:pt x="2538368" y="532545"/>
                </a:lnTo>
                <a:lnTo>
                  <a:pt x="0" y="546420"/>
                </a:lnTo>
                <a:cubicBezTo>
                  <a:pt x="397459" y="370865"/>
                  <a:pt x="17871" y="225599"/>
                  <a:pt x="420451" y="115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tx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F9A2558B-304A-488A-BA79-E1DF27F5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" y="-1286"/>
            <a:ext cx="12222073" cy="839486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tx1">
                  <a:alpha val="10000"/>
                </a:schemeClr>
              </a:gs>
              <a:gs pos="23000">
                <a:srgbClr val="F5F0DA">
                  <a:alpha val="0"/>
                </a:srgbClr>
              </a:gs>
              <a:gs pos="11000">
                <a:srgbClr val="F8F5E5">
                  <a:alpha val="20000"/>
                </a:srgbClr>
              </a:gs>
              <a:gs pos="100000">
                <a:schemeClr val="tx1">
                  <a:alpha val="15000"/>
                </a:schemeClr>
              </a:gs>
            </a:gsLst>
            <a:lin ang="54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Title 11">
            <a:extLst xmlns:a="http://schemas.openxmlformats.org/drawingml/2006/main">
              <a:ext uri="{FF2B5EF4-FFF2-40B4-BE49-F238E27FC236}">
                <a16:creationId xmlns:a16="http://schemas.microsoft.com/office/drawing/2014/main" id="{63DFA946-A8DF-4C39-91BF-9070DE72FC1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940" y="35115"/>
            <a:ext cx="8944144" cy="736411"/>
          </a:xfrm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l">
              <a:buNone/>
              <a:defRPr sz="2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pic>
        <p:nvPicPr>
          <p:cNvPr id="69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75faae98e40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27431" y="225739"/>
            <a:ext cx="1101069" cy="411320"/>
          </a:xfrm>
          <a:prstGeom xmlns:a="http://schemas.openxmlformats.org/drawingml/2006/main" prst="rect">
            <a:avLst/>
          </a:prstGeom>
        </p:spPr>
      </p:pic>
      <p:pic>
        <p:nvPicPr>
          <p:cNvPr id="70" name="Picture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49cdb14d14d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3850" y="218421"/>
            <a:ext cx="582999" cy="428610"/>
          </a:xfrm>
          <a:prstGeom xmlns:a="http://schemas.openxmlformats.org/drawingml/2006/main" prst="rect">
            <a:avLst/>
          </a:prstGeom>
        </p:spPr>
      </p:pic>
      <p:pic>
        <p:nvPicPr>
          <p:cNvPr id="71" name="Picture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a9b90cd414c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3667" y="209952"/>
            <a:ext cx="1294220" cy="430698"/>
          </a:xfrm>
          <a:prstGeom xmlns:a="http://schemas.openxmlformats.org/drawingml/2006/main" prst="rect">
            <a:avLst/>
          </a:prstGeom>
        </p:spPr>
      </p:pic>
      <p:sp>
        <p:nvSpPr>
          <p:cNvPr id="5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79AD3D-493C-42E7-9CA9-681A36FC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055" y="6637572"/>
            <a:ext cx="4383645" cy="229872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2BE4B7F-9C70-41C2-B4FD-5384F0F7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680" y="6635388"/>
            <a:ext cx="4150021" cy="238739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85000">
                <a:srgbClr val="454545"/>
              </a:gs>
              <a:gs pos="0">
                <a:schemeClr val="tx1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72B840F3-E021-49E8-9EC4-F4C48B4E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175999" y="6637710"/>
            <a:ext cx="1006247" cy="233901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4345"/>
              <a:gd name="connsiteY0" fmla="*/ 220012 h 230334"/>
              <a:gd name="connsiteX1" fmla="*/ 0 w 644345"/>
              <a:gd name="connsiteY1" fmla="*/ 2246 h 230334"/>
              <a:gd name="connsiteX2" fmla="*/ 304985 w 644345"/>
              <a:gd name="connsiteY2" fmla="*/ 80655 h 230334"/>
              <a:gd name="connsiteX3" fmla="*/ 638732 w 644345"/>
              <a:gd name="connsiteY3" fmla="*/ 220012 h 230334"/>
              <a:gd name="connsiteX4" fmla="*/ 0 w 644345"/>
              <a:gd name="connsiteY4" fmla="*/ 220012 h 230334"/>
              <a:gd name="connsiteX0" fmla="*/ 0 w 644752"/>
              <a:gd name="connsiteY0" fmla="*/ 219520 h 229842"/>
              <a:gd name="connsiteX1" fmla="*/ 0 w 644752"/>
              <a:gd name="connsiteY1" fmla="*/ 1754 h 229842"/>
              <a:gd name="connsiteX2" fmla="*/ 304985 w 644752"/>
              <a:gd name="connsiteY2" fmla="*/ 80163 h 229842"/>
              <a:gd name="connsiteX3" fmla="*/ 638732 w 644752"/>
              <a:gd name="connsiteY3" fmla="*/ 219520 h 229842"/>
              <a:gd name="connsiteX4" fmla="*/ 0 w 644752"/>
              <a:gd name="connsiteY4" fmla="*/ 219520 h 229842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51187"/>
              <a:gd name="connsiteY0" fmla="*/ 219082 h 227777"/>
              <a:gd name="connsiteX1" fmla="*/ 0 w 651187"/>
              <a:gd name="connsiteY1" fmla="*/ 1316 h 227777"/>
              <a:gd name="connsiteX2" fmla="*/ 278635 w 651187"/>
              <a:gd name="connsiteY2" fmla="*/ 101695 h 227777"/>
              <a:gd name="connsiteX3" fmla="*/ 638732 w 651187"/>
              <a:gd name="connsiteY3" fmla="*/ 219082 h 227777"/>
              <a:gd name="connsiteX4" fmla="*/ 0 w 651187"/>
              <a:gd name="connsiteY4" fmla="*/ 219082 h 227777"/>
              <a:gd name="connsiteX0" fmla="*/ 0 w 651187"/>
              <a:gd name="connsiteY0" fmla="*/ 219082 h 222144"/>
              <a:gd name="connsiteX1" fmla="*/ 0 w 651187"/>
              <a:gd name="connsiteY1" fmla="*/ 1316 h 222144"/>
              <a:gd name="connsiteX2" fmla="*/ 278635 w 651187"/>
              <a:gd name="connsiteY2" fmla="*/ 101695 h 222144"/>
              <a:gd name="connsiteX3" fmla="*/ 638732 w 651187"/>
              <a:gd name="connsiteY3" fmla="*/ 219082 h 222144"/>
              <a:gd name="connsiteX4" fmla="*/ 0 w 651187"/>
              <a:gd name="connsiteY4" fmla="*/ 219082 h 222144"/>
              <a:gd name="connsiteX0" fmla="*/ 0 w 650309"/>
              <a:gd name="connsiteY0" fmla="*/ 219019 h 222196"/>
              <a:gd name="connsiteX1" fmla="*/ 0 w 650309"/>
              <a:gd name="connsiteY1" fmla="*/ 1253 h 222196"/>
              <a:gd name="connsiteX2" fmla="*/ 247894 w 650309"/>
              <a:gd name="connsiteY2" fmla="*/ 106026 h 222196"/>
              <a:gd name="connsiteX3" fmla="*/ 638732 w 650309"/>
              <a:gd name="connsiteY3" fmla="*/ 219019 h 222196"/>
              <a:gd name="connsiteX4" fmla="*/ 0 w 650309"/>
              <a:gd name="connsiteY4" fmla="*/ 219019 h 222196"/>
              <a:gd name="connsiteX0" fmla="*/ 0 w 650197"/>
              <a:gd name="connsiteY0" fmla="*/ 219183 h 222672"/>
              <a:gd name="connsiteX1" fmla="*/ 0 w 650197"/>
              <a:gd name="connsiteY1" fmla="*/ 1417 h 222672"/>
              <a:gd name="connsiteX2" fmla="*/ 247894 w 650197"/>
              <a:gd name="connsiteY2" fmla="*/ 106190 h 222672"/>
              <a:gd name="connsiteX3" fmla="*/ 638732 w 650197"/>
              <a:gd name="connsiteY3" fmla="*/ 219183 h 222672"/>
              <a:gd name="connsiteX4" fmla="*/ 0 w 650197"/>
              <a:gd name="connsiteY4" fmla="*/ 219183 h 222672"/>
              <a:gd name="connsiteX0" fmla="*/ 0 w 650486"/>
              <a:gd name="connsiteY0" fmla="*/ 219034 h 222239"/>
              <a:gd name="connsiteX1" fmla="*/ 0 w 650486"/>
              <a:gd name="connsiteY1" fmla="*/ 1268 h 222239"/>
              <a:gd name="connsiteX2" fmla="*/ 247894 w 650486"/>
              <a:gd name="connsiteY2" fmla="*/ 106041 h 222239"/>
              <a:gd name="connsiteX3" fmla="*/ 638732 w 650486"/>
              <a:gd name="connsiteY3" fmla="*/ 219034 h 222239"/>
              <a:gd name="connsiteX4" fmla="*/ 0 w 650486"/>
              <a:gd name="connsiteY4" fmla="*/ 219034 h 222239"/>
              <a:gd name="connsiteX0" fmla="*/ 76853 w 715584"/>
              <a:gd name="connsiteY0" fmla="*/ 214693 h 214693"/>
              <a:gd name="connsiteX1" fmla="*/ 0 w 715584"/>
              <a:gd name="connsiteY1" fmla="*/ 1321 h 214693"/>
              <a:gd name="connsiteX2" fmla="*/ 324747 w 715584"/>
              <a:gd name="connsiteY2" fmla="*/ 101700 h 214693"/>
              <a:gd name="connsiteX3" fmla="*/ 715585 w 715584"/>
              <a:gd name="connsiteY3" fmla="*/ 214693 h 214693"/>
              <a:gd name="connsiteX4" fmla="*/ 76853 w 715584"/>
              <a:gd name="connsiteY4" fmla="*/ 214693 h 214693"/>
              <a:gd name="connsiteX0" fmla="*/ 0 w 715587"/>
              <a:gd name="connsiteY0" fmla="*/ 214693 h 214693"/>
              <a:gd name="connsiteX1" fmla="*/ 2 w 715587"/>
              <a:gd name="connsiteY1" fmla="*/ 1321 h 214693"/>
              <a:gd name="connsiteX2" fmla="*/ 324749 w 715587"/>
              <a:gd name="connsiteY2" fmla="*/ 101700 h 214693"/>
              <a:gd name="connsiteX3" fmla="*/ 715587 w 715587"/>
              <a:gd name="connsiteY3" fmla="*/ 214693 h 214693"/>
              <a:gd name="connsiteX4" fmla="*/ 0 w 715587"/>
              <a:gd name="connsiteY4" fmla="*/ 214693 h 214693"/>
              <a:gd name="connsiteX0" fmla="*/ 0 w 715587"/>
              <a:gd name="connsiteY0" fmla="*/ 214387 h 214387"/>
              <a:gd name="connsiteX1" fmla="*/ 2 w 715587"/>
              <a:gd name="connsiteY1" fmla="*/ 1015 h 214387"/>
              <a:gd name="connsiteX2" fmla="*/ 368666 w 715587"/>
              <a:gd name="connsiteY2" fmla="*/ 127757 h 214387"/>
              <a:gd name="connsiteX3" fmla="*/ 715587 w 715587"/>
              <a:gd name="connsiteY3" fmla="*/ 214387 h 214387"/>
              <a:gd name="connsiteX4" fmla="*/ 0 w 715587"/>
              <a:gd name="connsiteY4" fmla="*/ 214387 h 214387"/>
              <a:gd name="connsiteX0" fmla="*/ 0 w 715587"/>
              <a:gd name="connsiteY0" fmla="*/ 214783 h 214783"/>
              <a:gd name="connsiteX1" fmla="*/ 2 w 715587"/>
              <a:gd name="connsiteY1" fmla="*/ 1411 h 214783"/>
              <a:gd name="connsiteX2" fmla="*/ 368666 w 715587"/>
              <a:gd name="connsiteY2" fmla="*/ 128153 h 214783"/>
              <a:gd name="connsiteX3" fmla="*/ 715587 w 715587"/>
              <a:gd name="connsiteY3" fmla="*/ 214783 h 214783"/>
              <a:gd name="connsiteX4" fmla="*/ 0 w 715587"/>
              <a:gd name="connsiteY4" fmla="*/ 214783 h 214783"/>
              <a:gd name="connsiteX0" fmla="*/ 0 w 715587"/>
              <a:gd name="connsiteY0" fmla="*/ 214298 h 214298"/>
              <a:gd name="connsiteX1" fmla="*/ 2 w 715587"/>
              <a:gd name="connsiteY1" fmla="*/ 926 h 214298"/>
              <a:gd name="connsiteX2" fmla="*/ 368666 w 715587"/>
              <a:gd name="connsiteY2" fmla="*/ 127668 h 214298"/>
              <a:gd name="connsiteX3" fmla="*/ 715587 w 715587"/>
              <a:gd name="connsiteY3" fmla="*/ 214298 h 214298"/>
              <a:gd name="connsiteX4" fmla="*/ 0 w 715587"/>
              <a:gd name="connsiteY4" fmla="*/ 214298 h 214298"/>
              <a:gd name="connsiteX0" fmla="*/ 0 w 715587"/>
              <a:gd name="connsiteY0" fmla="*/ 214407 h 214407"/>
              <a:gd name="connsiteX1" fmla="*/ 2 w 715587"/>
              <a:gd name="connsiteY1" fmla="*/ 1035 h 214407"/>
              <a:gd name="connsiteX2" fmla="*/ 408190 w 715587"/>
              <a:gd name="connsiteY2" fmla="*/ 114596 h 214407"/>
              <a:gd name="connsiteX3" fmla="*/ 715587 w 715587"/>
              <a:gd name="connsiteY3" fmla="*/ 214407 h 214407"/>
              <a:gd name="connsiteX4" fmla="*/ 0 w 715587"/>
              <a:gd name="connsiteY4" fmla="*/ 214407 h 214407"/>
              <a:gd name="connsiteX0" fmla="*/ 0 w 715587"/>
              <a:gd name="connsiteY0" fmla="*/ 214730 h 214730"/>
              <a:gd name="connsiteX1" fmla="*/ 2 w 715587"/>
              <a:gd name="connsiteY1" fmla="*/ 1358 h 214730"/>
              <a:gd name="connsiteX2" fmla="*/ 381840 w 715587"/>
              <a:gd name="connsiteY2" fmla="*/ 88556 h 214730"/>
              <a:gd name="connsiteX3" fmla="*/ 715587 w 715587"/>
              <a:gd name="connsiteY3" fmla="*/ 214730 h 214730"/>
              <a:gd name="connsiteX4" fmla="*/ 0 w 715587"/>
              <a:gd name="connsiteY4" fmla="*/ 214730 h 214730"/>
              <a:gd name="connsiteX0" fmla="*/ 0 w 715587"/>
              <a:gd name="connsiteY0" fmla="*/ 215799 h 215799"/>
              <a:gd name="connsiteX1" fmla="*/ 2 w 715587"/>
              <a:gd name="connsiteY1" fmla="*/ 2427 h 215799"/>
              <a:gd name="connsiteX2" fmla="*/ 381840 w 715587"/>
              <a:gd name="connsiteY2" fmla="*/ 89625 h 215799"/>
              <a:gd name="connsiteX3" fmla="*/ 715587 w 715587"/>
              <a:gd name="connsiteY3" fmla="*/ 215799 h 215799"/>
              <a:gd name="connsiteX4" fmla="*/ 0 w 715587"/>
              <a:gd name="connsiteY4" fmla="*/ 215799 h 215799"/>
            </a:gdLst>
            <a:rect l="l" t="t" r="r" b="b"/>
            <a:pathLst>
              <a:path w="715587" h="215799">
                <a:moveTo>
                  <a:pt x="0" y="215799"/>
                </a:moveTo>
                <a:cubicBezTo>
                  <a:pt x="1" y="144675"/>
                  <a:pt x="1" y="73551"/>
                  <a:pt x="2" y="2427"/>
                </a:cubicBezTo>
                <a:cubicBezTo>
                  <a:pt x="69058" y="-9904"/>
                  <a:pt x="250828" y="25598"/>
                  <a:pt x="381840" y="89625"/>
                </a:cubicBezTo>
                <a:cubicBezTo>
                  <a:pt x="512852" y="153652"/>
                  <a:pt x="599947" y="186922"/>
                  <a:pt x="715587" y="215799"/>
                </a:cubicBezTo>
                <a:lnTo>
                  <a:pt x="0" y="215799"/>
                </a:lnTo>
                <a:close/>
              </a:path>
            </a:pathLst>
          </a:custGeom>
          <a:solidFill xmlns:a="http://schemas.openxmlformats.org/drawingml/2006/main">
            <a:srgbClr val="D7C0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ED31AA9C-8901-4043-9C62-11F9CCD6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799" y="6627907"/>
            <a:ext cx="3184095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>
                    <a:lumMod val="95000"/>
                  </a:schemeClr>
                </a:solidFill>
              </a:rPr>
              <a:t>civs@pnw.edu</a:t>
            </a:r>
          </a:p>
        </p:txBody>
      </p:sp>
      <p:sp>
        <p:nvSpPr>
          <p:cNvPr id="56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667AE668-A661-47B0-B44A-9007BA51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385754" y="6634175"/>
            <a:ext cx="822119" cy="238113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7034"/>
              <a:gd name="connsiteY0" fmla="*/ 219120 h 226893"/>
              <a:gd name="connsiteX1" fmla="*/ 0 w 647034"/>
              <a:gd name="connsiteY1" fmla="*/ 1354 h 226893"/>
              <a:gd name="connsiteX2" fmla="*/ 352425 w 647034"/>
              <a:gd name="connsiteY2" fmla="*/ 114177 h 226893"/>
              <a:gd name="connsiteX3" fmla="*/ 638732 w 647034"/>
              <a:gd name="connsiteY3" fmla="*/ 219120 h 226893"/>
              <a:gd name="connsiteX4" fmla="*/ 0 w 647034"/>
              <a:gd name="connsiteY4" fmla="*/ 219120 h 226893"/>
              <a:gd name="connsiteX0" fmla="*/ 0 w 647480"/>
              <a:gd name="connsiteY0" fmla="*/ 221370 h 229143"/>
              <a:gd name="connsiteX1" fmla="*/ 0 w 647480"/>
              <a:gd name="connsiteY1" fmla="*/ 3604 h 229143"/>
              <a:gd name="connsiteX2" fmla="*/ 352425 w 647480"/>
              <a:gd name="connsiteY2" fmla="*/ 116427 h 229143"/>
              <a:gd name="connsiteX3" fmla="*/ 638732 w 647480"/>
              <a:gd name="connsiteY3" fmla="*/ 221370 h 229143"/>
              <a:gd name="connsiteX4" fmla="*/ 0 w 647480"/>
              <a:gd name="connsiteY4" fmla="*/ 221370 h 229143"/>
              <a:gd name="connsiteX0" fmla="*/ 0 w 658220"/>
              <a:gd name="connsiteY0" fmla="*/ 219457 h 224552"/>
              <a:gd name="connsiteX1" fmla="*/ 0 w 658220"/>
              <a:gd name="connsiteY1" fmla="*/ 1691 h 224552"/>
              <a:gd name="connsiteX2" fmla="*/ 457200 w 658220"/>
              <a:gd name="connsiteY2" fmla="*/ 154995 h 224552"/>
              <a:gd name="connsiteX3" fmla="*/ 638732 w 658220"/>
              <a:gd name="connsiteY3" fmla="*/ 219457 h 224552"/>
              <a:gd name="connsiteX4" fmla="*/ 0 w 658220"/>
              <a:gd name="connsiteY4" fmla="*/ 219457 h 224552"/>
              <a:gd name="connsiteX0" fmla="*/ 0 w 659607"/>
              <a:gd name="connsiteY0" fmla="*/ 218759 h 223534"/>
              <a:gd name="connsiteX1" fmla="*/ 0 w 659607"/>
              <a:gd name="connsiteY1" fmla="*/ 993 h 223534"/>
              <a:gd name="connsiteX2" fmla="*/ 457200 w 659607"/>
              <a:gd name="connsiteY2" fmla="*/ 154297 h 223534"/>
              <a:gd name="connsiteX3" fmla="*/ 638732 w 659607"/>
              <a:gd name="connsiteY3" fmla="*/ 218759 h 223534"/>
              <a:gd name="connsiteX4" fmla="*/ 0 w 659607"/>
              <a:gd name="connsiteY4" fmla="*/ 218759 h 223534"/>
              <a:gd name="connsiteX0" fmla="*/ 0 w 659889"/>
              <a:gd name="connsiteY0" fmla="*/ 218759 h 218759"/>
              <a:gd name="connsiteX1" fmla="*/ 0 w 659889"/>
              <a:gd name="connsiteY1" fmla="*/ 993 h 218759"/>
              <a:gd name="connsiteX2" fmla="*/ 457200 w 659889"/>
              <a:gd name="connsiteY2" fmla="*/ 154297 h 218759"/>
              <a:gd name="connsiteX3" fmla="*/ 638732 w 659889"/>
              <a:gd name="connsiteY3" fmla="*/ 218759 h 218759"/>
              <a:gd name="connsiteX4" fmla="*/ 0 w 659889"/>
              <a:gd name="connsiteY4" fmla="*/ 218759 h 218759"/>
              <a:gd name="connsiteX0" fmla="*/ 0 w 651257"/>
              <a:gd name="connsiteY0" fmla="*/ 218823 h 224127"/>
              <a:gd name="connsiteX1" fmla="*/ 0 w 651257"/>
              <a:gd name="connsiteY1" fmla="*/ 1057 h 224127"/>
              <a:gd name="connsiteX2" fmla="*/ 390525 w 651257"/>
              <a:gd name="connsiteY2" fmla="*/ 147217 h 224127"/>
              <a:gd name="connsiteX3" fmla="*/ 638732 w 651257"/>
              <a:gd name="connsiteY3" fmla="*/ 218823 h 224127"/>
              <a:gd name="connsiteX4" fmla="*/ 0 w 651257"/>
              <a:gd name="connsiteY4" fmla="*/ 218823 h 224127"/>
              <a:gd name="connsiteX0" fmla="*/ 0 w 610260"/>
              <a:gd name="connsiteY0" fmla="*/ 218642 h 227704"/>
              <a:gd name="connsiteX1" fmla="*/ 0 w 610260"/>
              <a:gd name="connsiteY1" fmla="*/ 876 h 227704"/>
              <a:gd name="connsiteX2" fmla="*/ 390525 w 610260"/>
              <a:gd name="connsiteY2" fmla="*/ 147036 h 227704"/>
              <a:gd name="connsiteX3" fmla="*/ 595870 w 610260"/>
              <a:gd name="connsiteY3" fmla="*/ 223405 h 227704"/>
              <a:gd name="connsiteX4" fmla="*/ 0 w 610260"/>
              <a:gd name="connsiteY4" fmla="*/ 218642 h 227704"/>
              <a:gd name="connsiteX0" fmla="*/ 0 w 610618"/>
              <a:gd name="connsiteY0" fmla="*/ 218642 h 223406"/>
              <a:gd name="connsiteX1" fmla="*/ 0 w 610618"/>
              <a:gd name="connsiteY1" fmla="*/ 876 h 223406"/>
              <a:gd name="connsiteX2" fmla="*/ 390525 w 610618"/>
              <a:gd name="connsiteY2" fmla="*/ 147036 h 223406"/>
              <a:gd name="connsiteX3" fmla="*/ 595870 w 610618"/>
              <a:gd name="connsiteY3" fmla="*/ 223405 h 223406"/>
              <a:gd name="connsiteX4" fmla="*/ 0 w 610618"/>
              <a:gd name="connsiteY4" fmla="*/ 218642 h 223406"/>
              <a:gd name="connsiteX0" fmla="*/ 0 w 607455"/>
              <a:gd name="connsiteY0" fmla="*/ 218999 h 231097"/>
              <a:gd name="connsiteX1" fmla="*/ 0 w 607455"/>
              <a:gd name="connsiteY1" fmla="*/ 1233 h 231097"/>
              <a:gd name="connsiteX2" fmla="*/ 364332 w 607455"/>
              <a:gd name="connsiteY2" fmla="*/ 109293 h 231097"/>
              <a:gd name="connsiteX3" fmla="*/ 595870 w 607455"/>
              <a:gd name="connsiteY3" fmla="*/ 223762 h 231097"/>
              <a:gd name="connsiteX4" fmla="*/ 0 w 607455"/>
              <a:gd name="connsiteY4" fmla="*/ 218999 h 231097"/>
              <a:gd name="connsiteX0" fmla="*/ 0 w 604957"/>
              <a:gd name="connsiteY0" fmla="*/ 218692 h 228528"/>
              <a:gd name="connsiteX1" fmla="*/ 0 w 604957"/>
              <a:gd name="connsiteY1" fmla="*/ 926 h 228528"/>
              <a:gd name="connsiteX2" fmla="*/ 335757 w 604957"/>
              <a:gd name="connsiteY2" fmla="*/ 139943 h 228528"/>
              <a:gd name="connsiteX3" fmla="*/ 595870 w 604957"/>
              <a:gd name="connsiteY3" fmla="*/ 223455 h 228528"/>
              <a:gd name="connsiteX4" fmla="*/ 0 w 604957"/>
              <a:gd name="connsiteY4" fmla="*/ 218692 h 228528"/>
              <a:gd name="connsiteX0" fmla="*/ 0 w 611126"/>
              <a:gd name="connsiteY0" fmla="*/ 218675 h 228338"/>
              <a:gd name="connsiteX1" fmla="*/ 0 w 611126"/>
              <a:gd name="connsiteY1" fmla="*/ 909 h 228338"/>
              <a:gd name="connsiteX2" fmla="*/ 397669 w 611126"/>
              <a:gd name="connsiteY2" fmla="*/ 142308 h 228338"/>
              <a:gd name="connsiteX3" fmla="*/ 595870 w 611126"/>
              <a:gd name="connsiteY3" fmla="*/ 223438 h 228338"/>
              <a:gd name="connsiteX4" fmla="*/ 0 w 611126"/>
              <a:gd name="connsiteY4" fmla="*/ 218675 h 228338"/>
              <a:gd name="connsiteX0" fmla="*/ 0 w 610256"/>
              <a:gd name="connsiteY0" fmla="*/ 218787 h 228450"/>
              <a:gd name="connsiteX1" fmla="*/ 0 w 610256"/>
              <a:gd name="connsiteY1" fmla="*/ 1021 h 228450"/>
              <a:gd name="connsiteX2" fmla="*/ 397669 w 610256"/>
              <a:gd name="connsiteY2" fmla="*/ 142420 h 228450"/>
              <a:gd name="connsiteX3" fmla="*/ 595870 w 610256"/>
              <a:gd name="connsiteY3" fmla="*/ 223550 h 228450"/>
              <a:gd name="connsiteX4" fmla="*/ 0 w 610256"/>
              <a:gd name="connsiteY4" fmla="*/ 218787 h 228450"/>
              <a:gd name="connsiteX0" fmla="*/ 0 w 606418"/>
              <a:gd name="connsiteY0" fmla="*/ 219060 h 230460"/>
              <a:gd name="connsiteX1" fmla="*/ 0 w 606418"/>
              <a:gd name="connsiteY1" fmla="*/ 1294 h 230460"/>
              <a:gd name="connsiteX2" fmla="*/ 359569 w 606418"/>
              <a:gd name="connsiteY2" fmla="*/ 118881 h 230460"/>
              <a:gd name="connsiteX3" fmla="*/ 595870 w 606418"/>
              <a:gd name="connsiteY3" fmla="*/ 223823 h 230460"/>
              <a:gd name="connsiteX4" fmla="*/ 0 w 606418"/>
              <a:gd name="connsiteY4" fmla="*/ 219060 h 230460"/>
              <a:gd name="connsiteX0" fmla="*/ 0 w 607064"/>
              <a:gd name="connsiteY0" fmla="*/ 219060 h 223826"/>
              <a:gd name="connsiteX1" fmla="*/ 0 w 607064"/>
              <a:gd name="connsiteY1" fmla="*/ 1294 h 223826"/>
              <a:gd name="connsiteX2" fmla="*/ 359569 w 607064"/>
              <a:gd name="connsiteY2" fmla="*/ 118881 h 223826"/>
              <a:gd name="connsiteX3" fmla="*/ 595870 w 607064"/>
              <a:gd name="connsiteY3" fmla="*/ 223823 h 223826"/>
              <a:gd name="connsiteX4" fmla="*/ 0 w 607064"/>
              <a:gd name="connsiteY4" fmla="*/ 219060 h 223826"/>
            </a:gdLst>
            <a:rect l="l" t="t" r="r" b="b"/>
            <a:pathLst>
              <a:path w="607064" h="223826">
                <a:moveTo>
                  <a:pt x="0" y="219060"/>
                </a:moveTo>
                <a:lnTo>
                  <a:pt x="0" y="1294"/>
                </a:lnTo>
                <a:cubicBezTo>
                  <a:pt x="69056" y="-11037"/>
                  <a:pt x="274544" y="67506"/>
                  <a:pt x="359569" y="118881"/>
                </a:cubicBezTo>
                <a:cubicBezTo>
                  <a:pt x="444594" y="170256"/>
                  <a:pt x="658078" y="224319"/>
                  <a:pt x="595870" y="223823"/>
                </a:cubicBezTo>
                <a:lnTo>
                  <a:pt x="0" y="2190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CAAE14-404A-4ECE-ACDF-55AD4C85D2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47477" y="6639098"/>
            <a:ext cx="546100" cy="23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9E0DF7C0-E924-49C9-9FE7-DFCD8B4EE6AD}" type="slidenum">
              <a:t>‹#›</a:t>
            </a:fld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06ACAEF-4D17-4708-AD13-6D14F18A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828675"/>
            <a:ext cx="12182247" cy="57992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matchingName="1_SMSVC_Title_and_Content">
  <p:cSld name="2_SMSVC_Title_and_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0">
            <a:extLst xmlns:a="http://schemas.openxmlformats.org/drawingml/2006/main">
              <a:ext uri="{FF2B5EF4-FFF2-40B4-BE49-F238E27FC236}">
                <a16:creationId xmlns:a16="http://schemas.microsoft.com/office/drawing/2014/main" id="{4FC0509D-C293-476F-89F0-FDBDFF16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17" y="6637571"/>
            <a:ext cx="12213945" cy="22965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AC56C"/>
              </a:gs>
              <a:gs pos="85000">
                <a:srgbClr val="E3D38D"/>
              </a:gs>
              <a:gs pos="100000">
                <a:srgbClr val="D0B646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Google Shape;24;p10">
            <a:extLst xmlns:a="http://schemas.openxmlformats.org/drawingml/2006/main">
              <a:ext uri="{FF2B5EF4-FFF2-40B4-BE49-F238E27FC236}">
                <a16:creationId xmlns:a16="http://schemas.microsoft.com/office/drawing/2014/main" id="{AC46ADB2-5592-4767-B499-4092909F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6637572"/>
            <a:ext cx="3394402" cy="229872"/>
          </a:xfrm>
          <a:custGeom xmlns:a="http://schemas.openxmlformats.org/drawingml/2006/main"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lt1"/>
              </a:gs>
              <a:gs pos="100000">
                <a:srgbClr val="D8D8D8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Google Shape;25;p10">
            <a:extLst xmlns:a="http://schemas.openxmlformats.org/drawingml/2006/main">
              <a:ext uri="{FF2B5EF4-FFF2-40B4-BE49-F238E27FC236}">
                <a16:creationId xmlns:a16="http://schemas.microsoft.com/office/drawing/2014/main" id="{F048BD00-CFB4-4904-8D2E-61DB5673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635388"/>
            <a:ext cx="3213101" cy="238739"/>
          </a:xfrm>
          <a:custGeom xmlns:a="http://schemas.openxmlformats.org/drawingml/2006/main"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dk1"/>
              </a:gs>
              <a:gs pos="85000">
                <a:srgbClr val="454545"/>
              </a:gs>
              <a:gs pos="100000">
                <a:srgbClr val="3F3F3F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Google Shape;26;p10">
            <a:extLst xmlns:a="http://schemas.openxmlformats.org/drawingml/2006/main">
              <a:ext uri="{FF2B5EF4-FFF2-40B4-BE49-F238E27FC236}">
                <a16:creationId xmlns:a16="http://schemas.microsoft.com/office/drawing/2014/main" id="{AC29FF53-6479-40B2-A65E-93E8B88C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175999" y="6631360"/>
            <a:ext cx="1006247" cy="233901"/>
          </a:xfrm>
          <a:custGeom xmlns:a="http://schemas.openxmlformats.org/drawingml/2006/main">
            <a:rect l="l" t="t" r="r" b="b"/>
            <a:pathLst>
              <a:path w="715587" h="215799">
                <a:moveTo>
                  <a:pt x="0" y="215799"/>
                </a:moveTo>
                <a:cubicBezTo>
                  <a:pt x="1" y="144675"/>
                  <a:pt x="1" y="73551"/>
                  <a:pt x="2" y="2427"/>
                </a:cubicBezTo>
                <a:cubicBezTo>
                  <a:pt x="69058" y="-9904"/>
                  <a:pt x="250828" y="25598"/>
                  <a:pt x="381840" y="89625"/>
                </a:cubicBezTo>
                <a:cubicBezTo>
                  <a:pt x="512852" y="153652"/>
                  <a:pt x="599947" y="186922"/>
                  <a:pt x="715587" y="215799"/>
                </a:cubicBezTo>
                <a:lnTo>
                  <a:pt x="0" y="215799"/>
                </a:lnTo>
                <a:close/>
              </a:path>
            </a:pathLst>
          </a:custGeom>
          <a:solidFill xmlns:a="http://schemas.openxmlformats.org/drawingml/2006/main">
            <a:srgbClr val="D7C05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Google Shape;27;p10">
            <a:extLst xmlns:a="http://schemas.openxmlformats.org/drawingml/2006/main">
              <a:ext uri="{FF2B5EF4-FFF2-40B4-BE49-F238E27FC236}">
                <a16:creationId xmlns:a16="http://schemas.microsoft.com/office/drawing/2014/main" id="{88372A01-0824-49E0-9280-F66E0F39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" y="6627908"/>
            <a:ext cx="2133600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pnw.edu/civs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Google Shape;28;p10">
            <a:extLst xmlns:a="http://schemas.openxmlformats.org/drawingml/2006/main">
              <a:ext uri="{FF2B5EF4-FFF2-40B4-BE49-F238E27FC236}">
                <a16:creationId xmlns:a16="http://schemas.microsoft.com/office/drawing/2014/main" id="{C774EAEE-8DAC-4BA2-A494-BBA0C56D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343" y="6627907"/>
            <a:ext cx="2465551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F2F2F2"/>
                </a:solidFill>
                <a:latin typeface="Arial"/>
                <a:ea typeface="Arial"/>
                <a:cs typeface="Arial"/>
              </a:rPr>
              <a:t>civs@pnw.edu</a:t>
            </a:r>
            <a:endParaRPr/>
          </a:p>
        </p:txBody>
      </p:sp>
      <p:sp>
        <p:nvSpPr>
          <p:cNvPr id="29" name="Google Shape;29;p10">
            <a:extLst xmlns:a="http://schemas.openxmlformats.org/drawingml/2006/main">
              <a:ext uri="{FF2B5EF4-FFF2-40B4-BE49-F238E27FC236}">
                <a16:creationId xmlns:a16="http://schemas.microsoft.com/office/drawing/2014/main" id="{122A5283-F86F-4C35-B5C2-3C89C300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816" y="-1285"/>
            <a:ext cx="12196064" cy="60179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CEB23A"/>
              </a:gs>
              <a:gs pos="11000">
                <a:srgbClr val="E6D89A"/>
              </a:gs>
              <a:gs pos="24000">
                <a:srgbClr val="DBC671"/>
              </a:gs>
              <a:gs pos="100000">
                <a:srgbClr val="D9C368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Google Shape;30;p10">
            <a:extLst xmlns:a="http://schemas.openxmlformats.org/drawingml/2006/main">
              <a:ext uri="{FF2B5EF4-FFF2-40B4-BE49-F238E27FC236}">
                <a16:creationId xmlns:a16="http://schemas.microsoft.com/office/drawing/2014/main" id="{9D5DDAEE-D427-45E2-8A88-B747181E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-1285"/>
            <a:ext cx="3381702" cy="623077"/>
          </a:xfrm>
          <a:custGeom xmlns:a="http://schemas.openxmlformats.org/drawingml/2006/main"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D8D8D8"/>
              </a:gs>
              <a:gs pos="100000">
                <a:schemeClr val="lt1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Google Shape;31;p10">
            <a:extLst xmlns:a="http://schemas.openxmlformats.org/drawingml/2006/main">
              <a:ext uri="{FF2B5EF4-FFF2-40B4-BE49-F238E27FC236}">
                <a16:creationId xmlns:a16="http://schemas.microsoft.com/office/drawing/2014/main" id="{3DC7BA10-5F93-40EB-9AAD-09EDD769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120" y="-7009"/>
            <a:ext cx="3207881" cy="623077"/>
          </a:xfrm>
          <a:custGeom xmlns:a="http://schemas.openxmlformats.org/drawingml/2006/main">
            <a:rect l="l" t="t" r="r" b="b"/>
            <a:pathLst>
              <a:path w="2464238" h="539269">
                <a:moveTo>
                  <a:pt x="637429" y="0"/>
                </a:moveTo>
                <a:lnTo>
                  <a:pt x="2464238" y="7010"/>
                </a:lnTo>
                <a:lnTo>
                  <a:pt x="2464238" y="525394"/>
                </a:lnTo>
                <a:lnTo>
                  <a:pt x="0" y="539269"/>
                </a:lnTo>
                <a:cubicBezTo>
                  <a:pt x="397459" y="363714"/>
                  <a:pt x="234849" y="224444"/>
                  <a:pt x="63742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dk1"/>
              </a:gs>
              <a:gs pos="16000">
                <a:srgbClr val="595959"/>
              </a:gs>
              <a:gs pos="100000">
                <a:srgbClr val="3F3F3F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Google Shape;32;p10">
            <a:extLst xmlns:a="http://schemas.openxmlformats.org/drawingml/2006/main">
              <a:ext uri="{FF2B5EF4-FFF2-40B4-BE49-F238E27FC236}">
                <a16:creationId xmlns:a16="http://schemas.microsoft.com/office/drawing/2014/main" id="{669BEB44-3461-46C8-B52F-0935AC11C5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41" y="16065"/>
            <a:ext cx="8423857" cy="529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182875" rIns="91425" bIns="1828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2600">
                <a:solidFill>
                  <a:schemeClr val="dk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Google Shape;33;p10">
            <a:extLst xmlns:a="http://schemas.openxmlformats.org/drawingml/2006/main">
              <a:ext uri="{FF2B5EF4-FFF2-40B4-BE49-F238E27FC236}">
                <a16:creationId xmlns:a16="http://schemas.microsoft.com/office/drawing/2014/main" id="{9E49828E-FDD1-4481-8B30-700CBE8B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392107" y="6643701"/>
            <a:ext cx="809419" cy="223826"/>
          </a:xfrm>
          <a:custGeom xmlns:a="http://schemas.openxmlformats.org/drawingml/2006/main">
            <a:rect l="l" t="t" r="r" b="b"/>
            <a:pathLst>
              <a:path w="607064" h="223826">
                <a:moveTo>
                  <a:pt x="0" y="219060"/>
                </a:moveTo>
                <a:lnTo>
                  <a:pt x="0" y="1294"/>
                </a:lnTo>
                <a:cubicBezTo>
                  <a:pt x="69056" y="-11037"/>
                  <a:pt x="274544" y="67506"/>
                  <a:pt x="359569" y="118881"/>
                </a:cubicBezTo>
                <a:cubicBezTo>
                  <a:pt x="444594" y="170256"/>
                  <a:pt x="658078" y="224319"/>
                  <a:pt x="595870" y="223823"/>
                </a:cubicBezTo>
                <a:lnTo>
                  <a:pt x="0" y="21906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Google Shape;34;p10">
            <a:extLst xmlns:a="http://schemas.openxmlformats.org/drawingml/2006/main">
              <a:ext uri="{FF2B5EF4-FFF2-40B4-BE49-F238E27FC236}">
                <a16:creationId xmlns:a16="http://schemas.microsoft.com/office/drawing/2014/main" id="{4AF6BC50-16EA-41D9-B1C1-D9FF79BCE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47477" y="6632748"/>
            <a:ext cx="546100" cy="23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55" name="Google Shape;35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24d7a6a62841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245532" y="83704"/>
            <a:ext cx="844867" cy="411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36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a29f0f815e480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367" y="77442"/>
            <a:ext cx="447344" cy="4286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Google Shape;37;p10">
            <a:extLst xmlns:a="http://schemas.openxmlformats.org/drawingml/2006/main">
              <a:ext uri="{FF2B5EF4-FFF2-40B4-BE49-F238E27FC236}">
                <a16:creationId xmlns:a16="http://schemas.microsoft.com/office/drawing/2014/main" id="{EE46C061-5ECE-440C-90CF-DB1A8962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" y="585365"/>
            <a:ext cx="12173305" cy="6042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10">
            <a:extLst xmlns:a="http://schemas.openxmlformats.org/drawingml/2006/main">
              <a:ext uri="{FF2B5EF4-FFF2-40B4-BE49-F238E27FC236}">
                <a16:creationId xmlns:a16="http://schemas.microsoft.com/office/drawing/2014/main" id="{39854DEC-5F82-46A4-9A75-3C3CAC8FAB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3200" y="613230"/>
            <a:ext cx="11785600" cy="5939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⮚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10">
            <a:extLst xmlns:a="http://schemas.openxmlformats.org/drawingml/2006/main">
              <a:ext uri="{FF2B5EF4-FFF2-40B4-BE49-F238E27FC236}">
                <a16:creationId xmlns:a16="http://schemas.microsoft.com/office/drawing/2014/main" id="{ABA5587C-F486-42F7-AA32-4BA75ADD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1" y="6620872"/>
            <a:ext cx="7611872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chemeClr val="dk1"/>
                </a:solidFill>
                <a:latin typeface="Corsiva"/>
                <a:ea typeface="Corsiva"/>
                <a:cs typeface="Corsiva"/>
              </a:rPr>
              <a:t>“Where Ideas Become Reality”</a:t>
            </a:r>
            <a:endParaRPr/>
          </a:p>
        </p:txBody>
      </p:sp>
      <p:pic>
        <p:nvPicPr>
          <p:cNvPr id="60" name="Google Shape;4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32a67a540540c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45193" y="76691"/>
            <a:ext cx="993075" cy="4306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07f23cdc1547c3" /><Relationship Type="http://schemas.openxmlformats.org/officeDocument/2006/relationships/slideLayout" Target="/ppt/slideLayouts/slideLayout1.xml" Id="Rf52a7a3171d24608" /><Relationship Type="http://schemas.openxmlformats.org/officeDocument/2006/relationships/slideLayout" Target="/ppt/slideLayouts/slideLayout2.xml" Id="R8f990bf2b1b9432f" /><Relationship Type="http://schemas.openxmlformats.org/officeDocument/2006/relationships/slideLayout" Target="/ppt/slideLayouts/slideLayout3.xml" Id="R1e941f7f01d14127" /><Relationship Type="http://schemas.openxmlformats.org/officeDocument/2006/relationships/slideLayout" Target="/ppt/slideLayouts/slideLayout4.xml" Id="Rdbac7daed4cd490b" /><Relationship Type="http://schemas.openxmlformats.org/officeDocument/2006/relationships/slideLayout" Target="/ppt/slideLayouts/slideLayout5.xml" Id="R3e437010691e4f5f" /><Relationship Type="http://schemas.openxmlformats.org/officeDocument/2006/relationships/slideLayout" Target="/ppt/slideLayouts/slideLayout6.xml" Id="R7d3bddca5d434cfa" /><Relationship Type="http://schemas.openxmlformats.org/officeDocument/2006/relationships/slideLayout" Target="/ppt/slideLayouts/slideLayout7.xml" Id="R9c593f13b6544c5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0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2F47B6A-012C-4978-BB53-CF40AEA86E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205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E52EA2-77D8-45B7-9F85-6DD9781E37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1"/>
            <a:ext cx="10972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940B61-072E-4F29-9E94-5999B0C2E7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5D7FCB-DBE7-4A9C-8781-C34B44486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1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C6D0DE9-F084-4115-B5E8-F250272E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172200"/>
            <a:ext cx="111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2a7a3171d24608"/>
    <p:sldLayoutId xmlns:r="http://schemas.openxmlformats.org/officeDocument/2006/relationships" id="2147483650" r:id="R8f990bf2b1b9432f"/>
    <p:sldLayoutId xmlns:r="http://schemas.openxmlformats.org/officeDocument/2006/relationships" id="2147483651" r:id="R1e941f7f01d14127"/>
    <p:sldLayoutId xmlns:r="http://schemas.openxmlformats.org/officeDocument/2006/relationships" id="2147483652" r:id="Rdbac7daed4cd490b"/>
    <p:sldLayoutId xmlns:r="http://schemas.openxmlformats.org/officeDocument/2006/relationships" id="2147483653" r:id="R3e437010691e4f5f"/>
    <p:sldLayoutId xmlns:r="http://schemas.openxmlformats.org/officeDocument/2006/relationships" id="2147483654" r:id="R7d3bddca5d434cfa"/>
    <p:sldLayoutId xmlns:r="http://schemas.openxmlformats.org/officeDocument/2006/relationships" id="2147483655" r:id="R9c593f13b6544c53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3200" b="1" kern="1200">
          <a:solidFill>
            <a:srgbClr val="CC9900"/>
          </a:solidFill>
          <a:latin typeface="Arial"/>
          <a:ea typeface="Arial"/>
          <a:cs typeface="Arial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Font typeface="Wingdings"/>
        <a:buChar char="Ø"/>
        <a:defRPr sz="3200" kern="1200">
          <a:solidFill>
            <a:srgbClr val="D7C05F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0e4add005954efb" /><Relationship Type="http://schemas.openxmlformats.org/officeDocument/2006/relationships/notesSlide" Target="/ppt/notesSlides/notesSlide1.xml" Id="R5731855030ce48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4050c080cd44eb" /><Relationship Type="http://schemas.openxmlformats.org/officeDocument/2006/relationships/image" Target="/ppt/media/image2.jpeg" Id="R026bf803b3c84095" /><Relationship Type="http://schemas.openxmlformats.org/officeDocument/2006/relationships/notesSlide" Target="/ppt/notesSlides/notesSlide2.xml" Id="R997cd13ac8a045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21cb1268de4b19" /><Relationship Type="http://schemas.openxmlformats.org/officeDocument/2006/relationships/notesSlide" Target="/ppt/notesSlides/notesSlide3.xml" Id="Re1c5ad389d2347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66f5792ada464f" /><Relationship Type="http://schemas.openxmlformats.org/officeDocument/2006/relationships/chart" Target="/ppt/slides/charts/chart1.xml" Id="R4ba9135886744c39" /><Relationship Type="http://schemas.openxmlformats.org/officeDocument/2006/relationships/notesSlide" Target="/ppt/notesSlides/notesSlide4.xml" Id="R65f22a768f4d4f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53fd11e7ca4d78" /><Relationship Type="http://schemas.openxmlformats.org/officeDocument/2006/relationships/notesSlide" Target="/ppt/notesSlides/notesSlide5.xml" Id="R110cc9b3233e4f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4f720663154d6f" /><Relationship Type="http://schemas.openxmlformats.org/officeDocument/2006/relationships/image" Target="/ppt/media/image3.jpeg" Id="R9a5bb1e30d1246f0" /><Relationship Type="http://schemas.openxmlformats.org/officeDocument/2006/relationships/notesSlide" Target="/ppt/notesSlides/notesSlide6.xml" Id="R39a8038fa96842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0fe8a638eb466f" /><Relationship Type="http://schemas.openxmlformats.org/officeDocument/2006/relationships/notesSlide" Target="/ppt/notesSlides/notesSlide7.xml" Id="R4862b7e1f1b541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183ee977b74e91" /><Relationship Type="http://schemas.openxmlformats.org/officeDocument/2006/relationships/notesSlide" Target="/ppt/notesSlides/notesSlide8.xml" Id="R28fbe1fb09f047a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V1</c:v>
          </c:tx>
          <c:spPr>
            <a:solidFill xmlns:a="http://schemas.openxmlformats.org/drawingml/2006/main">
              <a:srgbClr val="8CADAE"/>
            </a:solidFill>
          </c:spPr>
          <c:cat>
            <c:strLit>
              <c:ptCount val="3"/>
              <c:pt idx="0">
                <c:v>Board nodes</c:v>
              </c:pt>
              <c:pt idx="1">
                <c:v>Active links</c:v>
              </c:pt>
              <c:pt idx="2">
                <c:v>Verified links</c:v>
              </c:pt>
            </c:strLit>
          </c:cat>
          <c:val>
            <c:numLit>
              <c:formatCode>General</c:formatCode>
              <c:ptCount val="3"/>
              <c:pt idx="0">
                <c:v>5</c:v>
              </c:pt>
              <c:pt idx="1">
                <c:v>4</c:v>
              </c:pt>
              <c:pt idx="2">
                <c:v>0</c:v>
              </c:pt>
            </c:numLit>
          </c:val>
        </c:ser>
        <c:ser>
          <c:idx val="1"/>
          <c:order val="1"/>
          <c:tx>
            <c:v>V2</c:v>
          </c:tx>
          <c:spPr>
            <a:solidFill xmlns:a="http://schemas.openxmlformats.org/drawingml/2006/main">
              <a:srgbClr val="DDAB18"/>
            </a:solidFill>
          </c:spPr>
          <c:cat>
            <c:strLit>
              <c:ptCount val="3"/>
              <c:pt idx="0">
                <c:v>Board nodes</c:v>
              </c:pt>
              <c:pt idx="1">
                <c:v>Active links</c:v>
              </c:pt>
              <c:pt idx="2">
                <c:v>Verified links</c:v>
              </c:pt>
            </c:strLit>
          </c:cat>
          <c:val>
            <c:numLit>
              <c:formatCode>General</c:formatCode>
              <c:ptCount val="3"/>
              <c:pt idx="0">
                <c:v>9</c:v>
              </c:pt>
              <c:pt idx="1">
                <c:v>6</c:v>
              </c:pt>
              <c:pt idx="2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063C8-EE2A-495D-B90B-66A877D0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9144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Project #19</a:t>
            </a:r>
          </a:p>
          <a:p xmlns:a="http://schemas.openxmlformats.org/drawingml/2006/main">
            <a:pPr algn="ctr">
              <a:defRPr sz="40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Standalone Root Cause Analysis</a:t>
            </a:r>
          </a:p>
          <a:p xmlns:a="http://schemas.openxmlformats.org/drawingml/2006/main">
            <a:pPr algn="ctr">
              <a:defRPr sz="40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Progress Since July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703B3-5944-4AAB-9C3F-9256F3F0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958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Progress through 22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257899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9C780-D7DA-4909-AABB-6B8729FE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Progress Since July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1608E-5875-4BFF-8374-D65708CF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668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Current investigation workspace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bf803b3c84095"/>
          <a:stretch xmlns:a="http://schemas.openxmlformats.org/drawingml/2006/main"/>
        </p:blipFill>
        <p:spPr>
          <a:xfrm xmlns:a="http://schemas.openxmlformats.org/drawingml/2006/main">
            <a:off x="4381500" y="1564999"/>
            <a:ext cx="7334250" cy="412805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BFB32-BDD6-4608-8316-2EE6F862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JULY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0CF8A-D7C8-45A0-9DAD-9CC65903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366712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Stepwise RCA concept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Initial causal mapping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Qwen testing planned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EDDB3-08D9-4CB7-893A-19C286E3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3571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SINCE JULY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8EEA7-6483-46AC-BFA1-07E2BAC8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81425"/>
            <a:ext cx="3667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Preserved investigations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Evidence-driven revisions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Recorded Qwen experiments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6EBDC-4D8C-4D7F-849C-00B989F7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62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Prototype implemented. Causal quality remains under evaluation.</a:t>
            </a:r>
          </a:p>
        </p:txBody>
      </p:sp>
    </p:spTree>
    <p:extLst>
      <p:ext uri="{BB962C8B-B14F-4D97-AF65-F5344CB8AC3E}">
        <p14:creationId xmlns:p14="http://schemas.microsoft.com/office/powerpoint/2010/main" val="12130584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8F67D8-66B6-4086-9EE1-F10A16D5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How the Investigation Now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C68C2-49DB-40A9-AAB0-B2FFF3E4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076325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One incident develops through evidence and successive saved versions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6FE1A-EF7F-4CCB-9130-B2E32AFB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33575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D12BE-EC9A-4E03-952B-899F60BE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478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Incident +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08A54-5873-4C3B-B108-D58216DE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574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Original sources retained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4CF1B-4B03-4E76-B150-4DFA1829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33575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B39CC-5BB5-4AAA-AC27-470658F3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478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Initial understanding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D6A5C-9B26-4657-BCB0-C15A60D0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574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Entities and hypotheses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91FBC-C467-42E2-9196-17B6B310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33575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B61D8-51D2-4EB9-9EC8-C8E931A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478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Targeted expertise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88AA7-F814-4B78-ACFA-433F7356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574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Focused questions</a:t>
            </a:r>
          </a:p>
        </p:txBody>
      </p:sp>
      <p:cxnSp>
        <p:nvCxnSpPr>
          <p:cNvPr id="43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14625" y="2667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67375" y="2667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54F44-76C4-48C7-8505-9B279778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90975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A40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15769-A036-4D33-A819-0BCB45BC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1052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Questions +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13C22-592C-439A-8A02-1471BBFE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148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Requests and sourced answers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EA304-229F-469E-B5D0-EF35DEE3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90975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6CAAE-E5C8-42EA-8A58-C2A35232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052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Review + revision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C6697-9C9D-4540-8769-429A34AC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7148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Facts, roles and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C2B30-3CDB-4B55-8B70-38D11FFA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90975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4967FB-B3FA-4F5A-AD49-D518833A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052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Saved versions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00C58-6328-427D-A590-FEA0AA93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148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Board and open questions</a:t>
            </a:r>
          </a:p>
        </p:txBody>
      </p:sp>
      <p:cxnSp>
        <p:nvCxnSpPr>
          <p:cNvPr id="54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524750" y="3400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4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667375" y="47244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2714625" y="47244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6DA3AB-B7CB-4148-A771-DDC0D114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24150"/>
            <a:ext cx="2171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NEW</a:t>
            </a:r>
          </a:p>
          <a:p xmlns:a="http://schemas.openxmlformats.org/drawingml/2006/main">
            <a:pPr algn="ctr">
              <a:defRPr sz="21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E3DAA2-10C8-47EA-BFF2-B16E00F2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24300"/>
            <a:ext cx="22479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A40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B7BACF-9509-4E60-A749-FDAFCC49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386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Later records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2E2A60-8ADE-4AA0-AC7F-38090EBB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48200"/>
            <a:ext cx="2019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Answers or corrections</a:t>
            </a:r>
          </a:p>
        </p:txBody>
      </p:sp>
      <p:cxnSp>
        <p:nvCxnSpPr>
          <p:cNvPr id="61" name=""/>
          <p:cNvCxnSpPr>
            <a:stCxn xmlns:a="http://schemas.openxmlformats.org/drawingml/2006/main" id="27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8620125" y="4657725"/>
            <a:ext cx="561975" cy="66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7A400"/>
            </a:solidFill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EB968C-DADD-491D-978A-6EDEB358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New information can strengthen, challenge or withdraw an explanation.</a:t>
            </a:r>
          </a:p>
        </p:txBody>
      </p:sp>
    </p:spTree>
    <p:extLst>
      <p:ext uri="{BB962C8B-B14F-4D97-AF65-F5344CB8AC3E}">
        <p14:creationId xmlns:p14="http://schemas.microsoft.com/office/powerpoint/2010/main" val="1496741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917FA-E514-4CEF-B8DE-42D94BF0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What Changed Between V1 and V2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99177-D40A-40C5-989C-68AA165D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7632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Instrument-air case: saved partial investigations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1971675"/>
          <a:ext xmlns:a="http://schemas.openxmlformats.org/drawingml/2006/main" cx="6315075" cy="3257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a9135886744c3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1CB54-53E5-4A06-96C4-1AC7A257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95450"/>
            <a:ext cx="417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 concrete issue found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2F323-724F-4EBD-8E4E-E0E08A69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05075"/>
            <a:ext cx="17430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73EA2-B1DC-4A30-A63C-5C4E9768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19375"/>
            <a:ext cx="1514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Pressure loss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1606D-70ED-4D9E-B558-BA6BD4BB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05075"/>
            <a:ext cx="17430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94A95-7E86-4A46-92A6-8B3B9F55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19375"/>
            <a:ext cx="1514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239250" y="29527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7" idx="2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>
            <a:off x="8367713" y="3400425"/>
            <a:ext cx="2333625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D16349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82E1A-A401-43A5-9C0E-DDAF2C5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4248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V1 retained both directions</a:t>
            </a:r>
          </a:p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for the “preceded” relationship.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41367-A441-4FD1-9C2C-AFFA31B5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00600"/>
            <a:ext cx="42195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163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349"/>
                </a:solidFill>
                <a:latin typeface="Arial"/>
                <a:ea typeface="Arial"/>
                <a:cs typeface="Arial"/>
              </a:rPr>
              <a:t>The board grew.</a:t>
            </a:r>
          </a:p>
          <a:p xmlns:a="http://schemas.openxmlformats.org/drawingml/2006/main">
            <a:pPr algn="l">
              <a:defRPr sz="1875" b="1">
                <a:solidFill>
                  <a:srgbClr val="D163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349"/>
                </a:solidFill>
                <a:latin typeface="Arial"/>
                <a:ea typeface="Arial"/>
                <a:cs typeface="Arial"/>
              </a:rPr>
              <a:t>Key causal errors remained.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6975A-8EA4-40AB-B9BC-210F4E9F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150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5 to 9 nodes. Verified connections stayed at 0.</a:t>
            </a:r>
          </a:p>
        </p:txBody>
      </p:sp>
    </p:spTree>
    <p:extLst>
      <p:ext uri="{BB962C8B-B14F-4D97-AF65-F5344CB8AC3E}">
        <p14:creationId xmlns:p14="http://schemas.microsoft.com/office/powerpoint/2010/main" val="6455413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EC6F8E-DA31-46D1-86CB-58C23EA9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Improvements to Evidence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F28AA-AC9A-4687-915E-8DD8A193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668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Corrections now have an explicit route back to the investigation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30D7B-F428-45F2-914D-83D0596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23837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5D019-E00A-4663-AF5D-C0A2DB22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BF7B6-4392-4CE8-BB50-AD6C6798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009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Preserved originals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A4360-7024-4A7A-982E-BFC1E513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00250"/>
            <a:ext cx="223837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FCBFB-B95A-4503-B7B5-1FC31470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Proposed correction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613B9-F8AE-4345-BC69-C6887DE6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24150"/>
            <a:ext cx="2009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Source-bound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5AA5B-2894-486B-A356-E945D8EA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223837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65F2D-40F1-409B-870E-F522C68C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Re-review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8DE20-CEE4-4FA3-9513-95665CD7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2009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Check the revised claim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BBB97-F7B1-4773-A757-DF3643AE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00250"/>
            <a:ext cx="223837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A40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64E78-9450-4D61-A987-AA04F540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14550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Saved revision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1BF03-4129-47B6-B584-CA4CFE8D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24150"/>
            <a:ext cx="2009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History + current view</a:t>
            </a:r>
          </a:p>
        </p:txBody>
      </p:sp>
      <p:cxnSp>
        <p:nvCxnSpPr>
          <p:cNvPr id="43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71775" y="27336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19750" y="27336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467725" y="27336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7D5F5-0837-4025-8C78-BA8547C2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195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Three separate judgments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736EF-ADB3-4AC1-9392-618A92F6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1960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1852C-C365-42D5-90D8-268CAC04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339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Factual 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DBA34-793F-44B1-9DB3-6D6B6093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143500"/>
            <a:ext cx="3105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Does the source establish it?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916554-D6E7-416C-A55A-D44FC5BF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41960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1F81F-1DC0-409D-8437-8690AE13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339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Causal role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F3078-93B8-4F3E-A28E-292AD22C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143500"/>
            <a:ext cx="3105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Is it an event, condition or barrier?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E97FD-A662-4F83-9557-E0B9ACB5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41960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1A5DE-9DC8-4F28-8639-4DE80C87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5339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Connection validity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9BBE8F-93EF-4AFB-9E48-0DF21627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143500"/>
            <a:ext cx="3105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Is the proposed relationship justified?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787750-A2CB-4050-92AC-8612C832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721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97 recorded software checks passed. Model RCA improvement still needs testing.</a:t>
            </a:r>
          </a:p>
        </p:txBody>
      </p:sp>
    </p:spTree>
    <p:extLst>
      <p:ext uri="{BB962C8B-B14F-4D97-AF65-F5344CB8AC3E}">
        <p14:creationId xmlns:p14="http://schemas.microsoft.com/office/powerpoint/2010/main" val="21408019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C72D2-8A48-421C-A3EA-14A6F6E2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Latest Qwen Investigation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bb1e30d1246f0"/>
          <a:stretch xmlns:a="http://schemas.openxmlformats.org/drawingml/2006/main"/>
        </p:blipFill>
        <p:spPr>
          <a:xfrm xmlns:a="http://schemas.openxmlformats.org/drawingml/2006/main">
            <a:off x="423709" y="1438275"/>
            <a:ext cx="8106083" cy="45624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7F4AF-6556-4814-9B77-710186A0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430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84FAA-BF19-4DCC-AF87-033D00B5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66950"/>
            <a:ext cx="271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tasks completed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596D9-6E4A-47FE-8524-86716F41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733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Partial 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5F412-D8C5-4563-A200-F0AD9486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33800"/>
            <a:ext cx="2619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 observations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 focal event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 causal links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D305B-159E-4C54-B10C-AEB113D0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163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16349"/>
                </a:solidFill>
                <a:latin typeface="Arial"/>
                <a:ea typeface="Arial"/>
                <a:cs typeface="Arial"/>
              </a:rPr>
              <a:t>Real run, preserved output. Execution remains inconclusive.</a:t>
            </a:r>
          </a:p>
        </p:txBody>
      </p:sp>
    </p:spTree>
    <p:extLst>
      <p:ext uri="{BB962C8B-B14F-4D97-AF65-F5344CB8AC3E}">
        <p14:creationId xmlns:p14="http://schemas.microsoft.com/office/powerpoint/2010/main" val="13314033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29FB2-B147-49E4-97B1-B0A81615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Staged Evidence for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89ECF-1266-4413-8516-892F862D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Two development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75084-B569-4487-A105-5D7A922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454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D9BB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D9BB4"/>
                </a:solidFill>
                <a:latin typeface="Arial"/>
                <a:ea typeface="Arial"/>
                <a:cs typeface="Arial"/>
              </a:rPr>
              <a:t>R3 beam fall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EF404-0257-42AA-A4E4-7B50E915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0275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Technical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D80DE-E626-4983-A593-41669AE9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D9BB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D9BB4"/>
                </a:solidFill>
                <a:latin typeface="Arial"/>
                <a:ea typeface="Arial"/>
                <a:cs typeface="Arial"/>
              </a:rPr>
              <a:t>Instrument-air loss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28ADA-4937-4420-B7E0-A3E4EE30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0275"/>
            <a:ext cx="4695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Prepared for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4402B-A7DB-4AF4-804F-FD22865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306705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99533-89BC-4274-9A75-2E6D20D3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B0: starter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64861-D691-457C-8F11-1C9A254C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838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Initial account and available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6259D-CF18-41E0-92B5-6B2041B5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14700"/>
            <a:ext cx="306705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F9D90-AAE4-4DCB-9D42-1A057559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2900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B1: new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D34E5-EEF3-4F82-BE22-B261C5C9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38600"/>
            <a:ext cx="2838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Records that distinguish explanations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30B68-D94D-4CE7-8C3C-5DB3958B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306705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39E40-3CA6-46A3-AB4C-0298758D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B2: further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575C4-D6C1-4E64-BF43-AC36958A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38600"/>
            <a:ext cx="2838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Deeper context or a correction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38550" y="4062413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91425" y="4062413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E1AE7-59CD-4494-A678-8ABBA43C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01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CADA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CADAE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BF346-6BD1-4904-B16D-A6E9DFEC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0101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D9BB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D9BB4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E1B48-BA4C-4EC9-A8A0-A65BC5AB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101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163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16349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6518F-3A06-404F-9D29-736CC35D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91225"/>
            <a:ext cx="1081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Synthetic reconstructions. Independent technical validation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16833732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C188D-2C52-4AFF-B3B8-7106D560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7C8D6-7DDC-4B8C-A357-F5040AD3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9537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Next milestone: one reproducible investigation across three evidence releases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A49F7-05D3-4427-94E3-EB0682E2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6975"/>
            <a:ext cx="23241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D8FDC-ED04-4327-AE3C-BB4321CE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Freeze the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D7624-5C08-4598-A5AE-78210CDD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Model, prompts and release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46D7C-8B51-43CA-B6FA-17A4D92D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23241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5B94F-71C5-4831-8E6B-155B1BF0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812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Run V1–V3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711DB-69E7-4864-9192-2347147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9087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Save every input, board and revision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E44EA-6DDD-41C7-864F-02990502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66975"/>
            <a:ext cx="23241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A40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5A509-7C3C-4AC5-B699-A46B8E1F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812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Baseline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0C16A-26B6-44FD-8726-7A07C5CD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9087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Same model and same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18163-20C2-4B52-9624-97F57136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66975"/>
            <a:ext cx="23241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B284A-EDC1-47E0-A7D0-8A202EC9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812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Assess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41938-3CE9-4595-9BAE-245A780C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9087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Evidence, mechanisms and revisions</a:t>
            </a:r>
          </a:p>
        </p:txBody>
      </p:sp>
      <p:cxnSp>
        <p:nvCxnSpPr>
          <p:cNvPr id="36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76550" y="324326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53100" y="324326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29650" y="324326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08CB8-A953-4B3E-A274-25723A1F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D7D3C6-7B08-4FAB-9E78-3D2BDB98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62575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Review case realism and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causal interpretation.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DCCBB4-80CC-451C-BF24-F9225E3D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0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Success criterion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46FFA-A7A9-496A-AE90-194A2287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62575"/>
            <a:ext cx="485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Evidence produces justified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changes in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659836306"/>
      </p:ext>
    </p:extLst>
  </p:cSld>
</p:sld>
</file>

<file path=ppt/theme/theme1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2026-09-22T18:42:03.2790000Z</dcterms:created>
  <dcterms:modified xsi:type="dcterms:W3CDTF">2026-09-22T18:42:03.2800000Z</dcterms:modified>
</coreProperties>
</file>