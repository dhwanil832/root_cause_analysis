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d08b4b6cd84265" /><Relationship Type="http://schemas.openxmlformats.org/officeDocument/2006/relationships/extended-properties" Target="/docProps/app.xml" Id="R9f5a0a604a4f4dc8" /><Relationship Type="http://schemas.openxmlformats.org/officeDocument/2006/relationships/officeDocument" Target="/ppt/presentation.xml" Id="Rc76e02b7349449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51181b8ad541bb"/>
  </p:sldMasterIdLst>
  <p:notesMasterIdLst>
    <p:notesMasterId xmlns:r="http://schemas.openxmlformats.org/officeDocument/2006/relationships" r:id="R9ebd9afa7961499f"/>
  </p:notesMasterIdLst>
  <p:sldIdLst>
    <p:sldId xmlns:r="http://schemas.openxmlformats.org/officeDocument/2006/relationships" id="256" r:id="R89fb4896ac034692"/>
    <p:sldId xmlns:r="http://schemas.openxmlformats.org/officeDocument/2006/relationships" id="257" r:id="Rdfa1438e64444cc9"/>
    <p:sldId xmlns:r="http://schemas.openxmlformats.org/officeDocument/2006/relationships" id="258" r:id="R3a74cff578584f83"/>
    <p:sldId xmlns:r="http://schemas.openxmlformats.org/officeDocument/2006/relationships" id="259" r:id="Rf9d7e9a023c94d98"/>
    <p:sldId xmlns:r="http://schemas.openxmlformats.org/officeDocument/2006/relationships" id="260" r:id="Rdd3bc6f0222a4d36"/>
    <p:sldId xmlns:r="http://schemas.openxmlformats.org/officeDocument/2006/relationships" id="261" r:id="R1834f4c89bc44df1"/>
    <p:sldId xmlns:r="http://schemas.openxmlformats.org/officeDocument/2006/relationships" id="262" r:id="R492aaa5b523f4330"/>
    <p:sldId xmlns:r="http://schemas.openxmlformats.org/officeDocument/2006/relationships" id="263" r:id="R43b2475c820c4649"/>
    <p:sldId xmlns:r="http://schemas.openxmlformats.org/officeDocument/2006/relationships" id="264" r:id="R45ff5e82bcfb405b"/>
    <p:sldId xmlns:r="http://schemas.openxmlformats.org/officeDocument/2006/relationships" id="265" r:id="R50f24d874d344c86"/>
    <p:sldId xmlns:r="http://schemas.openxmlformats.org/officeDocument/2006/relationships" id="266" r:id="Rb2dfe562fae34663"/>
    <p:sldId xmlns:r="http://schemas.openxmlformats.org/officeDocument/2006/relationships" id="267" r:id="R65174689332a43da"/>
    <p:sldId xmlns:r="http://schemas.openxmlformats.org/officeDocument/2006/relationships" id="268" r:id="R4c830633d853478a"/>
    <p:sldId xmlns:r="http://schemas.openxmlformats.org/officeDocument/2006/relationships" id="269" r:id="R62b3095c9c954c19"/>
    <p:sldId xmlns:r="http://schemas.openxmlformats.org/officeDocument/2006/relationships" id="270" r:id="R5982a81d3fdf4340"/>
    <p:sldId xmlns:r="http://schemas.openxmlformats.org/officeDocument/2006/relationships" id="271" r:id="R4a6f2821ac2b4941"/>
    <p:sldId xmlns:r="http://schemas.openxmlformats.org/officeDocument/2006/relationships" id="272" r:id="R9e48d3bf978148fa"/>
    <p:sldId xmlns:r="http://schemas.openxmlformats.org/officeDocument/2006/relationships" id="273" r:id="Rbc730e03436c4742"/>
    <p:sldId xmlns:r="http://schemas.openxmlformats.org/officeDocument/2006/relationships" id="274" r:id="R157e0defb2f24adc"/>
    <p:sldId xmlns:r="http://schemas.openxmlformats.org/officeDocument/2006/relationships" id="275" r:id="Rf4fa9a564423434f"/>
    <p:sldId xmlns:r="http://schemas.openxmlformats.org/officeDocument/2006/relationships" id="276" r:id="R06fdbccff91b4f31"/>
    <p:sldId xmlns:r="http://schemas.openxmlformats.org/officeDocument/2006/relationships" id="277" r:id="Rf8c06f6d0a2743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b3d410aae84642" /><Relationship Type="http://schemas.openxmlformats.org/officeDocument/2006/relationships/slideMaster" Target="/ppt/slideMasters/slideMaster1.xml" Id="R4051181b8ad541bb" /><Relationship Type="http://schemas.openxmlformats.org/officeDocument/2006/relationships/notesMaster" Target="/ppt/notesMasters/notesMaster1.xml" Id="R9ebd9afa7961499f" /><Relationship Type="http://schemas.openxmlformats.org/officeDocument/2006/relationships/presProps" Target="/ppt/presProps.xml" Id="Re69a3b38d3f545c5" /><Relationship Type="http://schemas.openxmlformats.org/officeDocument/2006/relationships/viewProps" Target="/ppt/viewProps.xml" Id="R74fa3fe7cbe34eac" /><Relationship Type="http://schemas.openxmlformats.org/officeDocument/2006/relationships/tableStyles" Target="/ppt/tableStyles.xml" Id="Ra45da962dcb24425" /><Relationship Type="http://schemas.openxmlformats.org/officeDocument/2006/relationships/slide" Target="/ppt/slides/slide1.xml" Id="R89fb4896ac034692" /><Relationship Type="http://schemas.openxmlformats.org/officeDocument/2006/relationships/slide" Target="/ppt/slides/slide2.xml" Id="Rdfa1438e64444cc9" /><Relationship Type="http://schemas.openxmlformats.org/officeDocument/2006/relationships/slide" Target="/ppt/slides/slide3.xml" Id="R3a74cff578584f83" /><Relationship Type="http://schemas.openxmlformats.org/officeDocument/2006/relationships/slide" Target="/ppt/slides/slide4.xml" Id="Rf9d7e9a023c94d98" /><Relationship Type="http://schemas.openxmlformats.org/officeDocument/2006/relationships/slide" Target="/ppt/slides/slide5.xml" Id="Rdd3bc6f0222a4d36" /><Relationship Type="http://schemas.openxmlformats.org/officeDocument/2006/relationships/slide" Target="/ppt/slides/slide6.xml" Id="R1834f4c89bc44df1" /><Relationship Type="http://schemas.openxmlformats.org/officeDocument/2006/relationships/slide" Target="/ppt/slides/slide7.xml" Id="R492aaa5b523f4330" /><Relationship Type="http://schemas.openxmlformats.org/officeDocument/2006/relationships/slide" Target="/ppt/slides/slide8.xml" Id="R43b2475c820c4649" /><Relationship Type="http://schemas.openxmlformats.org/officeDocument/2006/relationships/slide" Target="/ppt/slides/slide9.xml" Id="R45ff5e82bcfb405b" /><Relationship Type="http://schemas.openxmlformats.org/officeDocument/2006/relationships/slide" Target="/ppt/slides/slide10.xml" Id="R50f24d874d344c86" /><Relationship Type="http://schemas.openxmlformats.org/officeDocument/2006/relationships/slide" Target="/ppt/slides/slide11.xml" Id="Rb2dfe562fae34663" /><Relationship Type="http://schemas.openxmlformats.org/officeDocument/2006/relationships/slide" Target="/ppt/slides/slide12.xml" Id="R65174689332a43da" /><Relationship Type="http://schemas.openxmlformats.org/officeDocument/2006/relationships/slide" Target="/ppt/slides/slide13.xml" Id="R4c830633d853478a" /><Relationship Type="http://schemas.openxmlformats.org/officeDocument/2006/relationships/slide" Target="/ppt/slides/slide14.xml" Id="R62b3095c9c954c19" /><Relationship Type="http://schemas.openxmlformats.org/officeDocument/2006/relationships/slide" Target="/ppt/slides/slide15.xml" Id="R5982a81d3fdf4340" /><Relationship Type="http://schemas.openxmlformats.org/officeDocument/2006/relationships/slide" Target="/ppt/slides/slide16.xml" Id="R4a6f2821ac2b4941" /><Relationship Type="http://schemas.openxmlformats.org/officeDocument/2006/relationships/slide" Target="/ppt/slides/slide17.xml" Id="R9e48d3bf978148fa" /><Relationship Type="http://schemas.openxmlformats.org/officeDocument/2006/relationships/slide" Target="/ppt/slides/slide18.xml" Id="Rbc730e03436c4742" /><Relationship Type="http://schemas.openxmlformats.org/officeDocument/2006/relationships/slide" Target="/ppt/slides/slide19.xml" Id="R157e0defb2f24adc" /><Relationship Type="http://schemas.openxmlformats.org/officeDocument/2006/relationships/slide" Target="/ppt/slides/slide20.xml" Id="Rf4fa9a564423434f" /><Relationship Type="http://schemas.openxmlformats.org/officeDocument/2006/relationships/slide" Target="/ppt/slides/slide21.xml" Id="R06fdbccff91b4f31" /><Relationship Type="http://schemas.openxmlformats.org/officeDocument/2006/relationships/slide" Target="/ppt/slides/slide22.xml" Id="Rf8c06f6d0a2743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0ec18844db4c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e3749470d64e7e" /><Relationship Type="http://schemas.openxmlformats.org/officeDocument/2006/relationships/notesMaster" Target="/ppt/notesMasters/notesMaster1.xml" Id="R2de09b3fc4c44b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9a14f040244440" /><Relationship Type="http://schemas.openxmlformats.org/officeDocument/2006/relationships/notesMaster" Target="/ppt/notesMasters/notesMaster1.xml" Id="R0b6e1d3fae2f4d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8ed36e6690401a" /><Relationship Type="http://schemas.openxmlformats.org/officeDocument/2006/relationships/notesMaster" Target="/ppt/notesMasters/notesMaster1.xml" Id="Ra9de976c80754b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79d9af257341a4" /><Relationship Type="http://schemas.openxmlformats.org/officeDocument/2006/relationships/notesMaster" Target="/ppt/notesMasters/notesMaster1.xml" Id="R58ab3f16f8ec4b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f3e6f45fba4176" /><Relationship Type="http://schemas.openxmlformats.org/officeDocument/2006/relationships/notesMaster" Target="/ppt/notesMasters/notesMaster1.xml" Id="R915414f9a4e54e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660040f1244923" /><Relationship Type="http://schemas.openxmlformats.org/officeDocument/2006/relationships/notesMaster" Target="/ppt/notesMasters/notesMaster1.xml" Id="Rd11232d4d6cb4b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4df0bc6a364643" /><Relationship Type="http://schemas.openxmlformats.org/officeDocument/2006/relationships/notesMaster" Target="/ppt/notesMasters/notesMaster1.xml" Id="R8a27a9c2f60b4b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3b15cf1c8e443e" /><Relationship Type="http://schemas.openxmlformats.org/officeDocument/2006/relationships/notesMaster" Target="/ppt/notesMasters/notesMaster1.xml" Id="R7a9b92ada2a54c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68d13dacff4997" /><Relationship Type="http://schemas.openxmlformats.org/officeDocument/2006/relationships/notesMaster" Target="/ppt/notesMasters/notesMaster1.xml" Id="R27cd6e8ad71148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8e46cb35c94f5e" /><Relationship Type="http://schemas.openxmlformats.org/officeDocument/2006/relationships/notesMaster" Target="/ppt/notesMasters/notesMaster1.xml" Id="Rfba23ffa411f46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60f5f06051400a" /><Relationship Type="http://schemas.openxmlformats.org/officeDocument/2006/relationships/notesMaster" Target="/ppt/notesMasters/notesMaster1.xml" Id="Rafbcefe1980644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8c986c2d244b51" /><Relationship Type="http://schemas.openxmlformats.org/officeDocument/2006/relationships/notesMaster" Target="/ppt/notesMasters/notesMaster1.xml" Id="R482384b2d1354f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a9ce1fba8b44c9" /><Relationship Type="http://schemas.openxmlformats.org/officeDocument/2006/relationships/notesMaster" Target="/ppt/notesMasters/notesMaster1.xml" Id="R0bcd06427e244c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edb5c8594f4389" /><Relationship Type="http://schemas.openxmlformats.org/officeDocument/2006/relationships/notesMaster" Target="/ppt/notesMasters/notesMaster1.xml" Id="R57f273fe5473452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9588f8e3bfe4905" /><Relationship Type="http://schemas.openxmlformats.org/officeDocument/2006/relationships/notesMaster" Target="/ppt/notesMasters/notesMaster1.xml" Id="R11481af4bbb040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98b6cc7482e4403" /><Relationship Type="http://schemas.openxmlformats.org/officeDocument/2006/relationships/notesMaster" Target="/ppt/notesMasters/notesMaster1.xml" Id="R2b1ad399a8b144f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25413b294334a9d" /><Relationship Type="http://schemas.openxmlformats.org/officeDocument/2006/relationships/notesMaster" Target="/ppt/notesMasters/notesMaster1.xml" Id="R8cc17a1eeaa048c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54e52fe85604f32" /><Relationship Type="http://schemas.openxmlformats.org/officeDocument/2006/relationships/notesMaster" Target="/ppt/notesMasters/notesMaster1.xml" Id="R50498ee8bc23433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7aa3a85e27f4ea5" /><Relationship Type="http://schemas.openxmlformats.org/officeDocument/2006/relationships/notesMaster" Target="/ppt/notesMasters/notesMaster1.xml" Id="R96503eed1f184fa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363a1e85ee44de4" /><Relationship Type="http://schemas.openxmlformats.org/officeDocument/2006/relationships/notesMaster" Target="/ppt/notesMasters/notesMaster1.xml" Id="R4d0aa2a857d7461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1597e8365ab422b" /><Relationship Type="http://schemas.openxmlformats.org/officeDocument/2006/relationships/notesMaster" Target="/ppt/notesMasters/notesMaster1.xml" Id="R467d23782a874e7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545163f7ae14f70" /><Relationship Type="http://schemas.openxmlformats.org/officeDocument/2006/relationships/notesMaster" Target="/ppt/notesMasters/notesMaster1.xml" Id="Rd87abf70afdb48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incident and one Qwen configuration. This is a review of saved runs, not a new run or a production change. V1 evaluated without V2-only evidence. V2 evaluated against prewritten controlled expectations. Research checked online 20 September 2026.</a:t>
            </a:r>
            <a:endParaRPr/>
          </a:p>
          <a:p xmlns:a="http://schemas.openxmlformats.org/drawingml/2006/main">
            <a:r>
              <a:t>Local evidence: /Users/dhwanilchauhan/Desktop/RCA Try 1/Try 6/evals/ia16036-v2-controlled/failure-report-evidence.json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runs[0/1].counts, board, position and findings. Do not infer that zero verified edges alone proves a failure or that V1 had to solve the incident.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saved counts. V1 partial/finished and V2 partial/finished. One model: ollama:qwen3.5:latest. V1 elapsed includes pauses and sampling-profile change; do not present a causal runtime improvement. Documents exclude the incident description; questions include baseline.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V1 source inventory: incident, D01–D03, S01–S03, P01–P03 and C01. P04/P05 withheld until V2. Detailed V1 rubric is retrospective; V2 expectations were prewritten. P02 mapping distinguishes legacy COMP FAULT label from the actual input.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/Users/dhwanilchauhan/Desktop/RCA Try 1/IA-16036 Controlled Evidence Package/07_case_content_inputs/02_model_visible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V1 board.nodes. Invalid alarm review f7db8787-5ba9-431d-9129-1f83bed4d96f; invalid RUN review cc9428a7-f9e7-41b4-bb8f-b4c7eefdb736. Both combined entailment with necessary missing premises. The guard correctly rejected the contradictory output.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All V1 edges shown in saved board. No verification calls completed in V1. Review gates unresolved premises. The loss-to-recovery direction is a reasonable temporal statement, not evidence of the recovery mechanism.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Finding 22dc870b-4cb9-4384-8d38-f5b2e59bffa5 and V1 summary contain timing error. See P01/P02. The compressor branch remained a hypothesis, not a supported trip conclusion. A rejected V1 review also misread 10:00:11 as a below-threshold time: recorded P-R was 5.8, while low threshold was &lt;4.5.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V1 position.directions and resolver outputs. Keep genuine gaps; narrow compound requests into known and unknown parts. Do not grade V1 down for not having P04/P05.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 inference: distribution-path interruption becomes a stronger physical hypothesis. Not final proof: a late observation does not establish continuous prior closure; handle position does not establish internal condition; timing uncertain. P05 also records V-201 open about 09:56. Prewritten expectations: /Users/dhwanilchauhan/Desktop/RCA Try 1/Try 6/evals/ia16036-v2-expectations.md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V2 adds four nodes, retains all five V1 node identities, withdraws one edge and adds three. No verified edges in either version. Compare board/position rather than mere node counts.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V2 runs[1].findings vs position.selectedFindingIds. Frame trace b0053b1c-3674-425f-86a7-5df44258e742 saw all 154 notebook findings but not original P04. Refine 7f1777d6-e056-4bae-9da9-792e08aadbe9 saw notebook but neither original P04/P05. Resolvers and connection calls did have the originals. Do not say upload failed or context capacity caused the omission.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AL-44 review 60b7aea1-8d44-45bd-8700-68055befdfdb. Entity error da20381b-14ca-490d-80a1-0207ca1dfe94. Both verifiers partial; neither supported. Code: literal-decision.ts, board/changes.ts, board/projection.ts.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Question flags in diagnostic export. Projection requires direction or selected reviewTargets. Story selector consumes published analysis questions. Some verifier questions are themselves wrong, so routing must allow correction/rejection, not automatically publish every question. Code: investigation/planner.ts, apply.ts, board/projection.ts, records.ts, story-agent/contracts.ts.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Code anchors: tasks/executor.ts, investigation/contracts.ts, investigation/apply.ts, review/literal-contract.ts, review/literal-decision.ts, board/changes.ts, board/projection.ts, investigation/planner.ts. Each confirmed against raw outputs and applied state. Proposed changes are not yet implemented.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Both P04/P05 included in actual story input catalogs. Story round c5bdbc70-37bd-42f3-9acc-00912637f096. Job times approx 24.895s and 22.986s, no retries. P04/P05 were preselected by operator. This tests transport and reviewed partial release, not autonomous discovery or multi-round memory consistency. story-candidate.json and story-review.json.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Recorded stage durations from runs[1].stageTiming. Premise review 3,614,997 ms / elapsed 4,719,243 ms = 76.6%. Sum task durations approx 78m31s. Global changed-source invalidation is in planner.ts; dependency-sensitive savings have not been measured. Native context 262144, generation -1. 154 findings are not 154 agents. V1 elapsed is not a fair speed baseline.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Recommendations based on local F01–F10. Not implemented or demonstrated by this report. No fine-tuning or multi-model fallback is needed for the first implementation. Preserve superseded claims historically; do not silently rewrite V1. Related research on the following two slides.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https://research.google/pubs/sufficient-context-a-new-lens-on-retrieval-augmented-generation-systems-2/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https://aclanthology.org/2025.acl-long.1089/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https://proceedings.mlr.press/v267/luo25t.html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These are adaptations, not measured fixes. GCR full approach uses a KG-specialized model; we borrow the constraint principle without proposing its full training architecture.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https://aclanthology.org/2025.acl-short.73/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https://aclanthology.org/2026.acl-long.912/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https://arxiv.org/abs/2604.02733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Research checked 20 September 2026. No published effect size is claimed as a local gain. DeltaLogic does not establish that anchoring caused this Qwen run. ProgCo evaluated instruction following and math.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These are proposed acceptance tests, not a report that they already pass. V2 target follows prewritten expectations. Do not force a supported edge; permit a justified qualified hypothesis or evidence-based explanation of why it remains unsupported.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One case/model configuration. V1 recovered under changed execution behavior. Suggestions not implemented. All app data and prior versions remain unchanged. Detailed trace index and source links in accompanying report.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Incident 9660f4f2-5fc0-4d0a-917e-8e48641956e3; V1 a20904da-8710-40df-8d58-fec78f451f2a; V2 3d44374c-888e-465a-8870-99d11eaa8c12. Digest 6488c96fa5faab64bb65cbd30d4289e20e6130ef535a93ef9a49f42eda893ea7. Live dashboard if app running: http://127.0.0.1:3016/incident/9660f4f2-5fc0-4d0a-917e-8e48641956e3. No model run or application mutation during this review.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356aabb7ce4e0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ada61791194b2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ac239571e49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47117145848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6ecebfdb414fb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af3a6c99914a1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edb3a279074e9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3c2a37a33a4eab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8afaaac2874f44" /><Relationship Type="http://schemas.openxmlformats.org/officeDocument/2006/relationships/slideLayout" Target="/ppt/slideLayouts/slideLayout1.xml" Id="R5aff5152608f4f97" /><Relationship Type="http://schemas.openxmlformats.org/officeDocument/2006/relationships/slideLayout" Target="/ppt/slideLayouts/slideLayout2.xml" Id="Rb8eeb7ea5d12489a" /><Relationship Type="http://schemas.openxmlformats.org/officeDocument/2006/relationships/slideLayout" Target="/ppt/slideLayouts/slideLayout3.xml" Id="R82f260316fab486b" /><Relationship Type="http://schemas.openxmlformats.org/officeDocument/2006/relationships/slideLayout" Target="/ppt/slideLayouts/slideLayout4.xml" Id="Rf29ad02c48184192" /><Relationship Type="http://schemas.openxmlformats.org/officeDocument/2006/relationships/slideLayout" Target="/ppt/slideLayouts/slideLayout5.xml" Id="R1dc05192734d49d2" /><Relationship Type="http://schemas.openxmlformats.org/officeDocument/2006/relationships/slideLayout" Target="/ppt/slideLayouts/slideLayout6.xml" Id="R210deed641804cde" /><Relationship Type="http://schemas.openxmlformats.org/officeDocument/2006/relationships/slideLayout" Target="/ppt/slideLayouts/slideLayout7.xml" Id="R3ee99212d074455c" /><Relationship Type="http://schemas.openxmlformats.org/officeDocument/2006/relationships/slideLayout" Target="/ppt/slideLayouts/slideLayout8.xml" Id="R6d8067779978404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ff5152608f4f97"/>
    <p:sldLayoutId xmlns:r="http://schemas.openxmlformats.org/officeDocument/2006/relationships" id="2147483650" r:id="Rb8eeb7ea5d12489a"/>
    <p:sldLayoutId xmlns:r="http://schemas.openxmlformats.org/officeDocument/2006/relationships" id="2147483651" r:id="R82f260316fab486b"/>
    <p:sldLayoutId xmlns:r="http://schemas.openxmlformats.org/officeDocument/2006/relationships" id="2147483652" r:id="Rf29ad02c48184192"/>
    <p:sldLayoutId xmlns:r="http://schemas.openxmlformats.org/officeDocument/2006/relationships" id="2147483653" r:id="R1dc05192734d49d2"/>
    <p:sldLayoutId xmlns:r="http://schemas.openxmlformats.org/officeDocument/2006/relationships" id="2147483654" r:id="R210deed641804cde"/>
    <p:sldLayoutId xmlns:r="http://schemas.openxmlformats.org/officeDocument/2006/relationships" id="2147483655" r:id="R3ee99212d074455c"/>
    <p:sldLayoutId xmlns:r="http://schemas.openxmlformats.org/officeDocument/2006/relationships" id="2147483656" r:id="R6d8067779978404e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1d61143f54147" /><Relationship Type="http://schemas.openxmlformats.org/officeDocument/2006/relationships/notesSlide" Target="/ppt/notesSlides/notesSlide1.xml" Id="Rd4e1b580d1b847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6e9aef6d0c44e2" /><Relationship Type="http://schemas.openxmlformats.org/officeDocument/2006/relationships/notesSlide" Target="/ppt/notesSlides/notesSlide2.xml" Id="Rf3e697841be049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ca4d4965c64fd6" /><Relationship Type="http://schemas.openxmlformats.org/officeDocument/2006/relationships/notesSlide" Target="/ppt/notesSlides/notesSlide3.xml" Id="Rd323e6037ca849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97107d1b6f4829" /><Relationship Type="http://schemas.openxmlformats.org/officeDocument/2006/relationships/notesSlide" Target="/ppt/notesSlides/notesSlide4.xml" Id="Rab57dad00f6944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ea1629970c4026" /><Relationship Type="http://schemas.openxmlformats.org/officeDocument/2006/relationships/notesSlide" Target="/ppt/notesSlides/notesSlide5.xml" Id="Rdb98f208e61d4e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ca9817ba1e4283" /><Relationship Type="http://schemas.openxmlformats.org/officeDocument/2006/relationships/notesSlide" Target="/ppt/notesSlides/notesSlide6.xml" Id="R0b69ea3fec7941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3907fe038643fb" /><Relationship Type="http://schemas.openxmlformats.org/officeDocument/2006/relationships/notesSlide" Target="/ppt/notesSlides/notesSlide7.xml" Id="R23ec2eb2157145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df95d0f6dd41f5" /><Relationship Type="http://schemas.openxmlformats.org/officeDocument/2006/relationships/notesSlide" Target="/ppt/notesSlides/notesSlide8.xml" Id="Rdee24240023c43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3b6f1d942b4c66" /><Relationship Type="http://schemas.openxmlformats.org/officeDocument/2006/relationships/notesSlide" Target="/ppt/notesSlides/notesSlide9.xml" Id="Rc0d61281746d46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a0998c7a8a4cd1" /><Relationship Type="http://schemas.openxmlformats.org/officeDocument/2006/relationships/notesSlide" Target="/ppt/notesSlides/notesSlide10.xml" Id="Ra55a25b4de5a4f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6a8c52452c4c9a" /><Relationship Type="http://schemas.openxmlformats.org/officeDocument/2006/relationships/notesSlide" Target="/ppt/notesSlides/notesSlide11.xml" Id="Rdfbb9e46593e4e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8b36af3d0d4e65" /><Relationship Type="http://schemas.openxmlformats.org/officeDocument/2006/relationships/notesSlide" Target="/ppt/notesSlides/notesSlide12.xml" Id="R2bc35ed2f2c646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f28ff3c01549e7" /><Relationship Type="http://schemas.openxmlformats.org/officeDocument/2006/relationships/notesSlide" Target="/ppt/notesSlides/notesSlide13.xml" Id="R838650a13cbb4b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546474253b42ef" /><Relationship Type="http://schemas.openxmlformats.org/officeDocument/2006/relationships/notesSlide" Target="/ppt/notesSlides/notesSlide14.xml" Id="R6830d2a5e68f47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9f0716faf64a03" /><Relationship Type="http://schemas.openxmlformats.org/officeDocument/2006/relationships/notesSlide" Target="/ppt/notesSlides/notesSlide15.xml" Id="R1c6db5c4984b4a5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47b3de7bc742be" /><Relationship Type="http://schemas.openxmlformats.org/officeDocument/2006/relationships/chart" Target="/ppt/slides/charts/chart1.xml" Id="R8a3fd4025aa846eb" /><Relationship Type="http://schemas.openxmlformats.org/officeDocument/2006/relationships/notesSlide" Target="/ppt/notesSlides/notesSlide16.xml" Id="R7c68f9c177b947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1f8aaefb73452a" /><Relationship Type="http://schemas.openxmlformats.org/officeDocument/2006/relationships/notesSlide" Target="/ppt/notesSlides/notesSlide17.xml" Id="R00e8d0602f8c49a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aed4bbbf58473c" /><Relationship Type="http://schemas.openxmlformats.org/officeDocument/2006/relationships/notesSlide" Target="/ppt/notesSlides/notesSlide18.xml" Id="R09191b3383274ef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307e21edcb43cd" /><Relationship Type="http://schemas.openxmlformats.org/officeDocument/2006/relationships/notesSlide" Target="/ppt/notesSlides/notesSlide19.xml" Id="R6730a25239c0462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b7272143074389" /><Relationship Type="http://schemas.openxmlformats.org/officeDocument/2006/relationships/notesSlide" Target="/ppt/notesSlides/notesSlide20.xml" Id="Rf22b422ea075458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e76bb24c9a48fa" /><Relationship Type="http://schemas.openxmlformats.org/officeDocument/2006/relationships/notesSlide" Target="/ppt/notesSlides/notesSlide21.xml" Id="R98bf23ecbbe0409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526e87d80d461f" /><Relationship Type="http://schemas.openxmlformats.org/officeDocument/2006/relationships/notesSlide" Target="/ppt/notesSlides/notesSlide22.xml" Id="R12033cac7eaa4c8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latin typeface="Helvetica Neue"/>
                <a:ea typeface="Helvetica Neue"/>
                <a:cs typeface="Helvetica Neue"/>
              </a:rPr>
              <a:t>Recorded V2 task time (minutes)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Minutes</c:v>
          </c:tx>
          <c:spPr>
            <a:solidFill xmlns:a="http://schemas.openxmlformats.org/drawingml/2006/main">
              <a:srgbClr val="222222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>
                        <a:latin typeface="Helvetica Neue"/>
                        <a:ea typeface="Helvetica Neue"/>
                        <a:cs typeface="Helvetica Neue"/>
                      </a:rPr>
                      <a:t>4.21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>
                        <a:latin typeface="Helvetica Neue"/>
                        <a:ea typeface="Helvetica Neue"/>
                        <a:cs typeface="Helvetica Neue"/>
                      </a:rPr>
                      <a:t>5.26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>
                        <a:latin typeface="Helvetica Neue"/>
                        <a:ea typeface="Helvetica Neue"/>
                        <a:cs typeface="Helvetica Neue"/>
                      </a:rPr>
                      <a:t>3.35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>
                        <a:latin typeface="Helvetica Neue"/>
                        <a:ea typeface="Helvetica Neue"/>
                        <a:cs typeface="Helvetica Neue"/>
                      </a:rPr>
                      <a:t>4.28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>
                        <a:latin typeface="Helvetica Neue"/>
                        <a:ea typeface="Helvetica Neue"/>
                        <a:cs typeface="Helvetica Neue"/>
                      </a:rPr>
                      <a:t>60.25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425">
                        <a:latin typeface="Helvetica Neue"/>
                        <a:ea typeface="Helvetica Neue"/>
                        <a:cs typeface="Helvetica Neue"/>
                      </a:rPr>
                      <a:t>1.17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425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Data'!$A$2:$A$7</c:f>
              <c:strCache>
                <c:ptCount val="6"/>
                <c:pt idx="0">
                  <c:v>Read</c:v>
                </c:pt>
                <c:pt idx="1">
                  <c:v>Frame + refine</c:v>
                </c:pt>
                <c:pt idx="2">
                  <c:v>Connect</c:v>
                </c:pt>
                <c:pt idx="3">
                  <c:v>Resolve</c:v>
                </c:pt>
                <c:pt idx="4">
                  <c:v>Review premises</c:v>
                </c:pt>
                <c:pt idx="5">
                  <c:v>Verify links</c:v>
                </c:pt>
              </c:strCache>
            </c:str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4.21</c:v>
                </c:pt>
                <c:pt idx="1">
                  <c:v>5.26</c:v>
                </c:pt>
                <c:pt idx="2">
                  <c:v>3.35</c:v>
                </c:pt>
                <c:pt idx="3">
                  <c:v>4.28</c:v>
                </c:pt>
                <c:pt idx="4">
                  <c:v>60.25</c:v>
                </c:pt>
                <c:pt idx="5">
                  <c:v>1.17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222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00050" y="1752600"/>
            <a:ext cx="11239500" cy="27146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1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RCA evidence review</a:t>
            </a:r>
          </a:p>
          <a:p xmlns:a="http://schemas.openxmlformats.org/drawingml/2006/main">
            <a:pPr>
              <a:defRPr sz="61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→ V2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00050" y="4914900"/>
            <a:ext cx="10572750" cy="114300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we expected. What happened.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21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is proven—and what must change.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TRY 6  /  IA-16036  /  20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E2598689-54C9-18A7-3A19-ED76AA08988F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Two versions finished; causal progress remains insufficient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D5C23DFA-CF25-4F16-B3EE-7A704888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Completion, statement support and causal validity are different outcomes.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0C077F6E-1C8D-4C92-BFCF-DD87F613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49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worked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1A508FF7-907F-4AA2-9084-8FEBEB5A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349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Both snapshots preserved.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New records read; relevant facts extracted.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More individual statements supported in V2.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EDD0EC8B-86BE-4C9E-93C3-C5787D18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190750"/>
            <a:ext cx="349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did not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ACC5B3BF-245B-4CBA-9CD9-BB11BAF0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952750"/>
            <a:ext cx="349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The expected route-and-valve mechanism was not assembled.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Old errors and evidence gaps survived.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No connection became verified.</a:t>
            </a:r>
          </a:p>
        </p:txBody>
      </p:sp>
      <p:sp>
        <p:nvSpPr>
          <p:cNvPr id="539" name="Review text">
            <a:extLst xmlns:a="http://schemas.openxmlformats.org/drawingml/2006/main">
              <a:ext uri="{FF2B5EF4-FFF2-40B4-BE49-F238E27FC236}">
                <a16:creationId xmlns:a16="http://schemas.microsoft.com/office/drawing/2014/main" id="{67F4F6E7-A28A-4265-822E-93F141A4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190750"/>
            <a:ext cx="349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we can prove</a:t>
            </a:r>
          </a:p>
        </p:txBody>
      </p:sp>
      <p:sp>
        <p:nvSpPr>
          <p:cNvPr id="540" name="Review text">
            <a:extLst xmlns:a="http://schemas.openxmlformats.org/drawingml/2006/main">
              <a:ext uri="{FF2B5EF4-FFF2-40B4-BE49-F238E27FC236}">
                <a16:creationId xmlns:a16="http://schemas.microsoft.com/office/drawing/2014/main" id="{C0DAC514-965B-40DB-A311-DA2FC775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952750"/>
            <a:ext cx="349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Specific contract, review and handoff defects.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Source/output mismatches.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Not the model’s internal reason for every mistake.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202359C0-8A7A-196E-DD58-8E6569619F09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was actually tested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812CB078-E7EA-44F1-8D96-691A9189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Same model digest; V2 adds two records and one reviewed answer. V1 required mid-run engineering recovery.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191250"/>
                <a:gridCol w="2600325"/>
                <a:gridCol w="2600325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V1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V2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Uploaded documents / storyteller answers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 / 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 / 1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Notebook findings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154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Board nodes / active connections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 / 4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 / 6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Supported non-focal nodes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Verified connections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Published questions, including baseline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EFD6AB9A-5F9E-5F59-51AB-3C8734130965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was expected to be provisional—not complete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3EA97DF9-EB88-4580-8427-787BBB82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V1 assessment uses only the documents available to V1.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AA09ED5E-BFAE-431B-BBF5-56026A5F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it should establish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C2D482B3-CE41-4C40-87E4-5C063107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Accurate pressure/alarm chronology.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RUN indication ≠ measured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AL-44 is a P-R low-pressure signal, despite its legacy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An internally consistent preliminary board.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F4B78826-E690-418D-AFD1-FED072CE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should remain open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ADBD55E8-655E-4ED4-BBFF-E2331F0C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Actual piping connectivity.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Incident-time valve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Actual briefing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Physical and organizational causes not yet established.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EE5B3003-2C54-13C6-9832-7637201064DE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V1: all five nodes reviewed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8D3B45B1-CCC4-4C43-870F-7CF27A5E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supported observation does not automatically have a valid causal role.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524250"/>
                <a:gridCol w="2524125"/>
                <a:gridCol w="5343525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Node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V1 status / role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Assessment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Pressure-loss focal event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 / focal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Useful incident anchor; not a root cause.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Reported event around 10:00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Partial / event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Directly reported; extra Turn-2 corroboration is a different question.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AL-44 timestamps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 / event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Present in P01; reviewer output was internally inconsistent.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Return to normal band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Supported / condition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Grounded; numerical recovery is also in P01.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C-11 RUN = 1 at samples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 / barrier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Sampled fact is grounded; protective function is not established.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8C630A04-5A25-9E0C-9436-126091DB86B3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V1: all four connections reviewed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21A261B5-FB15-409E-BC7A-C74B0CB0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Unknown status is permissible. Wrong direction and unsupported roles are not useful uncertainty.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857625"/>
                <a:gridCol w="2524125"/>
                <a:gridCol w="501015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Connection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Assessment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Why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Loss → alarm: caused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Plausible; not verified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Mapping exists in P02, but the saved gap says it is missing.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Recovery → loss: preceded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direction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Its own explanation says recovery happened after the interruption.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Loss → recovery: preceded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Reasonable ordering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proof of a cause; coexists with the opposite arrow.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Loss → RUN: failed-to-prevent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Unsupported relation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Neither the pressure-loss event nor the RUN indication is an established barrier.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D3D7D1C8-AE23-AA48-DF65-C742588DBE47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already contained factual and evidence-use errors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48360CE5-F4F8-466F-9A57-4E6CD358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These failures predate V2; they are not regressions caused by adding P04/P05.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14750"/>
                <a:gridCol w="3905250"/>
                <a:gridCol w="377190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 output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 evidence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Consequence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P-R reaches 2.1 bar by 10:03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P01: 2.6 at 10:03:10; 2.1 at 10:05:50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timeline enters the notebook and summary.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Numerical recovery confirmation missing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P01: 6.0 at 10:06:20; 6.8 at 10:06:50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 already-answerable gap remains open.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Alarm input mapping unavailable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P02: AL-44 input is P-R; legacy display wording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Unverified compressor speculation receives too much framing weight.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BA58DA2A-B818-18A9-29C1-B697728D5BCE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questions: useful directions mixed with redundant parts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CC8976A8-4F8F-49C3-8F66-1540A99B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missing source format is not the same as missing information.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E6F12E4A-ED8E-4CD4-801F-5D25AF8B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Legitimate next requests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1B533F15-EED9-45D0-9434-AAD3E803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Physical routes between headers.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Valve-by-valve field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the briefing actually covered.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 genuine compressor-trip log, if available.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FCD8744F-911C-47D2-A2A0-DC666632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Already supplied or over-scoped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395BA41C-3B49-4BD8-83CA-85ADD8A5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AL-44 input identity: P02.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Measurement-point mapping: P02.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Numerical recovery samples: P01.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Separate corroboration from the literal claim “the report says Turn 2.”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388657AE-30A1-5A7A-6A7F-315D84436430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V2 evidence should narrow the physical mechanism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DB32721A-E3E5-4B58-8ED6-84E5CCB2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P04: normal route through M-101/D-101/M-102; auxiliary route through V-201/B-17/V-202.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4095750"/>
                <a:gridCol w="424815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 / time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Observation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contributes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P04: connection schedule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V-201 and V-202 are in series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Physical meaning of both valve positions.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P05: 10:00:03 ±5 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M-101 closes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 action near the start of the pressure fall.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P05: 10:05:40 ±5 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V-202 observed closed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Auxiliary-path state late in the event.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P05: 10:06:18 ±5 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V-202 opens; M-101 stays closed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Action associated with recovery.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P01: 10:06:20 / 10:06:50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P-R rises to 6.0 / 6.8 bar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 recovery sequence.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DB7BEEEC-A170-5376-2B6E-CB54687B0CB1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→ V2: more support, little mechanism revision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416EF8BB-81EA-4A82-A191-8C97FC4B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three branch titles, mechanisms and gap texts are unchanged; only version markers advance.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86125"/>
                <a:gridCol w="4857750"/>
                <a:gridCol w="3248025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Dimension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V1 → V2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Finding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Statement support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→ 5 supported non-focal nodes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Real improvement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C-11 prevention edge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Present → withdrawn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Real correction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C-11 barrier role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Barrier → still barrier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Persistent role error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Recovery direction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Opposite arrows → both retained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Persistent graph error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2.1-bar timing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Notebook/summary → also on board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Error propagated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Piping and valve gaps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→ supplied but still requested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Missed evidence integration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30394428-F1DC-E5F6-DB0C-7DE31F3D8A23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The useful facts were extracted—but not assembled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F3AAB90F-7807-4B95-A833-8A1B957D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Confirmed location of failure: selection and synthesis after successful ingestion.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D20E0724-A840-4C92-9470-60C5CA83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Available in the notebook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46D3A43D-9228-42DB-8DE6-AE7E2ECC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Four connection segments.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Inline V-201 / V-202 relationship.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M-101 closure.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V-202 closed observation and later opening.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019A7965-2438-4B40-9420-7BCC8CE7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Missing from the selected mechanism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EBE617CD-B9D9-4F7F-AEC7-14A5E539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Topology segments and V-202 observations were not selected as premises.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Old field-operation and routing gaps survived.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Why the model overlooked these facts is not isolated.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4DB16885-0D3F-A391-B669-3211DB3B26E8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Review itself introduced errors and misleading statuses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670322D3-BDA9-4E90-AC93-26AE460F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Review is another fallible model output, not an independent source of truth.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14750"/>
                <a:gridCol w="4381500"/>
                <a:gridCol w="329565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 review behavior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the evidence/code establishes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Published effect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“Not a contradiction” + claim-truth conflict flag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Approximate and precise times not shown incompatible; flag forces unknown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AL-44 claim unknown; 3 dependent edges gated.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V-201 “opened and later closed”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P05 says V-201 opened and M-101 closed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entity/action pairing in verifier output.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Partial verdict → conflicting → unknown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Status application uses both reference lists; UI flattens conflict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Distinct reasons for uncertainty become indistinguishable.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2DD23107-4986-8758-3A93-3D74F35908CC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The feedback loop does not reliably reach the next round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04B4AE05-1DEC-4836-8F1A-C4A34E66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saved review finding is not enough: it must change the board or receive an explicit disposition.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00375"/>
                <a:gridCol w="4381500"/>
                <a:gridCol w="4010025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Expected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Confirmed mechanism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 an identified factual error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2.1-bar timing remains after review flags it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refinement precedes review; no post-review claim/map reconciliation.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Route new causal questions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4 verifier questions saved; none published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They lack links required by the projection filter.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Retire or narrow obsolete questions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Turn-2 and RUN questions remain after parent support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 state not fully reconciled with revised findings.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327921A4-25C4-3DB4-06B1-32693CEE2241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Software causes we can identify without speculation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25C48429-98B2-4AA3-A288-4D3A1D06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These explain specific failures—not every model reasoning error.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4953000"/>
                <a:gridCol w="377190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Boundary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Confirmed mismatch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Required change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Resolver assignment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Schema allows all visible IDs; runtime accepts assigned IDs only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One assignment object drives both.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Graph acceptance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 references do not check temporal direction or barrier role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Separate semantic relation/role checks.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Review interpretation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Flags and reference-list presence override distinct meanings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Consistent partial/conflict/unknown states.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Publication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Statuses update after last map refinement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Explicit claim amendment and reconciliation.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 handoff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 questions can fail visibility predicate silently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Canonical registry; every item has a disposition.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EA83FA91-883A-0168-8075-96CEB9DCA3C2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Storyteller: operational, but not yet unattended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4C6AD027-ABA4-4791-83AD-DB639BA0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Two jobs completed once. Human review released one and withheld one.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4191000"/>
                <a:gridCol w="434340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Candidate behavior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Outcome / boundary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1885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Actual briefing content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Grounded excerpts, but missing actual checklist; marked “answered”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Released unchanged. Should be partial; repeats existing sources.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885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Physical connectivity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P04 was in input, but answer treated routing as unavailable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Withheld by human reviewer. Never fed into V2.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DC9C7607-4BA3-B4DC-A00F-2E67A9FCFF7E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Most V2 time was spent reviewing premises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62A40C35-8C5F-4D49-AF5B-56AF5001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78 min 39 s elapsed; 60.25 min in premise review. No infinite specialist queue in this run.</a:t>
            </a:r>
          </a:p>
        </p:txBody>
      </p:sp>
      <p:graphicFrame>
        <p:nvGraphicFramePr>
          <p:cNvPr id="543" name="Chart"/>
          <p:cNvGraphicFramePr/>
          <p:nvPr/>
        </p:nvGraphicFramePr>
        <p:xfrm>
          <a:off xmlns:a="http://schemas.openxmlformats.org/drawingml/2006/main" x="400050" y="2076450"/>
          <a:ext xmlns:a="http://schemas.openxmlformats.org/drawingml/2006/main" cx="7334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3fd4025aa846eb"/>
          </a:graphicData>
        </a:graphic>
      </p:graphicFrame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7E7CFD18-1FDA-4F5E-9A5B-0722C06D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7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76.6%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A446F1BA-791A-4746-959C-52A1F3B5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of elapsed time</a:t>
            </a:r>
          </a:p>
          <a:p xmlns:a="http://schemas.openxmlformats.org/drawingml/2006/main">
            <a:pPr>
              <a:defRPr sz="21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spent reviewing premises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7462700F-0007-46E5-AA85-48083263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482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Optimize affected dependencies;</a:t>
            </a:r>
          </a:p>
          <a:p xmlns:a="http://schemas.openxmlformats.org/drawingml/2006/main">
            <a:pPr>
              <a:defRPr sz="18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do not remove factual checks.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90F7333B-44AC-F7E9-D49D-FE92F45E0477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Proposed repair: make evidence revision a complete loop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95DDB59E-9231-414D-A4B4-1F25F55C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Architectural correction—not a prompt that hard-codes this incident’s answer.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9B7F64C2-EF24-4924-8999-7B2CE7AC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Before proposing a mechanism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C5155D4D-EA15-49B4-BC57-4FC21CFA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Source-linked observations:</a:t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entity, state/action, time, value, uncertainty.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Joint evidence bundles preserve identities across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Every affected branch gets an explicit delta decision.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7B1ED8FC-08A7-42D3-AEDA-D1935B14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Before publishing a version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6D923AEB-A1F1-4BB1-88E3-8B8258AB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Review can create a corrected claim—not merely a lower status.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Recheck affected links and reconcile summary, gaps and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Reuse reviews only with a visible dependency rationale.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B1C6C81E-38B9-7560-621D-5A151A79DF9B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Research supports targeted evidence and constraint checks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09E1D3AD-C3D6-4632-B574-2B667ADE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Primary research, 2025. Transfer to this RCA system remains to be tested.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3714750"/>
                <a:gridCol w="443865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Research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Relevant principle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adaptation / limitation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Sufficient Context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ICLR 2025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Separate context sufficiency from successful use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Audit packet coverage; adequate context can still be misused. QA ≠ industrial RCA.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ChainRAG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ACL 2025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Preserve entities across multi-hop retrieval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Bundle topology + state + time. Reported tests are multi-hop QA.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Graph-constrained Reasoning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ICML 2025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Constrain reasoning paths to a graph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Validate typed relationships. Graph faithfulness alone is not causal truth.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CCF91274-D221-1BB4-3BF9-836E3AD31EBE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Research also supports correction and controlled revision tests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175923EB-E425-40B3-92BA-F9E1396F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2025–2026 evidence; preprint status is explicitly distinguished.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3714750"/>
                <a:gridCol w="443865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Research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Relevant principle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adaptation / limitation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ProgCo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ACL 2025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Program-driven verification and refinement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Executable ID/time/value checks plus claim repair; not universal proof of self-correction.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TraceElephant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ACL 2026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Full execution inputs and outputs for attribution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Replay packet → output → applied state → view; not output-only diagnosis.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DeltaLogic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April 2026 preprint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Controlled premise edits test revision behavior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 / defeat / remove / irrelevant deltas. Small logic study, not an RCA solution.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844E025A-983C-6D44-79C6-4612AACD43FC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20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Acceptance must measure correction—not board size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4E2B2414-5847-4510-A056-0606AC47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Use these frozen failures as regression cases; then test unseen incidents and evidence changes.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862965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Area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Observable pass condition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 fidelity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 time/value pairs and valve identities; observations distinct from inference.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Graph meaning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 event ordering; a protective function is required for a barrier role.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revision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 routes and valve states narrow the mechanism; uncertainty remains explicit.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Feedback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Corrected claims reach publication; every question has an explicit disposition.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Storyteller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Relevant records used; partial answers labelled; source ancestry retained.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Generality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Fixed-config latency and accuracy comparisons, followed by unseen-case tests.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F6DF2BE2-2DFA-1C03-677D-BDC2260D6D92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21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The defensible conclusion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42746A74-099F-4C62-9095-200B9F94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We have an inspectable two-version investigation—not yet reliable evidence-driven causal revision.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8A05886B-0F62-48F3-8EB2-0EB13B6A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Established by this review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9DC9582A-EF91-4D43-B1C1-0E402C7F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had source and graph errors before V2.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V2 improved extraction and statement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Specific software paths explain propagation and handoff failures.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838ED3F0-17E7-4D31-A9EB-B18B9F37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Not established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6120A7DC-A3C7-48A6-AB03-DBC8AA9C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 universal Qwen limitation.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Context overload or anchoring as the internal cause.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 guaranteed fix from more agents, larger context or fine-tuning.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 final organizational root cause.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7600" y="6438900"/>
            <a:ext cx="514350" cy="2095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0BB18BA8-60F4-C50D-CD9B-1BB87D3E8506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22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Evidence and reproducibility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2E25D8B0-E50E-4C40-810D-BE4149CA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full report contains the failure register, exact trace IDs, source links and acceptance tests.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07CEBFF9-B7E1-44EC-87C8-FABCF822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Local audit material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8E882AAC-D30E-4DD1-A846-B14C4A5A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Frozen V1/V2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Every node and edge reviewed.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Released documents, raw public outputs, task metrics and projection flags.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Code paths linked for each confirmed harness defect.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0C1606E7-4879-4D9D-8275-8BA5583A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How to present this fairly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86962BAA-61CE-4F9D-A058-205D5BA9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Separate “observed” from “cause proven.”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Keep a blank where the internal cause is unknown.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Label research-inspired repairs as proposals.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Do not equate a finished run with a validated RCA.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2026-09-20T20:52:03.9530000Z</dcterms:created>
  <dcterms:modified xsi:type="dcterms:W3CDTF">2026-09-20T20:52:03.9530000Z</dcterms:modified>
</coreProperties>
</file>