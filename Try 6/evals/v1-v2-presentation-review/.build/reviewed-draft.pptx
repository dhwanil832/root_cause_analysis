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slides/charts/chart1.xml" ContentType="application/vnd.openxmlformats-officedocument.drawingml.chart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90d2b49b4b348eb" /><Relationship Type="http://schemas.openxmlformats.org/officeDocument/2006/relationships/extended-properties" Target="/docProps/app.xml" Id="Rb85a48b6301d482f" /><Relationship Type="http://schemas.openxmlformats.org/officeDocument/2006/relationships/officeDocument" Target="/ppt/presentation.xml" Id="Re97bdfbd63014d0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74db2248faa47bb"/>
  </p:sldMasterIdLst>
  <p:notesMasterIdLst>
    <p:notesMasterId xmlns:r="http://schemas.openxmlformats.org/officeDocument/2006/relationships" r:id="R544a3aaab26c46c2"/>
  </p:notesMasterIdLst>
  <p:sldIdLst>
    <p:sldId xmlns:r="http://schemas.openxmlformats.org/officeDocument/2006/relationships" id="256" r:id="R216a591119284696"/>
    <p:sldId xmlns:r="http://schemas.openxmlformats.org/officeDocument/2006/relationships" id="257" r:id="Rdee9078bac4f4678"/>
    <p:sldId xmlns:r="http://schemas.openxmlformats.org/officeDocument/2006/relationships" id="258" r:id="Rf4de193324404159"/>
    <p:sldId xmlns:r="http://schemas.openxmlformats.org/officeDocument/2006/relationships" id="259" r:id="Rdca523ead6f24966"/>
    <p:sldId xmlns:r="http://schemas.openxmlformats.org/officeDocument/2006/relationships" id="260" r:id="Rabd04f20c32e4b01"/>
    <p:sldId xmlns:r="http://schemas.openxmlformats.org/officeDocument/2006/relationships" id="261" r:id="R282dc9491ff04b64"/>
    <p:sldId xmlns:r="http://schemas.openxmlformats.org/officeDocument/2006/relationships" id="262" r:id="R7f607a0eb1e44426"/>
    <p:sldId xmlns:r="http://schemas.openxmlformats.org/officeDocument/2006/relationships" id="263" r:id="R2538fe13be404d05"/>
    <p:sldId xmlns:r="http://schemas.openxmlformats.org/officeDocument/2006/relationships" id="264" r:id="R6c558024c95b4377"/>
    <p:sldId xmlns:r="http://schemas.openxmlformats.org/officeDocument/2006/relationships" id="265" r:id="R3fdb6f46345049d6"/>
    <p:sldId xmlns:r="http://schemas.openxmlformats.org/officeDocument/2006/relationships" id="266" r:id="Rb89269558fe74428"/>
    <p:sldId xmlns:r="http://schemas.openxmlformats.org/officeDocument/2006/relationships" id="267" r:id="R4adc9e713d814919"/>
    <p:sldId xmlns:r="http://schemas.openxmlformats.org/officeDocument/2006/relationships" id="268" r:id="R08774117436a4e3e"/>
    <p:sldId xmlns:r="http://schemas.openxmlformats.org/officeDocument/2006/relationships" id="269" r:id="R10a55f01d8554e04"/>
    <p:sldId xmlns:r="http://schemas.openxmlformats.org/officeDocument/2006/relationships" id="270" r:id="Rb48aba2c43fd4a95"/>
    <p:sldId xmlns:r="http://schemas.openxmlformats.org/officeDocument/2006/relationships" id="271" r:id="R8af8b56b3ab34d8e"/>
    <p:sldId xmlns:r="http://schemas.openxmlformats.org/officeDocument/2006/relationships" id="272" r:id="R2210179bd85c4e5c"/>
    <p:sldId xmlns:r="http://schemas.openxmlformats.org/officeDocument/2006/relationships" id="273" r:id="Rc1b2b7b034be49f1"/>
    <p:sldId xmlns:r="http://schemas.openxmlformats.org/officeDocument/2006/relationships" id="274" r:id="R38840a9871c64a4c"/>
    <p:sldId xmlns:r="http://schemas.openxmlformats.org/officeDocument/2006/relationships" id="275" r:id="Rca2e7e2e31f24eab"/>
    <p:sldId xmlns:r="http://schemas.openxmlformats.org/officeDocument/2006/relationships" id="276" r:id="R64daf855ce2d4338"/>
    <p:sldId xmlns:r="http://schemas.openxmlformats.org/officeDocument/2006/relationships" id="277" r:id="R003bed5ffbb04ad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c4d2f0aa74c4a0d" /><Relationship Type="http://schemas.openxmlformats.org/officeDocument/2006/relationships/slideMaster" Target="/ppt/slideMasters/slideMaster1.xml" Id="Rd74db2248faa47bb" /><Relationship Type="http://schemas.openxmlformats.org/officeDocument/2006/relationships/notesMaster" Target="/ppt/notesMasters/notesMaster1.xml" Id="R544a3aaab26c46c2" /><Relationship Type="http://schemas.openxmlformats.org/officeDocument/2006/relationships/presProps" Target="/ppt/presProps.xml" Id="R588df305521043c1" /><Relationship Type="http://schemas.openxmlformats.org/officeDocument/2006/relationships/viewProps" Target="/ppt/viewProps.xml" Id="R2e7f846e1c624f1c" /><Relationship Type="http://schemas.openxmlformats.org/officeDocument/2006/relationships/tableStyles" Target="/ppt/tableStyles.xml" Id="Ra8421f02318046b4" /><Relationship Type="http://schemas.openxmlformats.org/officeDocument/2006/relationships/slide" Target="/ppt/slides/slide1.xml" Id="R216a591119284696" /><Relationship Type="http://schemas.openxmlformats.org/officeDocument/2006/relationships/slide" Target="/ppt/slides/slide2.xml" Id="Rdee9078bac4f4678" /><Relationship Type="http://schemas.openxmlformats.org/officeDocument/2006/relationships/slide" Target="/ppt/slides/slide3.xml" Id="Rf4de193324404159" /><Relationship Type="http://schemas.openxmlformats.org/officeDocument/2006/relationships/slide" Target="/ppt/slides/slide4.xml" Id="Rdca523ead6f24966" /><Relationship Type="http://schemas.openxmlformats.org/officeDocument/2006/relationships/slide" Target="/ppt/slides/slide5.xml" Id="Rabd04f20c32e4b01" /><Relationship Type="http://schemas.openxmlformats.org/officeDocument/2006/relationships/slide" Target="/ppt/slides/slide6.xml" Id="R282dc9491ff04b64" /><Relationship Type="http://schemas.openxmlformats.org/officeDocument/2006/relationships/slide" Target="/ppt/slides/slide7.xml" Id="R7f607a0eb1e44426" /><Relationship Type="http://schemas.openxmlformats.org/officeDocument/2006/relationships/slide" Target="/ppt/slides/slide8.xml" Id="R2538fe13be404d05" /><Relationship Type="http://schemas.openxmlformats.org/officeDocument/2006/relationships/slide" Target="/ppt/slides/slide9.xml" Id="R6c558024c95b4377" /><Relationship Type="http://schemas.openxmlformats.org/officeDocument/2006/relationships/slide" Target="/ppt/slides/slide10.xml" Id="R3fdb6f46345049d6" /><Relationship Type="http://schemas.openxmlformats.org/officeDocument/2006/relationships/slide" Target="/ppt/slides/slide11.xml" Id="Rb89269558fe74428" /><Relationship Type="http://schemas.openxmlformats.org/officeDocument/2006/relationships/slide" Target="/ppt/slides/slide12.xml" Id="R4adc9e713d814919" /><Relationship Type="http://schemas.openxmlformats.org/officeDocument/2006/relationships/slide" Target="/ppt/slides/slide13.xml" Id="R08774117436a4e3e" /><Relationship Type="http://schemas.openxmlformats.org/officeDocument/2006/relationships/slide" Target="/ppt/slides/slide14.xml" Id="R10a55f01d8554e04" /><Relationship Type="http://schemas.openxmlformats.org/officeDocument/2006/relationships/slide" Target="/ppt/slides/slide15.xml" Id="Rb48aba2c43fd4a95" /><Relationship Type="http://schemas.openxmlformats.org/officeDocument/2006/relationships/slide" Target="/ppt/slides/slide16.xml" Id="R8af8b56b3ab34d8e" /><Relationship Type="http://schemas.openxmlformats.org/officeDocument/2006/relationships/slide" Target="/ppt/slides/slide17.xml" Id="R2210179bd85c4e5c" /><Relationship Type="http://schemas.openxmlformats.org/officeDocument/2006/relationships/slide" Target="/ppt/slides/slide18.xml" Id="Rc1b2b7b034be49f1" /><Relationship Type="http://schemas.openxmlformats.org/officeDocument/2006/relationships/slide" Target="/ppt/slides/slide19.xml" Id="R38840a9871c64a4c" /><Relationship Type="http://schemas.openxmlformats.org/officeDocument/2006/relationships/slide" Target="/ppt/slides/slide20.xml" Id="Rca2e7e2e31f24eab" /><Relationship Type="http://schemas.openxmlformats.org/officeDocument/2006/relationships/slide" Target="/ppt/slides/slide21.xml" Id="R64daf855ce2d4338" /><Relationship Type="http://schemas.openxmlformats.org/officeDocument/2006/relationships/slide" Target="/ppt/slides/slide22.xml" Id="R003bed5ffbb04ad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2716e3730ed4ae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7fa455e5c9d47f5" /><Relationship Type="http://schemas.openxmlformats.org/officeDocument/2006/relationships/notesMaster" Target="/ppt/notesMasters/notesMaster1.xml" Id="R2e1a17f5f8e3438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9742d16f6c24580" /><Relationship Type="http://schemas.openxmlformats.org/officeDocument/2006/relationships/notesMaster" Target="/ppt/notesMasters/notesMaster1.xml" Id="R0cf8c73f3ee340e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9b8bc419c334a18" /><Relationship Type="http://schemas.openxmlformats.org/officeDocument/2006/relationships/notesMaster" Target="/ppt/notesMasters/notesMaster1.xml" Id="R11c18dd1d616484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130268c0e704b8d" /><Relationship Type="http://schemas.openxmlformats.org/officeDocument/2006/relationships/notesMaster" Target="/ppt/notesMasters/notesMaster1.xml" Id="R87aaf4dfd5cd4cb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91f050691354d2e" /><Relationship Type="http://schemas.openxmlformats.org/officeDocument/2006/relationships/notesMaster" Target="/ppt/notesMasters/notesMaster1.xml" Id="R3029252d06a64f0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330cbd124ad4979" /><Relationship Type="http://schemas.openxmlformats.org/officeDocument/2006/relationships/notesMaster" Target="/ppt/notesMasters/notesMaster1.xml" Id="R47e38888335e4b6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f32712963b44018" /><Relationship Type="http://schemas.openxmlformats.org/officeDocument/2006/relationships/notesMaster" Target="/ppt/notesMasters/notesMaster1.xml" Id="R0ef8733dedc545c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6b414fc4b2a45dd" /><Relationship Type="http://schemas.openxmlformats.org/officeDocument/2006/relationships/notesMaster" Target="/ppt/notesMasters/notesMaster1.xml" Id="R8e5b3cc827f449e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557da466f17432d" /><Relationship Type="http://schemas.openxmlformats.org/officeDocument/2006/relationships/notesMaster" Target="/ppt/notesMasters/notesMaster1.xml" Id="R2a652942ebac42a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402f0e4545a47bd" /><Relationship Type="http://schemas.openxmlformats.org/officeDocument/2006/relationships/notesMaster" Target="/ppt/notesMasters/notesMaster1.xml" Id="R8f6cdacfb8d4446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fbc7523b84644c6" /><Relationship Type="http://schemas.openxmlformats.org/officeDocument/2006/relationships/notesMaster" Target="/ppt/notesMasters/notesMaster1.xml" Id="R397db30c32434e2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9cfa63d48894d1a" /><Relationship Type="http://schemas.openxmlformats.org/officeDocument/2006/relationships/notesMaster" Target="/ppt/notesMasters/notesMaster1.xml" Id="Rce5b8ca985464bc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e8934e0d81d4bab" /><Relationship Type="http://schemas.openxmlformats.org/officeDocument/2006/relationships/notesMaster" Target="/ppt/notesMasters/notesMaster1.xml" Id="R24eaa40be382498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c7a17036e974360" /><Relationship Type="http://schemas.openxmlformats.org/officeDocument/2006/relationships/notesMaster" Target="/ppt/notesMasters/notesMaster1.xml" Id="R00217e94d57e455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709820fd3e04241" /><Relationship Type="http://schemas.openxmlformats.org/officeDocument/2006/relationships/notesMaster" Target="/ppt/notesMasters/notesMaster1.xml" Id="Rb4650fc47336470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b7669cabf424510" /><Relationship Type="http://schemas.openxmlformats.org/officeDocument/2006/relationships/notesMaster" Target="/ppt/notesMasters/notesMaster1.xml" Id="R797d626f78194ba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c5df6735a534e4c" /><Relationship Type="http://schemas.openxmlformats.org/officeDocument/2006/relationships/notesMaster" Target="/ppt/notesMasters/notesMaster1.xml" Id="Rae4ddf25458f430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b8a095c99e640cc" /><Relationship Type="http://schemas.openxmlformats.org/officeDocument/2006/relationships/notesMaster" Target="/ppt/notesMasters/notesMaster1.xml" Id="R5116e38bb2b9443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4957d51b6d44c60" /><Relationship Type="http://schemas.openxmlformats.org/officeDocument/2006/relationships/notesMaster" Target="/ppt/notesMasters/notesMaster1.xml" Id="R248c04193410413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b02b3a2b153a4df1" /><Relationship Type="http://schemas.openxmlformats.org/officeDocument/2006/relationships/notesMaster" Target="/ppt/notesMasters/notesMaster1.xml" Id="R33bf818ed55844af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256440e361a94e8c" /><Relationship Type="http://schemas.openxmlformats.org/officeDocument/2006/relationships/notesMaster" Target="/ppt/notesMasters/notesMaster1.xml" Id="R9b11431b251444e1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33866e1f59304d00" /><Relationship Type="http://schemas.openxmlformats.org/officeDocument/2006/relationships/notesMaster" Target="/ppt/notesMasters/notesMaster1.xml" Id="R58a163f27bbc4c2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One incident and one Qwen configuration. This is a review of saved runs, not a new run or a production change. V1 evaluated without V2-only evidence. V2 evaluated against prewritten controlled expectations. Research checked online 20 September 2026.</a:t>
            </a:r>
            <a:endParaRPr/>
          </a:p>
          <a:p xmlns:a="http://schemas.openxmlformats.org/drawingml/2006/main">
            <a:r>
              <a:t>Local evidence: /Users/dhwanilchauhan/Desktop/RCA Try 1/Try 6/evals/ia16036-v2-controlled/failure-report-evidence.json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Source: runs[0/1].counts, board, position and findings. Do not infer that zero verified edges alone proves a failure or that V1 had to solve the incident.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Local evidence: /Users/dhwanilchauhan/Desktop/RCA Try 1/Try 6/evals/ia16036-v2-controlled/failure-report-evidence.json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Report: /Users/dhwanilchauhan/Desktop/RCA Try 1/Try 6/evals/v1-v2-presentation-review/output/Try6_V1_V2_Evidence_Review.md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Sources: saved counts. V1 partial/finished and V2 partial/finished. One model: ollama:qwen3.5:latest. V1 elapsed includes pauses and sampling-profile change; do not present a causal runtime improvement. Documents exclude the incident description; questions include baseline.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Local evidence: /Users/dhwanilchauhan/Desktop/RCA Try 1/Try 6/evals/ia16036-v2-controlled/failure-report-evidence.json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Report: /Users/dhwanilchauhan/Desktop/RCA Try 1/Try 6/evals/v1-v2-presentation-review/output/Try6_V1_V2_Evidence_Review.md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V1 source inventory: incident, D01–D03, S01–S03, P01–P03 and C01. P04/P05 withheld until V2. Detailed V1 rubric is retrospective; V2 expectations were prewritten. P02 mapping distinguishes legacy COMP FAULT label from the actual input.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/Users/dhwanilchauhan/Desktop/RCA Try 1/IA-16036 Controlled Evidence Package/07_case_content_inputs/02_model_visible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Local evidence: /Users/dhwanilchauhan/Desktop/RCA Try 1/Try 6/evals/ia16036-v2-controlled/failure-report-evidence.json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Report: /Users/dhwanilchauhan/Desktop/RCA Try 1/Try 6/evals/v1-v2-presentation-review/output/Try6_V1_V2_Evidence_Review.md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Sources: V1 board.nodes. Invalid alarm review f7db8787-5ba9-431d-9129-1f83bed4d96f; invalid RUN review cc9428a7-f9e7-41b4-bb8f-b4c7eefdb736. Both combined entailment with necessary missing premises. The guard correctly rejected the contradictory output.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Local evidence: /Users/dhwanilchauhan/Desktop/RCA Try 1/Try 6/evals/ia16036-v2-controlled/failure-report-evidence.json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Report: /Users/dhwanilchauhan/Desktop/RCA Try 1/Try 6/evals/v1-v2-presentation-review/output/Try6_V1_V2_Evidence_Review.md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All V1 edges shown in saved board. No verification calls completed in V1. Review gates unresolved premises. The loss-to-recovery direction is a reasonable temporal statement, not evidence of the recovery mechanism.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Local evidence: /Users/dhwanilchauhan/Desktop/RCA Try 1/Try 6/evals/ia16036-v2-controlled/failure-report-evidence.json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Report: /Users/dhwanilchauhan/Desktop/RCA Try 1/Try 6/evals/v1-v2-presentation-review/output/Try6_V1_V2_Evidence_Review.md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Finding 22dc870b-4cb9-4384-8d38-f5b2e59bffa5 and V1 summary contain timing error. See P01/P02. The compressor branch remained a hypothesis, not a supported trip conclusion. A rejected V1 review also misread 10:00:11 as a below-threshold time: recorded P-R was 5.8, while low threshold was &lt;4.5.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Local evidence: /Users/dhwanilchauhan/Desktop/RCA Try 1/Try 6/evals/ia16036-v2-controlled/failure-report-evidence.json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Report: /Users/dhwanilchauhan/Desktop/RCA Try 1/Try 6/evals/v1-v2-presentation-review/output/Try6_V1_V2_Evidence_Review.md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V1 position.directions and resolver outputs. Keep genuine gaps; narrow compound requests into known and unknown parts. Do not grade V1 down for not having P04/P05.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Local evidence: /Users/dhwanilchauhan/Desktop/RCA Try 1/Try 6/evals/ia16036-v2-controlled/failure-report-evidence.json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Report: /Users/dhwanilchauhan/Desktop/RCA Try 1/Try 6/evals/v1-v2-presentation-review/output/Try6_V1_V2_Evidence_Review.md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Expected inference: distribution-path interruption becomes a stronger physical hypothesis. Not final proof: a late observation does not establish continuous prior closure; handle position does not establish internal condition; timing uncertain. P05 also records V-201 open about 09:56. Prewritten expectations: /Users/dhwanilchauhan/Desktop/RCA Try 1/Try 6/evals/ia16036-v2-expectations.md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Local evidence: /Users/dhwanilchauhan/Desktop/RCA Try 1/Try 6/evals/ia16036-v2-controlled/failure-report-evidence.json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Report: /Users/dhwanilchauhan/Desktop/RCA Try 1/Try 6/evals/v1-v2-presentation-review/output/Try6_V1_V2_Evidence_Review.md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V2 adds four nodes, retains all five V1 node identities, withdraws one edge and adds three. No verified edges in either version. Compare board/position rather than mere node counts.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Local evidence: /Users/dhwanilchauhan/Desktop/RCA Try 1/Try 6/evals/ia16036-v2-controlled/failure-report-evidence.json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Report: /Users/dhwanilchauhan/Desktop/RCA Try 1/Try 6/evals/v1-v2-presentation-review/output/Try6_V1_V2_Evidence_Review.md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V2 runs[1].findings vs position.selectedFindingIds. Frame trace b0053b1c-3674-425f-86a7-5df44258e742 saw all 154 notebook findings but not original P04. Refine 7f1777d6-e056-4bae-9da9-792e08aadbe9 saw notebook but neither original P04/P05. Resolvers and connection calls did have the originals. Do not say upload failed or context capacity caused the omission.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Local evidence: /Users/dhwanilchauhan/Desktop/RCA Try 1/Try 6/evals/ia16036-v2-controlled/failure-report-evidence.json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Report: /Users/dhwanilchauhan/Desktop/RCA Try 1/Try 6/evals/v1-v2-presentation-review/output/Try6_V1_V2_Evidence_Review.md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AL-44 review 60b7aea1-8d44-45bd-8700-68055befdfdb. Entity error da20381b-14ca-490d-80a1-0207ca1dfe94. Both verifiers partial; neither supported. Code: literal-decision.ts, board/changes.ts, board/projection.ts.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Local evidence: /Users/dhwanilchauhan/Desktop/RCA Try 1/Try 6/evals/ia16036-v2-controlled/failure-report-evidence.json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Report: /Users/dhwanilchauhan/Desktop/RCA Try 1/Try 6/evals/v1-v2-presentation-review/output/Try6_V1_V2_Evidence_Review.md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Question flags in diagnostic export. Projection requires direction or selected reviewTargets. Story selector consumes published analysis questions. Some verifier questions are themselves wrong, so routing must allow correction/rejection, not automatically publish every question. Code: investigation/planner.ts, apply.ts, board/projection.ts, records.ts, story-agent/contracts.ts.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Local evidence: /Users/dhwanilchauhan/Desktop/RCA Try 1/Try 6/evals/ia16036-v2-controlled/failure-report-evidence.json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Report: /Users/dhwanilchauhan/Desktop/RCA Try 1/Try 6/evals/v1-v2-presentation-review/output/Try6_V1_V2_Evidence_Review.md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Code anchors: tasks/executor.ts, investigation/contracts.ts, investigation/apply.ts, review/literal-contract.ts, review/literal-decision.ts, board/changes.ts, board/projection.ts, investigation/planner.ts. Each confirmed against raw outputs and applied state. Proposed changes are not yet implemented.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Local evidence: /Users/dhwanilchauhan/Desktop/RCA Try 1/Try 6/evals/ia16036-v2-controlled/failure-report-evidence.json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Report: /Users/dhwanilchauhan/Desktop/RCA Try 1/Try 6/evals/v1-v2-presentation-review/output/Try6_V1_V2_Evidence_Review.md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Both P04/P05 included in actual story input catalogs. Story round c5bdbc70-37bd-42f3-9acc-00912637f096. Job times approx 24.895s and 22.986s, no retries. P04/P05 were preselected by operator. This tests transport and reviewed partial release, not autonomous discovery or multi-round memory consistency. story-candidate.json and story-review.json.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Local evidence: /Users/dhwanilchauhan/Desktop/RCA Try 1/Try 6/evals/ia16036-v2-controlled/failure-report-evidence.json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Report: /Users/dhwanilchauhan/Desktop/RCA Try 1/Try 6/evals/v1-v2-presentation-review/output/Try6_V1_V2_Evidence_Review.md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Recorded stage durations from runs[1].stageTiming. Premise review 3,614,997 ms / elapsed 4,719,243 ms = 76.6%. Sum task durations approx 78m31s. Global changed-source invalidation is in planner.ts; dependency-sensitive savings have not been measured. Native context 262144, generation -1. 154 findings are not 154 agents. V1 elapsed is not a fair speed baseline.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Local evidence: /Users/dhwanilchauhan/Desktop/RCA Try 1/Try 6/evals/ia16036-v2-controlled/failure-report-evidence.json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Report: /Users/dhwanilchauhan/Desktop/RCA Try 1/Try 6/evals/v1-v2-presentation-review/output/Try6_V1_V2_Evidence_Review.md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Recommendations based on local F01–F10. Not implemented or demonstrated by this report. No fine-tuning or multi-model fallback is needed for the first implementation. Preserve superseded claims historically; do not silently rewrite V1. Related research on the following two slides.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Local evidence: /Users/dhwanilchauhan/Desktop/RCA Try 1/Try 6/evals/ia16036-v2-controlled/failure-report-evidence.json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Report: /Users/dhwanilchauhan/Desktop/RCA Try 1/Try 6/evals/v1-v2-presentation-review/output/Try6_V1_V2_Evidence_Review.md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Sources: https://research.google/pubs/sufficient-context-a-new-lens-on-retrieval-augmented-generation-systems-2/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https://aclanthology.org/2025.acl-long.1089/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https://proceedings.mlr.press/v267/luo25t.html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These are adaptations, not measured fixes. GCR full approach uses a KG-specialized model; we borrow the constraint principle without proposing its full training architecture.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Local evidence: /Users/dhwanilchauhan/Desktop/RCA Try 1/Try 6/evals/ia16036-v2-controlled/failure-report-evidence.json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Report: /Users/dhwanilchauhan/Desktop/RCA Try 1/Try 6/evals/v1-v2-presentation-review/output/Try6_V1_V2_Evidence_Review.md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Sources: https://aclanthology.org/2025.acl-short.73/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https://aclanthology.org/2026.acl-long.912/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https://arxiv.org/abs/2604.02733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Research checked 20 September 2026. No published effect size is claimed as a local gain. DeltaLogic does not establish that anchoring caused this Qwen run. ProgCo evaluated instruction following and math.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Local evidence: /Users/dhwanilchauhan/Desktop/RCA Try 1/Try 6/evals/ia16036-v2-controlled/failure-report-evidence.json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Report: /Users/dhwanilchauhan/Desktop/RCA Try 1/Try 6/evals/v1-v2-presentation-review/output/Try6_V1_V2_Evidence_Review.md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These are proposed acceptance tests, not a report that they already pass. V2 target follows prewritten expectations. Do not force a supported edge; permit a justified qualified hypothesis or evidence-based explanation of why it remains unsupported.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Local evidence: /Users/dhwanilchauhan/Desktop/RCA Try 1/Try 6/evals/ia16036-v2-controlled/failure-report-evidence.json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Report: /Users/dhwanilchauhan/Desktop/RCA Try 1/Try 6/evals/v1-v2-presentation-review/output/Try6_V1_V2_Evidence_Review.md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One case/model configuration. V1 recovered under changed execution behavior. Suggestions not implemented. All app data and prior versions remain unchanged. Detailed trace index and source links in accompanying report.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Local evidence: /Users/dhwanilchauhan/Desktop/RCA Try 1/Try 6/evals/ia16036-v2-controlled/failure-report-evidence.json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Report: /Users/dhwanilchauhan/Desktop/RCA Try 1/Try 6/evals/v1-v2-presentation-review/output/Try6_V1_V2_Evidence_Review.md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Incident 9660f4f2-5fc0-4d0a-917e-8e48641956e3; V1 a20904da-8710-40df-8d58-fec78f451f2a; V2 3d44374c-888e-465a-8870-99d11eaa8c12. Digest 6488c96fa5faab64bb65cbd30d4289e20e6130ef535a93ef9a49f42eda893ea7. Live dashboard if app running: http://127.0.0.1:3016/incident/9660f4f2-5fc0-4d0a-917e-8e48641956e3. No model run or application mutation during this review.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Local evidence: /Users/dhwanilchauhan/Desktop/RCA Try 1/Try 6/evals/ia16036-v2-controlled/failure-report-evidence.json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Report: /Users/dhwanilchauhan/Desktop/RCA Try 1/Try 6/evals/v1-v2-presentation-review/output/Try6_V1_V2_Evidence_Review.md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218faf6a2d4d1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6bf782194e48d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a48df084584fa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7bf57aadad4a2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bb535fa10841a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b9b66c18b44d45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b4e1976c0d49c3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1c78734e114c9e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fe275f1e08947a1" /><Relationship Type="http://schemas.openxmlformats.org/officeDocument/2006/relationships/slideLayout" Target="/ppt/slideLayouts/slideLayout1.xml" Id="Rc802bc1bf30a43f4" /><Relationship Type="http://schemas.openxmlformats.org/officeDocument/2006/relationships/slideLayout" Target="/ppt/slideLayouts/slideLayout2.xml" Id="Rc1f0a285f4134b63" /><Relationship Type="http://schemas.openxmlformats.org/officeDocument/2006/relationships/slideLayout" Target="/ppt/slideLayouts/slideLayout3.xml" Id="Rbc1eb91ab1cb4494" /><Relationship Type="http://schemas.openxmlformats.org/officeDocument/2006/relationships/slideLayout" Target="/ppt/slideLayouts/slideLayout4.xml" Id="Rfeb4976c30374e25" /><Relationship Type="http://schemas.openxmlformats.org/officeDocument/2006/relationships/slideLayout" Target="/ppt/slideLayouts/slideLayout5.xml" Id="Re43e8021015b4ec9" /><Relationship Type="http://schemas.openxmlformats.org/officeDocument/2006/relationships/slideLayout" Target="/ppt/slideLayouts/slideLayout6.xml" Id="Re23a4dc0c1c94db7" /><Relationship Type="http://schemas.openxmlformats.org/officeDocument/2006/relationships/slideLayout" Target="/ppt/slideLayouts/slideLayout7.xml" Id="Rf2bf125d3ad440fb" /><Relationship Type="http://schemas.openxmlformats.org/officeDocument/2006/relationships/slideLayout" Target="/ppt/slideLayouts/slideLayout8.xml" Id="R475f8111884340ba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802bc1bf30a43f4"/>
    <p:sldLayoutId xmlns:r="http://schemas.openxmlformats.org/officeDocument/2006/relationships" id="2147483650" r:id="Rc1f0a285f4134b63"/>
    <p:sldLayoutId xmlns:r="http://schemas.openxmlformats.org/officeDocument/2006/relationships" id="2147483651" r:id="Rbc1eb91ab1cb4494"/>
    <p:sldLayoutId xmlns:r="http://schemas.openxmlformats.org/officeDocument/2006/relationships" id="2147483652" r:id="Rfeb4976c30374e25"/>
    <p:sldLayoutId xmlns:r="http://schemas.openxmlformats.org/officeDocument/2006/relationships" id="2147483653" r:id="Re43e8021015b4ec9"/>
    <p:sldLayoutId xmlns:r="http://schemas.openxmlformats.org/officeDocument/2006/relationships" id="2147483654" r:id="Re23a4dc0c1c94db7"/>
    <p:sldLayoutId xmlns:r="http://schemas.openxmlformats.org/officeDocument/2006/relationships" id="2147483655" r:id="Rf2bf125d3ad440fb"/>
    <p:sldLayoutId xmlns:r="http://schemas.openxmlformats.org/officeDocument/2006/relationships" id="2147483656" r:id="R475f8111884340ba"/>
  </p:sldLayoutIdLst>
  <p:hf hd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29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xmlns:a="http://schemas.openxmlformats.org/drawingml/2006/main" val="F26B43"/>
          </p15:clr>
        </p15:guide>
        <p15:guide id="2" pos="7680" userDrawn="1">
          <p15:clr>
            <a:srgbClr xmlns:a="http://schemas.openxmlformats.org/drawingml/2006/main" val="F26B43"/>
          </p15:clr>
        </p15:guide>
        <p15:guide id="3" pos="248" userDrawn="1">
          <p15:clr>
            <a:srgbClr xmlns:a="http://schemas.openxmlformats.org/drawingml/2006/main" val="F26B43"/>
          </p15:clr>
        </p15:guide>
        <p15:guide id="4" pos="1264" userDrawn="1">
          <p15:clr>
            <a:srgbClr xmlns:a="http://schemas.openxmlformats.org/drawingml/2006/main" val="F26B43"/>
          </p15:clr>
        </p15:guide>
        <p15:guide id="5" pos="1480" userDrawn="1">
          <p15:clr>
            <a:srgbClr xmlns:a="http://schemas.openxmlformats.org/drawingml/2006/main" val="F26B43"/>
          </p15:clr>
        </p15:guide>
        <p15:guide id="6" pos="2496" userDrawn="1">
          <p15:clr>
            <a:srgbClr xmlns:a="http://schemas.openxmlformats.org/drawingml/2006/main" val="F26B43"/>
          </p15:clr>
        </p15:guide>
        <p15:guide id="7" pos="2712" userDrawn="1">
          <p15:clr>
            <a:srgbClr xmlns:a="http://schemas.openxmlformats.org/drawingml/2006/main" val="F26B43"/>
          </p15:clr>
        </p15:guide>
        <p15:guide id="8" pos="3736" userDrawn="1">
          <p15:clr>
            <a:srgbClr xmlns:a="http://schemas.openxmlformats.org/drawingml/2006/main" val="F26B43"/>
          </p15:clr>
        </p15:guide>
        <p15:guide id="9" pos="3944" userDrawn="1">
          <p15:clr>
            <a:srgbClr xmlns:a="http://schemas.openxmlformats.org/drawingml/2006/main" val="F26B43"/>
          </p15:clr>
        </p15:guide>
        <p15:guide id="10" pos="4968" userDrawn="1">
          <p15:clr>
            <a:srgbClr xmlns:a="http://schemas.openxmlformats.org/drawingml/2006/main" val="F26B43"/>
          </p15:clr>
        </p15:guide>
        <p15:guide id="11" pos="5184" userDrawn="1">
          <p15:clr>
            <a:srgbClr xmlns:a="http://schemas.openxmlformats.org/drawingml/2006/main" val="F26B43"/>
          </p15:clr>
        </p15:guide>
        <p15:guide id="12" pos="6200" userDrawn="1">
          <p15:clr>
            <a:srgbClr xmlns:a="http://schemas.openxmlformats.org/drawingml/2006/main" val="F26B43"/>
          </p15:clr>
        </p15:guide>
        <p15:guide id="13" pos="6416" userDrawn="1">
          <p15:clr>
            <a:srgbClr xmlns:a="http://schemas.openxmlformats.org/drawingml/2006/main" val="F26B43"/>
          </p15:clr>
        </p15:guide>
        <p15:guide id="14" pos="7432" userDrawn="1">
          <p15:clr>
            <a:srgbClr xmlns:a="http://schemas.openxmlformats.org/drawingml/2006/main" val="F26B43"/>
          </p15:clr>
        </p15:guide>
        <p15:guide id="15" orient="horz" userDrawn="1">
          <p15:clr>
            <a:srgbClr xmlns:a="http://schemas.openxmlformats.org/drawingml/2006/main" val="F26B43"/>
          </p15:clr>
        </p15:guide>
        <p15:guide id="17" orient="horz" pos="248" userDrawn="1">
          <p15:clr>
            <a:srgbClr xmlns:a="http://schemas.openxmlformats.org/drawingml/2006/main" val="F26B43"/>
          </p15:clr>
        </p15:guide>
        <p15:guide id="18" orient="horz" pos="656" userDrawn="1">
          <p15:clr>
            <a:srgbClr xmlns:a="http://schemas.openxmlformats.org/drawingml/2006/main" val="F26B43"/>
          </p15:clr>
        </p15:guide>
        <p15:guide id="19" orient="horz" pos="872" userDrawn="1">
          <p15:clr>
            <a:srgbClr xmlns:a="http://schemas.openxmlformats.org/drawingml/2006/main" val="F26B43"/>
          </p15:clr>
        </p15:guide>
        <p15:guide id="20" orient="horz" pos="1280" userDrawn="1">
          <p15:clr>
            <a:srgbClr xmlns:a="http://schemas.openxmlformats.org/drawingml/2006/main" val="F26B43"/>
          </p15:clr>
        </p15:guide>
        <p15:guide id="21" orient="horz" pos="1496" userDrawn="1">
          <p15:clr>
            <a:srgbClr xmlns:a="http://schemas.openxmlformats.org/drawingml/2006/main" val="F26B43"/>
          </p15:clr>
        </p15:guide>
        <p15:guide id="22" orient="horz" pos="1904" userDrawn="1">
          <p15:clr>
            <a:srgbClr xmlns:a="http://schemas.openxmlformats.org/drawingml/2006/main" val="F26B43"/>
          </p15:clr>
        </p15:guide>
        <p15:guide id="23" orient="horz" pos="2120" userDrawn="1">
          <p15:clr>
            <a:srgbClr xmlns:a="http://schemas.openxmlformats.org/drawingml/2006/main" val="F26B43"/>
          </p15:clr>
        </p15:guide>
        <p15:guide id="24" orient="horz" pos="2528" userDrawn="1">
          <p15:clr>
            <a:srgbClr xmlns:a="http://schemas.openxmlformats.org/drawingml/2006/main" val="F26B43"/>
          </p15:clr>
        </p15:guide>
        <p15:guide id="25" orient="horz" pos="2744" userDrawn="1">
          <p15:clr>
            <a:srgbClr xmlns:a="http://schemas.openxmlformats.org/drawingml/2006/main" val="F26B43"/>
          </p15:clr>
        </p15:guide>
        <p15:guide id="26" orient="horz" pos="3152" userDrawn="1">
          <p15:clr>
            <a:srgbClr xmlns:a="http://schemas.openxmlformats.org/drawingml/2006/main" val="F26B43"/>
          </p15:clr>
        </p15:guide>
        <p15:guide id="27" orient="horz" pos="3368" userDrawn="1">
          <p15:clr>
            <a:srgbClr xmlns:a="http://schemas.openxmlformats.org/drawingml/2006/main" val="F26B43"/>
          </p15:clr>
        </p15:guide>
        <p15:guide id="28" orient="horz" pos="3776" userDrawn="1">
          <p15:clr>
            <a:srgbClr xmlns:a="http://schemas.openxmlformats.org/drawingml/2006/main" val="F26B43"/>
          </p15:clr>
        </p15:guide>
        <p15:guide id="29" orient="horz" pos="4088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697ba2f4bd4a4e" /><Relationship Type="http://schemas.openxmlformats.org/officeDocument/2006/relationships/notesSlide" Target="/ppt/notesSlides/notesSlide1.xml" Id="R1129dff7ab8248f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dd0930cb334ddd" /><Relationship Type="http://schemas.openxmlformats.org/officeDocument/2006/relationships/notesSlide" Target="/ppt/notesSlides/notesSlide2.xml" Id="Rf6e6ed96ecd046f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a7daaf0403a4b61" /><Relationship Type="http://schemas.openxmlformats.org/officeDocument/2006/relationships/notesSlide" Target="/ppt/notesSlides/notesSlide3.xml" Id="R6cbc26fe04e440d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fd33d714f054682" /><Relationship Type="http://schemas.openxmlformats.org/officeDocument/2006/relationships/notesSlide" Target="/ppt/notesSlides/notesSlide4.xml" Id="R997ef8551ec84e7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b989570b34648f6" /><Relationship Type="http://schemas.openxmlformats.org/officeDocument/2006/relationships/notesSlide" Target="/ppt/notesSlides/notesSlide5.xml" Id="R389d16732664413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cd8dba2b74b4871" /><Relationship Type="http://schemas.openxmlformats.org/officeDocument/2006/relationships/notesSlide" Target="/ppt/notesSlides/notesSlide6.xml" Id="Rbd525c4b58884c4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5e987f88d454db3" /><Relationship Type="http://schemas.openxmlformats.org/officeDocument/2006/relationships/notesSlide" Target="/ppt/notesSlides/notesSlide7.xml" Id="R93bfbdaae934425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f33495b5aa34e28" /><Relationship Type="http://schemas.openxmlformats.org/officeDocument/2006/relationships/notesSlide" Target="/ppt/notesSlides/notesSlide8.xml" Id="Rd97a8750a258423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c09f2e65d824acf" /><Relationship Type="http://schemas.openxmlformats.org/officeDocument/2006/relationships/notesSlide" Target="/ppt/notesSlides/notesSlide9.xml" Id="R6bfe0bcdcebd41e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4828d8388c34fb7" /><Relationship Type="http://schemas.openxmlformats.org/officeDocument/2006/relationships/notesSlide" Target="/ppt/notesSlides/notesSlide10.xml" Id="Rdefa15de97744f5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5fda18f1804e8d" /><Relationship Type="http://schemas.openxmlformats.org/officeDocument/2006/relationships/notesSlide" Target="/ppt/notesSlides/notesSlide11.xml" Id="R9983389ee10d4c4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0570739d8bf40d2" /><Relationship Type="http://schemas.openxmlformats.org/officeDocument/2006/relationships/notesSlide" Target="/ppt/notesSlides/notesSlide12.xml" Id="R5a9833c0c6f54ca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1835f67e61d4eaf" /><Relationship Type="http://schemas.openxmlformats.org/officeDocument/2006/relationships/notesSlide" Target="/ppt/notesSlides/notesSlide13.xml" Id="R40dba9f6374d4eb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da719fe0634dba" /><Relationship Type="http://schemas.openxmlformats.org/officeDocument/2006/relationships/notesSlide" Target="/ppt/notesSlides/notesSlide14.xml" Id="R82ce22556ff64d7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ad2f540aa294c35" /><Relationship Type="http://schemas.openxmlformats.org/officeDocument/2006/relationships/notesSlide" Target="/ppt/notesSlides/notesSlide15.xml" Id="Rcf6ecdac95ea40a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7c662555faf47a4" /><Relationship Type="http://schemas.openxmlformats.org/officeDocument/2006/relationships/chart" Target="/ppt/slides/charts/chart1.xml" Id="R15a709bf23db43ee" /><Relationship Type="http://schemas.openxmlformats.org/officeDocument/2006/relationships/notesSlide" Target="/ppt/notesSlides/notesSlide16.xml" Id="R27de90935a46421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beffd8444374b5d" /><Relationship Type="http://schemas.openxmlformats.org/officeDocument/2006/relationships/notesSlide" Target="/ppt/notesSlides/notesSlide17.xml" Id="Rbbf2273cef27447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eb01f7c8494e5a" /><Relationship Type="http://schemas.openxmlformats.org/officeDocument/2006/relationships/notesSlide" Target="/ppt/notesSlides/notesSlide18.xml" Id="Rc1229c14c4ff4d4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5c4def1f07745e5" /><Relationship Type="http://schemas.openxmlformats.org/officeDocument/2006/relationships/notesSlide" Target="/ppt/notesSlides/notesSlide19.xml" Id="R6ffafe579a5d416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657fa6109bd4fc9" /><Relationship Type="http://schemas.openxmlformats.org/officeDocument/2006/relationships/notesSlide" Target="/ppt/notesSlides/notesSlide20.xml" Id="R96653e59c146431f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7ac67b9f93c41e1" /><Relationship Type="http://schemas.openxmlformats.org/officeDocument/2006/relationships/notesSlide" Target="/ppt/notesSlides/notesSlide21.xml" Id="R38ef220d89fa4de3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dfcbbfaa08046d1" /><Relationship Type="http://schemas.openxmlformats.org/officeDocument/2006/relationships/notesSlide" Target="/ppt/notesSlides/notesSlide22.xml" Id="R1d8c6978835843b9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>
                <a:latin typeface="Helvetica Neue"/>
                <a:ea typeface="Helvetica Neue"/>
                <a:cs typeface="Helvetica Neue"/>
              </a:rPr>
              <a:t>Recorded V2 task time (minutes)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>
              <a:latin typeface="Helvetica Neue"/>
              <a:ea typeface="Helvetica Neue"/>
              <a:cs typeface="Helvetica Neue"/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Minutes</c:v>
          </c:tx>
          <c:spPr>
            <a:solidFill xmlns:a="http://schemas.openxmlformats.org/drawingml/2006/main">
              <a:srgbClr val="222222"/>
            </a:solidFill>
          </c:spPr>
          <c:cat>
            <c:strRef>
              <c:f>'Chart Data'!$A$2:$A$7</c:f>
              <c:strCache>
                <c:ptCount val="6"/>
                <c:pt idx="0">
                  <c:v>Read</c:v>
                </c:pt>
                <c:pt idx="1">
                  <c:v>Frame + refine</c:v>
                </c:pt>
                <c:pt idx="2">
                  <c:v>Connect</c:v>
                </c:pt>
                <c:pt idx="3">
                  <c:v>Resolve</c:v>
                </c:pt>
                <c:pt idx="4">
                  <c:v>Review premises</c:v>
                </c:pt>
                <c:pt idx="5">
                  <c:v>Verify links</c:v>
                </c:pt>
              </c:strCache>
            </c:strRef>
          </c:cat>
          <c:val>
            <c:numRef>
              <c:f>'Chart Data'!$B$2:$B$7</c:f>
              <c:numCache>
                <c:formatCode>0</c:formatCode>
                <c:ptCount val="6"/>
                <c:pt idx="0">
                  <c:v>4.21</c:v>
                </c:pt>
                <c:pt idx="1">
                  <c:v>5.26</c:v>
                </c:pt>
                <c:pt idx="2">
                  <c:v>3.35</c:v>
                </c:pt>
                <c:pt idx="3">
                  <c:v>4.28</c:v>
                </c:pt>
                <c:pt idx="4">
                  <c:v>60.25</c:v>
                </c:pt>
                <c:pt idx="5">
                  <c:v>1.17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solidFill>
                    <a:srgbClr val="222222"/>
                  </a:solidFill>
                  <a:latin typeface="Helvetica Neue"/>
                  <a:ea typeface="Helvetica Neue"/>
                  <a:cs typeface="Helvetica Neue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C47CD47D-0812-5F5E-8AA0-B4316F994F4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400050" y="1752600"/>
            <a:ext cx="11239500" cy="271462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615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615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RCA evidence review</a:t>
            </a:r>
          </a:p>
          <a:p xmlns:a="http://schemas.openxmlformats.org/drawingml/2006/main">
            <a:pPr>
              <a:defRPr sz="615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615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V1 → V2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283B85AD-626B-46B7-0C36-31F5BABDE10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00050" y="4914900"/>
            <a:ext cx="10572750" cy="1143000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17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What we expected. What happened.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217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What is proven—and what must change.</a:t>
            </a:r>
          </a:p>
        </p:txBody>
      </p:sp>
      <p:sp>
        <p:nvSpPr>
          <p:cNvPr id="6" name="Subtitle 4">
            <a:extLst xmlns:a="http://schemas.openxmlformats.org/drawingml/2006/main">
              <a:ext uri="{FF2B5EF4-FFF2-40B4-BE49-F238E27FC236}">
                <a16:creationId xmlns:a16="http://schemas.microsoft.com/office/drawing/2014/main" id="{543BAB87-2ABE-9D84-8400-3B5ABA08B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392241"/>
            <a:ext cx="5702300" cy="6491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TRY 6  /  IA-16036  /  20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325878331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0050" y="6438900"/>
            <a:ext cx="9048750" cy="209550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TRY 6 / EVIDENCE REVIEW / 20 SEPTEMBER 2026</a:t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fld id="{E2598689-54C9-18A7-3A19-ED76AA08988F}" type="slidenum">
              <a: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2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33375"/>
            <a:ext cx="11391900" cy="95250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Two versions finished; causal progress remains insufficient</a:t>
            </a:r>
          </a:p>
        </p:txBody>
      </p:sp>
      <p:sp>
        <p:nvSpPr>
          <p:cNvPr id="534" name="Review text">
            <a:extLst xmlns:a="http://schemas.openxmlformats.org/drawingml/2006/main">
              <a:ext uri="{FF2B5EF4-FFF2-40B4-BE49-F238E27FC236}">
                <a16:creationId xmlns:a16="http://schemas.microsoft.com/office/drawing/2014/main" id="{CE7AE8E1-970D-4474-983E-5167AFD04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Completion, statement support and causal validity are different outcomes.</a:t>
            </a:r>
          </a:p>
        </p:txBody>
      </p:sp>
      <p:sp>
        <p:nvSpPr>
          <p:cNvPr id="535" name="Review text">
            <a:extLst xmlns:a="http://schemas.openxmlformats.org/drawingml/2006/main">
              <a:ext uri="{FF2B5EF4-FFF2-40B4-BE49-F238E27FC236}">
                <a16:creationId xmlns:a16="http://schemas.microsoft.com/office/drawing/2014/main" id="{4BBD79D4-5D6A-47EA-AF05-E89B43F4D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0"/>
            <a:ext cx="349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What worked</a:t>
            </a:r>
          </a:p>
        </p:txBody>
      </p:sp>
      <p:sp>
        <p:nvSpPr>
          <p:cNvPr id="536" name="Review text">
            <a:extLst xmlns:a="http://schemas.openxmlformats.org/drawingml/2006/main">
              <a:ext uri="{FF2B5EF4-FFF2-40B4-BE49-F238E27FC236}">
                <a16:creationId xmlns:a16="http://schemas.microsoft.com/office/drawing/2014/main" id="{A36B11CD-8924-4649-9923-8BE1EEE74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52750"/>
            <a:ext cx="349250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Both snapshots preserved.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New records read; relevant facts extracted.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More individual statements supported in V2.</a:t>
            </a:r>
          </a:p>
        </p:txBody>
      </p:sp>
      <p:sp>
        <p:nvSpPr>
          <p:cNvPr id="537" name="Review text">
            <a:extLst xmlns:a="http://schemas.openxmlformats.org/drawingml/2006/main">
              <a:ext uri="{FF2B5EF4-FFF2-40B4-BE49-F238E27FC236}">
                <a16:creationId xmlns:a16="http://schemas.microsoft.com/office/drawing/2014/main" id="{7CFF33DE-F3C0-43FF-A698-E2A67BBE0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9750" y="2190750"/>
            <a:ext cx="349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What did not</a:t>
            </a:r>
          </a:p>
        </p:txBody>
      </p:sp>
      <p:sp>
        <p:nvSpPr>
          <p:cNvPr id="538" name="Review text">
            <a:extLst xmlns:a="http://schemas.openxmlformats.org/drawingml/2006/main">
              <a:ext uri="{FF2B5EF4-FFF2-40B4-BE49-F238E27FC236}">
                <a16:creationId xmlns:a16="http://schemas.microsoft.com/office/drawing/2014/main" id="{A2D66E46-11AF-44B4-9BF8-3179CDE46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9750" y="2952750"/>
            <a:ext cx="349250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The expected route-and-valve mechanism was not assembled.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Old errors and evidence gaps survived.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No connection became verified.</a:t>
            </a:r>
          </a:p>
        </p:txBody>
      </p:sp>
      <p:sp>
        <p:nvSpPr>
          <p:cNvPr id="539" name="Review text">
            <a:extLst xmlns:a="http://schemas.openxmlformats.org/drawingml/2006/main">
              <a:ext uri="{FF2B5EF4-FFF2-40B4-BE49-F238E27FC236}">
                <a16:creationId xmlns:a16="http://schemas.microsoft.com/office/drawing/2014/main" id="{B9897977-C9A0-4315-83CB-B4AAC1F5B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9450" y="2190750"/>
            <a:ext cx="349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What we can prove</a:t>
            </a:r>
          </a:p>
        </p:txBody>
      </p:sp>
      <p:sp>
        <p:nvSpPr>
          <p:cNvPr id="540" name="Review text">
            <a:extLst xmlns:a="http://schemas.openxmlformats.org/drawingml/2006/main">
              <a:ext uri="{FF2B5EF4-FFF2-40B4-BE49-F238E27FC236}">
                <a16:creationId xmlns:a16="http://schemas.microsoft.com/office/drawing/2014/main" id="{7C0F2874-C0CB-492C-988D-0134C68C2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9450" y="2952750"/>
            <a:ext cx="349250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Specific contract, review and handoff defects.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Source/output mismatches.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Not the model’s internal reason for every mistake.</a:t>
            </a:r>
          </a:p>
        </p:txBody>
      </p:sp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0050" y="6438900"/>
            <a:ext cx="9048750" cy="209550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TRY 6 / EVIDENCE REVIEW / 20 SEPTEMBER 2026</a:t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fld id="{202359C0-8A7A-196E-DD58-8E6569619F09}" type="slidenum">
              <a: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3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33375"/>
            <a:ext cx="11391900" cy="95250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What was actually tested</a:t>
            </a:r>
          </a:p>
        </p:txBody>
      </p:sp>
      <p:sp>
        <p:nvSpPr>
          <p:cNvPr id="534" name="Review text">
            <a:extLst xmlns:a="http://schemas.openxmlformats.org/drawingml/2006/main">
              <a:ext uri="{FF2B5EF4-FFF2-40B4-BE49-F238E27FC236}">
                <a16:creationId xmlns:a16="http://schemas.microsoft.com/office/drawing/2014/main" id="{9CDD951D-3B67-4F10-BE45-AD5FEB394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Same model digest; V2 adds two records and one reviewed answer. V1 required mid-run engineering recovery.</a:t>
            </a:r>
          </a:p>
        </p:txBody>
      </p:sp>
      <p:graphicFrame>
        <p:nvGraphicFramePr>
          <p:cNvPr id="540" name=""/>
          <p:cNvGraphicFramePr/>
          <p:nvPr/>
        </p:nvGraphicFramePr>
        <p:xfrm>
          <a:off xmlns:a="http://schemas.openxmlformats.org/drawingml/2006/main" x="400050" y="1952625"/>
          <a:ext xmlns:a="http://schemas.openxmlformats.org/drawingml/2006/main" cx="11391900" cy="41910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6191250"/>
                <a:gridCol w="2600325"/>
                <a:gridCol w="2600325"/>
              </a:tblGrid>
              <a:tr h="4191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Measure</a:t>
                      </a:r>
                    </a:p>
                  </a:txBody>
                  <a:tcPr marL="95250" marR="114300" marT="47625" marB="47625" anchor="t">
                    <a:solidFill>
                      <a:srgbClr val="F1F1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V1</a:t>
                      </a:r>
                    </a:p>
                  </a:txBody>
                  <a:tcPr marL="95250" marR="114300" marT="47625" marB="47625" anchor="t">
                    <a:solidFill>
                      <a:srgbClr val="F1F1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V2</a:t>
                      </a:r>
                    </a:p>
                  </a:txBody>
                  <a:tcPr marL="95250" marR="114300" marT="47625" marB="47625" anchor="t">
                    <a:solidFill>
                      <a:srgbClr val="F1F1F1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Uploaded documents / storyteller answers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10 / 0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12 / 1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Notebook findings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100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154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Board nodes / active connections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 / 4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 / 6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Supported non-focal nodes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Verified connections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Published questions, including baseline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11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0050" y="6438900"/>
            <a:ext cx="9048750" cy="209550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TRY 6 / EVIDENCE REVIEW / 20 SEPTEMBER 2026</a:t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fld id="{EFD6AB9A-5F9E-5F59-51AB-3C8734130965}" type="slidenum">
              <a: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4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33375"/>
            <a:ext cx="11391900" cy="95250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V1 was expected to be provisional—not complete</a:t>
            </a:r>
          </a:p>
        </p:txBody>
      </p:sp>
      <p:sp>
        <p:nvSpPr>
          <p:cNvPr id="534" name="Review text">
            <a:extLst xmlns:a="http://schemas.openxmlformats.org/drawingml/2006/main">
              <a:ext uri="{FF2B5EF4-FFF2-40B4-BE49-F238E27FC236}">
                <a16:creationId xmlns:a16="http://schemas.microsoft.com/office/drawing/2014/main" id="{07FB3554-2109-47EE-906E-49555B8F8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V1 assessment uses only the documents available to V1.</a:t>
            </a:r>
          </a:p>
        </p:txBody>
      </p:sp>
      <p:sp>
        <p:nvSpPr>
          <p:cNvPr id="535" name="Review text">
            <a:extLst xmlns:a="http://schemas.openxmlformats.org/drawingml/2006/main">
              <a:ext uri="{FF2B5EF4-FFF2-40B4-BE49-F238E27FC236}">
                <a16:creationId xmlns:a16="http://schemas.microsoft.com/office/drawing/2014/main" id="{E37F92CD-7991-47CB-9BFA-CBCCC2C6F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0"/>
            <a:ext cx="5467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What it should establish</a:t>
            </a:r>
          </a:p>
        </p:txBody>
      </p:sp>
      <p:sp>
        <p:nvSpPr>
          <p:cNvPr id="536" name="Review text">
            <a:extLst xmlns:a="http://schemas.openxmlformats.org/drawingml/2006/main">
              <a:ext uri="{FF2B5EF4-FFF2-40B4-BE49-F238E27FC236}">
                <a16:creationId xmlns:a16="http://schemas.microsoft.com/office/drawing/2014/main" id="{1C4153BD-264F-4954-9CFF-B7E184D9B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52750"/>
            <a:ext cx="546735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Accurate pressure/alarm chronology.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RUN indication ≠ measured flow.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AL-44 is a P-R low-pressure signal, despite its legacy label.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An internally consistent preliminary board.</a:t>
            </a:r>
          </a:p>
        </p:txBody>
      </p:sp>
      <p:sp>
        <p:nvSpPr>
          <p:cNvPr id="537" name="Review text">
            <a:extLst xmlns:a="http://schemas.openxmlformats.org/drawingml/2006/main">
              <a:ext uri="{FF2B5EF4-FFF2-40B4-BE49-F238E27FC236}">
                <a16:creationId xmlns:a16="http://schemas.microsoft.com/office/drawing/2014/main" id="{0585F163-CFFD-4182-AC82-12FC1A8F2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90750"/>
            <a:ext cx="5467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What should remain open</a:t>
            </a:r>
          </a:p>
        </p:txBody>
      </p:sp>
      <p:sp>
        <p:nvSpPr>
          <p:cNvPr id="538" name="Review text">
            <a:extLst xmlns:a="http://schemas.openxmlformats.org/drawingml/2006/main">
              <a:ext uri="{FF2B5EF4-FFF2-40B4-BE49-F238E27FC236}">
                <a16:creationId xmlns:a16="http://schemas.microsoft.com/office/drawing/2014/main" id="{631E5357-F7D2-48A2-95F6-3C9B4D4C0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952750"/>
            <a:ext cx="546735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Actual piping connectivity.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Incident-time valve actions.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Actual briefing content.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Physical and organizational causes not yet established.</a:t>
            </a:r>
          </a:p>
        </p:txBody>
      </p:sp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0050" y="6438900"/>
            <a:ext cx="9048750" cy="209550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TRY 6 / EVIDENCE REVIEW / 20 SEPTEMBER 2026</a:t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fld id="{EE5B3003-2C54-13C6-9832-7637201064DE}" type="slidenum">
              <a: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5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33375"/>
            <a:ext cx="11391900" cy="95250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V1: all five nodes reviewed</a:t>
            </a:r>
          </a:p>
        </p:txBody>
      </p:sp>
      <p:sp>
        <p:nvSpPr>
          <p:cNvPr id="534" name="Review text">
            <a:extLst xmlns:a="http://schemas.openxmlformats.org/drawingml/2006/main">
              <a:ext uri="{FF2B5EF4-FFF2-40B4-BE49-F238E27FC236}">
                <a16:creationId xmlns:a16="http://schemas.microsoft.com/office/drawing/2014/main" id="{5299A0E6-56B2-4195-90E9-A4789BB1D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A supported observation does not automatically have a valid causal role.</a:t>
            </a:r>
          </a:p>
        </p:txBody>
      </p:sp>
      <p:graphicFrame>
        <p:nvGraphicFramePr>
          <p:cNvPr id="540" name=""/>
          <p:cNvGraphicFramePr/>
          <p:nvPr/>
        </p:nvGraphicFramePr>
        <p:xfrm>
          <a:off xmlns:a="http://schemas.openxmlformats.org/drawingml/2006/main" x="400050" y="1952625"/>
          <a:ext xmlns:a="http://schemas.openxmlformats.org/drawingml/2006/main" cx="11391900" cy="41910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524250"/>
                <a:gridCol w="2524125"/>
                <a:gridCol w="5343525"/>
              </a:tblGrid>
              <a:tr h="4191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Node</a:t>
                      </a:r>
                    </a:p>
                  </a:txBody>
                  <a:tcPr marL="95250" marR="114300" marT="47625" marB="47625" anchor="t">
                    <a:solidFill>
                      <a:srgbClr val="F1F1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V1 status / role</a:t>
                      </a:r>
                    </a:p>
                  </a:txBody>
                  <a:tcPr marL="95250" marR="114300" marT="47625" marB="47625" anchor="t">
                    <a:solidFill>
                      <a:srgbClr val="F1F1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Assessment</a:t>
                      </a:r>
                    </a:p>
                  </a:txBody>
                  <a:tcPr marL="95250" marR="114300" marT="47625" marB="47625" anchor="t">
                    <a:solidFill>
                      <a:srgbClr val="F1F1F1"/>
                    </a:solidFill>
                  </a:tcPr>
                </a:tc>
              </a:tr>
              <a:tr h="75438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Pressure-loss focal event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Proposed / focal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Useful incident anchor; not a root cause.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Reported event around 10:00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Partial / event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Directly reported; extra Turn-2 corroboration is a different question.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AL-44 timestamps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Proposed / event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Present in P01; reviewer output was internally inconsistent.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Return to normal band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Supported / condition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Grounded; numerical recovery is also in P01.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C-11 RUN = 1 at samples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Proposed / barrier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Sampled fact is grounded; protective function is not established.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0050" y="6438900"/>
            <a:ext cx="9048750" cy="209550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TRY 6 / EVIDENCE REVIEW / 20 SEPTEMBER 2026</a:t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fld id="{8C630A04-5A25-9E0C-9436-126091DB86B3}" type="slidenum">
              <a: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6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33375"/>
            <a:ext cx="11391900" cy="95250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V1: all four connections reviewed</a:t>
            </a:r>
          </a:p>
        </p:txBody>
      </p:sp>
      <p:sp>
        <p:nvSpPr>
          <p:cNvPr id="534" name="Review text">
            <a:extLst xmlns:a="http://schemas.openxmlformats.org/drawingml/2006/main">
              <a:ext uri="{FF2B5EF4-FFF2-40B4-BE49-F238E27FC236}">
                <a16:creationId xmlns:a16="http://schemas.microsoft.com/office/drawing/2014/main" id="{76472EDB-F0D4-4967-BB55-7B1BE79D7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Unknown status is permissible. Wrong direction and unsupported roles are not useful uncertainty.</a:t>
            </a:r>
          </a:p>
        </p:txBody>
      </p:sp>
      <p:graphicFrame>
        <p:nvGraphicFramePr>
          <p:cNvPr id="540" name=""/>
          <p:cNvGraphicFramePr/>
          <p:nvPr/>
        </p:nvGraphicFramePr>
        <p:xfrm>
          <a:off xmlns:a="http://schemas.openxmlformats.org/drawingml/2006/main" x="400050" y="1952625"/>
          <a:ext xmlns:a="http://schemas.openxmlformats.org/drawingml/2006/main" cx="11391900" cy="41910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857625"/>
                <a:gridCol w="2524125"/>
                <a:gridCol w="5010150"/>
              </a:tblGrid>
              <a:tr h="4191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Connection</a:t>
                      </a:r>
                    </a:p>
                  </a:txBody>
                  <a:tcPr marL="95250" marR="114300" marT="47625" marB="47625" anchor="t">
                    <a:solidFill>
                      <a:srgbClr val="F1F1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Assessment</a:t>
                      </a:r>
                    </a:p>
                  </a:txBody>
                  <a:tcPr marL="95250" marR="114300" marT="47625" marB="47625" anchor="t">
                    <a:solidFill>
                      <a:srgbClr val="F1F1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Why</a:t>
                      </a:r>
                    </a:p>
                  </a:txBody>
                  <a:tcPr marL="95250" marR="114300" marT="47625" marB="47625" anchor="t">
                    <a:solidFill>
                      <a:srgbClr val="F1F1F1"/>
                    </a:solidFill>
                  </a:tcPr>
                </a:tc>
              </a:tr>
              <a:tr h="9429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Loss → alarm: caused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Plausible; not verified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Mapping exists in P02, but the saved gap says it is missing.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</a:tr>
              <a:tr h="9429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Recovery → loss: preceded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Wrong direction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Its own explanation says recovery happened after the interruption.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</a:tr>
              <a:tr h="9429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Loss → recovery: preceded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Reasonable ordering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Not proof of a cause; coexists with the opposite arrow.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</a:tr>
              <a:tr h="9429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Loss → RUN: failed-to-prevent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Unsupported relation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Neither the pressure-loss event nor the RUN indication is an established barrier.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0050" y="6438900"/>
            <a:ext cx="9048750" cy="209550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TRY 6 / EVIDENCE REVIEW / 20 SEPTEMBER 2026</a:t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fld id="{D3D7D1C8-AE23-AA48-DF65-C742588DBE47}" type="slidenum">
              <a: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7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33375"/>
            <a:ext cx="11391900" cy="95250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V1 already contained factual and evidence-use errors</a:t>
            </a:r>
          </a:p>
        </p:txBody>
      </p:sp>
      <p:sp>
        <p:nvSpPr>
          <p:cNvPr id="534" name="Review text">
            <a:extLst xmlns:a="http://schemas.openxmlformats.org/drawingml/2006/main">
              <a:ext uri="{FF2B5EF4-FFF2-40B4-BE49-F238E27FC236}">
                <a16:creationId xmlns:a16="http://schemas.microsoft.com/office/drawing/2014/main" id="{9CA27C07-E1D0-4B8D-A316-D67A46BAF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These failures predate V2; they are not regressions caused by adding P04/P05.</a:t>
            </a:r>
          </a:p>
        </p:txBody>
      </p:sp>
      <p:graphicFrame>
        <p:nvGraphicFramePr>
          <p:cNvPr id="540" name=""/>
          <p:cNvGraphicFramePr/>
          <p:nvPr/>
        </p:nvGraphicFramePr>
        <p:xfrm>
          <a:off xmlns:a="http://schemas.openxmlformats.org/drawingml/2006/main" x="400050" y="1952625"/>
          <a:ext xmlns:a="http://schemas.openxmlformats.org/drawingml/2006/main" cx="11391900" cy="41910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714750"/>
                <a:gridCol w="3905250"/>
                <a:gridCol w="3771900"/>
              </a:tblGrid>
              <a:tr h="4191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Saved output</a:t>
                      </a:r>
                    </a:p>
                  </a:txBody>
                  <a:tcPr marL="95250" marR="114300" marT="47625" marB="47625" anchor="t">
                    <a:solidFill>
                      <a:srgbClr val="F1F1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Source evidence</a:t>
                      </a:r>
                    </a:p>
                  </a:txBody>
                  <a:tcPr marL="95250" marR="114300" marT="47625" marB="47625" anchor="t">
                    <a:solidFill>
                      <a:srgbClr val="F1F1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Consequence</a:t>
                      </a:r>
                    </a:p>
                  </a:txBody>
                  <a:tcPr marL="95250" marR="114300" marT="47625" marB="47625" anchor="t">
                    <a:solidFill>
                      <a:srgbClr val="F1F1F1"/>
                    </a:solidFill>
                  </a:tcPr>
                </a:tc>
              </a:tr>
              <a:tr h="1257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P-R reaches 2.1 bar by 10:03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P01: 2.6 at 10:03:10; 2.1 at 10:05:50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Wrong timeline enters the notebook and summary.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</a:tr>
              <a:tr h="1257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Numerical recovery confirmation missing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P01: 6.0 at 10:06:20; 6.8 at 10:06:50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An already-answerable gap remains open.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</a:tr>
              <a:tr h="1257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Alarm input mapping unavailable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P02: AL-44 input is P-R; legacy display wording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Unverified compressor speculation receives too much framing weight.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0050" y="6438900"/>
            <a:ext cx="9048750" cy="209550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TRY 6 / EVIDENCE REVIEW / 20 SEPTEMBER 2026</a:t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fld id="{BA58DA2A-B818-18A9-29C1-B697728D5BCE}" type="slidenum">
              <a: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8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33375"/>
            <a:ext cx="11391900" cy="95250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V1 questions: useful directions mixed with redundant parts</a:t>
            </a:r>
          </a:p>
        </p:txBody>
      </p:sp>
      <p:sp>
        <p:nvSpPr>
          <p:cNvPr id="534" name="Review text">
            <a:extLst xmlns:a="http://schemas.openxmlformats.org/drawingml/2006/main">
              <a:ext uri="{FF2B5EF4-FFF2-40B4-BE49-F238E27FC236}">
                <a16:creationId xmlns:a16="http://schemas.microsoft.com/office/drawing/2014/main" id="{9CD22177-4004-4197-B03B-6D918CA62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A missing source format is not the same as missing information.</a:t>
            </a:r>
          </a:p>
        </p:txBody>
      </p:sp>
      <p:sp>
        <p:nvSpPr>
          <p:cNvPr id="535" name="Review text">
            <a:extLst xmlns:a="http://schemas.openxmlformats.org/drawingml/2006/main">
              <a:ext uri="{FF2B5EF4-FFF2-40B4-BE49-F238E27FC236}">
                <a16:creationId xmlns:a16="http://schemas.microsoft.com/office/drawing/2014/main" id="{62348153-92E3-48DA-BF23-B7F1E832D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0"/>
            <a:ext cx="5467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Legitimate next requests</a:t>
            </a:r>
          </a:p>
        </p:txBody>
      </p:sp>
      <p:sp>
        <p:nvSpPr>
          <p:cNvPr id="536" name="Review text">
            <a:extLst xmlns:a="http://schemas.openxmlformats.org/drawingml/2006/main">
              <a:ext uri="{FF2B5EF4-FFF2-40B4-BE49-F238E27FC236}">
                <a16:creationId xmlns:a16="http://schemas.microsoft.com/office/drawing/2014/main" id="{BAF15B5E-9FA8-4B9C-97E0-6D880F0F8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52750"/>
            <a:ext cx="546735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Physical routes between headers.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Valve-by-valve field actions.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What the briefing actually covered.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A genuine compressor-trip log, if available.</a:t>
            </a:r>
          </a:p>
        </p:txBody>
      </p:sp>
      <p:sp>
        <p:nvSpPr>
          <p:cNvPr id="537" name="Review text">
            <a:extLst xmlns:a="http://schemas.openxmlformats.org/drawingml/2006/main">
              <a:ext uri="{FF2B5EF4-FFF2-40B4-BE49-F238E27FC236}">
                <a16:creationId xmlns:a16="http://schemas.microsoft.com/office/drawing/2014/main" id="{D40EB201-0995-4BDF-8D9D-A55F58928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90750"/>
            <a:ext cx="5467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Already supplied or over-scoped</a:t>
            </a:r>
          </a:p>
        </p:txBody>
      </p:sp>
      <p:sp>
        <p:nvSpPr>
          <p:cNvPr id="538" name="Review text">
            <a:extLst xmlns:a="http://schemas.openxmlformats.org/drawingml/2006/main">
              <a:ext uri="{FF2B5EF4-FFF2-40B4-BE49-F238E27FC236}">
                <a16:creationId xmlns:a16="http://schemas.microsoft.com/office/drawing/2014/main" id="{6A422B7A-0C83-4C87-AA8A-EEDF0BA4C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952750"/>
            <a:ext cx="546735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AL-44 input identity: P02.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Measurement-point mapping: P02.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Numerical recovery samples: P01.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Separate corroboration from the literal claim “the report says Turn 2.”</a:t>
            </a:r>
          </a:p>
        </p:txBody>
      </p:sp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0050" y="6438900"/>
            <a:ext cx="9048750" cy="209550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TRY 6 / EVIDENCE REVIEW / 20 SEPTEMBER 2026</a:t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fld id="{388657AE-30A1-5A7A-6A7F-315D84436430}" type="slidenum">
              <a: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9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33375"/>
            <a:ext cx="11391900" cy="95250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V2 evidence should narrow the physical mechanism</a:t>
            </a:r>
          </a:p>
        </p:txBody>
      </p:sp>
      <p:sp>
        <p:nvSpPr>
          <p:cNvPr id="534" name="Review text">
            <a:extLst xmlns:a="http://schemas.openxmlformats.org/drawingml/2006/main">
              <a:ext uri="{FF2B5EF4-FFF2-40B4-BE49-F238E27FC236}">
                <a16:creationId xmlns:a16="http://schemas.microsoft.com/office/drawing/2014/main" id="{C1784520-69F7-41F6-B712-D78FFB6CB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P04: normal route through M-101/D-101/M-102; auxiliary route through V-201/B-17/V-202.</a:t>
            </a:r>
          </a:p>
        </p:txBody>
      </p:sp>
      <p:graphicFrame>
        <p:nvGraphicFramePr>
          <p:cNvPr id="540" name=""/>
          <p:cNvGraphicFramePr/>
          <p:nvPr/>
        </p:nvGraphicFramePr>
        <p:xfrm>
          <a:off xmlns:a="http://schemas.openxmlformats.org/drawingml/2006/main" x="400050" y="1952625"/>
          <a:ext xmlns:a="http://schemas.openxmlformats.org/drawingml/2006/main" cx="11391900" cy="41910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048000"/>
                <a:gridCol w="4095750"/>
                <a:gridCol w="4248150"/>
              </a:tblGrid>
              <a:tr h="4191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Record / time</a:t>
                      </a:r>
                    </a:p>
                  </a:txBody>
                  <a:tcPr marL="95250" marR="114300" marT="47625" marB="47625" anchor="t">
                    <a:solidFill>
                      <a:srgbClr val="F1F1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Observation</a:t>
                      </a:r>
                    </a:p>
                  </a:txBody>
                  <a:tcPr marL="95250" marR="114300" marT="47625" marB="47625" anchor="t">
                    <a:solidFill>
                      <a:srgbClr val="F1F1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What it contributes</a:t>
                      </a:r>
                    </a:p>
                  </a:txBody>
                  <a:tcPr marL="95250" marR="114300" marT="47625" marB="47625" anchor="t">
                    <a:solidFill>
                      <a:srgbClr val="F1F1F1"/>
                    </a:solidFill>
                  </a:tcPr>
                </a:tc>
              </a:tr>
              <a:tr h="75438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P04: connection schedule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V-201 and V-202 are in series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Physical meaning of both valve positions.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P05: 10:00:03 ±5 s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M-101 closes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An action near the start of the pressure fall.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P05: 10:05:40 ±5 s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V-202 observed closed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Auxiliary-path state late in the event.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P05: 10:06:18 ±5 s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V-202 opens; M-101 stays closed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Action associated with recovery.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P01: 10:06:20 / 10:06:50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P-R rises to 6.0 / 6.8 bar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Measured recovery sequence.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0050" y="6438900"/>
            <a:ext cx="9048750" cy="209550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TRY 6 / EVIDENCE REVIEW / 20 SEPTEMBER 2026</a:t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fld id="{DB7BEEEC-A170-5376-2B6E-CB54687B0CB1}" type="slidenum">
              <a: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10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33375"/>
            <a:ext cx="11391900" cy="95250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V1 → V2: more support, little mechanism revision</a:t>
            </a:r>
          </a:p>
        </p:txBody>
      </p:sp>
      <p:sp>
        <p:nvSpPr>
          <p:cNvPr id="534" name="Review text">
            <a:extLst xmlns:a="http://schemas.openxmlformats.org/drawingml/2006/main">
              <a:ext uri="{FF2B5EF4-FFF2-40B4-BE49-F238E27FC236}">
                <a16:creationId xmlns:a16="http://schemas.microsoft.com/office/drawing/2014/main" id="{5744FF30-2B03-4236-867E-AA891A4D4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The three branch titles, mechanisms and gap texts are unchanged; only version markers advance.</a:t>
            </a:r>
          </a:p>
        </p:txBody>
      </p:sp>
      <p:graphicFrame>
        <p:nvGraphicFramePr>
          <p:cNvPr id="540" name=""/>
          <p:cNvGraphicFramePr/>
          <p:nvPr/>
        </p:nvGraphicFramePr>
        <p:xfrm>
          <a:off xmlns:a="http://schemas.openxmlformats.org/drawingml/2006/main" x="400050" y="1952625"/>
          <a:ext xmlns:a="http://schemas.openxmlformats.org/drawingml/2006/main" cx="11391900" cy="41910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286125"/>
                <a:gridCol w="4857750"/>
                <a:gridCol w="3248025"/>
              </a:tblGrid>
              <a:tr h="4191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Dimension</a:t>
                      </a:r>
                    </a:p>
                  </a:txBody>
                  <a:tcPr marL="95250" marR="114300" marT="47625" marB="47625" anchor="t">
                    <a:solidFill>
                      <a:srgbClr val="F1F1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V1 → V2</a:t>
                      </a:r>
                    </a:p>
                  </a:txBody>
                  <a:tcPr marL="95250" marR="114300" marT="47625" marB="47625" anchor="t">
                    <a:solidFill>
                      <a:srgbClr val="F1F1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Finding</a:t>
                      </a:r>
                    </a:p>
                  </a:txBody>
                  <a:tcPr marL="95250" marR="114300" marT="47625" marB="47625" anchor="t">
                    <a:solidFill>
                      <a:srgbClr val="F1F1F1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Statement support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 → 5 supported non-focal nodes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Real improvement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C-11 prevention edge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Present → withdrawn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Real correction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C-11 barrier role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Barrier → still barrier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Persistent role error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Recovery direction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Opposite arrows → both retained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Persistent graph error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Wrong 2.1-bar timing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Notebook/summary → also on board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Error propagated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Piping and valve gaps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Missing → supplied but still requested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Missed evidence integration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0050" y="6438900"/>
            <a:ext cx="9048750" cy="209550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TRY 6 / EVIDENCE REVIEW / 20 SEPTEMBER 2026</a:t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fld id="{30394428-F1DC-E5F6-DB0C-7DE31F3D8A23}" type="slidenum">
              <a: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11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33375"/>
            <a:ext cx="11391900" cy="95250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The useful facts were extracted—but not assembled</a:t>
            </a:r>
          </a:p>
        </p:txBody>
      </p:sp>
      <p:sp>
        <p:nvSpPr>
          <p:cNvPr id="534" name="Review text">
            <a:extLst xmlns:a="http://schemas.openxmlformats.org/drawingml/2006/main">
              <a:ext uri="{FF2B5EF4-FFF2-40B4-BE49-F238E27FC236}">
                <a16:creationId xmlns:a16="http://schemas.microsoft.com/office/drawing/2014/main" id="{9FEBC4D5-6B91-4110-8091-BFD09B5A5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Confirmed location of failure: selection and synthesis after successful ingestion.</a:t>
            </a:r>
          </a:p>
        </p:txBody>
      </p:sp>
      <p:sp>
        <p:nvSpPr>
          <p:cNvPr id="535" name="Review text">
            <a:extLst xmlns:a="http://schemas.openxmlformats.org/drawingml/2006/main">
              <a:ext uri="{FF2B5EF4-FFF2-40B4-BE49-F238E27FC236}">
                <a16:creationId xmlns:a16="http://schemas.microsoft.com/office/drawing/2014/main" id="{D2F25C96-A0FB-4F8F-8C1E-416F9E155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0"/>
            <a:ext cx="5467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Available in the notebook</a:t>
            </a:r>
          </a:p>
        </p:txBody>
      </p:sp>
      <p:sp>
        <p:nvSpPr>
          <p:cNvPr id="536" name="Review text">
            <a:extLst xmlns:a="http://schemas.openxmlformats.org/drawingml/2006/main">
              <a:ext uri="{FF2B5EF4-FFF2-40B4-BE49-F238E27FC236}">
                <a16:creationId xmlns:a16="http://schemas.microsoft.com/office/drawing/2014/main" id="{5A7BE953-9CD9-4407-9C37-03323A44D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52750"/>
            <a:ext cx="546735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Four connection segments.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Inline V-201 / V-202 relationship.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M-101 closure.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V-202 closed observation and later opening.</a:t>
            </a:r>
          </a:p>
        </p:txBody>
      </p:sp>
      <p:sp>
        <p:nvSpPr>
          <p:cNvPr id="537" name="Review text">
            <a:extLst xmlns:a="http://schemas.openxmlformats.org/drawingml/2006/main">
              <a:ext uri="{FF2B5EF4-FFF2-40B4-BE49-F238E27FC236}">
                <a16:creationId xmlns:a16="http://schemas.microsoft.com/office/drawing/2014/main" id="{7F2886A0-C499-4405-B074-98932B2EE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90750"/>
            <a:ext cx="5467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Missing from the selected mechanism</a:t>
            </a:r>
          </a:p>
        </p:txBody>
      </p:sp>
      <p:sp>
        <p:nvSpPr>
          <p:cNvPr id="538" name="Review text">
            <a:extLst xmlns:a="http://schemas.openxmlformats.org/drawingml/2006/main">
              <a:ext uri="{FF2B5EF4-FFF2-40B4-BE49-F238E27FC236}">
                <a16:creationId xmlns:a16="http://schemas.microsoft.com/office/drawing/2014/main" id="{C8C4783F-D199-436B-A27B-56FF85C6C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952750"/>
            <a:ext cx="546735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Topology segments and V-202 observations were not selected as premises.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Old field-operation and routing gaps survived.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Why the model overlooked these facts is not isolated.</a:t>
            </a:r>
          </a:p>
        </p:txBody>
      </p:sp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0050" y="6438900"/>
            <a:ext cx="9048750" cy="209550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TRY 6 / EVIDENCE REVIEW / 20 SEPTEMBER 2026</a:t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fld id="{4DB16885-0D3F-A391-B669-3211DB3B26E8}" type="slidenum">
              <a: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12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33375"/>
            <a:ext cx="11391900" cy="95250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Review itself introduced errors and misleading statuses</a:t>
            </a:r>
          </a:p>
        </p:txBody>
      </p:sp>
      <p:sp>
        <p:nvSpPr>
          <p:cNvPr id="534" name="Review text">
            <a:extLst xmlns:a="http://schemas.openxmlformats.org/drawingml/2006/main">
              <a:ext uri="{FF2B5EF4-FFF2-40B4-BE49-F238E27FC236}">
                <a16:creationId xmlns:a16="http://schemas.microsoft.com/office/drawing/2014/main" id="{FF4F4EE0-8CB9-46BC-B24E-75E03D432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Review is another fallible model output, not an independent source of truth.</a:t>
            </a:r>
          </a:p>
        </p:txBody>
      </p:sp>
      <p:graphicFrame>
        <p:nvGraphicFramePr>
          <p:cNvPr id="540" name=""/>
          <p:cNvGraphicFramePr/>
          <p:nvPr/>
        </p:nvGraphicFramePr>
        <p:xfrm>
          <a:off xmlns:a="http://schemas.openxmlformats.org/drawingml/2006/main" x="400050" y="1952625"/>
          <a:ext xmlns:a="http://schemas.openxmlformats.org/drawingml/2006/main" cx="11391900" cy="41910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714750"/>
                <a:gridCol w="4381500"/>
                <a:gridCol w="3295650"/>
              </a:tblGrid>
              <a:tr h="4191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Observed review behavior</a:t>
                      </a:r>
                    </a:p>
                  </a:txBody>
                  <a:tcPr marL="95250" marR="114300" marT="47625" marB="47625" anchor="t">
                    <a:solidFill>
                      <a:srgbClr val="F1F1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What the evidence/code establishes</a:t>
                      </a:r>
                    </a:p>
                  </a:txBody>
                  <a:tcPr marL="95250" marR="114300" marT="47625" marB="47625" anchor="t">
                    <a:solidFill>
                      <a:srgbClr val="F1F1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Published effect</a:t>
                      </a:r>
                    </a:p>
                  </a:txBody>
                  <a:tcPr marL="95250" marR="114300" marT="47625" marB="47625" anchor="t">
                    <a:solidFill>
                      <a:srgbClr val="F1F1F1"/>
                    </a:solidFill>
                  </a:tcPr>
                </a:tc>
              </a:tr>
              <a:tr h="1257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“Not a contradiction” + claim-truth conflict flag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Approximate and precise times not shown incompatible; flag forces unknown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AL-44 claim unknown; 3 dependent edges gated.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</a:tr>
              <a:tr h="1257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V-201 “opened and later closed”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P05 says V-201 opened and M-101 closed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Wrong entity/action pairing in verifier output.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</a:tr>
              <a:tr h="1257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Partial verdict → conflicting → unknown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Status application uses both reference lists; UI flattens conflict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Distinct reasons for uncertainty become indistinguishable.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0050" y="6438900"/>
            <a:ext cx="9048750" cy="209550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TRY 6 / EVIDENCE REVIEW / 20 SEPTEMBER 2026</a:t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fld id="{2DD23107-4986-8758-3A93-3D74F35908CC}" type="slidenum">
              <a: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13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33375"/>
            <a:ext cx="11391900" cy="95250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The feedback loop does not reliably reach the next round</a:t>
            </a:r>
          </a:p>
        </p:txBody>
      </p:sp>
      <p:sp>
        <p:nvSpPr>
          <p:cNvPr id="534" name="Review text">
            <a:extLst xmlns:a="http://schemas.openxmlformats.org/drawingml/2006/main">
              <a:ext uri="{FF2B5EF4-FFF2-40B4-BE49-F238E27FC236}">
                <a16:creationId xmlns:a16="http://schemas.microsoft.com/office/drawing/2014/main" id="{D0C00F69-187A-404A-BF80-6CF079BA0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A saved review finding is not enough: it must change the board or receive an explicit disposition.</a:t>
            </a:r>
          </a:p>
        </p:txBody>
      </p:sp>
      <p:graphicFrame>
        <p:nvGraphicFramePr>
          <p:cNvPr id="540" name=""/>
          <p:cNvGraphicFramePr/>
          <p:nvPr/>
        </p:nvGraphicFramePr>
        <p:xfrm>
          <a:off xmlns:a="http://schemas.openxmlformats.org/drawingml/2006/main" x="400050" y="1952625"/>
          <a:ext xmlns:a="http://schemas.openxmlformats.org/drawingml/2006/main" cx="11391900" cy="41910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000375"/>
                <a:gridCol w="4381500"/>
                <a:gridCol w="4010025"/>
              </a:tblGrid>
              <a:tr h="4191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Expected</a:t>
                      </a:r>
                    </a:p>
                  </a:txBody>
                  <a:tcPr marL="95250" marR="114300" marT="47625" marB="47625" anchor="t">
                    <a:solidFill>
                      <a:srgbClr val="F1F1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Observed</a:t>
                      </a:r>
                    </a:p>
                  </a:txBody>
                  <a:tcPr marL="95250" marR="114300" marT="47625" marB="47625" anchor="t">
                    <a:solidFill>
                      <a:srgbClr val="F1F1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Confirmed mechanism</a:t>
                      </a:r>
                    </a:p>
                  </a:txBody>
                  <a:tcPr marL="95250" marR="114300" marT="47625" marB="47625" anchor="t">
                    <a:solidFill>
                      <a:srgbClr val="F1F1F1"/>
                    </a:solidFill>
                  </a:tcPr>
                </a:tc>
              </a:tr>
              <a:tr h="1257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Correct an identified factual error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2.1-bar timing remains after review flags it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Final refinement precedes review; no post-review claim/map reconciliation.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</a:tr>
              <a:tr h="1257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Route new causal questions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All 4 verifier questions saved; none published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They lack links required by the projection filter.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</a:tr>
              <a:tr h="1257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Retire or narrow obsolete questions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Turn-2 and RUN questions remain after parent support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Question state not fully reconciled with revised findings.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0050" y="6438900"/>
            <a:ext cx="9048750" cy="209550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TRY 6 / EVIDENCE REVIEW / 20 SEPTEMBER 2026</a:t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fld id="{327921A4-25C4-3DB4-06B1-32693CEE2241}" type="slidenum">
              <a: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14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33375"/>
            <a:ext cx="11391900" cy="95250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Software causes we can identify without speculation</a:t>
            </a:r>
          </a:p>
        </p:txBody>
      </p:sp>
      <p:sp>
        <p:nvSpPr>
          <p:cNvPr id="534" name="Review text">
            <a:extLst xmlns:a="http://schemas.openxmlformats.org/drawingml/2006/main">
              <a:ext uri="{FF2B5EF4-FFF2-40B4-BE49-F238E27FC236}">
                <a16:creationId xmlns:a16="http://schemas.microsoft.com/office/drawing/2014/main" id="{B8A461E7-BBDF-491F-B1EA-31BE70CE3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These explain specific failures—not every model reasoning error.</a:t>
            </a:r>
          </a:p>
        </p:txBody>
      </p:sp>
      <p:graphicFrame>
        <p:nvGraphicFramePr>
          <p:cNvPr id="540" name=""/>
          <p:cNvGraphicFramePr/>
          <p:nvPr/>
        </p:nvGraphicFramePr>
        <p:xfrm>
          <a:off xmlns:a="http://schemas.openxmlformats.org/drawingml/2006/main" x="400050" y="1952625"/>
          <a:ext xmlns:a="http://schemas.openxmlformats.org/drawingml/2006/main" cx="11391900" cy="41910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667000"/>
                <a:gridCol w="4953000"/>
                <a:gridCol w="3771900"/>
              </a:tblGrid>
              <a:tr h="4191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Boundary</a:t>
                      </a:r>
                    </a:p>
                  </a:txBody>
                  <a:tcPr marL="95250" marR="114300" marT="47625" marB="47625" anchor="t">
                    <a:solidFill>
                      <a:srgbClr val="F1F1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Confirmed mismatch</a:t>
                      </a:r>
                    </a:p>
                  </a:txBody>
                  <a:tcPr marL="95250" marR="114300" marT="47625" marB="47625" anchor="t">
                    <a:solidFill>
                      <a:srgbClr val="F1F1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Required change</a:t>
                      </a:r>
                    </a:p>
                  </a:txBody>
                  <a:tcPr marL="95250" marR="114300" marT="47625" marB="47625" anchor="t">
                    <a:solidFill>
                      <a:srgbClr val="F1F1F1"/>
                    </a:solidFill>
                  </a:tcPr>
                </a:tc>
              </a:tr>
              <a:tr h="75438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Resolver assignment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Schema allows all visible IDs; runtime accepts assigned IDs only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One assignment object drives both.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Graph acceptance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Valid references do not check temporal direction or barrier role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Separate semantic relation/role checks.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Review interpretation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Flags and reference-list presence override distinct meanings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Consistent partial/conflict/unknown states.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Publication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Statuses update after last map refinement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Explicit claim amendment and reconciliation.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Question handoff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Saved questions can fail visibility predicate silently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Canonical registry; every item has a disposition.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0050" y="6438900"/>
            <a:ext cx="9048750" cy="209550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TRY 6 / EVIDENCE REVIEW / 20 SEPTEMBER 2026</a:t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fld id="{EA83FA91-883A-0168-8075-96CEB9DCA3C2}" type="slidenum">
              <a: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15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33375"/>
            <a:ext cx="11391900" cy="95250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Storyteller: operational, but not yet unattended</a:t>
            </a:r>
          </a:p>
        </p:txBody>
      </p:sp>
      <p:sp>
        <p:nvSpPr>
          <p:cNvPr id="534" name="Review text">
            <a:extLst xmlns:a="http://schemas.openxmlformats.org/drawingml/2006/main">
              <a:ext uri="{FF2B5EF4-FFF2-40B4-BE49-F238E27FC236}">
                <a16:creationId xmlns:a16="http://schemas.microsoft.com/office/drawing/2014/main" id="{5DEEE40F-440A-4AD8-BF8B-DD0B78040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Two jobs completed once. Human review released one and withheld one.</a:t>
            </a:r>
          </a:p>
        </p:txBody>
      </p:sp>
      <p:graphicFrame>
        <p:nvGraphicFramePr>
          <p:cNvPr id="540" name=""/>
          <p:cNvGraphicFramePr/>
          <p:nvPr/>
        </p:nvGraphicFramePr>
        <p:xfrm>
          <a:off xmlns:a="http://schemas.openxmlformats.org/drawingml/2006/main" x="400050" y="1952625"/>
          <a:ext xmlns:a="http://schemas.openxmlformats.org/drawingml/2006/main" cx="11391900" cy="41910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857500"/>
                <a:gridCol w="4191000"/>
                <a:gridCol w="4343400"/>
              </a:tblGrid>
              <a:tr h="4191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Question</a:t>
                      </a:r>
                    </a:p>
                  </a:txBody>
                  <a:tcPr marL="95250" marR="114300" marT="47625" marB="47625" anchor="t">
                    <a:solidFill>
                      <a:srgbClr val="F1F1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Candidate behavior</a:t>
                      </a:r>
                    </a:p>
                  </a:txBody>
                  <a:tcPr marL="95250" marR="114300" marT="47625" marB="47625" anchor="t">
                    <a:solidFill>
                      <a:srgbClr val="F1F1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Outcome / boundary</a:t>
                      </a:r>
                    </a:p>
                  </a:txBody>
                  <a:tcPr marL="95250" marR="114300" marT="47625" marB="47625" anchor="t">
                    <a:solidFill>
                      <a:srgbClr val="F1F1F1"/>
                    </a:solidFill>
                  </a:tcPr>
                </a:tc>
              </a:tr>
              <a:tr h="18859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Actual briefing content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Grounded excerpts, but missing actual checklist; marked “answered”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Released unchanged. Should be partial; repeats existing sources.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</a:tr>
              <a:tr h="18859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Physical connectivity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P04 was in input, but answer treated routing as unavailable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Withheld by human reviewer. Never fed into V2.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0050" y="6438900"/>
            <a:ext cx="9048750" cy="209550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TRY 6 / EVIDENCE REVIEW / 20 SEPTEMBER 2026</a:t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fld id="{DC9C7607-4BA3-B4DC-A00F-2E67A9FCFF7E}" type="slidenum">
              <a: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16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33375"/>
            <a:ext cx="11391900" cy="95250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Most V2 time was spent reviewing premises</a:t>
            </a:r>
          </a:p>
        </p:txBody>
      </p:sp>
      <p:sp>
        <p:nvSpPr>
          <p:cNvPr id="534" name="Review text">
            <a:extLst xmlns:a="http://schemas.openxmlformats.org/drawingml/2006/main">
              <a:ext uri="{FF2B5EF4-FFF2-40B4-BE49-F238E27FC236}">
                <a16:creationId xmlns:a16="http://schemas.microsoft.com/office/drawing/2014/main" id="{BCDDE2D3-C7D2-4C72-8799-5C6B1CB79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78 min 39 s elapsed; 60.25 min in premise review. No infinite specialist queue in this run.</a:t>
            </a:r>
          </a:p>
        </p:txBody>
      </p:sp>
      <p:graphicFrame>
        <p:nvGraphicFramePr>
          <p:cNvPr id="543" name="Chart"/>
          <p:cNvGraphicFramePr/>
          <p:nvPr/>
        </p:nvGraphicFramePr>
        <p:xfrm>
          <a:off xmlns:a="http://schemas.openxmlformats.org/drawingml/2006/main" x="400050" y="2076450"/>
          <a:ext xmlns:a="http://schemas.openxmlformats.org/drawingml/2006/main" cx="733425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5a709bf23db43ee"/>
          </a:graphicData>
        </a:graphic>
      </p:graphicFrame>
      <p:sp>
        <p:nvSpPr>
          <p:cNvPr id="536" name="Review text">
            <a:extLst xmlns:a="http://schemas.openxmlformats.org/drawingml/2006/main">
              <a:ext uri="{FF2B5EF4-FFF2-40B4-BE49-F238E27FC236}">
                <a16:creationId xmlns:a16="http://schemas.microsoft.com/office/drawing/2014/main" id="{D6BE85DB-BDF5-438A-BDA2-59FAA93EC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57450"/>
            <a:ext cx="3238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7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57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76.6%</a:t>
            </a:r>
          </a:p>
        </p:txBody>
      </p:sp>
      <p:sp>
        <p:nvSpPr>
          <p:cNvPr id="537" name="Review text">
            <a:extLst xmlns:a="http://schemas.openxmlformats.org/drawingml/2006/main">
              <a:ext uri="{FF2B5EF4-FFF2-40B4-BE49-F238E27FC236}">
                <a16:creationId xmlns:a16="http://schemas.microsoft.com/office/drawing/2014/main" id="{BCCBF03C-4FBB-4A06-A61F-E9CD51A12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524250"/>
            <a:ext cx="323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of elapsed time</a:t>
            </a:r>
          </a:p>
          <a:p xmlns:a="http://schemas.openxmlformats.org/drawingml/2006/main">
            <a:pPr>
              <a:defRPr sz="21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spent reviewing premises</a:t>
            </a:r>
          </a:p>
        </p:txBody>
      </p:sp>
      <p:sp>
        <p:nvSpPr>
          <p:cNvPr id="538" name="Review text">
            <a:extLst xmlns:a="http://schemas.openxmlformats.org/drawingml/2006/main">
              <a:ext uri="{FF2B5EF4-FFF2-40B4-BE49-F238E27FC236}">
                <a16:creationId xmlns:a16="http://schemas.microsoft.com/office/drawing/2014/main" id="{F1C2558E-C641-40C2-ADEB-C3EA53A0D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048250"/>
            <a:ext cx="323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Optimize affected dependencies;</a:t>
            </a:r>
          </a:p>
          <a:p xmlns:a="http://schemas.openxmlformats.org/drawingml/2006/main">
            <a:pPr>
              <a:defRPr sz="187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do not remove factual checks.</a:t>
            </a:r>
          </a:p>
        </p:txBody>
      </p:sp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0050" y="6438900"/>
            <a:ext cx="9048750" cy="209550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TRY 6 / EVIDENCE REVIEW / 20 SEPTEMBER 2026</a:t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fld id="{90F7333B-44AC-F7E9-D49D-FE92F45E0477}" type="slidenum">
              <a: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17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33375"/>
            <a:ext cx="11391900" cy="95250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Proposed repair: make evidence revision a complete loop</a:t>
            </a:r>
          </a:p>
        </p:txBody>
      </p:sp>
      <p:sp>
        <p:nvSpPr>
          <p:cNvPr id="534" name="Review text">
            <a:extLst xmlns:a="http://schemas.openxmlformats.org/drawingml/2006/main">
              <a:ext uri="{FF2B5EF4-FFF2-40B4-BE49-F238E27FC236}">
                <a16:creationId xmlns:a16="http://schemas.microsoft.com/office/drawing/2014/main" id="{AA0BE109-062A-415F-92B2-13E45403A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Architectural correction—not a prompt that hard-codes this incident’s answer.</a:t>
            </a:r>
          </a:p>
        </p:txBody>
      </p:sp>
      <p:sp>
        <p:nvSpPr>
          <p:cNvPr id="535" name="Review text">
            <a:extLst xmlns:a="http://schemas.openxmlformats.org/drawingml/2006/main">
              <a:ext uri="{FF2B5EF4-FFF2-40B4-BE49-F238E27FC236}">
                <a16:creationId xmlns:a16="http://schemas.microsoft.com/office/drawing/2014/main" id="{36D42C05-0174-4093-812D-FEFDD8EA3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0"/>
            <a:ext cx="5467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Before proposing a mechanism</a:t>
            </a:r>
          </a:p>
        </p:txBody>
      </p:sp>
      <p:sp>
        <p:nvSpPr>
          <p:cNvPr id="536" name="Review text">
            <a:extLst xmlns:a="http://schemas.openxmlformats.org/drawingml/2006/main">
              <a:ext uri="{FF2B5EF4-FFF2-40B4-BE49-F238E27FC236}">
                <a16:creationId xmlns:a16="http://schemas.microsoft.com/office/drawing/2014/main" id="{1BF20E09-6E2A-43EB-AC6C-E72DC4B37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52750"/>
            <a:ext cx="546735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Source-linked observations:</a:t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entity, state/action, time, value, uncertainty.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Joint evidence bundles preserve identities across documents.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Every affected branch gets an explicit delta decision.</a:t>
            </a:r>
          </a:p>
        </p:txBody>
      </p:sp>
      <p:sp>
        <p:nvSpPr>
          <p:cNvPr id="537" name="Review text">
            <a:extLst xmlns:a="http://schemas.openxmlformats.org/drawingml/2006/main">
              <a:ext uri="{FF2B5EF4-FFF2-40B4-BE49-F238E27FC236}">
                <a16:creationId xmlns:a16="http://schemas.microsoft.com/office/drawing/2014/main" id="{2EC63734-3998-45C4-AFCE-CACF2449F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90750"/>
            <a:ext cx="5467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Before publishing a version</a:t>
            </a:r>
          </a:p>
        </p:txBody>
      </p:sp>
      <p:sp>
        <p:nvSpPr>
          <p:cNvPr id="538" name="Review text">
            <a:extLst xmlns:a="http://schemas.openxmlformats.org/drawingml/2006/main">
              <a:ext uri="{FF2B5EF4-FFF2-40B4-BE49-F238E27FC236}">
                <a16:creationId xmlns:a16="http://schemas.microsoft.com/office/drawing/2014/main" id="{5A9C8968-69E8-407F-97E8-96995A566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952750"/>
            <a:ext cx="546735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Review can create a corrected claim—not merely a lower status.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Recheck affected links and reconcile summary, gaps and questions.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Reuse reviews only with a visible dependency rationale.</a:t>
            </a:r>
          </a:p>
        </p:txBody>
      </p:sp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0050" y="6438900"/>
            <a:ext cx="9048750" cy="209550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TRY 6 / EVIDENCE REVIEW / 20 SEPTEMBER 2026</a:t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fld id="{B1C6C81E-38B9-7560-621D-5A151A79DF9B}" type="slidenum">
              <a: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18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33375"/>
            <a:ext cx="11391900" cy="95250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Research supports targeted evidence and constraint checks</a:t>
            </a:r>
          </a:p>
        </p:txBody>
      </p:sp>
      <p:sp>
        <p:nvSpPr>
          <p:cNvPr id="534" name="Review text">
            <a:extLst xmlns:a="http://schemas.openxmlformats.org/drawingml/2006/main">
              <a:ext uri="{FF2B5EF4-FFF2-40B4-BE49-F238E27FC236}">
                <a16:creationId xmlns:a16="http://schemas.microsoft.com/office/drawing/2014/main" id="{CFE4E3BE-203E-4342-A2CC-FFA9EA438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Primary research, 2025. Transfer to this RCA system remains to be tested.</a:t>
            </a:r>
          </a:p>
        </p:txBody>
      </p:sp>
      <p:graphicFrame>
        <p:nvGraphicFramePr>
          <p:cNvPr id="540" name=""/>
          <p:cNvGraphicFramePr/>
          <p:nvPr/>
        </p:nvGraphicFramePr>
        <p:xfrm>
          <a:off xmlns:a="http://schemas.openxmlformats.org/drawingml/2006/main" x="400050" y="1952625"/>
          <a:ext xmlns:a="http://schemas.openxmlformats.org/drawingml/2006/main" cx="11391900" cy="41910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238500"/>
                <a:gridCol w="3714750"/>
                <a:gridCol w="4438650"/>
              </a:tblGrid>
              <a:tr h="4191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Research</a:t>
                      </a:r>
                    </a:p>
                  </a:txBody>
                  <a:tcPr marL="95250" marR="114300" marT="47625" marB="47625" anchor="t">
                    <a:solidFill>
                      <a:srgbClr val="F1F1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Relevant principle</a:t>
                      </a:r>
                    </a:p>
                  </a:txBody>
                  <a:tcPr marL="95250" marR="114300" marT="47625" marB="47625" anchor="t">
                    <a:solidFill>
                      <a:srgbClr val="F1F1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Local adaptation / limitation</a:t>
                      </a:r>
                    </a:p>
                  </a:txBody>
                  <a:tcPr marL="95250" marR="114300" marT="47625" marB="47625" anchor="t">
                    <a:solidFill>
                      <a:srgbClr val="F1F1F1"/>
                    </a:solidFill>
                  </a:tcPr>
                </a:tc>
              </a:tr>
              <a:tr h="1257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Sufficient Context</a:t>
                      </a:r>
                    </a:p>
                    <a:p>
                      <a:r>
                        <a:rPr sz="180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ICLR 2025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Separate context sufficiency from successful use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Audit packet coverage; adequate context can still be misused. QA ≠ industrial RCA.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</a:tr>
              <a:tr h="1257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ChainRAG</a:t>
                      </a:r>
                    </a:p>
                    <a:p>
                      <a:r>
                        <a:rPr sz="180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ACL 2025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Preserve entities across multi-hop retrieval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Bundle topology + state + time. Reported tests are multi-hop QA.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</a:tr>
              <a:tr h="1257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Graph-constrained Reasoning</a:t>
                      </a:r>
                    </a:p>
                    <a:p>
                      <a:r>
                        <a:rPr sz="180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ICML 2025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Constrain reasoning paths to a graph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Validate typed relationships. Graph faithfulness alone is not causal truth.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0050" y="6438900"/>
            <a:ext cx="9048750" cy="209550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TRY 6 / EVIDENCE REVIEW / 20 SEPTEMBER 2026</a:t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fld id="{CCF91274-D221-1BB4-3BF9-836E3AD31EBE}" type="slidenum">
              <a: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19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33375"/>
            <a:ext cx="11391900" cy="95250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Research also supports correction and controlled revision tests</a:t>
            </a:r>
          </a:p>
        </p:txBody>
      </p:sp>
      <p:sp>
        <p:nvSpPr>
          <p:cNvPr id="534" name="Review text">
            <a:extLst xmlns:a="http://schemas.openxmlformats.org/drawingml/2006/main">
              <a:ext uri="{FF2B5EF4-FFF2-40B4-BE49-F238E27FC236}">
                <a16:creationId xmlns:a16="http://schemas.microsoft.com/office/drawing/2014/main" id="{E54896B3-4C4E-4745-9370-D63C670B5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2025–2026 evidence; preprint status is explicitly distinguished.</a:t>
            </a:r>
          </a:p>
        </p:txBody>
      </p:sp>
      <p:graphicFrame>
        <p:nvGraphicFramePr>
          <p:cNvPr id="540" name=""/>
          <p:cNvGraphicFramePr/>
          <p:nvPr/>
        </p:nvGraphicFramePr>
        <p:xfrm>
          <a:off xmlns:a="http://schemas.openxmlformats.org/drawingml/2006/main" x="400050" y="1952625"/>
          <a:ext xmlns:a="http://schemas.openxmlformats.org/drawingml/2006/main" cx="11391900" cy="41910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238500"/>
                <a:gridCol w="3714750"/>
                <a:gridCol w="4438650"/>
              </a:tblGrid>
              <a:tr h="4191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Research</a:t>
                      </a:r>
                    </a:p>
                  </a:txBody>
                  <a:tcPr marL="95250" marR="114300" marT="47625" marB="47625" anchor="t">
                    <a:solidFill>
                      <a:srgbClr val="F1F1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Relevant principle</a:t>
                      </a:r>
                    </a:p>
                  </a:txBody>
                  <a:tcPr marL="95250" marR="114300" marT="47625" marB="47625" anchor="t">
                    <a:solidFill>
                      <a:srgbClr val="F1F1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Local adaptation / limitation</a:t>
                      </a:r>
                    </a:p>
                  </a:txBody>
                  <a:tcPr marL="95250" marR="114300" marT="47625" marB="47625" anchor="t">
                    <a:solidFill>
                      <a:srgbClr val="F1F1F1"/>
                    </a:solidFill>
                  </a:tcPr>
                </a:tc>
              </a:tr>
              <a:tr h="1257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ProgCo</a:t>
                      </a:r>
                    </a:p>
                    <a:p>
                      <a:r>
                        <a:rPr sz="180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ACL 2025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Program-driven verification and refinement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Executable ID/time/value checks plus claim repair; not universal proof of self-correction.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</a:tr>
              <a:tr h="1257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TraceElephant</a:t>
                      </a:r>
                    </a:p>
                    <a:p>
                      <a:r>
                        <a:rPr sz="180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ACL 2026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Full execution inputs and outputs for attribution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Replay packet → output → applied state → view; not output-only diagnosis.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</a:tr>
              <a:tr h="1257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DeltaLogic</a:t>
                      </a:r>
                    </a:p>
                    <a:p>
                      <a:r>
                        <a:rPr sz="180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April 2026 preprint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Controlled premise edits test revision behavior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Support / defeat / remove / irrelevant deltas. Small logic study, not an RCA solution.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0050" y="6438900"/>
            <a:ext cx="9048750" cy="209550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TRY 6 / EVIDENCE REVIEW / 20 SEPTEMBER 2026</a:t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fld id="{844E025A-983C-6D44-79C6-4612AACD43FC}" type="slidenum">
              <a: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20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33375"/>
            <a:ext cx="11391900" cy="95250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Acceptance must measure correction—not board size</a:t>
            </a:r>
          </a:p>
        </p:txBody>
      </p:sp>
      <p:sp>
        <p:nvSpPr>
          <p:cNvPr id="534" name="Review text">
            <a:extLst xmlns:a="http://schemas.openxmlformats.org/drawingml/2006/main">
              <a:ext uri="{FF2B5EF4-FFF2-40B4-BE49-F238E27FC236}">
                <a16:creationId xmlns:a16="http://schemas.microsoft.com/office/drawing/2014/main" id="{7C10C53E-596B-452F-9691-198DF2C61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Use these frozen failures as regression cases; then test unseen incidents and evidence changes.</a:t>
            </a:r>
          </a:p>
        </p:txBody>
      </p:sp>
      <p:graphicFrame>
        <p:nvGraphicFramePr>
          <p:cNvPr id="540" name=""/>
          <p:cNvGraphicFramePr/>
          <p:nvPr/>
        </p:nvGraphicFramePr>
        <p:xfrm>
          <a:off xmlns:a="http://schemas.openxmlformats.org/drawingml/2006/main" x="400050" y="1952625"/>
          <a:ext xmlns:a="http://schemas.openxmlformats.org/drawingml/2006/main" cx="11391900" cy="41910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762250"/>
                <a:gridCol w="8629650"/>
              </a:tblGrid>
              <a:tr h="4191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Area</a:t>
                      </a:r>
                    </a:p>
                  </a:txBody>
                  <a:tcPr marL="95250" marR="114300" marT="47625" marB="47625" anchor="t">
                    <a:solidFill>
                      <a:srgbClr val="F1F1F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Observable pass condition</a:t>
                      </a:r>
                    </a:p>
                  </a:txBody>
                  <a:tcPr marL="95250" marR="114300" marT="47625" marB="47625" anchor="t">
                    <a:solidFill>
                      <a:srgbClr val="F1F1F1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Source fidelity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Correct time/value pairs and valve identities; observations distinct from inference.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Graph meaning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Correct event ordering; a protective function is required for a barrier role.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Evidence revision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New routes and valve states narrow the mechanism; uncertainty remains explicit.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Feedback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Corrected claims reach publication; every question has an explicit disposition.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Storyteller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Relevant records used; partial answers labelled; source ancestry retained.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Generality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Fixed-config latency and accuracy comparisons, followed by unseen-case tests.</a:t>
                      </a:r>
                    </a:p>
                  </a:txBody>
                  <a:tcPr marL="95250" marR="114300" marT="47625" marB="47625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0050" y="6438900"/>
            <a:ext cx="9048750" cy="209550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TRY 6 / EVIDENCE REVIEW / 20 SEPTEMBER 2026</a:t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fld id="{F6DF2BE2-2DFA-1C03-677D-BDC2260D6D92}" type="slidenum">
              <a: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21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33375"/>
            <a:ext cx="11391900" cy="95250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The defensible conclusion</a:t>
            </a:r>
          </a:p>
        </p:txBody>
      </p:sp>
      <p:sp>
        <p:nvSpPr>
          <p:cNvPr id="534" name="Review text">
            <a:extLst xmlns:a="http://schemas.openxmlformats.org/drawingml/2006/main">
              <a:ext uri="{FF2B5EF4-FFF2-40B4-BE49-F238E27FC236}">
                <a16:creationId xmlns:a16="http://schemas.microsoft.com/office/drawing/2014/main" id="{BF9FCAA6-8CC8-44EC-907B-4D7B7C02D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We have an inspectable two-version investigation—not yet reliable evidence-driven causal revision.</a:t>
            </a:r>
          </a:p>
        </p:txBody>
      </p:sp>
      <p:sp>
        <p:nvSpPr>
          <p:cNvPr id="535" name="Review text">
            <a:extLst xmlns:a="http://schemas.openxmlformats.org/drawingml/2006/main">
              <a:ext uri="{FF2B5EF4-FFF2-40B4-BE49-F238E27FC236}">
                <a16:creationId xmlns:a16="http://schemas.microsoft.com/office/drawing/2014/main" id="{89C5637C-1EC2-4429-AA32-904D14161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0"/>
            <a:ext cx="5467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Established by this review</a:t>
            </a:r>
          </a:p>
        </p:txBody>
      </p:sp>
      <p:sp>
        <p:nvSpPr>
          <p:cNvPr id="536" name="Review text">
            <a:extLst xmlns:a="http://schemas.openxmlformats.org/drawingml/2006/main">
              <a:ext uri="{FF2B5EF4-FFF2-40B4-BE49-F238E27FC236}">
                <a16:creationId xmlns:a16="http://schemas.microsoft.com/office/drawing/2014/main" id="{E144DE40-739B-4ED3-AFCB-AEF3CADB5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52750"/>
            <a:ext cx="546735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V1 had source and graph errors before V2.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V2 improved extraction and statement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Specific software paths explain propagation and handoff failures.</a:t>
            </a:r>
          </a:p>
        </p:txBody>
      </p:sp>
      <p:sp>
        <p:nvSpPr>
          <p:cNvPr id="537" name="Review text">
            <a:extLst xmlns:a="http://schemas.openxmlformats.org/drawingml/2006/main">
              <a:ext uri="{FF2B5EF4-FFF2-40B4-BE49-F238E27FC236}">
                <a16:creationId xmlns:a16="http://schemas.microsoft.com/office/drawing/2014/main" id="{314762F7-131B-4440-AF9A-EFFD18ECF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90750"/>
            <a:ext cx="5467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Not established</a:t>
            </a:r>
          </a:p>
        </p:txBody>
      </p:sp>
      <p:sp>
        <p:nvSpPr>
          <p:cNvPr id="538" name="Review text">
            <a:extLst xmlns:a="http://schemas.openxmlformats.org/drawingml/2006/main">
              <a:ext uri="{FF2B5EF4-FFF2-40B4-BE49-F238E27FC236}">
                <a16:creationId xmlns:a16="http://schemas.microsoft.com/office/drawing/2014/main" id="{C3647979-7316-4C98-B7A0-7065D2768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952750"/>
            <a:ext cx="546735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A universal Qwen limitation.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Context overload or anchoring as the internal cause.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A guaranteed fix from more agents, larger context or fine-tuning.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A final organizational root cause.</a:t>
            </a:r>
          </a:p>
        </p:txBody>
      </p:sp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0050" y="6438900"/>
            <a:ext cx="9048750" cy="209550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777777"/>
                </a:solidFill>
                <a:latin typeface="Helvetica Neue"/>
                <a:ea typeface="Helvetica Neue"/>
                <a:cs typeface="Helvetica Neue"/>
              </a:rPr>
              <a:t>TRY 6 / EVIDENCE REVIEW / 20 SEPTEMBER 2026</a:t>
            </a:r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fld id="{0BB18BA8-60F4-C50D-CD9B-1BB87D3E8506}" type="slidenum">
              <a:rPr sz="10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22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00050" y="333375"/>
            <a:ext cx="11391900" cy="95250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Evidence and reproducibility</a:t>
            </a:r>
          </a:p>
        </p:txBody>
      </p:sp>
      <p:sp>
        <p:nvSpPr>
          <p:cNvPr id="534" name="Review text">
            <a:extLst xmlns:a="http://schemas.openxmlformats.org/drawingml/2006/main">
              <a:ext uri="{FF2B5EF4-FFF2-40B4-BE49-F238E27FC236}">
                <a16:creationId xmlns:a16="http://schemas.microsoft.com/office/drawing/2014/main" id="{C987E4DF-8EF1-4EBA-82FB-E2F865F6D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The full report contains the failure register, exact trace IDs, source links and acceptance tests.</a:t>
            </a:r>
          </a:p>
        </p:txBody>
      </p:sp>
      <p:sp>
        <p:nvSpPr>
          <p:cNvPr id="535" name="Review text">
            <a:extLst xmlns:a="http://schemas.openxmlformats.org/drawingml/2006/main">
              <a:ext uri="{FF2B5EF4-FFF2-40B4-BE49-F238E27FC236}">
                <a16:creationId xmlns:a16="http://schemas.microsoft.com/office/drawing/2014/main" id="{CEBAC3D4-6BAF-45FA-8C73-E11FDDD96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0"/>
            <a:ext cx="5467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Local audit material</a:t>
            </a:r>
          </a:p>
        </p:txBody>
      </p:sp>
      <p:sp>
        <p:nvSpPr>
          <p:cNvPr id="536" name="Review text">
            <a:extLst xmlns:a="http://schemas.openxmlformats.org/drawingml/2006/main">
              <a:ext uri="{FF2B5EF4-FFF2-40B4-BE49-F238E27FC236}">
                <a16:creationId xmlns:a16="http://schemas.microsoft.com/office/drawing/2014/main" id="{D93741C2-D902-40E4-89E0-7B0797B9F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52750"/>
            <a:ext cx="546735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Frozen V1/V2 export.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Every node and edge reviewed.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Released documents, raw public outputs, task metrics and projection flags.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Code paths linked for each confirmed harness defect.</a:t>
            </a:r>
          </a:p>
        </p:txBody>
      </p:sp>
      <p:sp>
        <p:nvSpPr>
          <p:cNvPr id="537" name="Review text">
            <a:extLst xmlns:a="http://schemas.openxmlformats.org/drawingml/2006/main">
              <a:ext uri="{FF2B5EF4-FFF2-40B4-BE49-F238E27FC236}">
                <a16:creationId xmlns:a16="http://schemas.microsoft.com/office/drawing/2014/main" id="{77742CEF-D882-49FE-B4A3-BB6F19F2B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90750"/>
            <a:ext cx="5467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How to present this fairly</a:t>
            </a:r>
          </a:p>
        </p:txBody>
      </p:sp>
      <p:sp>
        <p:nvSpPr>
          <p:cNvPr id="538" name="Review text">
            <a:extLst xmlns:a="http://schemas.openxmlformats.org/drawingml/2006/main">
              <a:ext uri="{FF2B5EF4-FFF2-40B4-BE49-F238E27FC236}">
                <a16:creationId xmlns:a16="http://schemas.microsoft.com/office/drawing/2014/main" id="{8F62C9FC-C70B-4EE0-AE05-2A1A2D5E0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952750"/>
            <a:ext cx="546735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Separate “observed” from “cause proven.”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Keep a blank where the internal cause is unknown.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Label research-inspired repairs as proposals.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41414"/>
                </a:solidFill>
                <a:latin typeface="Helvetica Neue"/>
                <a:ea typeface="Helvetica Neue"/>
                <a:cs typeface="Helvetica Neue"/>
              </a:rPr>
              <a:t>Do not equate a finished run with a validated RCA.</a:t>
            </a:r>
          </a:p>
        </p:txBody>
      </p:sp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theme/theme1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2026-09-20T20:50:18.3260000Z</dcterms:created>
  <dcterms:modified xsi:type="dcterms:W3CDTF">2026-09-20T20:50:18.3260000Z</dcterms:modified>
</coreProperties>
</file>